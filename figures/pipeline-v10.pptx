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799445" cy="4175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561671" y="1143000"/>
            <a:ext cx="798134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svg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7975" y="108000"/>
            <a:ext cx="2951999" cy="558000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01_ee911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75" y="187200"/>
            <a:ext cx="413999" cy="41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975" y="172800"/>
            <a:ext cx="2268000" cy="43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11111"/>
                </a:solidFill>
                <a:latin typeface="Comic Sans MS" panose="030F0702030302020204"/>
              </a:rPr>
              <a:t>API documentation</a:t>
            </a:r>
            <a:endParaRPr sz="130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natural-language prose</a:t>
            </a:r>
            <a:endParaRPr sz="9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188000" y="666000"/>
            <a:ext cx="0" cy="16920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90440" y="222885"/>
            <a:ext cx="5732145" cy="1752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1">
                <a:solidFill>
                  <a:srgbClr val="595959"/>
                </a:solidFill>
                <a:latin typeface="Comic Sans MS" panose="030F0702030302020204"/>
              </a:rPr>
              <a:t>LLM agents: reading · generation · adjudication — execution &amp; checks deterministic</a:t>
            </a:r>
            <a:endParaRPr sz="10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6850" y="845820"/>
            <a:ext cx="207137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56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① Behavioral Specification Extraction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9" name="Picture 8" descr="img_04_765a2c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1404000"/>
            <a:ext cx="900000" cy="9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00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specifications.json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000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typed · tiered · verified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4900" y="845820"/>
            <a:ext cx="201676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561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② Test Script Generation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14" name="Picture 13" descr="img_11_531cc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10" y="1404000"/>
            <a:ext cx="900000" cy="9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961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test scripts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5610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pre-bound strategies · 5 gates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91990" y="845820"/>
            <a:ext cx="186690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701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③ Sandboxed Execution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19" name="Picture 18" descr="img_20_cd7483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010" y="1404000"/>
            <a:ext cx="900000" cy="9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101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raw HTTP logs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33205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Docker-pinned VDBMS @ version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57950" y="845820"/>
            <a:ext cx="4197985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924" y="888980"/>
            <a:ext cx="1800000" cy="1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④ Bug Confirmation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24" name="Picture 23" descr="img_19_c36f91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130" y="1626539"/>
            <a:ext cx="413999" cy="4139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8155" y="2082740"/>
            <a:ext cx="1044000" cy="167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evidence builder</a:t>
            </a:r>
            <a:endParaRPr sz="1000" b="1" i="0">
              <a:solidFill>
                <a:srgbClr val="11111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69075" y="2439755"/>
            <a:ext cx="1422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evidence_chain.json</a:t>
            </a:r>
            <a:endParaRPr sz="100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45880" y="2059940"/>
            <a:ext cx="140081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chain</a:t>
            </a:r>
            <a:r>
              <a:rPr lang="en-US"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auditor</a:t>
            </a:r>
            <a:endParaRPr sz="1000" b="1" i="0">
              <a:solidFill>
                <a:srgbClr val="11111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47635" y="2295525"/>
            <a:ext cx="864235" cy="1162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(five sections)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76055" y="2278380"/>
            <a:ext cx="1365885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4 perspectives:</a:t>
            </a:r>
            <a:endParaRPr sz="950" b="0" i="1">
              <a:solidFill>
                <a:srgbClr val="595959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1">
                <a:solidFill>
                  <a:srgbClr val="595959"/>
                </a:solidFill>
                <a:latin typeface="Comic Sans MS" panose="030F0702030302020204"/>
              </a:rPr>
              <a:t>A contract · B physical</a:t>
            </a:r>
            <a:br>
              <a:rPr sz="950" b="0" i="1">
                <a:solidFill>
                  <a:srgbClr val="595959"/>
                </a:solidFill>
                <a:latin typeface="Comic Sans MS" panose="030F0702030302020204"/>
              </a:rPr>
            </a:br>
            <a:r>
              <a:rPr sz="800" b="0" i="1">
                <a:solidFill>
                  <a:srgbClr val="595959"/>
                </a:solidFill>
                <a:latin typeface="Comic Sans MS" panose="030F0702030302020204"/>
              </a:rPr>
              <a:t>C behavioral elegance</a:t>
            </a:r>
            <a:br/>
            <a:r>
              <a:rPr sz="800" b="0" i="1">
                <a:solidFill>
                  <a:schemeClr val="tx1"/>
                </a:solidFill>
                <a:latin typeface="Comic Sans MS" panose="030F0702030302020204"/>
              </a:rPr>
              <a:t>D maintainer cognition</a:t>
            </a:r>
            <a:endParaRPr sz="950" b="0" i="1">
              <a:solidFill>
                <a:schemeClr val="tx1"/>
              </a:solidFill>
              <a:latin typeface="Comic Sans MS" panose="030F07020303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91574" y="1267305"/>
            <a:ext cx="864000" cy="1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595959"/>
                </a:solidFill>
                <a:latin typeface="Comic Sans MS" panose="030F0702030302020204"/>
              </a:rPr>
              <a:t>rebuild ≤ 3</a:t>
            </a:r>
            <a:endParaRPr sz="8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159115" y="3281680"/>
            <a:ext cx="2171700" cy="791845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g_47_65f6c1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480" y="3336535"/>
            <a:ext cx="180000" cy="180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480625" y="3336120"/>
            <a:ext cx="864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11111"/>
                </a:solidFill>
                <a:latin typeface="Comic Sans MS" panose="030F0702030302020204"/>
              </a:rPr>
              <a:t>Confirmed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49" name="Picture 48" descr="img_53_1f0a15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480" y="3570120"/>
            <a:ext cx="180000" cy="18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480625" y="3605900"/>
            <a:ext cx="864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11111"/>
                </a:solidFill>
                <a:latin typeface="Comic Sans MS" panose="030F0702030302020204"/>
              </a:rPr>
              <a:t>False-Positive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80425" y="3855720"/>
            <a:ext cx="18383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1">
                <a:solidFill>
                  <a:schemeClr val="tx1"/>
                </a:solidFill>
                <a:latin typeface="Comic Sans MS" panose="030F0702030302020204"/>
              </a:rPr>
              <a:t>Human-Review</a:t>
            </a:r>
            <a:r>
              <a:rPr lang="en-US" sz="900" b="1" i="1">
                <a:solidFill>
                  <a:schemeClr val="tx1"/>
                </a:solidFill>
                <a:latin typeface="Comic Sans MS" panose="030F0702030302020204"/>
              </a:rPr>
              <a:t/>
            </a:r>
            <a:r>
              <a:rPr sz="900" b="1" i="1">
                <a:solidFill>
                  <a:schemeClr val="tx1"/>
                </a:solidFill>
                <a:latin typeface="Comic Sans MS" panose="030F0702030302020204"/>
              </a:rPr>
              <a:t/>
            </a:r>
            <a:endParaRPr sz="900" b="1" i="1">
              <a:solidFill>
                <a:schemeClr val="tx1"/>
              </a:solidFill>
              <a:latin typeface="Comic Sans MS" panose="030F0702030302020204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1852505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24620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constraints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29840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probes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027745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outputs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933555" y="3407225"/>
            <a:ext cx="3456000" cy="666000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35555" y="3479225"/>
            <a:ext cx="2664000" cy="5086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11111"/>
                </a:solidFill>
                <a:latin typeface="Comic Sans MS" panose="030F0702030302020204"/>
              </a:rPr>
              <a:t>implementation source</a:t>
            </a:r>
            <a:endParaRPr sz="12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0" i="1">
                <a:solidFill>
                  <a:srgbClr val="595959"/>
                </a:solidFill>
                <a:latin typeface="Comic Sans MS" panose="030F0702030302020204"/>
              </a:rPr>
              <a:t>local source code</a:t>
            </a: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</a:t>
            </a:r>
            <a:r>
              <a:rPr lang="en-US" sz="900" b="0" i="1">
                <a:solidFill>
                  <a:srgbClr val="595959"/>
                </a:solidFill>
                <a:latin typeface="Comic Sans MS" panose="030F0702030302020204"/>
              </a:rPr>
              <a:t>                ——</a:t>
            </a: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independent of the documentation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28130" y="3712845"/>
            <a:ext cx="1175385" cy="360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11111"/>
                </a:solidFill>
                <a:latin typeface="Comic Sans MS" panose="030F0702030302020204"/>
                <a:sym typeface="+mn-ea"/>
              </a:rPr>
              <a:t>falsification anchor</a:t>
            </a:r>
            <a:r>
              <a:rPr lang="en-US" sz="850" b="1">
                <a:solidFill>
                  <a:srgbClr val="111111"/>
                </a:solidFill>
                <a:latin typeface="Comic Sans MS" panose="030F0702030302020204"/>
                <a:sym typeface="+mn-ea"/>
              </a:rPr>
              <a:t>: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11111"/>
                </a:solidFill>
                <a:latin typeface="Comic Sans MS" panose="030F0702030302020204"/>
              </a:rPr>
              <a:t>source grounding 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cxnSp>
        <p:nvCxnSpPr>
          <p:cNvPr id="67" name="Connector 53"/>
          <p:cNvCxnSpPr/>
          <p:nvPr/>
        </p:nvCxnSpPr>
        <p:spPr>
          <a:xfrm>
            <a:off x="3957530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图片 67" descr="链条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8140" y="1625600"/>
            <a:ext cx="402590" cy="414655"/>
          </a:xfrm>
          <a:prstGeom prst="rect">
            <a:avLst/>
          </a:prstGeom>
        </p:spPr>
      </p:pic>
      <p:pic>
        <p:nvPicPr>
          <p:cNvPr id="70" name="图片 69" descr="纸张放大镜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44990" y="1616075"/>
            <a:ext cx="402590" cy="424180"/>
          </a:xfrm>
          <a:prstGeom prst="rect">
            <a:avLst/>
          </a:prstGeom>
        </p:spPr>
      </p:pic>
      <p:cxnSp>
        <p:nvCxnSpPr>
          <p:cNvPr id="71" name="Connector 53"/>
          <p:cNvCxnSpPr/>
          <p:nvPr/>
        </p:nvCxnSpPr>
        <p:spPr>
          <a:xfrm>
            <a:off x="5955240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53"/>
          <p:cNvCxnSpPr>
            <a:endCxn id="68" idx="1"/>
          </p:cNvCxnSpPr>
          <p:nvPr/>
        </p:nvCxnSpPr>
        <p:spPr>
          <a:xfrm>
            <a:off x="7380180" y="1827305"/>
            <a:ext cx="598170" cy="5715"/>
          </a:xfrm>
          <a:prstGeom prst="line">
            <a:avLst/>
          </a:prstGeom>
          <a:ln w="28575" cmpd="sng">
            <a:solidFill>
              <a:schemeClr val="tx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53"/>
          <p:cNvCxnSpPr>
            <a:stCxn id="68" idx="3"/>
            <a:endCxn id="70" idx="1"/>
          </p:cNvCxnSpPr>
          <p:nvPr/>
        </p:nvCxnSpPr>
        <p:spPr>
          <a:xfrm flipV="1">
            <a:off x="8380940" y="1827940"/>
            <a:ext cx="1064260" cy="5080"/>
          </a:xfrm>
          <a:prstGeom prst="line">
            <a:avLst/>
          </a:prstGeom>
          <a:ln w="28575" cmpd="sng">
            <a:solidFill>
              <a:schemeClr val="tx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stCxn id="70" idx="0"/>
            <a:endCxn id="24" idx="0"/>
          </p:cNvCxnSpPr>
          <p:nvPr/>
        </p:nvCxnSpPr>
        <p:spPr>
          <a:xfrm rot="16200000" flipH="1" flipV="1">
            <a:off x="8392795" y="373380"/>
            <a:ext cx="10160" cy="2496185"/>
          </a:xfrm>
          <a:prstGeom prst="bentConnector3">
            <a:avLst>
              <a:gd name="adj1" fmla="val -3684375"/>
            </a:avLst>
          </a:prstGeom>
          <a:ln w="28575" cmpd="sng"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endCxn id="46" idx="3"/>
          </p:cNvCxnSpPr>
          <p:nvPr/>
        </p:nvCxnSpPr>
        <p:spPr>
          <a:xfrm rot="5400000" flipV="1">
            <a:off x="9177020" y="2524125"/>
            <a:ext cx="1823720" cy="483235"/>
          </a:xfrm>
          <a:prstGeom prst="bentConnector4">
            <a:avLst>
              <a:gd name="adj1" fmla="val -1027"/>
              <a:gd name="adj2" fmla="val 14145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图片 79" descr="人-头像-圆环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8645" y="3831590"/>
            <a:ext cx="200025" cy="200025"/>
          </a:xfrm>
          <a:prstGeom prst="rect">
            <a:avLst/>
          </a:prstGeom>
        </p:spPr>
      </p:pic>
      <p:pic>
        <p:nvPicPr>
          <p:cNvPr id="81" name="图片 80" descr="代码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26410" y="3522345"/>
            <a:ext cx="467995" cy="461010"/>
          </a:xfrm>
          <a:prstGeom prst="rect">
            <a:avLst/>
          </a:prstGeom>
        </p:spPr>
      </p:pic>
      <p:cxnSp>
        <p:nvCxnSpPr>
          <p:cNvPr id="83" name="肘形连接符 82"/>
          <p:cNvCxnSpPr/>
          <p:nvPr/>
        </p:nvCxnSpPr>
        <p:spPr>
          <a:xfrm flipV="1">
            <a:off x="7150100" y="2804795"/>
            <a:ext cx="2894965" cy="227330"/>
          </a:xfrm>
          <a:prstGeom prst="bentConnector3">
            <a:avLst>
              <a:gd name="adj1" fmla="val 100131"/>
            </a:avLst>
          </a:prstGeom>
          <a:ln w="31750" cmpd="sng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/>
          <p:nvPr/>
        </p:nvCxnSpPr>
        <p:spPr>
          <a:xfrm flipV="1">
            <a:off x="6358890" y="3032125"/>
            <a:ext cx="791210" cy="666115"/>
          </a:xfrm>
          <a:prstGeom prst="bentConnector3">
            <a:avLst>
              <a:gd name="adj1" fmla="val 102086"/>
            </a:avLst>
          </a:prstGeom>
          <a:ln w="31750" cmpd="sng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34"/>
          <p:cNvSpPr txBox="1"/>
          <p:nvPr/>
        </p:nvSpPr>
        <p:spPr>
          <a:xfrm>
            <a:off x="9255125" y="3354705"/>
            <a:ext cx="1063625" cy="167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00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final verdict</a:t>
            </a:r>
            <a:endParaRPr lang="en-US" sz="100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WPS 演示</Application>
  <PresentationFormat>On-screen Show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</vt:lpstr>
      <vt:lpstr>Comic Sans MS</vt:lpstr>
      <vt:lpstr>Consolas</vt:lpstr>
      <vt:lpstr>Calibri</vt:lpstr>
      <vt:lpstr>Microsoft YaHei</vt:lpstr>
      <vt:lpstr>Arial Unicode MS</vt:lpstr>
      <vt:lpstr>Consolas</vt:lpstr>
      <vt:lpstr>Comic Sans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Ratio</cp:lastModifiedBy>
  <cp:revision>3</cp:revision>
  <dcterms:created xsi:type="dcterms:W3CDTF">2013-01-27T09:14:00Z</dcterms:created>
  <dcterms:modified xsi:type="dcterms:W3CDTF">2026-09-06T14:08:03Z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22D6908B0AFC4181B27D82EEFFF0C2EC_12</vt:lpwstr>
  </property>
</Properties>
</file>