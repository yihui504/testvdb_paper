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400000" cy="54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1A1A1A"/>
                </a:solidFill>
                <a:latin typeface="Calibri"/>
              </a:rPr>
              <a:t>① Specification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0" y="180000"/>
            <a:ext cx="30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1A1A1A"/>
                </a:solidFill>
                <a:latin typeface="Calibri"/>
              </a:rPr>
              <a:t>② Test Script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48000" y="180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1A1A1A"/>
                </a:solidFill>
                <a:latin typeface="Calibri"/>
              </a:rPr>
              <a:t>③ Sandboxed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6000" y="180000"/>
            <a:ext cx="345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1A1A1A"/>
                </a:solidFill>
                <a:latin typeface="Calibri"/>
              </a:rPr>
              <a:t>④ Bug Confirmation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6000" y="486000"/>
            <a:ext cx="34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F7F7F"/>
                </a:solidFill>
                <a:latin typeface="Calibri"/>
              </a:rPr>
              <a:t>builder / auditor split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936000"/>
            <a:ext cx="1944000" cy="54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API documentation</a:t>
            </a:r>
          </a:p>
          <a:p>
            <a:pPr algn="ctr"/>
            <a:r>
              <a:rPr sz="1000" b="0">
                <a:solidFill>
                  <a:srgbClr val="7F7F7F"/>
                </a:solidFill>
                <a:latin typeface="Calibri"/>
              </a:rPr>
              <a:t>natural-language prose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32000" y="1475999"/>
            <a:ext cx="0" cy="288001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0000" y="1764000"/>
            <a:ext cx="1944000" cy="61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knowledge extractor</a:t>
            </a:r>
          </a:p>
          <a:p>
            <a:pPr algn="ctr"/>
            <a:r>
              <a:rPr sz="950" b="0">
                <a:solidFill>
                  <a:srgbClr val="7F7F7F"/>
                </a:solidFill>
                <a:latin typeface="Calibri"/>
              </a:rPr>
              <a:t>Crawl4AI · coverage + version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2646000"/>
            <a:ext cx="1512000" cy="39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/>
            <a:r>
              <a:rPr sz="1250" b="1">
                <a:solidFill>
                  <a:srgbClr val="AC956E"/>
                </a:solidFill>
                <a:latin typeface="Consolas"/>
              </a:rPr>
              <a:t>knowledge.json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3311999"/>
            <a:ext cx="1944000" cy="61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specification extractor</a:t>
            </a:r>
          </a:p>
          <a:p>
            <a:pPr algn="ctr"/>
            <a:r>
              <a:rPr sz="950" b="0">
                <a:solidFill>
                  <a:srgbClr val="7F7F7F"/>
                </a:solidFill>
                <a:latin typeface="Calibri"/>
              </a:rPr>
              <a:t>categorize · evidence-tier · verify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00" y="4176000"/>
            <a:ext cx="1512000" cy="39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/>
            <a:r>
              <a:rPr sz="1250" b="1">
                <a:solidFill>
                  <a:srgbClr val="AC956E"/>
                </a:solidFill>
                <a:latin typeface="Consolas"/>
              </a:rPr>
              <a:t>specifications.json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32000" y="2376000"/>
            <a:ext cx="0" cy="2700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2000" y="3041999"/>
            <a:ext cx="0" cy="2700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32000" y="3924000"/>
            <a:ext cx="0" cy="2520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48000" y="1764000"/>
            <a:ext cx="2088000" cy="61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strategy registry</a:t>
            </a:r>
          </a:p>
          <a:p>
            <a:pPr algn="ctr"/>
            <a:r>
              <a:rPr sz="950" b="0">
                <a:solidFill>
                  <a:srgbClr val="7F7F7F"/>
                </a:solidFill>
                <a:latin typeface="Calibri"/>
              </a:rPr>
              <a:t>pre-bound: trigger → strategy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8000" y="2736000"/>
            <a:ext cx="2088000" cy="61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attack agents</a:t>
            </a:r>
          </a:p>
          <a:p>
            <a:pPr algn="ctr"/>
            <a:r>
              <a:rPr sz="950" b="0">
                <a:solidFill>
                  <a:srgbClr val="7F7F7F"/>
                </a:solidFill>
                <a:latin typeface="Calibri"/>
              </a:rPr>
              <a:t>boundary · state · semantic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8000" y="3708000"/>
            <a:ext cx="2088000" cy="61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scenario construction</a:t>
            </a:r>
          </a:p>
          <a:p>
            <a:pPr algn="ctr"/>
            <a:r>
              <a:rPr sz="950" b="0">
                <a:solidFill>
                  <a:srgbClr val="7F7F7F"/>
                </a:solidFill>
                <a:latin typeface="Calibri"/>
              </a:rPr>
              <a:t>system-level · no-match fallback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44000" y="4680000"/>
            <a:ext cx="1655999" cy="360000"/>
          </a:xfrm>
          <a:prstGeom prst="roundRect">
            <a:avLst>
              <a:gd name="adj" fmla="val 50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200" bIns="7200"/>
          <a:lstStyle/>
          <a:p>
            <a:pPr algn="ctr"/>
            <a:r>
              <a:rPr sz="1150" b="1">
                <a:solidFill>
                  <a:srgbClr val="1A1A1A"/>
                </a:solidFill>
                <a:latin typeface="Calibri"/>
              </a:rPr>
              <a:t>5 generation gates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92000" y="2376000"/>
            <a:ext cx="0" cy="3600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292000" y="3348000"/>
            <a:ext cx="0" cy="3600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92000" y="4320000"/>
            <a:ext cx="0" cy="3600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848000" y="1764000"/>
            <a:ext cx="2015999" cy="86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Docker-pinned VDBMS</a:t>
            </a:r>
          </a:p>
          <a:p>
            <a:pPr algn="ctr"/>
            <a:r>
              <a:rPr sz="1000" b="0">
                <a:solidFill>
                  <a:srgbClr val="7F7F7F"/>
                </a:solidFill>
                <a:latin typeface="Calibri"/>
              </a:rPr>
              <a:t>target @ version</a:t>
            </a:r>
          </a:p>
          <a:p>
            <a:pPr algn="ctr"/>
            <a:r>
              <a:rPr sz="950" b="0">
                <a:solidFill>
                  <a:srgbClr val="7F7F7F"/>
                </a:solidFill>
                <a:latin typeface="Calibri"/>
              </a:rPr>
              <a:t>(no code runs inside)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000" y="2951999"/>
            <a:ext cx="1655999" cy="39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/>
            <a:r>
              <a:rPr sz="1250" b="1">
                <a:solidFill>
                  <a:srgbClr val="AC956E"/>
                </a:solidFill>
                <a:latin typeface="Consolas"/>
              </a:rPr>
              <a:t>raw HTTP 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000" y="3366000"/>
            <a:ext cx="165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7F7F7F"/>
                </a:solidFill>
                <a:latin typeface="Calibri"/>
              </a:rPr>
              <a:t>+ atomic .done markers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56000" y="2628000"/>
            <a:ext cx="0" cy="323999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656000" y="936000"/>
            <a:ext cx="2232000" cy="1655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evidence builder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doc verification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execution evidence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contract grounding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chain trace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source grounding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76000" y="936000"/>
            <a:ext cx="1080000" cy="1655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chain</a:t>
            </a:r>
          </a:p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auditor</a:t>
            </a:r>
          </a:p>
          <a:p>
            <a:pPr algn="ctr"/>
            <a:r>
              <a:rPr sz="1000" b="0">
                <a:solidFill>
                  <a:srgbClr val="7F7F7F"/>
                </a:solidFill>
                <a:latin typeface="Calibri"/>
              </a:rPr>
              <a:t>4 checks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A contract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B physical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C cognition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D source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952000" y="2736000"/>
            <a:ext cx="1296000" cy="39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/>
            <a:r>
              <a:rPr sz="1150" b="1">
                <a:solidFill>
                  <a:srgbClr val="AC956E"/>
                </a:solidFill>
                <a:latin typeface="Consolas"/>
              </a:rPr>
              <a:t>evidence_chain.json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08000" y="3456000"/>
            <a:ext cx="2376000" cy="61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verdict: Confirmed / Refuted</a:t>
            </a:r>
          </a:p>
          <a:p>
            <a:pPr algn="ctr"/>
            <a:r>
              <a:rPr sz="1000" b="0">
                <a:solidFill>
                  <a:srgbClr val="7F7F7F"/>
                </a:solidFill>
                <a:latin typeface="Calibri"/>
              </a:rPr>
              <a:t>Neutral → human review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772000" y="2592000"/>
            <a:ext cx="468000" cy="1440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2887999" y="2592000"/>
            <a:ext cx="216001" cy="4320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3140000" y="2592000"/>
            <a:ext cx="504000" cy="8640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240000" y="2015999"/>
            <a:ext cx="936000" cy="0"/>
          </a:xfrm>
          <a:prstGeom prst="line">
            <a:avLst/>
          </a:prstGeom>
          <a:ln w="25400">
            <a:solidFill>
              <a:srgbClr val="40404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2240000" y="2124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7F7F7F"/>
                </a:solidFill>
                <a:latin typeface="Calibri"/>
              </a:rPr>
              <a:t>rebuild ≤3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656000" y="4464000"/>
            <a:ext cx="2376000" cy="503999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 w="1524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/>
            <a:r>
              <a:rPr sz="1150" b="1">
                <a:solidFill>
                  <a:srgbClr val="0070C0"/>
                </a:solidFill>
                <a:latin typeface="Calibri"/>
              </a:rPr>
              <a:t>implementation source (pinned clone)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104000" y="4590000"/>
            <a:ext cx="12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70C0"/>
                </a:solidFill>
                <a:latin typeface="Calibri"/>
              </a:rPr>
              <a:t>falsification
anchor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11880000" y="4068000"/>
            <a:ext cx="107999" cy="396000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3247999" y="2592000"/>
            <a:ext cx="396001" cy="1872000"/>
          </a:xfrm>
          <a:prstGeom prst="line">
            <a:avLst/>
          </a:prstGeom>
          <a:ln w="22225">
            <a:solidFill>
              <a:srgbClr val="0070C0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304000" y="3096000"/>
            <a:ext cx="1944000" cy="12780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664000" y="3996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0C0"/>
                </a:solidFill>
                <a:latin typeface="Calibri"/>
              </a:rPr>
              <a:t>constraints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6336000" y="2232000"/>
            <a:ext cx="1512000" cy="809999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732000" y="2664000"/>
            <a:ext cx="93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0C0"/>
                </a:solidFill>
                <a:latin typeface="Calibri"/>
              </a:rPr>
              <a:t>probes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9684000" y="1872000"/>
            <a:ext cx="972000" cy="12780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792000" y="2484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0C0"/>
                </a:solidFill>
                <a:latin typeface="Calibri"/>
              </a:rPr>
              <a:t>outputs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