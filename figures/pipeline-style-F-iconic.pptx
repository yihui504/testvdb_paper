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00000" cy="47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1999" y="288000"/>
            <a:ext cx="2304000" cy="1584000"/>
          </a:xfrm>
          <a:prstGeom prst="roundRect">
            <a:avLst/>
          </a:prstGeom>
          <a:noFill/>
          <a:ln w="222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8000" y="468000"/>
            <a:ext cx="792000" cy="684000"/>
          </a:xfrm>
          <a:prstGeom prst="rect">
            <a:avLst/>
          </a:prstGeom>
          <a:noFill/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64000" y="468000"/>
            <a:ext cx="0" cy="684000"/>
          </a:xfrm>
          <a:prstGeom prst="line">
            <a:avLst/>
          </a:prstGeom>
          <a:ln w="203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47200" y="594000"/>
            <a:ext cx="24480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6000" y="594000"/>
            <a:ext cx="24480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7200" y="745200"/>
            <a:ext cx="24480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6000" y="745200"/>
            <a:ext cx="24480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7200" y="896399"/>
            <a:ext cx="24480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6000" y="896399"/>
            <a:ext cx="24480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4000" y="1224000"/>
            <a:ext cx="1080000" cy="1584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API documentation (E1)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32000" y="810000"/>
            <a:ext cx="288000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655999" y="450000"/>
            <a:ext cx="612000" cy="720000"/>
          </a:xfrm>
          <a:prstGeom prst="rect">
            <a:avLst/>
          </a:prstGeom>
          <a:noFill/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742400" y="601200"/>
            <a:ext cx="439200" cy="0"/>
          </a:xfrm>
          <a:prstGeom prst="line">
            <a:avLst/>
          </a:prstGeom>
          <a:ln w="1397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42400" y="752400"/>
            <a:ext cx="439200" cy="0"/>
          </a:xfrm>
          <a:prstGeom prst="line">
            <a:avLst/>
          </a:prstGeom>
          <a:ln w="1397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42400" y="903599"/>
            <a:ext cx="439200" cy="0"/>
          </a:xfrm>
          <a:prstGeom prst="line">
            <a:avLst/>
          </a:prstGeom>
          <a:ln w="1397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12000" y="1224000"/>
            <a:ext cx="936000" cy="2808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behavioral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specification (S)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88000" y="288000"/>
            <a:ext cx="2304000" cy="1584000"/>
          </a:xfrm>
          <a:prstGeom prst="roundRect">
            <a:avLst/>
          </a:prstGeom>
          <a:noFill/>
          <a:ln w="222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4000" y="450000"/>
            <a:ext cx="612000" cy="720000"/>
          </a:xfrm>
          <a:prstGeom prst="rect">
            <a:avLst/>
          </a:prstGeom>
          <a:noFill/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290400" y="601200"/>
            <a:ext cx="439200" cy="0"/>
          </a:xfrm>
          <a:prstGeom prst="line">
            <a:avLst/>
          </a:prstGeom>
          <a:ln w="1397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90400" y="752400"/>
            <a:ext cx="439200" cy="0"/>
          </a:xfrm>
          <a:prstGeom prst="line">
            <a:avLst/>
          </a:prstGeom>
          <a:ln w="1397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290400" y="903599"/>
            <a:ext cx="439200" cy="0"/>
          </a:xfrm>
          <a:prstGeom prst="line">
            <a:avLst/>
          </a:prstGeom>
          <a:ln w="1397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60000" y="1224000"/>
            <a:ext cx="936000" cy="2808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behavioral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specification (S)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88000" y="810000"/>
            <a:ext cx="288000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212000" y="468000"/>
            <a:ext cx="792000" cy="684000"/>
          </a:xfrm>
          <a:prstGeom prst="rect">
            <a:avLst/>
          </a:prstGeom>
          <a:noFill/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12000" y="468000"/>
            <a:ext cx="792000" cy="177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76800" y="52272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63200" y="52272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49600" y="52272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12000" y="700560"/>
            <a:ext cx="792000" cy="410399"/>
          </a:xfrm>
          <a:prstGeom prst="rect">
            <a:avLst/>
          </a:prstGeom>
          <a:noFill/>
        </p:spPr>
        <p:txBody>
          <a:bodyPr wrap="square" lIns="7200" rIns="7200" t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onsolas"/>
                <a:ea typeface="Consolas"/>
              </a:rPr>
              <a:t>&lt;/&gt;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4000" y="1224000"/>
            <a:ext cx="1007999" cy="1584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test scripts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24000" y="288000"/>
            <a:ext cx="3564000" cy="1584000"/>
          </a:xfrm>
          <a:prstGeom prst="roundRect">
            <a:avLst/>
          </a:prstGeom>
          <a:noFill/>
          <a:ln w="222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0000" y="468000"/>
            <a:ext cx="792000" cy="684000"/>
          </a:xfrm>
          <a:prstGeom prst="rect">
            <a:avLst/>
          </a:prstGeom>
          <a:noFill/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0000" y="468000"/>
            <a:ext cx="792000" cy="177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04800" y="52272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91200" y="52272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77600" y="52272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0000" y="700560"/>
            <a:ext cx="792000" cy="410399"/>
          </a:xfrm>
          <a:prstGeom prst="rect">
            <a:avLst/>
          </a:prstGeom>
          <a:noFill/>
        </p:spPr>
        <p:txBody>
          <a:bodyPr wrap="square" lIns="7200" rIns="7200" t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onsolas"/>
                <a:ea typeface="Consolas"/>
              </a:rPr>
              <a:t>&lt;/&gt;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2000" y="1224000"/>
            <a:ext cx="1007999" cy="1584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test scripts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03999" y="810000"/>
            <a:ext cx="288001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an 40"/>
          <p:cNvSpPr/>
          <p:nvPr/>
        </p:nvSpPr>
        <p:spPr>
          <a:xfrm>
            <a:off x="7128000" y="486000"/>
            <a:ext cx="720000" cy="666000"/>
          </a:xfrm>
          <a:prstGeom prst="can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28000" y="719100"/>
            <a:ext cx="720000" cy="333000"/>
          </a:xfrm>
          <a:prstGeom prst="rect">
            <a:avLst/>
          </a:prstGeom>
          <a:noFill/>
        </p:spPr>
        <p:txBody>
          <a:bodyPr wrap="square" lIns="7200" rIns="7200" tIns="0" bIns="0" anchor="ctr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Comic Sans MS"/>
                <a:ea typeface="Comic Sans MS"/>
              </a:rPr>
              <a:t>vdb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0000" y="1224000"/>
            <a:ext cx="936000" cy="2808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Docker-pinned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VDBMS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20000" y="810000"/>
            <a:ext cx="288000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243999" y="450000"/>
            <a:ext cx="576000" cy="720000"/>
          </a:xfrm>
          <a:prstGeom prst="rect">
            <a:avLst/>
          </a:prstGeom>
          <a:noFill/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8330399" y="601200"/>
            <a:ext cx="403201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330399" y="752400"/>
            <a:ext cx="403201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330399" y="903599"/>
            <a:ext cx="403201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287200" y="514800"/>
            <a:ext cx="489600" cy="6120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Comic Sans MS"/>
                <a:ea typeface="Comic Sans MS"/>
              </a:rPr>
              <a:t>✗  ✓</a:t>
            </a:r>
          </a:p>
          <a:p>
            <a:pPr algn="ctr"/>
            <a:r>
              <a:rPr sz="800" b="1">
                <a:solidFill>
                  <a:srgbClr val="111111"/>
                </a:solidFill>
                <a:latin typeface="Comic Sans MS"/>
                <a:ea typeface="Comic Sans MS"/>
              </a:rPr>
              <a:t>✓  ✓</a:t>
            </a:r>
          </a:p>
        </p:txBody>
      </p:sp>
      <p:sp>
        <p:nvSpPr>
          <p:cNvPr id="50" name="Can 49"/>
          <p:cNvSpPr/>
          <p:nvPr/>
        </p:nvSpPr>
        <p:spPr>
          <a:xfrm>
            <a:off x="8622000" y="864000"/>
            <a:ext cx="413999" cy="378000"/>
          </a:xfrm>
          <a:prstGeom prst="can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00000" y="1224000"/>
            <a:ext cx="1116000" cy="2808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evidence triple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(resp + logs + state)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56000" y="936000"/>
            <a:ext cx="395999" cy="0"/>
          </a:xfrm>
          <a:prstGeom prst="line">
            <a:avLst/>
          </a:prstGeom>
          <a:ln w="317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292000" y="936000"/>
            <a:ext cx="396000" cy="0"/>
          </a:xfrm>
          <a:prstGeom prst="line">
            <a:avLst/>
          </a:prstGeom>
          <a:ln w="317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51999" y="1890000"/>
            <a:ext cx="2304000" cy="3060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Comic Sans MS"/>
                <a:ea typeface="Comic Sans MS"/>
              </a:rPr>
              <a:t>① Specification Synthesis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Comic Sans MS"/>
                <a:ea typeface="Comic Sans MS"/>
              </a:rPr>
              <a:t>categorize · evidence-tier · verify-source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88000" y="1890000"/>
            <a:ext cx="2304000" cy="3060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Comic Sans MS"/>
                <a:ea typeface="Comic Sans MS"/>
              </a:rPr>
              <a:t>② Test Script Generation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Comic Sans MS"/>
                <a:ea typeface="Comic Sans MS"/>
              </a:rPr>
              <a:t>pre-bound registry · 5 generation gates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24000" y="1890000"/>
            <a:ext cx="2880000" cy="3060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Comic Sans MS"/>
                <a:ea typeface="Comic Sans MS"/>
              </a:rPr>
              <a:t>③ Evidence Collection</a:t>
            </a:r>
          </a:p>
          <a:p>
            <a:pPr algn="ctr"/>
            <a:r>
              <a:rPr sz="700" b="0">
                <a:solidFill>
                  <a:srgbClr val="595959"/>
                </a:solidFill>
                <a:latin typeface="Comic Sans MS"/>
                <a:ea typeface="Comic Sans MS"/>
              </a:rPr>
              <a:t>Docker-pinned VDBMS · raw HTTP logs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76000" y="468000"/>
            <a:ext cx="4644000" cy="9360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850" b="1">
                <a:solidFill>
                  <a:srgbClr val="111111"/>
                </a:solidFill>
                <a:latin typeface="Comic Sans MS"/>
                <a:ea typeface="Comic Sans MS"/>
              </a:rPr>
              <a:t>LLM agents: read · generate · adjudicate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Comic Sans MS"/>
                <a:ea typeface="Comic Sans MS"/>
              </a:rPr>
              <a:t>execution &amp; mechanical checks: deterministic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Comic Sans MS"/>
                <a:ea typeface="Comic Sans MS"/>
              </a:rPr>
              <a:t>dual sources: docs (E1, top-left) vs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Comic Sans MS"/>
                <a:ea typeface="Comic Sans MS"/>
              </a:rPr>
              <a:t>implementation source (bottom-left)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856000" y="1872000"/>
            <a:ext cx="0" cy="37800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300000" y="2250000"/>
            <a:ext cx="2556000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300000" y="2250000"/>
            <a:ext cx="0" cy="288000"/>
          </a:xfrm>
          <a:prstGeom prst="line">
            <a:avLst/>
          </a:prstGeom>
          <a:ln w="2540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5976000" y="2592000"/>
            <a:ext cx="576000" cy="720000"/>
          </a:xfrm>
          <a:prstGeom prst="rect">
            <a:avLst/>
          </a:prstGeom>
          <a:noFill/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6062400" y="2743200"/>
            <a:ext cx="40320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062400" y="2894400"/>
            <a:ext cx="40320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062400" y="3045600"/>
            <a:ext cx="403200" cy="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019200" y="2656800"/>
            <a:ext cx="489600" cy="6120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800" b="1">
                <a:solidFill>
                  <a:srgbClr val="111111"/>
                </a:solidFill>
                <a:latin typeface="Comic Sans MS"/>
                <a:ea typeface="Comic Sans MS"/>
              </a:rPr>
              <a:t>✗  ✓</a:t>
            </a:r>
          </a:p>
          <a:p>
            <a:pPr algn="ctr"/>
            <a:r>
              <a:rPr sz="800" b="1">
                <a:solidFill>
                  <a:srgbClr val="111111"/>
                </a:solidFill>
                <a:latin typeface="Comic Sans MS"/>
                <a:ea typeface="Comic Sans MS"/>
              </a:rPr>
              <a:t>✓  ✓</a:t>
            </a:r>
          </a:p>
        </p:txBody>
      </p:sp>
      <p:sp>
        <p:nvSpPr>
          <p:cNvPr id="66" name="Can 65"/>
          <p:cNvSpPr/>
          <p:nvPr/>
        </p:nvSpPr>
        <p:spPr>
          <a:xfrm>
            <a:off x="6354000" y="3006000"/>
            <a:ext cx="413999" cy="378000"/>
          </a:xfrm>
          <a:prstGeom prst="can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96000" y="3366000"/>
            <a:ext cx="1152000" cy="1584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evidence triple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020000" y="2951999"/>
            <a:ext cx="25200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7521479" y="2646000"/>
            <a:ext cx="257040" cy="25704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343999" y="2856772"/>
            <a:ext cx="612000" cy="437227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63999" y="3366000"/>
            <a:ext cx="1007999" cy="2808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evidence builder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(LLM agent)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063999" y="2951999"/>
            <a:ext cx="252001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88000" y="2862000"/>
            <a:ext cx="244800" cy="165600"/>
          </a:xfrm>
          <a:prstGeom prst="ellipse">
            <a:avLst/>
          </a:prstGeom>
          <a:noFill/>
          <a:ln w="222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546400" y="2862000"/>
            <a:ext cx="244800" cy="165600"/>
          </a:xfrm>
          <a:prstGeom prst="ellipse">
            <a:avLst/>
          </a:prstGeom>
          <a:noFill/>
          <a:ln w="222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704800" y="2862000"/>
            <a:ext cx="244800" cy="165600"/>
          </a:xfrm>
          <a:prstGeom prst="ellipse">
            <a:avLst/>
          </a:prstGeom>
          <a:noFill/>
          <a:ln w="222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863200" y="2862000"/>
            <a:ext cx="244800" cy="165600"/>
          </a:xfrm>
          <a:prstGeom prst="ellipse">
            <a:avLst/>
          </a:prstGeom>
          <a:noFill/>
          <a:ln w="222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021600" y="2862000"/>
            <a:ext cx="244800" cy="165600"/>
          </a:xfrm>
          <a:prstGeom prst="ellipse">
            <a:avLst/>
          </a:prstGeom>
          <a:noFill/>
          <a:ln w="222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08000" y="3366000"/>
            <a:ext cx="1152000" cy="1584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evidence_chain.json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08000" y="3484800"/>
            <a:ext cx="1152000" cy="1224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650" b="0">
                <a:solidFill>
                  <a:srgbClr val="595959"/>
                </a:solidFill>
                <a:latin typeface="Comic Sans MS"/>
                <a:ea typeface="Comic Sans MS"/>
              </a:rPr>
              <a:t>(five sections)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396000" y="2951999"/>
            <a:ext cx="252000" cy="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9684000" y="2556000"/>
            <a:ext cx="792000" cy="792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10080000" y="2599200"/>
            <a:ext cx="0" cy="705600"/>
          </a:xfrm>
          <a:prstGeom prst="line">
            <a:avLst/>
          </a:prstGeom>
          <a:ln w="2032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720000" y="2777759"/>
            <a:ext cx="342000" cy="348480"/>
          </a:xfrm>
          <a:prstGeom prst="rect">
            <a:avLst/>
          </a:prstGeom>
          <a:noFill/>
        </p:spPr>
        <p:txBody>
          <a:bodyPr wrap="square" lIns="7200" rIns="7200" tIns="0" bIns="0" anchor="ctr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Comic Sans MS"/>
                <a:ea typeface="Comic Sans MS"/>
              </a:rPr>
              <a:t>=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098000" y="2777759"/>
            <a:ext cx="342000" cy="348480"/>
          </a:xfrm>
          <a:prstGeom prst="rect">
            <a:avLst/>
          </a:prstGeom>
          <a:noFill/>
        </p:spPr>
        <p:txBody>
          <a:bodyPr wrap="square" lIns="7200" rIns="7200" tIns="0" bIns="0" anchor="ctr">
            <a:spAutoFit/>
          </a:bodyPr>
          <a:lstStyle/>
          <a:p>
            <a:pPr algn="ctr"/>
            <a:r>
              <a:rPr sz="1300" b="1">
                <a:solidFill>
                  <a:srgbClr val="111111"/>
                </a:solidFill>
                <a:latin typeface="Comic Sans MS"/>
                <a:ea typeface="Comic Sans MS"/>
              </a:rPr>
              <a:t>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04000" y="3366000"/>
            <a:ext cx="1152000" cy="4032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chain auditor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4 mechanical checks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+ perspectives A–D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10494000" y="2646000"/>
            <a:ext cx="702000" cy="126000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494000" y="2880000"/>
            <a:ext cx="1746000" cy="71999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94000" y="3096000"/>
            <a:ext cx="2790000" cy="35999"/>
          </a:xfrm>
          <a:prstGeom prst="line">
            <a:avLst/>
          </a:prstGeom>
          <a:ln w="2286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1124000" y="2358000"/>
            <a:ext cx="864000" cy="324000"/>
          </a:xfrm>
          <a:prstGeom prst="rect">
            <a:avLst/>
          </a:prstGeom>
          <a:noFill/>
        </p:spPr>
        <p:txBody>
          <a:bodyPr wrap="square" lIns="7200" rIns="7200" tIns="0" bIns="0" anchor="ctr">
            <a:spAutoFit/>
          </a:bodyPr>
          <a:lstStyle/>
          <a:p>
            <a:pPr algn="ctr"/>
            <a:r>
              <a:rPr sz="2200" b="1">
                <a:solidFill>
                  <a:srgbClr val="3FA34D"/>
                </a:solidFill>
                <a:latin typeface="Comic Sans MS"/>
                <a:ea typeface="Comic Sans MS"/>
              </a:rPr>
              <a:t>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16000" y="3366000"/>
            <a:ext cx="1080000" cy="1584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Pass</a:t>
            </a:r>
          </a:p>
        </p:txBody>
      </p:sp>
      <p:sp>
        <p:nvSpPr>
          <p:cNvPr id="91" name="Oval 90"/>
          <p:cNvSpPr/>
          <p:nvPr/>
        </p:nvSpPr>
        <p:spPr>
          <a:xfrm>
            <a:off x="12340800" y="2671200"/>
            <a:ext cx="306000" cy="3960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2405600" y="2541600"/>
            <a:ext cx="180000" cy="1584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H="1" flipV="1">
            <a:off x="12232799" y="2692800"/>
            <a:ext cx="115200" cy="5040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2639600" y="2692800"/>
            <a:ext cx="115200" cy="5040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12232799" y="2811600"/>
            <a:ext cx="115200" cy="5040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2639600" y="2811600"/>
            <a:ext cx="115200" cy="5040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 flipV="1">
            <a:off x="12232799" y="2930399"/>
            <a:ext cx="115200" cy="50401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2639600" y="2930399"/>
            <a:ext cx="115200" cy="50401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12384000" y="2469600"/>
            <a:ext cx="53999" cy="8640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2549600" y="2469600"/>
            <a:ext cx="54000" cy="8640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12549600" y="2901600"/>
            <a:ext cx="223200" cy="223200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2549600" y="2916000"/>
            <a:ext cx="223200" cy="198000"/>
          </a:xfrm>
          <a:prstGeom prst="rect">
            <a:avLst/>
          </a:prstGeom>
          <a:noFill/>
        </p:spPr>
        <p:txBody>
          <a:bodyPr wrap="square" lIns="7200" rIns="720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mic Sans MS"/>
                <a:ea typeface="Comic Sans MS"/>
              </a:rPr>
              <a:t>!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060000" y="3366000"/>
            <a:ext cx="1080000" cy="2808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Fail → bug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confirmed</a:t>
            </a:r>
          </a:p>
        </p:txBody>
      </p:sp>
      <p:sp>
        <p:nvSpPr>
          <p:cNvPr id="104" name="Oval 103"/>
          <p:cNvSpPr/>
          <p:nvPr/>
        </p:nvSpPr>
        <p:spPr>
          <a:xfrm>
            <a:off x="13476600" y="2628000"/>
            <a:ext cx="226800" cy="226800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3320000" y="2813975"/>
            <a:ext cx="540000" cy="390024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104000" y="3366000"/>
            <a:ext cx="1152000" cy="2808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Neutral →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human review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80000" y="2214000"/>
            <a:ext cx="3240000" cy="1800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1050" b="1">
                <a:solidFill>
                  <a:srgbClr val="111111"/>
                </a:solidFill>
                <a:latin typeface="Comic Sans MS"/>
                <a:ea typeface="Comic Sans MS"/>
              </a:rPr>
              <a:t>④ Evidence-Chain Audit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2304000" y="1080000"/>
            <a:ext cx="468000" cy="0"/>
          </a:xfrm>
          <a:prstGeom prst="line">
            <a:avLst/>
          </a:prstGeom>
          <a:ln w="17780">
            <a:solidFill>
              <a:srgbClr val="11111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2772000" y="1080000"/>
            <a:ext cx="0" cy="1278000"/>
          </a:xfrm>
          <a:prstGeom prst="line">
            <a:avLst/>
          </a:prstGeom>
          <a:ln w="17780">
            <a:solidFill>
              <a:srgbClr val="11111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2772000" y="2358000"/>
            <a:ext cx="4751999" cy="0"/>
          </a:xfrm>
          <a:prstGeom prst="line">
            <a:avLst/>
          </a:prstGeom>
          <a:ln w="17780">
            <a:solidFill>
              <a:srgbClr val="11111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523999" y="2358000"/>
            <a:ext cx="0" cy="270000"/>
          </a:xfrm>
          <a:prstGeom prst="line">
            <a:avLst/>
          </a:prstGeom>
          <a:ln w="17780">
            <a:solidFill>
              <a:srgbClr val="111111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3600000" y="2217600"/>
            <a:ext cx="2520000" cy="1152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595959"/>
                </a:solidFill>
                <a:latin typeface="Comic Sans MS"/>
                <a:ea typeface="Comic Sans MS"/>
              </a:rPr>
              <a:t>specification (S) guides the builder</a:t>
            </a:r>
          </a:p>
        </p:txBody>
      </p:sp>
      <p:cxnSp>
        <p:nvCxnSpPr>
          <p:cNvPr id="113" name="Connector 112"/>
          <p:cNvCxnSpPr/>
          <p:nvPr/>
        </p:nvCxnSpPr>
        <p:spPr>
          <a:xfrm flipV="1">
            <a:off x="10080000" y="2466000"/>
            <a:ext cx="0" cy="72000"/>
          </a:xfrm>
          <a:prstGeom prst="line">
            <a:avLst/>
          </a:prstGeom>
          <a:ln w="17780">
            <a:solidFill>
              <a:srgbClr val="11111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7812000" y="2466000"/>
            <a:ext cx="2268000" cy="0"/>
          </a:xfrm>
          <a:prstGeom prst="line">
            <a:avLst/>
          </a:prstGeom>
          <a:ln w="17780">
            <a:solidFill>
              <a:srgbClr val="11111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812000" y="2466000"/>
            <a:ext cx="0" cy="162000"/>
          </a:xfrm>
          <a:prstGeom prst="line">
            <a:avLst/>
          </a:prstGeom>
          <a:ln w="17780">
            <a:solidFill>
              <a:srgbClr val="111111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352000" y="2340000"/>
            <a:ext cx="1080000" cy="1080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595959"/>
                </a:solidFill>
                <a:latin typeface="Comic Sans MS"/>
                <a:ea typeface="Comic Sans MS"/>
              </a:rPr>
              <a:t>rebuild ≤ 3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32000" y="2520000"/>
            <a:ext cx="1800000" cy="1116000"/>
          </a:xfrm>
          <a:prstGeom prst="roundRect">
            <a:avLst/>
          </a:prstGeom>
          <a:noFill/>
          <a:ln w="22225">
            <a:solidFill>
              <a:srgbClr val="11111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20000" y="2664000"/>
            <a:ext cx="792000" cy="684000"/>
          </a:xfrm>
          <a:prstGeom prst="rect">
            <a:avLst/>
          </a:prstGeom>
          <a:noFill/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20000" y="2664000"/>
            <a:ext cx="792000" cy="177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84800" y="271872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71200" y="271872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57600" y="2718720"/>
            <a:ext cx="50400" cy="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0000" y="2896560"/>
            <a:ext cx="792000" cy="410399"/>
          </a:xfrm>
          <a:prstGeom prst="rect">
            <a:avLst/>
          </a:prstGeom>
          <a:noFill/>
        </p:spPr>
        <p:txBody>
          <a:bodyPr wrap="square" lIns="7200" rIns="7200" tIns="0" bIns="0" anchor="ctr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onsolas"/>
                <a:ea typeface="Consolas"/>
              </a:rPr>
              <a:t>&lt;/&gt;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0000" y="3384000"/>
            <a:ext cx="1584000" cy="2808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implementation source</a:t>
            </a:r>
          </a:p>
          <a:p>
            <a:pPr algn="ctr"/>
            <a:r>
              <a:rPr sz="700" b="1">
                <a:solidFill>
                  <a:srgbClr val="111111"/>
                </a:solidFill>
                <a:latin typeface="Comic Sans MS"/>
                <a:ea typeface="Comic Sans MS"/>
              </a:rPr>
              <a:t>(repo, e.g. sqlite)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2232000" y="2951999"/>
            <a:ext cx="3671999" cy="0"/>
          </a:xfrm>
          <a:prstGeom prst="line">
            <a:avLst/>
          </a:prstGeom>
          <a:ln w="19050">
            <a:solidFill>
              <a:srgbClr val="111111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3096000" y="2988000"/>
            <a:ext cx="1944000" cy="1152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595959"/>
                </a:solidFill>
                <a:latin typeface="Comic Sans MS"/>
                <a:ea typeface="Comic Sans MS"/>
              </a:rPr>
              <a:t>source grounding (C)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1332000" y="3636000"/>
            <a:ext cx="0" cy="162000"/>
          </a:xfrm>
          <a:prstGeom prst="line">
            <a:avLst/>
          </a:prstGeom>
          <a:ln w="19050">
            <a:solidFill>
              <a:srgbClr val="11111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332000" y="3798000"/>
            <a:ext cx="8100000" cy="0"/>
          </a:xfrm>
          <a:prstGeom prst="line">
            <a:avLst/>
          </a:prstGeom>
          <a:ln w="19050">
            <a:solidFill>
              <a:srgbClr val="11111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9432000" y="3186000"/>
            <a:ext cx="0" cy="612000"/>
          </a:xfrm>
          <a:prstGeom prst="line">
            <a:avLst/>
          </a:prstGeom>
          <a:ln w="19050">
            <a:solidFill>
              <a:srgbClr val="11111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432000" y="3186000"/>
            <a:ext cx="288000" cy="0"/>
          </a:xfrm>
          <a:prstGeom prst="line">
            <a:avLst/>
          </a:prstGeom>
          <a:ln w="19050">
            <a:solidFill>
              <a:srgbClr val="111111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4140000" y="3816000"/>
            <a:ext cx="2880000" cy="1152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700" b="1">
                <a:solidFill>
                  <a:srgbClr val="595959"/>
                </a:solidFill>
                <a:latin typeface="Comic Sans MS"/>
                <a:ea typeface="Comic Sans MS"/>
              </a:rPr>
              <a:t>adversarial cross-check against source (D)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2000" y="4086000"/>
            <a:ext cx="13607999" cy="540000"/>
          </a:xfrm>
          <a:prstGeom prst="rect">
            <a:avLst/>
          </a:prstGeom>
          <a:noFill/>
        </p:spPr>
        <p:txBody>
          <a:bodyPr wrap="square" lIns="7200" rIns="7200" tIns="0" bIns="0" anchor="t">
            <a:spAutoFit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Comic Sans MS"/>
                <a:ea typeface="Comic Sans MS"/>
              </a:rPr>
              <a:t>e.g. #10369 — docs: </a:t>
            </a:r>
            <a:r>
              <a:rPr sz="750" b="0">
                <a:solidFill>
                  <a:srgbClr val="111111"/>
                </a:solidFill>
                <a:latin typeface="Consolas"/>
                <a:ea typeface="Consolas"/>
              </a:rPr>
              <a:t>ON CONFLICT DO UPDATE</a:t>
            </a:r>
            <a:r>
              <a:rPr sz="800" b="0">
                <a:solidFill>
                  <a:srgbClr val="111111"/>
                </a:solidFill>
                <a:latin typeface="Comic Sans MS"/>
                <a:ea typeface="Comic Sans MS"/>
              </a:rPr>
              <a:t> returns </a:t>
            </a:r>
            <a:r>
              <a:rPr sz="750" b="0">
                <a:solidFill>
                  <a:srgbClr val="111111"/>
                </a:solidFill>
                <a:latin typeface="Consolas"/>
                <a:ea typeface="Consolas"/>
              </a:rPr>
              <a:t>UPDATE</a:t>
            </a:r>
            <a:r>
              <a:rPr sz="800" b="0">
                <a:solidFill>
                  <a:srgbClr val="111111"/>
                </a:solidFill>
                <a:latin typeface="Comic Sans MS"/>
                <a:ea typeface="Comic Sans MS"/>
              </a:rPr>
              <a:t>; SQLite 3.51 returns </a:t>
            </a:r>
            <a:r>
              <a:rPr sz="750" b="0">
                <a:solidFill>
                  <a:srgbClr val="111111"/>
                </a:solidFill>
                <a:latin typeface="Consolas"/>
                <a:ea typeface="Consolas"/>
              </a:rPr>
              <a:t>INSERT</a:t>
            </a:r>
            <a:r>
              <a:rPr sz="800" b="1">
                <a:solidFill>
                  <a:srgbClr val="111111"/>
                </a:solidFill>
                <a:latin typeface="Comic Sans MS"/>
                <a:ea typeface="Comic Sans MS"/>
              </a:rPr>
              <a:t>  ⇒  Fail, bug confirmed &amp; reported.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