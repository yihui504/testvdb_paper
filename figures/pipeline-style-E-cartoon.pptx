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400000" cy="47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96000" y="151200"/>
            <a:ext cx="5724000" cy="1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7A7A96"/>
                </a:solidFill>
                <a:latin typeface="Trebuchet MS"/>
              </a:rPr>
              <a:t>reading · generation · adjudication by LLM agents · execution &amp; checks deterministic</a:t>
            </a:r>
          </a:p>
        </p:txBody>
      </p:sp>
      <p:sp>
        <p:nvSpPr>
          <p:cNvPr id="3" name="Folded Corner 2"/>
          <p:cNvSpPr/>
          <p:nvPr/>
        </p:nvSpPr>
        <p:spPr>
          <a:xfrm>
            <a:off x="198000" y="151200"/>
            <a:ext cx="378000" cy="432000"/>
          </a:xfrm>
          <a:prstGeom prst="foldedCorner">
            <a:avLst/>
          </a:prstGeom>
          <a:solidFill>
            <a:srgbClr val="FFF6DE"/>
          </a:solidFill>
          <a:ln w="15875">
            <a:solidFill>
              <a:srgbClr val="E0B85C"/>
            </a:solidFill>
          </a:ln>
          <a:effectLst>
            <a:outerShdw blurRad="25200" dist="12600" dir="5400000" algn="tl" rotWithShape="0">
              <a:srgbClr val="3B3B5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62260" y="280800"/>
            <a:ext cx="200340" cy="0"/>
          </a:xfrm>
          <a:prstGeom prst="line">
            <a:avLst/>
          </a:prstGeom>
          <a:ln w="11430" cap="rnd">
            <a:solidFill>
              <a:srgbClr val="9A9A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62260" y="358560"/>
            <a:ext cx="200340" cy="0"/>
          </a:xfrm>
          <a:prstGeom prst="line">
            <a:avLst/>
          </a:prstGeom>
          <a:ln w="11430" cap="rnd">
            <a:solidFill>
              <a:srgbClr val="9A9A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62260" y="436320"/>
            <a:ext cx="200340" cy="0"/>
          </a:xfrm>
          <a:prstGeom prst="line">
            <a:avLst/>
          </a:prstGeom>
          <a:ln w="11430" cap="rnd">
            <a:solidFill>
              <a:srgbClr val="9A9A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20000" y="125999"/>
            <a:ext cx="3096000" cy="486000"/>
          </a:xfrm>
          <a:prstGeom prst="roundRect">
            <a:avLst>
              <a:gd name="adj" fmla="val 22000"/>
            </a:avLst>
          </a:prstGeom>
          <a:solidFill>
            <a:srgbClr val="FFF6DE"/>
          </a:solidFill>
          <a:ln w="20320">
            <a:solidFill>
              <a:srgbClr val="E0B85C"/>
            </a:solidFill>
          </a:ln>
          <a:effectLst>
            <a:outerShdw blurRad="36000" dist="16200" dir="5400000" algn="tl" rotWithShape="0">
              <a:srgbClr val="3B3B5C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A6220"/>
                </a:solidFill>
                <a:latin typeface="Trebuchet MS"/>
              </a:rPr>
              <a:t>API documentation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A96"/>
                </a:solidFill>
                <a:latin typeface="Trebuchet MS"/>
              </a:rPr>
              <a:t>natural-language prose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68000" y="612000"/>
            <a:ext cx="0" cy="100800"/>
          </a:xfrm>
          <a:prstGeom prst="line">
            <a:avLst/>
          </a:prstGeom>
          <a:ln w="17780" cap="rnd">
            <a:solidFill>
              <a:srgbClr val="3B3B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620000" y="712800"/>
            <a:ext cx="648000" cy="0"/>
          </a:xfrm>
          <a:prstGeom prst="line">
            <a:avLst/>
          </a:prstGeom>
          <a:ln w="17780" cap="rnd">
            <a:solidFill>
              <a:srgbClr val="3B3B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620000" y="712800"/>
            <a:ext cx="0" cy="115199"/>
          </a:xfrm>
          <a:prstGeom prst="line">
            <a:avLst/>
          </a:prstGeom>
          <a:ln w="17780" cap="rnd">
            <a:solidFill>
              <a:srgbClr val="3B3B5C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0000" y="827999"/>
            <a:ext cx="2880000" cy="2736000"/>
          </a:xfrm>
          <a:prstGeom prst="roundRect">
            <a:avLst>
              <a:gd name="adj" fmla="val 4500"/>
            </a:avLst>
          </a:prstGeom>
          <a:solidFill>
            <a:srgbClr val="F4FCF7"/>
          </a:solidFill>
          <a:ln w="15875">
            <a:solidFill>
              <a:srgbClr val="A8D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24800" rIns="43200" tIns="68400" bIns="14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B3B5C"/>
                </a:solidFill>
                <a:latin typeface="Trebuchet MS"/>
              </a:rPr>
              <a:t>Behavioral Specification Extraction</a:t>
            </a:r>
          </a:p>
        </p:txBody>
      </p:sp>
      <p:sp>
        <p:nvSpPr>
          <p:cNvPr id="12" name="Oval 11"/>
          <p:cNvSpPr/>
          <p:nvPr/>
        </p:nvSpPr>
        <p:spPr>
          <a:xfrm>
            <a:off x="266400" y="864000"/>
            <a:ext cx="280800" cy="280800"/>
          </a:xfrm>
          <a:prstGeom prst="ellipse">
            <a:avLst/>
          </a:prstGeom>
          <a:solidFill>
            <a:srgbClr val="6FC79A"/>
          </a:solidFill>
          <a:ln w="13970">
            <a:solidFill>
              <a:srgbClr val="3B3B5C"/>
            </a:solidFill>
          </a:ln>
          <a:effectLst>
            <a:outerShdw blurRad="25200" dist="12600" dir="5400000" algn="tl" rotWithShape="0">
              <a:srgbClr val="3B3B5C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0000" y="827999"/>
            <a:ext cx="2880000" cy="2736000"/>
          </a:xfrm>
          <a:prstGeom prst="roundRect">
            <a:avLst>
              <a:gd name="adj" fmla="val 4500"/>
            </a:avLst>
          </a:prstGeom>
          <a:solidFill>
            <a:srgbClr val="F3F8FE"/>
          </a:solidFill>
          <a:ln w="15875">
            <a:solidFill>
              <a:srgbClr val="AFC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24800" rIns="43200" tIns="68400" bIns="14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B3B5C"/>
                </a:solidFill>
                <a:latin typeface="Trebuchet MS"/>
              </a:rPr>
              <a:t>Test Script Generation</a:t>
            </a:r>
          </a:p>
        </p:txBody>
      </p:sp>
      <p:sp>
        <p:nvSpPr>
          <p:cNvPr id="14" name="Oval 13"/>
          <p:cNvSpPr/>
          <p:nvPr/>
        </p:nvSpPr>
        <p:spPr>
          <a:xfrm>
            <a:off x="3326400" y="864000"/>
            <a:ext cx="280800" cy="280800"/>
          </a:xfrm>
          <a:prstGeom prst="ellipse">
            <a:avLst/>
          </a:prstGeom>
          <a:solidFill>
            <a:srgbClr val="7FB2E8"/>
          </a:solidFill>
          <a:ln w="13970">
            <a:solidFill>
              <a:srgbClr val="3B3B5C"/>
            </a:solidFill>
          </a:ln>
          <a:effectLst>
            <a:outerShdw blurRad="25200" dist="12600" dir="5400000" algn="tl" rotWithShape="0">
              <a:srgbClr val="3B3B5C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0000" y="827999"/>
            <a:ext cx="2376000" cy="2736000"/>
          </a:xfrm>
          <a:prstGeom prst="roundRect">
            <a:avLst>
              <a:gd name="adj" fmla="val 4500"/>
            </a:avLst>
          </a:prstGeom>
          <a:solidFill>
            <a:srgbClr val="FEF8F2"/>
          </a:solidFill>
          <a:ln w="15875">
            <a:solidFill>
              <a:srgbClr val="F2C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24800" rIns="43200" tIns="68400" bIns="14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B3B5C"/>
                </a:solidFill>
                <a:latin typeface="Trebuchet MS"/>
              </a:rPr>
              <a:t>Sandboxed Execution</a:t>
            </a:r>
          </a:p>
        </p:txBody>
      </p:sp>
      <p:sp>
        <p:nvSpPr>
          <p:cNvPr id="16" name="Oval 15"/>
          <p:cNvSpPr/>
          <p:nvPr/>
        </p:nvSpPr>
        <p:spPr>
          <a:xfrm>
            <a:off x="6386399" y="864000"/>
            <a:ext cx="280800" cy="280800"/>
          </a:xfrm>
          <a:prstGeom prst="ellipse">
            <a:avLst/>
          </a:prstGeom>
          <a:solidFill>
            <a:srgbClr val="F0A468"/>
          </a:solidFill>
          <a:ln w="13970">
            <a:solidFill>
              <a:srgbClr val="3B3B5C"/>
            </a:solidFill>
          </a:ln>
          <a:effectLst>
            <a:outerShdw blurRad="25200" dist="12600" dir="5400000" algn="tl" rotWithShape="0">
              <a:srgbClr val="3B3B5C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56000" y="827999"/>
            <a:ext cx="5364000" cy="2736000"/>
          </a:xfrm>
          <a:prstGeom prst="roundRect">
            <a:avLst>
              <a:gd name="adj" fmla="val 4500"/>
            </a:avLst>
          </a:prstGeom>
          <a:solidFill>
            <a:srgbClr val="F8F6FE"/>
          </a:solidFill>
          <a:ln w="15875">
            <a:solidFill>
              <a:srgbClr val="C3B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24800" rIns="43200" tIns="68400" bIns="14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B3B5C"/>
                </a:solidFill>
                <a:latin typeface="Trebuchet MS"/>
              </a:rPr>
              <a:t>Bug Confirmation — builder / auditor split</a:t>
            </a:r>
          </a:p>
        </p:txBody>
      </p:sp>
      <p:sp>
        <p:nvSpPr>
          <p:cNvPr id="18" name="Oval 17"/>
          <p:cNvSpPr/>
          <p:nvPr/>
        </p:nvSpPr>
        <p:spPr>
          <a:xfrm>
            <a:off x="8942400" y="864000"/>
            <a:ext cx="280800" cy="280800"/>
          </a:xfrm>
          <a:prstGeom prst="ellipse">
            <a:avLst/>
          </a:prstGeom>
          <a:solidFill>
            <a:srgbClr val="9B8AE8"/>
          </a:solidFill>
          <a:ln w="13970">
            <a:solidFill>
              <a:srgbClr val="3B3B5C"/>
            </a:solidFill>
          </a:ln>
          <a:effectLst>
            <a:outerShdw blurRad="25200" dist="12600" dir="5400000" algn="tl" rotWithShape="0">
              <a:srgbClr val="3B3B5C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6000" y="1296000"/>
            <a:ext cx="2448000" cy="468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7780">
            <a:solidFill>
              <a:srgbClr val="3B3B5C"/>
            </a:solidFill>
          </a:ln>
          <a:effectLst>
            <a:outerShdw blurRad="36000" dist="16200" dir="5400000" algn="tl" rotWithShape="0">
              <a:srgbClr val="3B3B5C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B3B5C"/>
                </a:solidFill>
                <a:latin typeface="Trebuchet MS"/>
              </a:rPr>
              <a:t>knowledge extractor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7A7A96"/>
                </a:solidFill>
                <a:latin typeface="Trebuchet MS"/>
              </a:rPr>
              <a:t>Crawl4AI · coverage + version checks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6000" y="1872000"/>
            <a:ext cx="2448000" cy="306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9050">
            <a:solidFill>
              <a:srgbClr val="E0B85C"/>
            </a:solidFill>
          </a:ln>
          <a:effectLst>
            <a:outerShdw blurRad="36000" dist="16200" dir="5400000" algn="tl" rotWithShape="0">
              <a:srgbClr val="3B3B5C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6220"/>
                </a:solidFill>
                <a:latin typeface="Consolas"/>
              </a:rPr>
              <a:t>knowledge.json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6000" y="2286000"/>
            <a:ext cx="2448000" cy="468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7780">
            <a:solidFill>
              <a:srgbClr val="3B3B5C"/>
            </a:solidFill>
          </a:ln>
          <a:effectLst>
            <a:outerShdw blurRad="36000" dist="16200" dir="5400000" algn="tl" rotWithShape="0">
              <a:srgbClr val="3B3B5C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B3B5C"/>
                </a:solidFill>
                <a:latin typeface="Trebuchet MS"/>
              </a:rPr>
              <a:t>specification extractor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7A7A96"/>
                </a:solidFill>
                <a:latin typeface="Trebuchet MS"/>
              </a:rPr>
              <a:t>categorize · evidence-tier · verify source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6000" y="2862000"/>
            <a:ext cx="2448000" cy="413999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9050">
            <a:solidFill>
              <a:srgbClr val="E0B85C"/>
            </a:solidFill>
          </a:ln>
          <a:effectLst>
            <a:outerShdw blurRad="36000" dist="16200" dir="5400000" algn="tl" rotWithShape="0">
              <a:srgbClr val="3B3B5C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6220"/>
                </a:solidFill>
                <a:latin typeface="Consolas"/>
              </a:rPr>
              <a:t>specifications.json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7A7A96"/>
                </a:solidFill>
                <a:latin typeface="Trebuchet MS"/>
              </a:rPr>
              <a:t>typed · tiered · source-verified · level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620000" y="1764000"/>
            <a:ext cx="0" cy="108000"/>
          </a:xfrm>
          <a:prstGeom prst="line">
            <a:avLst/>
          </a:prstGeom>
          <a:ln w="17780" cap="rnd">
            <a:solidFill>
              <a:srgbClr val="3B3B5C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20000" y="2178000"/>
            <a:ext cx="0" cy="108000"/>
          </a:xfrm>
          <a:prstGeom prst="line">
            <a:avLst/>
          </a:prstGeom>
          <a:ln w="17780" cap="rnd">
            <a:solidFill>
              <a:srgbClr val="3B3B5C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620000" y="2754000"/>
            <a:ext cx="0" cy="108000"/>
          </a:xfrm>
          <a:prstGeom prst="line">
            <a:avLst/>
          </a:prstGeom>
          <a:ln w="17780" cap="rnd">
            <a:solidFill>
              <a:srgbClr val="3B3B5C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456000" y="1296000"/>
            <a:ext cx="2448000" cy="468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7780">
            <a:solidFill>
              <a:srgbClr val="3B3B5C"/>
            </a:solidFill>
          </a:ln>
          <a:effectLst>
            <a:outerShdw blurRad="36000" dist="16200" dir="5400000" algn="tl" rotWithShape="0">
              <a:srgbClr val="3B3B5C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B3B5C"/>
                </a:solidFill>
                <a:latin typeface="Trebuchet MS"/>
              </a:rPr>
              <a:t>strategy registry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7A7A96"/>
                </a:solidFill>
                <a:latin typeface="Trebuchet MS"/>
              </a:rPr>
              <a:t>pre-bound: trigger → strategy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56000" y="1872000"/>
            <a:ext cx="2448000" cy="468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7780">
            <a:solidFill>
              <a:srgbClr val="3B3B5C"/>
            </a:solidFill>
          </a:ln>
          <a:effectLst>
            <a:outerShdw blurRad="36000" dist="16200" dir="5400000" algn="tl" rotWithShape="0">
              <a:srgbClr val="3B3B5C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B3B5C"/>
                </a:solidFill>
                <a:latin typeface="Trebuchet MS"/>
              </a:rPr>
              <a:t>attack agents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A96"/>
                </a:solidFill>
                <a:latin typeface="Trebuchet MS"/>
              </a:rPr>
              <a:t>boundary · state · semantic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56000" y="2448000"/>
            <a:ext cx="2448000" cy="468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7780">
            <a:solidFill>
              <a:srgbClr val="3B3B5C"/>
            </a:solidFill>
          </a:ln>
          <a:effectLst>
            <a:outerShdw blurRad="36000" dist="16200" dir="5400000" algn="tl" rotWithShape="0">
              <a:srgbClr val="3B3B5C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B3B5C"/>
                </a:solidFill>
                <a:latin typeface="Trebuchet MS"/>
              </a:rPr>
              <a:t>scenario construction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7A7A96"/>
                </a:solidFill>
                <a:latin typeface="Trebuchet MS"/>
              </a:rPr>
              <a:t>system-level · no-match fallback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64000" y="2988000"/>
            <a:ext cx="2232000" cy="324000"/>
          </a:xfrm>
          <a:prstGeom prst="roundRect">
            <a:avLst>
              <a:gd name="adj" fmla="val 50000"/>
            </a:avLst>
          </a:prstGeom>
          <a:solidFill>
            <a:srgbClr val="E9F3FE"/>
          </a:solidFill>
          <a:ln w="19050">
            <a:solidFill>
              <a:srgbClr val="7FB2E8"/>
            </a:solidFill>
          </a:ln>
          <a:effectLst>
            <a:outerShdw blurRad="36000" dist="16200" dir="5400000" algn="tl" rotWithShape="0">
              <a:srgbClr val="3B3B5C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6DB0"/>
                </a:solidFill>
                <a:latin typeface="Trebuchet MS"/>
              </a:rPr>
              <a:t>5 generation gates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680000" y="1764000"/>
            <a:ext cx="0" cy="108000"/>
          </a:xfrm>
          <a:prstGeom prst="line">
            <a:avLst/>
          </a:prstGeom>
          <a:ln w="17780" cap="rnd">
            <a:solidFill>
              <a:srgbClr val="3B3B5C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680000" y="2340000"/>
            <a:ext cx="0" cy="108000"/>
          </a:xfrm>
          <a:prstGeom prst="line">
            <a:avLst/>
          </a:prstGeom>
          <a:ln w="17780" cap="rnd">
            <a:solidFill>
              <a:srgbClr val="3B3B5C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680000" y="2916000"/>
            <a:ext cx="0" cy="72000"/>
          </a:xfrm>
          <a:prstGeom prst="line">
            <a:avLst/>
          </a:prstGeom>
          <a:ln w="17780" cap="rnd">
            <a:solidFill>
              <a:srgbClr val="3B3B5C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Gear 6 32"/>
          <p:cNvSpPr/>
          <p:nvPr/>
        </p:nvSpPr>
        <p:spPr>
          <a:xfrm>
            <a:off x="5544000" y="1360800"/>
            <a:ext cx="306000" cy="306000"/>
          </a:xfrm>
          <a:prstGeom prst="gear6">
            <a:avLst/>
          </a:prstGeom>
          <a:solidFill>
            <a:srgbClr val="E9F3FE"/>
          </a:solidFill>
          <a:ln w="13970">
            <a:solidFill>
              <a:srgbClr val="3B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Lightning Bolt 33"/>
          <p:cNvSpPr/>
          <p:nvPr/>
        </p:nvSpPr>
        <p:spPr>
          <a:xfrm>
            <a:off x="5598000" y="1951200"/>
            <a:ext cx="244800" cy="316800"/>
          </a:xfrm>
          <a:prstGeom prst="lightningBolt">
            <a:avLst/>
          </a:prstGeom>
          <a:solidFill>
            <a:srgbClr val="FFE9A8"/>
          </a:solidFill>
          <a:ln w="13970">
            <a:solidFill>
              <a:srgbClr val="3B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an 34"/>
          <p:cNvSpPr/>
          <p:nvPr/>
        </p:nvSpPr>
        <p:spPr>
          <a:xfrm>
            <a:off x="6480000" y="1440000"/>
            <a:ext cx="2015999" cy="720000"/>
          </a:xfrm>
          <a:prstGeom prst="can">
            <a:avLst/>
          </a:prstGeom>
          <a:solidFill>
            <a:srgbClr val="FFFFFF"/>
          </a:solidFill>
          <a:ln w="19050">
            <a:solidFill>
              <a:srgbClr val="3B3B5C"/>
            </a:solidFill>
          </a:ln>
          <a:effectLst>
            <a:outerShdw blurRad="36000" dist="16200" dir="5400000" algn="tl" rotWithShape="0">
              <a:srgbClr val="3B3B5C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B3B5C"/>
                </a:solidFill>
                <a:latin typeface="Trebuchet MS"/>
              </a:rPr>
              <a:t>Docker-pinned VDBMS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7A7A96"/>
                </a:solidFill>
                <a:latin typeface="Trebuchet MS"/>
              </a:rPr>
              <a:t>target @ version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80000" y="2376000"/>
            <a:ext cx="2015999" cy="413999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9050">
            <a:solidFill>
              <a:srgbClr val="E0B85C"/>
            </a:solidFill>
          </a:ln>
          <a:effectLst>
            <a:outerShdw blurRad="36000" dist="16200" dir="5400000" algn="tl" rotWithShape="0">
              <a:srgbClr val="3B3B5C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6220"/>
                </a:solidFill>
                <a:latin typeface="Consolas"/>
              </a:rPr>
              <a:t>raw HTTP logs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7A7A96"/>
                </a:solidFill>
                <a:latin typeface="Trebuchet MS"/>
              </a:rPr>
              <a:t>+ atomic .done markers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488000" y="2160000"/>
            <a:ext cx="0" cy="216000"/>
          </a:xfrm>
          <a:prstGeom prst="line">
            <a:avLst/>
          </a:prstGeom>
          <a:ln w="17780" cap="rnd">
            <a:solidFill>
              <a:srgbClr val="3B3B5C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072000" y="1260000"/>
            <a:ext cx="2124000" cy="1080000"/>
          </a:xfrm>
          <a:prstGeom prst="roundRect">
            <a:avLst>
              <a:gd name="adj" fmla="val 22000"/>
            </a:avLst>
          </a:prstGeom>
          <a:solidFill>
            <a:srgbClr val="E4F6EC"/>
          </a:solidFill>
          <a:ln w="19050">
            <a:solidFill>
              <a:srgbClr val="6FC79A"/>
            </a:solidFill>
          </a:ln>
          <a:effectLst>
            <a:outerShdw blurRad="36000" dist="16200" dir="5400000" algn="tl" rotWithShape="0">
              <a:srgbClr val="3B3B5C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800" rIns="43200" tIns="57600" bIns="14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E7D52"/>
                </a:solidFill>
                <a:latin typeface="Trebuchet MS"/>
              </a:rPr>
              <a:t>evidence builder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3B6B50"/>
                </a:solidFill>
                <a:latin typeface="Trebuchet MS"/>
              </a:rPr>
              <a:t>· doc verification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3B6B50"/>
                </a:solidFill>
                <a:latin typeface="Trebuchet MS"/>
              </a:rPr>
              <a:t>· execution evidence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3B6B50"/>
                </a:solidFill>
                <a:latin typeface="Trebuchet MS"/>
              </a:rPr>
              <a:t>· contract grounding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3B6B50"/>
                </a:solidFill>
                <a:latin typeface="Trebuchet MS"/>
              </a:rPr>
              <a:t>· chain trace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3B6B50"/>
                </a:solidFill>
                <a:latin typeface="Trebuchet MS"/>
              </a:rPr>
              <a:t>· source grounding (grep clone)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358000" y="1565999"/>
            <a:ext cx="1260000" cy="468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9050">
            <a:solidFill>
              <a:srgbClr val="E0B85C"/>
            </a:solidFill>
          </a:ln>
          <a:effectLst>
            <a:outerShdw blurRad="36000" dist="16200" dir="5400000" algn="tl" rotWithShape="0">
              <a:srgbClr val="3B3B5C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8A6220"/>
                </a:solidFill>
                <a:latin typeface="Consolas"/>
              </a:rPr>
              <a:t>evidence_chain.json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1">
                <a:solidFill>
                  <a:srgbClr val="7A7A96"/>
                </a:solidFill>
                <a:latin typeface="Trebuchet MS"/>
              </a:rPr>
              <a:t>five sections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2762000" y="1260000"/>
            <a:ext cx="1386000" cy="1080000"/>
          </a:xfrm>
          <a:prstGeom prst="roundRect">
            <a:avLst>
              <a:gd name="adj" fmla="val 22000"/>
            </a:avLst>
          </a:prstGeom>
          <a:solidFill>
            <a:srgbClr val="FDEEE2"/>
          </a:solidFill>
          <a:ln w="19050">
            <a:solidFill>
              <a:srgbClr val="F0A468"/>
            </a:solidFill>
          </a:ln>
          <a:effectLst>
            <a:outerShdw blurRad="36000" dist="16200" dir="5400000" algn="tl" rotWithShape="0">
              <a:srgbClr val="3B3B5C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6400" rIns="43200" tIns="57600" bIns="14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5A1E"/>
                </a:solidFill>
                <a:latin typeface="Trebuchet MS"/>
              </a:rPr>
              <a:t>chain auditor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8A5A2A"/>
                </a:solidFill>
                <a:latin typeface="Trebuchet MS"/>
              </a:rPr>
              <a:t>4 mechanical checks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8A5A2A"/>
                </a:solidFill>
                <a:latin typeface="Trebuchet MS"/>
              </a:rPr>
              <a:t>4 perspectives: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8A5A2A"/>
                </a:solidFill>
                <a:latin typeface="Trebuchet MS"/>
              </a:rPr>
              <a:t>A contract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8A5A2A"/>
                </a:solidFill>
                <a:latin typeface="Trebuchet MS"/>
              </a:rPr>
              <a:t>B physical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8A5A2A"/>
                </a:solidFill>
                <a:latin typeface="Trebuchet MS"/>
              </a:rPr>
              <a:t>C cognition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8A5A2A"/>
                </a:solidFill>
                <a:latin typeface="Trebuchet MS"/>
              </a:rPr>
              <a:t>D source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656000" y="2772000"/>
            <a:ext cx="2664000" cy="450000"/>
          </a:xfrm>
          <a:prstGeom prst="roundRect">
            <a:avLst>
              <a:gd name="adj" fmla="val 30000"/>
            </a:avLst>
          </a:prstGeom>
          <a:solidFill>
            <a:srgbClr val="EDE8FC"/>
          </a:solidFill>
          <a:ln w="22225">
            <a:solidFill>
              <a:srgbClr val="9B8AE8"/>
            </a:solidFill>
          </a:ln>
          <a:effectLst>
            <a:outerShdw blurRad="36000" dist="16200" dir="5400000" algn="tl" rotWithShape="0">
              <a:srgbClr val="3B3B5C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3409E"/>
                </a:solidFill>
                <a:latin typeface="Trebuchet MS"/>
              </a:rPr>
              <a:t>verdict: Confirmed / Refuted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5C9E"/>
                </a:solidFill>
                <a:latin typeface="Trebuchet MS"/>
              </a:rPr>
              <a:t>Neutral → human review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1196000" y="1800000"/>
            <a:ext cx="162000" cy="0"/>
          </a:xfrm>
          <a:prstGeom prst="line">
            <a:avLst/>
          </a:prstGeom>
          <a:ln w="17780" cap="rnd">
            <a:solidFill>
              <a:srgbClr val="3B3B5C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2617999" y="1800000"/>
            <a:ext cx="144001" cy="0"/>
          </a:xfrm>
          <a:prstGeom prst="line">
            <a:avLst/>
          </a:prstGeom>
          <a:ln w="17780" cap="rnd">
            <a:solidFill>
              <a:srgbClr val="3B3B5C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3680000" y="2340000"/>
            <a:ext cx="0" cy="655200"/>
          </a:xfrm>
          <a:prstGeom prst="line">
            <a:avLst/>
          </a:prstGeom>
          <a:ln w="17780" cap="rnd">
            <a:solidFill>
              <a:srgbClr val="3B3B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13320000" y="2995200"/>
            <a:ext cx="360000" cy="0"/>
          </a:xfrm>
          <a:prstGeom prst="line">
            <a:avLst/>
          </a:prstGeom>
          <a:ln w="17780" cap="rnd">
            <a:solidFill>
              <a:srgbClr val="3B3B5C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2852000" y="2340000"/>
            <a:ext cx="0" cy="180000"/>
          </a:xfrm>
          <a:prstGeom prst="line">
            <a:avLst/>
          </a:prstGeom>
          <a:ln w="16510" cap="rnd">
            <a:solidFill>
              <a:srgbClr val="9A9AB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10134000" y="2520000"/>
            <a:ext cx="2718000" cy="0"/>
          </a:xfrm>
          <a:prstGeom prst="line">
            <a:avLst/>
          </a:prstGeom>
          <a:ln w="16510" cap="rnd">
            <a:solidFill>
              <a:srgbClr val="9A9AB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0134000" y="2340000"/>
            <a:ext cx="0" cy="180000"/>
          </a:xfrm>
          <a:prstGeom prst="line">
            <a:avLst/>
          </a:prstGeom>
          <a:ln w="16510" cap="rnd">
            <a:solidFill>
              <a:srgbClr val="9A9AB8"/>
            </a:solidFill>
            <a:prstDash val="sysDot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0998000" y="2455200"/>
            <a:ext cx="936000" cy="129600"/>
          </a:xfrm>
          <a:prstGeom prst="rect">
            <a:avLst/>
          </a:prstGeom>
          <a:solidFill>
            <a:srgbClr val="F8F6FE"/>
          </a:solidFill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1">
                <a:solidFill>
                  <a:srgbClr val="9A9AB8"/>
                </a:solidFill>
                <a:latin typeface="Trebuchet MS"/>
              </a:rPr>
              <a:t>rebuild ≤ 3</a:t>
            </a:r>
          </a:p>
        </p:txBody>
      </p:sp>
      <p:sp>
        <p:nvSpPr>
          <p:cNvPr id="50" name="Oval 49"/>
          <p:cNvSpPr/>
          <p:nvPr/>
        </p:nvSpPr>
        <p:spPr>
          <a:xfrm>
            <a:off x="11430000" y="2124000"/>
            <a:ext cx="144000" cy="144000"/>
          </a:xfrm>
          <a:prstGeom prst="ellipse">
            <a:avLst/>
          </a:prstGeom>
          <a:solidFill>
            <a:srgbClr val="6FC79A"/>
          </a:solidFill>
          <a:ln w="12700">
            <a:solidFill>
              <a:srgbClr val="3B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11574000" y="2196000"/>
            <a:ext cx="98999" cy="0"/>
          </a:xfrm>
          <a:prstGeom prst="line">
            <a:avLst/>
          </a:prstGeom>
          <a:ln w="13970" cap="rnd">
            <a:solidFill>
              <a:srgbClr val="3B3B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11672999" y="2124000"/>
            <a:ext cx="144000" cy="144000"/>
          </a:xfrm>
          <a:prstGeom prst="ellipse">
            <a:avLst/>
          </a:prstGeom>
          <a:solidFill>
            <a:srgbClr val="7FB2E8"/>
          </a:solidFill>
          <a:ln w="12700">
            <a:solidFill>
              <a:srgbClr val="3B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11817000" y="2196000"/>
            <a:ext cx="99000" cy="0"/>
          </a:xfrm>
          <a:prstGeom prst="line">
            <a:avLst/>
          </a:prstGeom>
          <a:ln w="13970" cap="rnd">
            <a:solidFill>
              <a:srgbClr val="3B3B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11916000" y="2124000"/>
            <a:ext cx="144000" cy="144000"/>
          </a:xfrm>
          <a:prstGeom prst="ellipse">
            <a:avLst/>
          </a:prstGeom>
          <a:solidFill>
            <a:srgbClr val="E0B85C"/>
          </a:solidFill>
          <a:ln w="12700">
            <a:solidFill>
              <a:srgbClr val="3B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2060000" y="2196000"/>
            <a:ext cx="99000" cy="0"/>
          </a:xfrm>
          <a:prstGeom prst="line">
            <a:avLst/>
          </a:prstGeom>
          <a:ln w="13970" cap="rnd">
            <a:solidFill>
              <a:srgbClr val="3B3B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12159000" y="2124000"/>
            <a:ext cx="144000" cy="144000"/>
          </a:xfrm>
          <a:prstGeom prst="ellipse">
            <a:avLst/>
          </a:prstGeom>
          <a:solidFill>
            <a:srgbClr val="EE9AB4"/>
          </a:solidFill>
          <a:ln w="12700">
            <a:solidFill>
              <a:srgbClr val="3B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12303000" y="2196000"/>
            <a:ext cx="99000" cy="0"/>
          </a:xfrm>
          <a:prstGeom prst="line">
            <a:avLst/>
          </a:prstGeom>
          <a:ln w="13970" cap="rnd">
            <a:solidFill>
              <a:srgbClr val="3B3B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12402000" y="2124000"/>
            <a:ext cx="144000" cy="144000"/>
          </a:xfrm>
          <a:prstGeom prst="ellipse">
            <a:avLst/>
          </a:prstGeom>
          <a:solidFill>
            <a:srgbClr val="9B8AE8"/>
          </a:solidFill>
          <a:ln w="12700">
            <a:solidFill>
              <a:srgbClr val="3B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620000" y="3276000"/>
            <a:ext cx="0" cy="378000"/>
          </a:xfrm>
          <a:prstGeom prst="line">
            <a:avLst/>
          </a:prstGeom>
          <a:ln w="17780" cap="rnd">
            <a:solidFill>
              <a:srgbClr val="3B3B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620000" y="3654000"/>
            <a:ext cx="1728000" cy="0"/>
          </a:xfrm>
          <a:prstGeom prst="line">
            <a:avLst/>
          </a:prstGeom>
          <a:ln w="17780" cap="rnd">
            <a:solidFill>
              <a:srgbClr val="3B3B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348000" y="1530000"/>
            <a:ext cx="0" cy="2124000"/>
          </a:xfrm>
          <a:prstGeom prst="line">
            <a:avLst/>
          </a:prstGeom>
          <a:ln w="17780" cap="rnd">
            <a:solidFill>
              <a:srgbClr val="3B3B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348000" y="1530000"/>
            <a:ext cx="108000" cy="0"/>
          </a:xfrm>
          <a:prstGeom prst="line">
            <a:avLst/>
          </a:prstGeom>
          <a:ln w="17780" cap="rnd">
            <a:solidFill>
              <a:srgbClr val="3B3B5C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764000" y="3671999"/>
            <a:ext cx="72000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A6DB0"/>
                </a:solidFill>
                <a:latin typeface="Trebuchet MS"/>
              </a:rPr>
              <a:t>constraints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4680000" y="3311999"/>
            <a:ext cx="0" cy="342001"/>
          </a:xfrm>
          <a:prstGeom prst="line">
            <a:avLst/>
          </a:prstGeom>
          <a:ln w="17780" cap="rnd">
            <a:solidFill>
              <a:srgbClr val="3B3B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680000" y="3654000"/>
            <a:ext cx="1710000" cy="0"/>
          </a:xfrm>
          <a:prstGeom prst="line">
            <a:avLst/>
          </a:prstGeom>
          <a:ln w="17780" cap="rnd">
            <a:solidFill>
              <a:srgbClr val="3B3B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90000" y="1800000"/>
            <a:ext cx="0" cy="1854000"/>
          </a:xfrm>
          <a:prstGeom prst="line">
            <a:avLst/>
          </a:prstGeom>
          <a:ln w="17780" cap="rnd">
            <a:solidFill>
              <a:srgbClr val="3B3B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6390000" y="1800000"/>
            <a:ext cx="90000" cy="0"/>
          </a:xfrm>
          <a:prstGeom prst="line">
            <a:avLst/>
          </a:prstGeom>
          <a:ln w="17780" cap="rnd">
            <a:solidFill>
              <a:srgbClr val="3B3B5C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4824000" y="3671999"/>
            <a:ext cx="43200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A6DB0"/>
                </a:solidFill>
                <a:latin typeface="Trebuchet MS"/>
              </a:rPr>
              <a:t>probes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488000" y="2790000"/>
            <a:ext cx="0" cy="864000"/>
          </a:xfrm>
          <a:prstGeom prst="line">
            <a:avLst/>
          </a:prstGeom>
          <a:ln w="17780" cap="rnd">
            <a:solidFill>
              <a:srgbClr val="3B3B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7488000" y="3654000"/>
            <a:ext cx="1476000" cy="0"/>
          </a:xfrm>
          <a:prstGeom prst="line">
            <a:avLst/>
          </a:prstGeom>
          <a:ln w="17780" cap="rnd">
            <a:solidFill>
              <a:srgbClr val="3B3B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8964000" y="2015999"/>
            <a:ext cx="0" cy="1638001"/>
          </a:xfrm>
          <a:prstGeom prst="line">
            <a:avLst/>
          </a:prstGeom>
          <a:ln w="17780" cap="rnd">
            <a:solidFill>
              <a:srgbClr val="3B3B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964000" y="2015999"/>
            <a:ext cx="108000" cy="0"/>
          </a:xfrm>
          <a:prstGeom prst="line">
            <a:avLst/>
          </a:prstGeom>
          <a:ln w="17780" cap="rnd">
            <a:solidFill>
              <a:srgbClr val="3B3B5C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7596000" y="3671999"/>
            <a:ext cx="54000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A6DB0"/>
                </a:solidFill>
                <a:latin typeface="Trebuchet MS"/>
              </a:rPr>
              <a:t>outputs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224000" y="3780000"/>
            <a:ext cx="2736000" cy="540000"/>
          </a:xfrm>
          <a:prstGeom prst="roundRect">
            <a:avLst>
              <a:gd name="adj" fmla="val 22000"/>
            </a:avLst>
          </a:prstGeom>
          <a:solidFill>
            <a:srgbClr val="DFF5F1"/>
          </a:solidFill>
          <a:ln w="28575">
            <a:solidFill>
              <a:srgbClr val="45BFAE"/>
            </a:solidFill>
          </a:ln>
          <a:effectLst>
            <a:outerShdw blurRad="36000" dist="16200" dir="5400000" algn="tl" rotWithShape="0">
              <a:srgbClr val="3B3B5C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7A6C"/>
                </a:solidFill>
                <a:latin typeface="Trebuchet MS"/>
              </a:rPr>
              <a:t>implementation source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2A8A7A"/>
                </a:solidFill>
                <a:latin typeface="Trebuchet MS"/>
              </a:rPr>
              <a:t>pinned clone · falsification anchor —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2A8A7A"/>
                </a:solidFill>
                <a:latin typeface="Trebuchet MS"/>
              </a:rPr>
              <a:t>independent of the documentation</a:t>
            </a:r>
          </a:p>
        </p:txBody>
      </p:sp>
      <p:cxnSp>
        <p:nvCxnSpPr>
          <p:cNvPr id="75" name="Connector 74"/>
          <p:cNvCxnSpPr/>
          <p:nvPr/>
        </p:nvCxnSpPr>
        <p:spPr>
          <a:xfrm flipV="1">
            <a:off x="10440000" y="3618000"/>
            <a:ext cx="0" cy="162000"/>
          </a:xfrm>
          <a:prstGeom prst="line">
            <a:avLst/>
          </a:prstGeom>
          <a:ln w="19050" cap="rnd">
            <a:solidFill>
              <a:srgbClr val="1F7A6C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9432000" y="3618000"/>
            <a:ext cx="1008000" cy="0"/>
          </a:xfrm>
          <a:prstGeom prst="line">
            <a:avLst/>
          </a:prstGeom>
          <a:ln w="19050" cap="rnd">
            <a:solidFill>
              <a:srgbClr val="1F7A6C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9432000" y="2340000"/>
            <a:ext cx="0" cy="1278000"/>
          </a:xfrm>
          <a:prstGeom prst="line">
            <a:avLst/>
          </a:prstGeom>
          <a:ln w="19050" cap="rnd">
            <a:solidFill>
              <a:srgbClr val="1F7A6C"/>
            </a:solidFill>
            <a:prstDash val="sysDot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9522000" y="3463199"/>
            <a:ext cx="108000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7A6C"/>
                </a:solidFill>
                <a:latin typeface="Trebuchet MS"/>
              </a:rPr>
              <a:t>source grounding</a:t>
            </a:r>
          </a:p>
        </p:txBody>
      </p:sp>
      <p:cxnSp>
        <p:nvCxnSpPr>
          <p:cNvPr id="79" name="Connector 78"/>
          <p:cNvCxnSpPr/>
          <p:nvPr/>
        </p:nvCxnSpPr>
        <p:spPr>
          <a:xfrm flipV="1">
            <a:off x="12672000" y="3618000"/>
            <a:ext cx="0" cy="162000"/>
          </a:xfrm>
          <a:prstGeom prst="line">
            <a:avLst/>
          </a:prstGeom>
          <a:ln w="19050" cap="rnd">
            <a:solidFill>
              <a:srgbClr val="1F7A6C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2672000" y="3618000"/>
            <a:ext cx="1224000" cy="0"/>
          </a:xfrm>
          <a:prstGeom prst="line">
            <a:avLst/>
          </a:prstGeom>
          <a:ln w="19050" cap="rnd">
            <a:solidFill>
              <a:srgbClr val="1F7A6C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3896000" y="2340000"/>
            <a:ext cx="0" cy="1278000"/>
          </a:xfrm>
          <a:prstGeom prst="line">
            <a:avLst/>
          </a:prstGeom>
          <a:ln w="19050" cap="rnd">
            <a:solidFill>
              <a:srgbClr val="1F7A6C"/>
            </a:solidFill>
            <a:prstDash val="sysDot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2762000" y="3463199"/>
            <a:ext cx="108000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7A6C"/>
                </a:solidFill>
                <a:latin typeface="Trebuchet MS"/>
              </a:rPr>
              <a:t>D perspective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0000" y="4471200"/>
            <a:ext cx="14040000" cy="1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7A7A96"/>
                </a:solidFill>
                <a:latin typeface="Trebuchet MS"/>
              </a:rPr>
              <a:t>Running example (Qdrant #10369): constraint qdrant_state_recommend_001 → state-agent scenario (delete–recreate lookup collection at size 8) → 200 with silently wrong scores, required 400 → source grounding: dimension check absent on the lookup_from path → Confirmed (maintainer accepted)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