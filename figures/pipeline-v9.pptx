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0799445" cy="4175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2"/>
        <p:guide pos="29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561671" y="1143000"/>
            <a:ext cx="798134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7975" y="108000"/>
            <a:ext cx="2951999" cy="558000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01_ee911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75" y="187200"/>
            <a:ext cx="413999" cy="41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975" y="172800"/>
            <a:ext cx="2268000" cy="43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11111"/>
                </a:solidFill>
                <a:latin typeface="Comic Sans MS" panose="030F0702030302020204"/>
              </a:rPr>
              <a:t>API documentation</a:t>
            </a:r>
            <a:endParaRPr sz="1300" b="1" i="0">
              <a:solidFill>
                <a:srgbClr val="111111"/>
              </a:solidFill>
              <a:latin typeface="Comic Sans MS" panose="030F07020303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595959"/>
                </a:solidFill>
                <a:latin typeface="Comic Sans MS" panose="030F0702030302020204"/>
              </a:rPr>
              <a:t>natural-language prose</a:t>
            </a:r>
            <a:endParaRPr sz="95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188000" y="666000"/>
            <a:ext cx="0" cy="169200"/>
          </a:xfrm>
          <a:prstGeom prst="line">
            <a:avLst/>
          </a:prstGeom>
          <a:ln w="3175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90440" y="222885"/>
            <a:ext cx="5732145" cy="1752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1">
                <a:solidFill>
                  <a:srgbClr val="595959"/>
                </a:solidFill>
                <a:latin typeface="Comic Sans MS" panose="030F0702030302020204"/>
              </a:rPr>
              <a:t>LLM agents: reading · generation · adjudication — execution &amp; checks deterministic</a:t>
            </a:r>
            <a:endParaRPr sz="105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6850" y="845820"/>
            <a:ext cx="2071370" cy="2322195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560" y="889200"/>
            <a:ext cx="2016000" cy="37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11111"/>
                </a:solidFill>
                <a:latin typeface="Comic Sans MS" panose="030F0702030302020204"/>
              </a:rPr>
              <a:t>① Behavioral Specification Extraction</a:t>
            </a:r>
            <a:endParaRPr sz="11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9" name="Picture 8" descr="img_04_765a2c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" y="1404000"/>
            <a:ext cx="900000" cy="9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000" y="2411999"/>
            <a:ext cx="2088000" cy="19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specifications.json</a:t>
            </a:r>
            <a:endParaRPr sz="105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000" y="2628000"/>
            <a:ext cx="2016000" cy="34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typed · tiered · verified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74900" y="845820"/>
            <a:ext cx="2016760" cy="2322195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5610" y="889200"/>
            <a:ext cx="2016000" cy="37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11111"/>
                </a:solidFill>
                <a:latin typeface="Comic Sans MS" panose="030F0702030302020204"/>
              </a:rPr>
              <a:t>② Test Script Generation</a:t>
            </a:r>
            <a:endParaRPr sz="11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14" name="Picture 13" descr="img_11_531cc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610" y="1404000"/>
            <a:ext cx="900000" cy="90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39610" y="2411999"/>
            <a:ext cx="2088000" cy="19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test scripts</a:t>
            </a:r>
            <a:endParaRPr sz="105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75610" y="2628000"/>
            <a:ext cx="2016000" cy="34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pre-bound strategies · 5 gates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91990" y="845820"/>
            <a:ext cx="1866900" cy="2322195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7010" y="889200"/>
            <a:ext cx="2016000" cy="37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11111"/>
                </a:solidFill>
                <a:latin typeface="Comic Sans MS" panose="030F0702030302020204"/>
              </a:rPr>
              <a:t>③ Sandboxed Execution</a:t>
            </a:r>
            <a:endParaRPr sz="11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19" name="Picture 18" descr="img_20_cd7483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010" y="1404000"/>
            <a:ext cx="900000" cy="9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61010" y="2411999"/>
            <a:ext cx="2088000" cy="19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raw HTTP logs</a:t>
            </a:r>
            <a:endParaRPr sz="105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33205" y="2628000"/>
            <a:ext cx="2016000" cy="34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Docker-pinned VDBMS @ version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57950" y="845820"/>
            <a:ext cx="4197985" cy="2322195"/>
          </a:xfrm>
          <a:prstGeom prst="roundRect">
            <a:avLst>
              <a:gd name="adj" fmla="val 9000"/>
            </a:avLst>
          </a:prstGeom>
          <a:noFill/>
          <a:ln w="25400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924" y="888980"/>
            <a:ext cx="1800000" cy="16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11111"/>
                </a:solidFill>
                <a:latin typeface="Comic Sans MS" panose="030F0702030302020204"/>
              </a:rPr>
              <a:t>④ Bug Confirmation</a:t>
            </a:r>
            <a:endParaRPr sz="11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24" name="Picture 23" descr="img_19_c36f91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130" y="1626539"/>
            <a:ext cx="413999" cy="4139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28155" y="2082740"/>
            <a:ext cx="1044000" cy="167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11111"/>
                </a:solidFill>
                <a:latin typeface="Comic Sans MS" panose="030F0702030302020204" charset="0"/>
                <a:cs typeface="Comic Sans MS" panose="030F0702030302020204" charset="0"/>
              </a:rPr>
              <a:t>evidence builder</a:t>
            </a:r>
            <a:endParaRPr sz="1000" b="1" i="0">
              <a:solidFill>
                <a:srgbClr val="11111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69075" y="2439755"/>
            <a:ext cx="142200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evidence_chain.json</a:t>
            </a:r>
            <a:endParaRPr sz="100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45880" y="2059940"/>
            <a:ext cx="1400810" cy="190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11111"/>
                </a:solidFill>
                <a:latin typeface="Comic Sans MS" panose="030F0702030302020204" charset="0"/>
                <a:cs typeface="Comic Sans MS" panose="030F0702030302020204" charset="0"/>
              </a:rPr>
              <a:t>chain</a:t>
            </a:r>
            <a:r>
              <a:rPr lang="en-US" sz="1000" b="1" i="0">
                <a:solidFill>
                  <a:srgbClr val="11111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sz="1000" b="1" i="0">
                <a:solidFill>
                  <a:srgbClr val="111111"/>
                </a:solidFill>
                <a:latin typeface="Comic Sans MS" panose="030F0702030302020204" charset="0"/>
                <a:cs typeface="Comic Sans MS" panose="030F0702030302020204" charset="0"/>
              </a:rPr>
              <a:t>auditor</a:t>
            </a:r>
            <a:endParaRPr sz="1000" b="1" i="0">
              <a:solidFill>
                <a:srgbClr val="11111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47635" y="2295525"/>
            <a:ext cx="864235" cy="1162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(five sections)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76055" y="2278380"/>
            <a:ext cx="1365885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595959"/>
                </a:solidFill>
                <a:latin typeface="Comic Sans MS" panose="030F0702030302020204"/>
              </a:rPr>
              <a:t>4 perspectives:</a:t>
            </a:r>
            <a:endParaRPr sz="950" b="0" i="1">
              <a:solidFill>
                <a:srgbClr val="595959"/>
              </a:solidFill>
              <a:latin typeface="Comic Sans MS" panose="030F07020303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595959"/>
                </a:solidFill>
                <a:latin typeface="Comic Sans MS" panose="030F0702030302020204"/>
              </a:rPr>
              <a:t>A contract · B physical</a:t>
            </a:r>
            <a:br>
              <a:rPr sz="950" b="0" i="1">
                <a:solidFill>
                  <a:srgbClr val="595959"/>
                </a:solidFill>
                <a:latin typeface="Comic Sans MS" panose="030F0702030302020204"/>
              </a:rPr>
            </a:br>
            <a:r>
              <a:rPr sz="950" b="0" i="1">
                <a:solidFill>
                  <a:srgbClr val="595959"/>
                </a:solidFill>
                <a:latin typeface="Comic Sans MS" panose="030F0702030302020204"/>
              </a:rPr>
              <a:t>C cognition · </a:t>
            </a:r>
            <a:r>
              <a:rPr sz="950" b="0" i="1">
                <a:solidFill>
                  <a:schemeClr val="tx1"/>
                </a:solidFill>
                <a:latin typeface="Comic Sans MS" panose="030F0702030302020204"/>
              </a:rPr>
              <a:t>D source</a:t>
            </a:r>
            <a:endParaRPr sz="950" b="0" i="1">
              <a:solidFill>
                <a:schemeClr val="tx1"/>
              </a:solidFill>
              <a:latin typeface="Comic Sans MS" panose="030F07020303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91574" y="1267305"/>
            <a:ext cx="864000" cy="1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1">
                <a:solidFill>
                  <a:srgbClr val="595959"/>
                </a:solidFill>
                <a:latin typeface="Comic Sans MS" panose="030F0702030302020204"/>
              </a:rPr>
              <a:t>rebuild ≤ 3</a:t>
            </a:r>
            <a:endParaRPr sz="85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159115" y="3281680"/>
            <a:ext cx="2171700" cy="791845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g_47_65f6c1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480" y="3336535"/>
            <a:ext cx="180000" cy="180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480625" y="3336120"/>
            <a:ext cx="86400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11111"/>
                </a:solidFill>
                <a:latin typeface="Comic Sans MS" panose="030F0702030302020204"/>
              </a:rPr>
              <a:t>Confirmed</a:t>
            </a: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pic>
        <p:nvPicPr>
          <p:cNvPr id="49" name="Picture 48" descr="img_53_1f0a155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480" y="3570120"/>
            <a:ext cx="180000" cy="180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480625" y="3605900"/>
            <a:ext cx="864000" cy="14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11111"/>
                </a:solidFill>
                <a:latin typeface="Comic Sans MS" panose="030F0702030302020204"/>
              </a:rPr>
              <a:t>Refuted</a:t>
            </a: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80425" y="3855720"/>
            <a:ext cx="18383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1">
                <a:solidFill>
                  <a:schemeClr val="tx1"/>
                </a:solidFill>
                <a:latin typeface="Comic Sans MS" panose="030F0702030302020204"/>
              </a:rPr>
              <a:t>Neutral →</a:t>
            </a:r>
            <a:r>
              <a:rPr lang="en-US" sz="900" b="1" i="1">
                <a:solidFill>
                  <a:schemeClr val="tx1"/>
                </a:solidFill>
                <a:latin typeface="Comic Sans MS" panose="030F0702030302020204"/>
              </a:rPr>
              <a:t> require </a:t>
            </a:r>
            <a:r>
              <a:rPr sz="900" b="1" i="1">
                <a:solidFill>
                  <a:schemeClr val="tx1"/>
                </a:solidFill>
                <a:latin typeface="Comic Sans MS" panose="030F0702030302020204"/>
              </a:rPr>
              <a:t>human review</a:t>
            </a:r>
            <a:endParaRPr sz="900" b="1" i="1">
              <a:solidFill>
                <a:schemeClr val="tx1"/>
              </a:solidFill>
              <a:latin typeface="Comic Sans MS" panose="030F0702030302020204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1852505" y="1853975"/>
            <a:ext cx="972820" cy="0"/>
          </a:xfrm>
          <a:prstGeom prst="line">
            <a:avLst/>
          </a:prstGeom>
          <a:ln w="3810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924620" y="1931540"/>
            <a:ext cx="827999" cy="15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latin typeface="Comic Sans MS" panose="030F0702030302020204"/>
              </a:rPr>
              <a:t>constraints</a:t>
            </a:r>
            <a:endParaRPr sz="10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029840" y="1931540"/>
            <a:ext cx="827999" cy="15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latin typeface="Comic Sans MS" panose="030F0702030302020204"/>
              </a:rPr>
              <a:t>probes</a:t>
            </a:r>
            <a:endParaRPr sz="10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027745" y="1931540"/>
            <a:ext cx="827999" cy="15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11111"/>
                </a:solidFill>
                <a:latin typeface="Comic Sans MS" panose="030F0702030302020204"/>
              </a:rPr>
              <a:t>outputs</a:t>
            </a:r>
            <a:endParaRPr sz="10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933555" y="3407225"/>
            <a:ext cx="3456000" cy="666000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11111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35555" y="3479225"/>
            <a:ext cx="2664000" cy="50863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11111"/>
                </a:solidFill>
                <a:latin typeface="Comic Sans MS" panose="030F0702030302020204"/>
              </a:rPr>
              <a:t>implementation source</a:t>
            </a:r>
            <a:endParaRPr sz="1250" b="1" i="0">
              <a:solidFill>
                <a:srgbClr val="111111"/>
              </a:solidFill>
              <a:latin typeface="Comic Sans MS" panose="030F07020303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0" i="1">
                <a:solidFill>
                  <a:srgbClr val="595959"/>
                </a:solidFill>
                <a:latin typeface="Comic Sans MS" panose="030F0702030302020204"/>
              </a:rPr>
              <a:t>local source code</a:t>
            </a: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 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 </a:t>
            </a:r>
            <a:r>
              <a:rPr lang="en-US" sz="900" b="0" i="1">
                <a:solidFill>
                  <a:srgbClr val="595959"/>
                </a:solidFill>
                <a:latin typeface="Comic Sans MS" panose="030F0702030302020204"/>
              </a:rPr>
              <a:t>                ——</a:t>
            </a:r>
            <a:r>
              <a:rPr sz="900" b="0" i="1">
                <a:solidFill>
                  <a:srgbClr val="595959"/>
                </a:solidFill>
                <a:latin typeface="Comic Sans MS" panose="030F0702030302020204"/>
              </a:rPr>
              <a:t> independent of the documentation</a:t>
            </a:r>
            <a:endParaRPr sz="900" b="0" i="1">
              <a:solidFill>
                <a:srgbClr val="595959"/>
              </a:solidFill>
              <a:latin typeface="Comic Sans MS" panose="030F070203030202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28130" y="3712845"/>
            <a:ext cx="1175385" cy="360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7200" tIns="7200" rIns="7200" bIns="72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Comic Sans MS" panose="030F0702030302020204"/>
                <a:sym typeface="+mn-ea"/>
              </a:rPr>
              <a:t>D perspective</a:t>
            </a:r>
            <a:r>
              <a:rPr lang="en-US" sz="950" b="1">
                <a:solidFill>
                  <a:srgbClr val="111111"/>
                </a:solidFill>
                <a:latin typeface="Comic Sans MS" panose="030F0702030302020204"/>
                <a:sym typeface="+mn-ea"/>
              </a:rPr>
              <a:t>:</a:t>
            </a: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11111"/>
                </a:solidFill>
                <a:latin typeface="Comic Sans MS" panose="030F0702030302020204"/>
              </a:rPr>
              <a:t>source grounding </a:t>
            </a: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sz="950" b="1" i="0">
              <a:solidFill>
                <a:srgbClr val="111111"/>
              </a:solidFill>
              <a:latin typeface="Comic Sans MS" panose="030F0702030302020204"/>
            </a:endParaRPr>
          </a:p>
        </p:txBody>
      </p:sp>
      <p:cxnSp>
        <p:nvCxnSpPr>
          <p:cNvPr id="67" name="Connector 53"/>
          <p:cNvCxnSpPr/>
          <p:nvPr/>
        </p:nvCxnSpPr>
        <p:spPr>
          <a:xfrm>
            <a:off x="3957530" y="1853975"/>
            <a:ext cx="972820" cy="0"/>
          </a:xfrm>
          <a:prstGeom prst="line">
            <a:avLst/>
          </a:prstGeom>
          <a:ln w="3810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图片 67" descr="链条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8140" y="1625600"/>
            <a:ext cx="402590" cy="414655"/>
          </a:xfrm>
          <a:prstGeom prst="rect">
            <a:avLst/>
          </a:prstGeom>
        </p:spPr>
      </p:pic>
      <p:pic>
        <p:nvPicPr>
          <p:cNvPr id="70" name="图片 69" descr="纸张放大镜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44990" y="1616075"/>
            <a:ext cx="402590" cy="424180"/>
          </a:xfrm>
          <a:prstGeom prst="rect">
            <a:avLst/>
          </a:prstGeom>
        </p:spPr>
      </p:pic>
      <p:cxnSp>
        <p:nvCxnSpPr>
          <p:cNvPr id="71" name="Connector 53"/>
          <p:cNvCxnSpPr/>
          <p:nvPr/>
        </p:nvCxnSpPr>
        <p:spPr>
          <a:xfrm>
            <a:off x="5955240" y="1853975"/>
            <a:ext cx="972820" cy="0"/>
          </a:xfrm>
          <a:prstGeom prst="line">
            <a:avLst/>
          </a:prstGeom>
          <a:ln w="3810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53"/>
          <p:cNvCxnSpPr>
            <a:endCxn id="68" idx="1"/>
          </p:cNvCxnSpPr>
          <p:nvPr/>
        </p:nvCxnSpPr>
        <p:spPr>
          <a:xfrm>
            <a:off x="7380180" y="1827305"/>
            <a:ext cx="598170" cy="5715"/>
          </a:xfrm>
          <a:prstGeom prst="line">
            <a:avLst/>
          </a:prstGeom>
          <a:ln w="28575" cmpd="sng">
            <a:solidFill>
              <a:schemeClr val="tx1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53"/>
          <p:cNvCxnSpPr>
            <a:stCxn id="68" idx="3"/>
            <a:endCxn id="70" idx="1"/>
          </p:cNvCxnSpPr>
          <p:nvPr/>
        </p:nvCxnSpPr>
        <p:spPr>
          <a:xfrm flipV="1">
            <a:off x="8380940" y="1827940"/>
            <a:ext cx="1064260" cy="5080"/>
          </a:xfrm>
          <a:prstGeom prst="line">
            <a:avLst/>
          </a:prstGeom>
          <a:ln w="28575" cmpd="sng">
            <a:solidFill>
              <a:schemeClr val="tx1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肘形连接符 77"/>
          <p:cNvCxnSpPr>
            <a:stCxn id="70" idx="0"/>
            <a:endCxn id="24" idx="0"/>
          </p:cNvCxnSpPr>
          <p:nvPr/>
        </p:nvCxnSpPr>
        <p:spPr>
          <a:xfrm rot="16200000" flipH="1" flipV="1">
            <a:off x="8392795" y="373380"/>
            <a:ext cx="10160" cy="2496185"/>
          </a:xfrm>
          <a:prstGeom prst="bentConnector3">
            <a:avLst>
              <a:gd name="adj1" fmla="val -3684375"/>
            </a:avLst>
          </a:prstGeom>
          <a:ln w="28575" cmpd="sng">
            <a:solidFill>
              <a:schemeClr val="tx1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endCxn id="46" idx="3"/>
          </p:cNvCxnSpPr>
          <p:nvPr/>
        </p:nvCxnSpPr>
        <p:spPr>
          <a:xfrm rot="5400000" flipV="1">
            <a:off x="9177020" y="2524125"/>
            <a:ext cx="1823720" cy="483235"/>
          </a:xfrm>
          <a:prstGeom prst="bentConnector4">
            <a:avLst>
              <a:gd name="adj1" fmla="val -1027"/>
              <a:gd name="adj2" fmla="val 14145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图片 79" descr="人-头像-圆环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8645" y="3831590"/>
            <a:ext cx="200025" cy="200025"/>
          </a:xfrm>
          <a:prstGeom prst="rect">
            <a:avLst/>
          </a:prstGeom>
        </p:spPr>
      </p:pic>
      <p:pic>
        <p:nvPicPr>
          <p:cNvPr id="81" name="图片 80" descr="代码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26410" y="3522345"/>
            <a:ext cx="467995" cy="461010"/>
          </a:xfrm>
          <a:prstGeom prst="rect">
            <a:avLst/>
          </a:prstGeom>
        </p:spPr>
      </p:pic>
      <p:cxnSp>
        <p:nvCxnSpPr>
          <p:cNvPr id="83" name="肘形连接符 82"/>
          <p:cNvCxnSpPr/>
          <p:nvPr/>
        </p:nvCxnSpPr>
        <p:spPr>
          <a:xfrm flipV="1">
            <a:off x="7150100" y="2804795"/>
            <a:ext cx="2894965" cy="227330"/>
          </a:xfrm>
          <a:prstGeom prst="bentConnector3">
            <a:avLst>
              <a:gd name="adj1" fmla="val 100131"/>
            </a:avLst>
          </a:prstGeom>
          <a:ln w="31750" cmpd="sng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肘形连接符 83"/>
          <p:cNvCxnSpPr/>
          <p:nvPr/>
        </p:nvCxnSpPr>
        <p:spPr>
          <a:xfrm flipV="1">
            <a:off x="6358890" y="3032125"/>
            <a:ext cx="791210" cy="666115"/>
          </a:xfrm>
          <a:prstGeom prst="bentConnector3">
            <a:avLst>
              <a:gd name="adj1" fmla="val 102086"/>
            </a:avLst>
          </a:prstGeom>
          <a:ln w="31750" cmpd="sng">
            <a:solidFill>
              <a:schemeClr val="tx1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34"/>
          <p:cNvSpPr txBox="1"/>
          <p:nvPr/>
        </p:nvSpPr>
        <p:spPr>
          <a:xfrm>
            <a:off x="9255125" y="3354705"/>
            <a:ext cx="1063625" cy="167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" tIns="7200" rIns="7200" bIns="72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000" b="1" i="0">
                <a:solidFill>
                  <a:srgbClr val="111111"/>
                </a:solidFill>
                <a:highlight>
                  <a:srgbClr val="C0C0C0"/>
                </a:highlight>
                <a:latin typeface="Consolas" panose="020B0609020204030204"/>
              </a:rPr>
              <a:t>final verdict</a:t>
            </a:r>
            <a:endParaRPr lang="en-US" sz="1000" b="1" i="0">
              <a:solidFill>
                <a:srgbClr val="111111"/>
              </a:solidFill>
              <a:highlight>
                <a:srgbClr val="C0C0C0"/>
              </a:highlight>
              <a:latin typeface="Consolas" panose="020B0609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WPS 演示</Application>
  <PresentationFormat>On-screen Show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Arial</vt:lpstr>
      <vt:lpstr>Comic Sans MS</vt:lpstr>
      <vt:lpstr>Consolas</vt:lpstr>
      <vt:lpstr>Calibri</vt:lpstr>
      <vt:lpstr>Microsoft YaHei</vt:lpstr>
      <vt:lpstr>Arial Unicode MS</vt:lpstr>
      <vt:lpstr>Consolas</vt:lpstr>
      <vt:lpstr>Comic Sans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Ratio</cp:lastModifiedBy>
  <cp:revision>3</cp:revision>
  <dcterms:created xsi:type="dcterms:W3CDTF">2013-01-27T09:14:00Z</dcterms:created>
  <dcterms:modified xsi:type="dcterms:W3CDTF">2026-09-06T14:08:03Z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22D6908B0AFC4181B27D82EEFFF0C2EC_12</vt:lpwstr>
  </property>
</Properties>
</file>