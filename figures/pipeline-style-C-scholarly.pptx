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96000" y="162000"/>
            <a:ext cx="5724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B7089"/>
                </a:solidFill>
              </a:rPr>
              <a:t>reading · generation · adjudication by LLM agents · execution &amp; checks deterministic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25999"/>
            <a:ext cx="3096000" cy="4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84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A41"/>
                </a:solidFill>
              </a:rPr>
              <a:t>API documentation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89"/>
                </a:solidFill>
              </a:rPr>
              <a:t>natural-language prose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8000" y="612000"/>
            <a:ext cx="0" cy="10080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620000" y="712800"/>
            <a:ext cx="648000" cy="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0000" y="712800"/>
            <a:ext cx="0" cy="115199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0000" y="827999"/>
            <a:ext cx="2880000" cy="273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1"/>
                </a:solidFill>
              </a:rPr>
              <a:t>① Behavioral Specification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827999"/>
            <a:ext cx="57600" cy="2736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0000" y="827999"/>
            <a:ext cx="2880000" cy="273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1"/>
                </a:solidFill>
              </a:rPr>
              <a:t>② Test Script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0" y="827999"/>
            <a:ext cx="57600" cy="2736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000" y="827999"/>
            <a:ext cx="2376000" cy="273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1"/>
                </a:solidFill>
              </a:rPr>
              <a:t>③ Sandboxed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827999"/>
            <a:ext cx="57600" cy="2736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827999"/>
            <a:ext cx="5364000" cy="273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9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A41"/>
                </a:solidFill>
              </a:rPr>
              <a:t>④ Bug Confirmation — builder / auditor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6000" y="827999"/>
            <a:ext cx="57600" cy="2736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6000" y="1296000"/>
            <a:ext cx="244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knowledge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B7089"/>
                </a:solidFill>
              </a:rPr>
              <a:t>Crawl4AI · coverage + version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000" y="1872000"/>
            <a:ext cx="2448000" cy="30600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1"/>
                </a:solidFill>
                <a:latin typeface="Consolas"/>
              </a:rPr>
              <a:t>knowledge.json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000" y="2286000"/>
            <a:ext cx="244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specification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B7089"/>
                </a:solidFill>
              </a:rPr>
              <a:t>categorize · evidence-tier · verify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62000"/>
            <a:ext cx="2448000" cy="413999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1"/>
                </a:solidFill>
                <a:latin typeface="Consolas"/>
              </a:rPr>
              <a:t>specifications.json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44546A"/>
                </a:solidFill>
              </a:rPr>
              <a:t>typed · tiered · source-verified · level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20000" y="1764000"/>
            <a:ext cx="0" cy="108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20000" y="2178000"/>
            <a:ext cx="0" cy="108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0000" y="2754000"/>
            <a:ext cx="0" cy="108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56000" y="1296000"/>
            <a:ext cx="244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strategy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B7089"/>
                </a:solidFill>
              </a:rPr>
              <a:t>pre-bound: trigger →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000" y="1872000"/>
            <a:ext cx="244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attack agents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7089"/>
                </a:solidFill>
              </a:rPr>
              <a:t>boundary · state · semantic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000" y="2448000"/>
            <a:ext cx="2448000" cy="46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scenario construction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5B7089"/>
                </a:solidFill>
              </a:rPr>
              <a:t>system-level · no-match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4000" y="2988000"/>
            <a:ext cx="2232000" cy="324000"/>
          </a:xfrm>
          <a:prstGeom prst="roundRect">
            <a:avLst>
              <a:gd name="adj" fmla="val 6000"/>
            </a:avLst>
          </a:prstGeom>
          <a:solidFill>
            <a:srgbClr val="2F5597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5 generation gates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80000" y="1764000"/>
            <a:ext cx="0" cy="108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80000" y="2340000"/>
            <a:ext cx="0" cy="108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80000" y="2916000"/>
            <a:ext cx="0" cy="72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n 28"/>
          <p:cNvSpPr/>
          <p:nvPr/>
        </p:nvSpPr>
        <p:spPr>
          <a:xfrm>
            <a:off x="6480000" y="1440000"/>
            <a:ext cx="2015999" cy="720000"/>
          </a:xfrm>
          <a:prstGeom prst="can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1"/>
                </a:solidFill>
              </a:rPr>
              <a:t>Docker-pinned VDBMS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B7089"/>
                </a:solidFill>
              </a:rPr>
              <a:t>target @ 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0000" y="2376000"/>
            <a:ext cx="2015999" cy="413999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2A41"/>
                </a:solidFill>
                <a:latin typeface="Consolas"/>
              </a:rPr>
              <a:t>raw HTTP logs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44546A"/>
                </a:solidFill>
              </a:rPr>
              <a:t>+ atomic .done markers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88000" y="2160000"/>
            <a:ext cx="0" cy="21600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72000" y="1260000"/>
            <a:ext cx="2124000" cy="1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evidence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F5597"/>
                </a:solidFill>
              </a:rPr>
              <a:t>· doc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F5597"/>
                </a:solidFill>
              </a:rPr>
              <a:t>· execution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F5597"/>
                </a:solidFill>
              </a:rPr>
              <a:t>· contract grounding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F5597"/>
                </a:solidFill>
              </a:rPr>
              <a:t>· chain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F5597"/>
                </a:solidFill>
              </a:rPr>
              <a:t>· source grounding (grep clone)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358000" y="1565999"/>
            <a:ext cx="1260000" cy="468000"/>
          </a:xfrm>
          <a:prstGeom prst="roundRect">
            <a:avLst>
              <a:gd name="adj" fmla="val 6000"/>
            </a:avLst>
          </a:prstGeom>
          <a:solidFill>
            <a:srgbClr val="DCE6F1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2A41"/>
                </a:solidFill>
                <a:latin typeface="Consolas"/>
              </a:rPr>
              <a:t>evidence_chain.json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44546A"/>
                </a:solidFill>
              </a:rPr>
              <a:t>five sections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762000" y="1260000"/>
            <a:ext cx="1296000" cy="1080000"/>
          </a:xfrm>
          <a:prstGeom prst="roundRect">
            <a:avLst>
              <a:gd name="adj" fmla="val 6000"/>
            </a:avLst>
          </a:prstGeom>
          <a:solidFill>
            <a:srgbClr val="B8CCE4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A41"/>
                </a:solidFill>
              </a:rPr>
              <a:t>chain auditor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B2A41"/>
                </a:solidFill>
              </a:rPr>
              <a:t>4 mechanical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B2A41"/>
                </a:solidFill>
              </a:rPr>
              <a:t>4 perspectives: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B2A41"/>
                </a:solidFill>
              </a:rPr>
              <a:t>A contract · B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1B2A41"/>
                </a:solidFill>
              </a:rPr>
              <a:t>C cognition · D source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56000" y="2772000"/>
            <a:ext cx="2664000" cy="45000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 w="15875">
            <a:solidFill>
              <a:srgbClr val="122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verdict: Confirmed / Refuted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6E0F0"/>
                </a:solidFill>
              </a:rPr>
              <a:t>Neutral → human review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196000" y="1800000"/>
            <a:ext cx="162000" cy="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617999" y="1800000"/>
            <a:ext cx="144001" cy="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680000" y="2340000"/>
            <a:ext cx="0" cy="65520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3320000" y="2995200"/>
            <a:ext cx="360000" cy="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852000" y="2340000"/>
            <a:ext cx="0" cy="180000"/>
          </a:xfrm>
          <a:prstGeom prst="line">
            <a:avLst/>
          </a:prstGeom>
          <a:ln w="12700">
            <a:solidFill>
              <a:srgbClr val="8496A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134000" y="2520000"/>
            <a:ext cx="2718000" cy="0"/>
          </a:xfrm>
          <a:prstGeom prst="line">
            <a:avLst/>
          </a:prstGeom>
          <a:ln w="12700">
            <a:solidFill>
              <a:srgbClr val="8496A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134000" y="2340000"/>
            <a:ext cx="0" cy="180000"/>
          </a:xfrm>
          <a:prstGeom prst="line">
            <a:avLst/>
          </a:prstGeom>
          <a:ln w="12700">
            <a:solidFill>
              <a:srgbClr val="8496A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998000" y="2455200"/>
            <a:ext cx="936000" cy="1296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8496AB"/>
                </a:solidFill>
              </a:rPr>
              <a:t>rebuild ≤ 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20000" y="3276000"/>
            <a:ext cx="0" cy="37800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20000" y="3654000"/>
            <a:ext cx="1728000" cy="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48000" y="1530000"/>
            <a:ext cx="0" cy="212400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48000" y="1530000"/>
            <a:ext cx="108000" cy="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64000" y="3671999"/>
            <a:ext cx="72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3A6B"/>
                </a:solidFill>
              </a:rPr>
              <a:t>constraints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80000" y="3311999"/>
            <a:ext cx="0" cy="342001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0000" y="3654000"/>
            <a:ext cx="1710000" cy="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390000" y="1800000"/>
            <a:ext cx="0" cy="185400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90000" y="1800000"/>
            <a:ext cx="90000" cy="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24000" y="3671999"/>
            <a:ext cx="432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3A6B"/>
                </a:solidFill>
              </a:rPr>
              <a:t>probes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88000" y="2790000"/>
            <a:ext cx="0" cy="86400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88000" y="3654000"/>
            <a:ext cx="1476000" cy="0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64000" y="2015999"/>
            <a:ext cx="0" cy="1638001"/>
          </a:xfrm>
          <a:prstGeom prst="line">
            <a:avLst/>
          </a:prstGeom>
          <a:ln w="12700">
            <a:solidFill>
              <a:srgbClr val="2F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64000" y="2015999"/>
            <a:ext cx="108000" cy="0"/>
          </a:xfrm>
          <a:prstGeom prst="line">
            <a:avLst/>
          </a:prstGeom>
          <a:ln w="12700">
            <a:solidFill>
              <a:srgbClr val="2F559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96000" y="3671999"/>
            <a:ext cx="54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3A6B"/>
                </a:solidFill>
              </a:rPr>
              <a:t>outputs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24000" y="3780000"/>
            <a:ext cx="2736000" cy="540000"/>
          </a:xfrm>
          <a:prstGeom prst="roundRect">
            <a:avLst>
              <a:gd name="adj" fmla="val 6000"/>
            </a:avLst>
          </a:prstGeom>
          <a:solidFill>
            <a:srgbClr val="2F5597"/>
          </a:solidFill>
          <a:ln w="222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</a:rPr>
              <a:t>implementation source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D6E0F0"/>
                </a:solidFill>
              </a:rPr>
              <a:t>pinned clone · falsification anchor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D6E0F0"/>
                </a:solidFill>
              </a:rPr>
              <a:t>independent of the documentation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440000" y="3618000"/>
            <a:ext cx="0" cy="162000"/>
          </a:xfrm>
          <a:prstGeom prst="line">
            <a:avLst/>
          </a:prstGeom>
          <a:ln w="12700">
            <a:solidFill>
              <a:srgbClr val="1B3A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432000" y="3618000"/>
            <a:ext cx="1008000" cy="0"/>
          </a:xfrm>
          <a:prstGeom prst="line">
            <a:avLst/>
          </a:prstGeom>
          <a:ln w="12700">
            <a:solidFill>
              <a:srgbClr val="1B3A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432000" y="2340000"/>
            <a:ext cx="0" cy="1278000"/>
          </a:xfrm>
          <a:prstGeom prst="line">
            <a:avLst/>
          </a:prstGeom>
          <a:ln w="12700">
            <a:solidFill>
              <a:srgbClr val="1B3A6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52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3A6B"/>
                </a:solidFill>
              </a:rPr>
              <a:t>source grounding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12672000" y="3618000"/>
            <a:ext cx="0" cy="162000"/>
          </a:xfrm>
          <a:prstGeom prst="line">
            <a:avLst/>
          </a:prstGeom>
          <a:ln w="12700">
            <a:solidFill>
              <a:srgbClr val="1B3A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72000" y="3618000"/>
            <a:ext cx="1224000" cy="0"/>
          </a:xfrm>
          <a:prstGeom prst="line">
            <a:avLst/>
          </a:prstGeom>
          <a:ln w="12700">
            <a:solidFill>
              <a:srgbClr val="1B3A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3896000" y="2340000"/>
            <a:ext cx="0" cy="1278000"/>
          </a:xfrm>
          <a:prstGeom prst="line">
            <a:avLst/>
          </a:prstGeom>
          <a:ln w="12700">
            <a:solidFill>
              <a:srgbClr val="1B3A6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276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3A6B"/>
                </a:solidFill>
              </a:rPr>
              <a:t>D perspective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000" y="4482000"/>
            <a:ext cx="1404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5B7089"/>
                </a:solidFill>
              </a:rPr>
              <a:t>Running example (Qdrant #10369):  constraint qdrant_state_recommend_001 → state-agent scenario (delete–recreate lookup collection at size 8) → 200 with silently wrong scores vs. required 400 → source grounding finds the dimension check absent on the lookup_from path → Confirmed (maintainer accepted)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