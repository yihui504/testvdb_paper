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12192000" cy="5346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epin" initials="d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Relationship Id="rId8" Type="http://schemas.openxmlformats.org/officeDocument/2006/relationships/commentAuthors" Target="comment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tags" Target="../tags/tag64.xml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tags" Target="../tags/tag65.xml"/><Relationship Id="rId8" Type="http://schemas.openxmlformats.org/officeDocument/2006/relationships/image" Target="../media/image5.png"/><Relationship Id="rId9" Type="http://schemas.openxmlformats.org/officeDocument/2006/relationships/image" Target="../media/image6.svg"/><Relationship Id="rId10" Type="http://schemas.openxmlformats.org/officeDocument/2006/relationships/tags" Target="../tags/tag66.xml"/><Relationship Id="rId11" Type="http://schemas.openxmlformats.org/officeDocument/2006/relationships/tags" Target="../tags/tag67.xml"/><Relationship Id="rId12" Type="http://schemas.openxmlformats.org/officeDocument/2006/relationships/tags" Target="../tags/tag68.xml"/><Relationship Id="rId13" Type="http://schemas.openxmlformats.org/officeDocument/2006/relationships/image" Target="../media/image7.png"/><Relationship Id="rId14" Type="http://schemas.openxmlformats.org/officeDocument/2006/relationships/image" Target="../media/image8.svg"/><Relationship Id="rId15" Type="http://schemas.openxmlformats.org/officeDocument/2006/relationships/tags" Target="../tags/tag69.xml"/><Relationship Id="rId16" Type="http://schemas.openxmlformats.org/officeDocument/2006/relationships/tags" Target="../tags/tag70.xml"/><Relationship Id="rId17" Type="http://schemas.openxmlformats.org/officeDocument/2006/relationships/tags" Target="../tags/tag71.xml"/><Relationship Id="rId18" Type="http://schemas.openxmlformats.org/officeDocument/2006/relationships/tags" Target="../tags/tag72.xml"/><Relationship Id="rId19" Type="http://schemas.openxmlformats.org/officeDocument/2006/relationships/image" Target="../media/image9.png"/><Relationship Id="rId20" Type="http://schemas.openxmlformats.org/officeDocument/2006/relationships/image" Target="../media/image10.svg"/><Relationship Id="rId21" Type="http://schemas.openxmlformats.org/officeDocument/2006/relationships/tags" Target="../tags/tag73.xml"/><Relationship Id="rId22" Type="http://schemas.openxmlformats.org/officeDocument/2006/relationships/image" Target="../media/image11.png"/><Relationship Id="rId23" Type="http://schemas.openxmlformats.org/officeDocument/2006/relationships/image" Target="../media/image12.svg"/><Relationship Id="rId24" Type="http://schemas.openxmlformats.org/officeDocument/2006/relationships/tags" Target="../tags/tag74.xml"/><Relationship Id="rId25" Type="http://schemas.openxmlformats.org/officeDocument/2006/relationships/image" Target="../media/image13.png"/><Relationship Id="rId26" Type="http://schemas.openxmlformats.org/officeDocument/2006/relationships/image" Target="../media/image14.svg"/><Relationship Id="rId27" Type="http://schemas.openxmlformats.org/officeDocument/2006/relationships/tags" Target="../tags/tag75.xml"/><Relationship Id="rId28" Type="http://schemas.openxmlformats.org/officeDocument/2006/relationships/tags" Target="../tags/tag76.xml"/><Relationship Id="rId29" Type="http://schemas.openxmlformats.org/officeDocument/2006/relationships/tags" Target="../tags/tag77.xml"/><Relationship Id="rId30" Type="http://schemas.openxmlformats.org/officeDocument/2006/relationships/tags" Target="../tags/tag78.xml"/><Relationship Id="rId31" Type="http://schemas.openxmlformats.org/officeDocument/2006/relationships/tags" Target="../tags/tag79.xml"/><Relationship Id="rId32" Type="http://schemas.openxmlformats.org/officeDocument/2006/relationships/image" Target="../media/image15.png"/><Relationship Id="rId33" Type="http://schemas.openxmlformats.org/officeDocument/2006/relationships/image" Target="../media/image16.svg"/><Relationship Id="rId34" Type="http://schemas.openxmlformats.org/officeDocument/2006/relationships/tags" Target="../tags/tag80.xml"/><Relationship Id="rId35" Type="http://schemas.openxmlformats.org/officeDocument/2006/relationships/image" Target="../media/image17.png"/><Relationship Id="rId36" Type="http://schemas.openxmlformats.org/officeDocument/2006/relationships/image" Target="../media/image18.svg"/><Relationship Id="rId37" Type="http://schemas.openxmlformats.org/officeDocument/2006/relationships/tags" Target="../tags/tag81.xml"/><Relationship Id="rId38" Type="http://schemas.openxmlformats.org/officeDocument/2006/relationships/image" Target="../media/image19.png"/><Relationship Id="rId39" Type="http://schemas.openxmlformats.org/officeDocument/2006/relationships/image" Target="../media/image20.svg"/><Relationship Id="rId40" Type="http://schemas.openxmlformats.org/officeDocument/2006/relationships/tags" Target="../tags/tag82.xml"/><Relationship Id="rId41" Type="http://schemas.openxmlformats.org/officeDocument/2006/relationships/image" Target="../media/image21.png"/><Relationship Id="rId42" Type="http://schemas.openxmlformats.org/officeDocument/2006/relationships/image" Target="../media/image22.svg"/><Relationship Id="rId43" Type="http://schemas.openxmlformats.org/officeDocument/2006/relationships/tags" Target="../tags/tag83.xml"/><Relationship Id="rId44" Type="http://schemas.openxmlformats.org/officeDocument/2006/relationships/image" Target="../media/image23.png"/><Relationship Id="rId45" Type="http://schemas.openxmlformats.org/officeDocument/2006/relationships/image" Target="../media/image24.svg"/><Relationship Id="rId46" Type="http://schemas.openxmlformats.org/officeDocument/2006/relationships/tags" Target="../tags/tag84.xml"/><Relationship Id="rId47" Type="http://schemas.openxmlformats.org/officeDocument/2006/relationships/tags" Target="../tags/tag85.xml"/><Relationship Id="rId48" Type="http://schemas.openxmlformats.org/officeDocument/2006/relationships/tags" Target="../tags/tag86.xml"/><Relationship Id="rId49" Type="http://schemas.openxmlformats.org/officeDocument/2006/relationships/slideLayout" Target="../slideLayouts/slideLayout2.xml"/><Relationship Id="rId5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档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32280" y="740345"/>
            <a:ext cx="713105" cy="7131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-64770" y="1917000"/>
            <a:ext cx="31051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① Behavioral Specification Extraction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5" name="图片 4" descr="箭头-直角-向右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81760" y="888300"/>
            <a:ext cx="415925" cy="415925"/>
          </a:xfrm>
          <a:prstGeom prst="rect">
            <a:avLst/>
          </a:prstGeom>
        </p:spPr>
      </p:pic>
      <p:pic>
        <p:nvPicPr>
          <p:cNvPr id="6" name="图片 5" descr="书本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2310" y="743520"/>
            <a:ext cx="668655" cy="712470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553085" y="649540"/>
            <a:ext cx="2001520" cy="114871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箭头连接符 8"/>
          <p:cNvCxnSpPr>
            <a:stCxn id="8" idx="3"/>
            <a:endCxn id="16" idx="1"/>
          </p:cNvCxnSpPr>
          <p:nvPr/>
        </p:nvCxnSpPr>
        <p:spPr>
          <a:xfrm>
            <a:off x="2554819" y="1224338"/>
            <a:ext cx="878840" cy="3175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433445" y="1917000"/>
            <a:ext cx="19456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②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Test S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  <a:sym typeface="+mn-ea"/>
              </a:rPr>
              <a:t>cript </a:t>
            </a:r>
            <a:endParaRPr lang="en-US" altLang="zh-CN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  <a:sym typeface="+mn-ea"/>
              </a:rPr>
              <a:t>    G</a:t>
            </a:r>
            <a:r>
              <a:rPr lang="en-US" altLang="zh-CN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eneration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3" name="图片 12" descr="文档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72840" y="742885"/>
            <a:ext cx="713105" cy="713105"/>
          </a:xfrm>
          <a:prstGeom prst="rect">
            <a:avLst/>
          </a:prstGeom>
        </p:spPr>
      </p:pic>
      <p:pic>
        <p:nvPicPr>
          <p:cNvPr id="14" name="图片 13" descr="箭头-直角-向右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97680" y="891475"/>
            <a:ext cx="415925" cy="415925"/>
          </a:xfrm>
          <a:prstGeom prst="rect">
            <a:avLst/>
          </a:prstGeom>
        </p:spPr>
      </p:pic>
      <p:sp>
        <p:nvSpPr>
          <p:cNvPr id="16" name="圆角矩形 15"/>
          <p:cNvSpPr/>
          <p:nvPr/>
        </p:nvSpPr>
        <p:spPr>
          <a:xfrm>
            <a:off x="3433445" y="652715"/>
            <a:ext cx="2063750" cy="114871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 descr="程序代码编程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65040" y="742250"/>
            <a:ext cx="648335" cy="713740"/>
          </a:xfrm>
          <a:prstGeom prst="rect">
            <a:avLst/>
          </a:prstGeom>
        </p:spPr>
      </p:pic>
      <p:grpSp>
        <p:nvGrpSpPr>
          <p:cNvPr id="53" name="组合 52"/>
          <p:cNvGrpSpPr/>
          <p:nvPr/>
        </p:nvGrpSpPr>
        <p:grpSpPr>
          <a:xfrm>
            <a:off x="7557770" y="697165"/>
            <a:ext cx="694055" cy="714375"/>
            <a:chOff x="10768037" y="2587551"/>
            <a:chExt cx="694233" cy="769441"/>
          </a:xfrm>
        </p:grpSpPr>
        <p:sp>
          <p:nvSpPr>
            <p:cNvPr id="54" name="圆柱体 53"/>
            <p:cNvSpPr/>
            <p:nvPr/>
          </p:nvSpPr>
          <p:spPr bwMode="auto">
            <a:xfrm>
              <a:off x="10768037" y="2649006"/>
              <a:ext cx="693836" cy="707986"/>
            </a:xfrm>
            <a:prstGeom prst="can">
              <a:avLst>
                <a:gd name="adj" fmla="val 4467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ctr" anchorCtr="0" compatLnSpc="1">
              <a:no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</a:pPr>
              <a:r>
                <a:rPr lang="en-US" altLang="zh-CN" sz="2800" dirty="0">
                  <a:latin typeface="Times New Roman" panose="02020603050405020304" charset="0"/>
                  <a:ea typeface="Linux Libertine O" panose="02000503000000000000" pitchFamily="50" charset="0"/>
                  <a:cs typeface="Times New Roman" panose="02020603050405020304" charset="0"/>
                </a:rPr>
                <a:t>      </a:t>
              </a:r>
              <a:endParaRPr lang="zh-CN" altLang="en-US" sz="2800" dirty="0" err="1">
                <a:latin typeface="Times New Roman" panose="02020603050405020304" charset="0"/>
                <a:ea typeface="Linux Libertine O" panose="02000503000000000000" pitchFamily="50" charset="0"/>
                <a:cs typeface="Times New Roman" panose="02020603050405020304" charset="0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0768433" y="2587551"/>
              <a:ext cx="693837" cy="429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Times New Roman" panose="02020603050405020304" charset="0"/>
                </a:rPr>
                <a:t>vdb</a:t>
              </a:r>
              <a:endParaRPr lang="en-US" altLang="zh-CN" sz="2000" b="1" dirty="0">
                <a:latin typeface="Times New Roman" panose="02020603050405020304" charset="0"/>
              </a:endParaRPr>
            </a:p>
          </p:txBody>
        </p:sp>
      </p:grpSp>
      <p:cxnSp>
        <p:nvCxnSpPr>
          <p:cNvPr id="18" name="直接箭头连接符 17"/>
          <p:cNvCxnSpPr>
            <a:stCxn id="16" idx="3"/>
            <a:endCxn id="22" idx="1"/>
          </p:cNvCxnSpPr>
          <p:nvPr/>
        </p:nvCxnSpPr>
        <p:spPr>
          <a:xfrm flipV="1">
            <a:off x="5497409" y="1224338"/>
            <a:ext cx="703580" cy="3175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图片 20" descr="箭头-直角-向右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66280" y="923225"/>
            <a:ext cx="415925" cy="415925"/>
          </a:xfrm>
          <a:prstGeom prst="rect">
            <a:avLst/>
          </a:prstGeom>
        </p:spPr>
      </p:pic>
      <p:sp>
        <p:nvSpPr>
          <p:cNvPr id="22" name="圆角矩形 21"/>
          <p:cNvSpPr/>
          <p:nvPr/>
        </p:nvSpPr>
        <p:spPr>
          <a:xfrm>
            <a:off x="6200775" y="649540"/>
            <a:ext cx="5353685" cy="114871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 descr="程序代码编程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41110" y="743520"/>
            <a:ext cx="648335" cy="713740"/>
          </a:xfrm>
          <a:prstGeom prst="rect">
            <a:avLst/>
          </a:prstGeom>
        </p:spPr>
      </p:pic>
      <p:pic>
        <p:nvPicPr>
          <p:cNvPr id="24" name="图片 23" descr="箭头-直角-向右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8025" y="923225"/>
            <a:ext cx="415925" cy="415925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7602855" y="1875725"/>
            <a:ext cx="20072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③ Sandboxed Execution</a:t>
            </a:r>
            <a:endParaRPr lang="en-US" altLang="zh-CN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pic>
        <p:nvPicPr>
          <p:cNvPr id="29" name="图片 28" descr="文件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699625" y="743520"/>
            <a:ext cx="693420" cy="692785"/>
          </a:xfrm>
          <a:prstGeom prst="rect">
            <a:avLst/>
          </a:prstGeom>
        </p:spPr>
      </p:pic>
      <p:pic>
        <p:nvPicPr>
          <p:cNvPr id="31" name="图片 30" descr="文件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790940" y="723200"/>
            <a:ext cx="693420" cy="713105"/>
          </a:xfrm>
          <a:prstGeom prst="rect">
            <a:avLst/>
          </a:prstGeom>
        </p:spPr>
      </p:pic>
      <p:pic>
        <p:nvPicPr>
          <p:cNvPr id="32" name="图片 31" descr="加号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441180" y="950530"/>
            <a:ext cx="356870" cy="356870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466725" y="1349945"/>
            <a:ext cx="11068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573530" y="1371535"/>
            <a:ext cx="10210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Behavioral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specification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501390" y="1374710"/>
            <a:ext cx="10280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Behavioral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specification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660265" y="1374710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Test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scripts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247130" y="1372805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Test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scripts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482205" y="1411540"/>
            <a:ext cx="8369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750935" y="1397570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response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627870" y="1397570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logs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8751570" y="497140"/>
            <a:ext cx="2849880" cy="143827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圆角矩形 44"/>
          <p:cNvSpPr/>
          <p:nvPr/>
        </p:nvSpPr>
        <p:spPr>
          <a:xfrm>
            <a:off x="1601470" y="497775"/>
            <a:ext cx="1022985" cy="143827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圆角矩形 46"/>
          <p:cNvSpPr/>
          <p:nvPr/>
        </p:nvSpPr>
        <p:spPr>
          <a:xfrm>
            <a:off x="7134860" y="2659950"/>
            <a:ext cx="2762250" cy="143827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8" name="图片 47" descr="文档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37230" y="2747580"/>
            <a:ext cx="713105" cy="713105"/>
          </a:xfrm>
          <a:prstGeom prst="rect">
            <a:avLst/>
          </a:prstGeom>
        </p:spPr>
      </p:pic>
      <p:pic>
        <p:nvPicPr>
          <p:cNvPr id="49" name="图片 48" descr="文件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099425" y="2894265"/>
            <a:ext cx="693420" cy="692785"/>
          </a:xfrm>
          <a:prstGeom prst="rect">
            <a:avLst/>
          </a:prstGeom>
        </p:spPr>
      </p:pic>
      <p:pic>
        <p:nvPicPr>
          <p:cNvPr id="50" name="图片 49" descr="文件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172960" y="2873945"/>
            <a:ext cx="693420" cy="713105"/>
          </a:xfrm>
          <a:prstGeom prst="rect">
            <a:avLst/>
          </a:prstGeom>
        </p:spPr>
      </p:pic>
      <p:pic>
        <p:nvPicPr>
          <p:cNvPr id="51" name="图片 50" descr="加号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816850" y="3124135"/>
            <a:ext cx="356870" cy="356870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7754620" y="3587050"/>
            <a:ext cx="1503680" cy="378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VDBMS’s</a:t>
            </a:r>
            <a:endParaRPr lang="en-US" altLang="zh-CN" sz="12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200" b="1">
                <a:latin typeface="Comic Sans MS" panose="030F0702030302020204" charset="0"/>
                <a:cs typeface="Comic Sans MS" panose="030F0702030302020204" charset="0"/>
              </a:rPr>
              <a:t>Actual Behaviour</a:t>
            </a:r>
            <a:endParaRPr lang="en-US" altLang="zh-CN" sz="12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2842260" y="2659950"/>
            <a:ext cx="1503045" cy="143827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2841625" y="3460685"/>
            <a:ext cx="1503680" cy="378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Comic Sans MS" panose="030F0702030302020204" charset="0"/>
                <a:cs typeface="Comic Sans MS" panose="030F0702030302020204" charset="0"/>
              </a:rPr>
              <a:t>Expected VDBMS Behavior in Documentation</a:t>
            </a:r>
            <a:endParaRPr lang="en-US" altLang="zh-CN" sz="12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59" name="曲线连接符 58"/>
          <p:cNvCxnSpPr/>
          <p:nvPr/>
        </p:nvCxnSpPr>
        <p:spPr>
          <a:xfrm rot="5400000">
            <a:off x="9634220" y="2198940"/>
            <a:ext cx="1452880" cy="927100"/>
          </a:xfrm>
          <a:prstGeom prst="curvedConnector2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曲线连接符 59"/>
          <p:cNvCxnSpPr>
            <a:stCxn id="45" idx="2"/>
            <a:endCxn id="55" idx="1"/>
          </p:cNvCxnSpPr>
          <p:nvPr/>
        </p:nvCxnSpPr>
        <p:spPr>
          <a:xfrm rot="5400000" flipV="1">
            <a:off x="1756093" y="2293238"/>
            <a:ext cx="1443355" cy="728980"/>
          </a:xfrm>
          <a:prstGeom prst="curvedConnector2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5" name="椭圆 64"/>
          <p:cNvSpPr/>
          <p:nvPr/>
        </p:nvSpPr>
        <p:spPr>
          <a:xfrm>
            <a:off x="5327650" y="2979355"/>
            <a:ext cx="834390" cy="800100"/>
          </a:xfrm>
          <a:prstGeom prst="ellipse">
            <a:avLst/>
          </a:prstGeom>
          <a:noFill/>
          <a:ln w="349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7" name="图片 66" descr="不等于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776595" y="3210495"/>
            <a:ext cx="336550" cy="336550"/>
          </a:xfrm>
          <a:prstGeom prst="rect">
            <a:avLst/>
          </a:prstGeom>
        </p:spPr>
      </p:pic>
      <p:cxnSp>
        <p:nvCxnSpPr>
          <p:cNvPr id="68" name="直接箭头连接符 67"/>
          <p:cNvCxnSpPr>
            <a:stCxn id="55" idx="3"/>
            <a:endCxn id="65" idx="2"/>
          </p:cNvCxnSpPr>
          <p:nvPr/>
        </p:nvCxnSpPr>
        <p:spPr>
          <a:xfrm>
            <a:off x="4345305" y="3379405"/>
            <a:ext cx="982345" cy="0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endCxn id="65" idx="6"/>
          </p:cNvCxnSpPr>
          <p:nvPr/>
        </p:nvCxnSpPr>
        <p:spPr>
          <a:xfrm flipH="1">
            <a:off x="6162040" y="3510000"/>
            <a:ext cx="972820" cy="0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1" name="图片 70" descr="BUG问题修复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075680" y="4364290"/>
            <a:ext cx="648970" cy="664210"/>
          </a:xfrm>
          <a:prstGeom prst="rect">
            <a:avLst/>
          </a:prstGeom>
        </p:spPr>
      </p:pic>
      <p:sp>
        <p:nvSpPr>
          <p:cNvPr id="72" name="文本框 71"/>
          <p:cNvSpPr txBox="1"/>
          <p:nvPr/>
        </p:nvSpPr>
        <p:spPr>
          <a:xfrm>
            <a:off x="4345305" y="2611055"/>
            <a:ext cx="2746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④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Bug Confirmation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6995160" y="4512245"/>
            <a:ext cx="1248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Bug found</a:t>
            </a:r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！</a:t>
            </a:r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74" name="直接连接符 73"/>
          <p:cNvCxnSpPr>
            <a:endCxn id="65" idx="4"/>
          </p:cNvCxnSpPr>
          <p:nvPr/>
        </p:nvCxnSpPr>
        <p:spPr>
          <a:xfrm>
            <a:off x="5728970" y="2999675"/>
            <a:ext cx="15875" cy="77978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5" name="图片 74" descr="等于号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5392420" y="3211130"/>
            <a:ext cx="317500" cy="335915"/>
          </a:xfrm>
          <a:prstGeom prst="rect">
            <a:avLst/>
          </a:prstGeom>
        </p:spPr>
      </p:pic>
      <p:pic>
        <p:nvPicPr>
          <p:cNvPr id="78" name="图片 77" descr="对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4068000" y="4364290"/>
            <a:ext cx="537845" cy="537845"/>
          </a:xfrm>
          <a:prstGeom prst="rect">
            <a:avLst/>
          </a:prstGeom>
        </p:spPr>
      </p:pic>
      <p:sp>
        <p:nvSpPr>
          <p:cNvPr id="79" name="文本框 78"/>
          <p:cNvSpPr txBox="1"/>
          <p:nvPr/>
        </p:nvSpPr>
        <p:spPr>
          <a:xfrm>
            <a:off x="3024000" y="4584000"/>
            <a:ext cx="962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No Bug. </a:t>
            </a:r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7" name="图片 6" descr="数据库"/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0722610" y="697165"/>
            <a:ext cx="758825" cy="758825"/>
          </a:xfrm>
          <a:prstGeom prst="rect">
            <a:avLst/>
          </a:prstGeom>
        </p:spPr>
      </p:pic>
      <p:pic>
        <p:nvPicPr>
          <p:cNvPr id="15" name="图片 14" descr="加号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342880" y="947355"/>
            <a:ext cx="356870" cy="35687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10615295" y="1397570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</a:t>
            </a:r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state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pic>
        <p:nvPicPr>
          <p:cNvPr id="28" name="图片 27" descr="数据库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9072245" y="2873945"/>
            <a:ext cx="758825" cy="758825"/>
          </a:xfrm>
          <a:prstGeom prst="rect">
            <a:avLst/>
          </a:prstGeom>
        </p:spPr>
      </p:pic>
      <p:pic>
        <p:nvPicPr>
          <p:cNvPr id="34" name="图片 33" descr="加号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732520" y="3124135"/>
            <a:ext cx="356870" cy="35687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72000" y="2430000"/>
            <a:ext cx="2592000" cy="115200"/>
          </a:xfrm>
          <a:prstGeom prst="rect">
            <a:avLst/>
          </a:prstGeom>
          <a:noFill/>
        </p:spPr>
        <p:txBody>
          <a:bodyPr wrap="square" lIns="7200" rIns="7200" tIns="7200" bIns="7200">
            <a:spAutoFit/>
          </a:bodyPr>
          <a:lstStyle/>
          <a:p>
            <a:pPr algn="l"/>
            <a:r>
              <a:rPr sz="700" b="0">
                <a:solidFill>
                  <a:srgbClr val="595959"/>
                </a:solidFill>
                <a:latin typeface="Comic Sans MS"/>
              </a:rPr>
              <a:t>knowledge.json → specifications.json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56000" y="2430000"/>
            <a:ext cx="2664000" cy="115200"/>
          </a:xfrm>
          <a:prstGeom prst="rect">
            <a:avLst/>
          </a:prstGeom>
          <a:noFill/>
        </p:spPr>
        <p:txBody>
          <a:bodyPr wrap="square" lIns="7200" rIns="7200" tIns="7200" bIns="7200">
            <a:spAutoFit/>
          </a:bodyPr>
          <a:lstStyle/>
          <a:p>
            <a:pPr algn="l"/>
            <a:r>
              <a:rPr sz="700" b="0">
                <a:solidFill>
                  <a:srgbClr val="595959"/>
                </a:solidFill>
                <a:latin typeface="Comic Sans MS"/>
              </a:rPr>
              <a:t>pre-bound strategy registry · 5 generation gates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28000" y="2430000"/>
            <a:ext cx="4320000" cy="115200"/>
          </a:xfrm>
          <a:prstGeom prst="rect">
            <a:avLst/>
          </a:prstGeom>
          <a:noFill/>
        </p:spPr>
        <p:txBody>
          <a:bodyPr wrap="square" lIns="7200" rIns="7200" tIns="7200" bIns="7200">
            <a:spAutoFit/>
          </a:bodyPr>
          <a:lstStyle/>
          <a:p>
            <a:pPr algn="l"/>
            <a:r>
              <a:rPr sz="700" b="0">
                <a:solidFill>
                  <a:srgbClr val="595959"/>
                </a:solidFill>
                <a:latin typeface="Comic Sans MS"/>
              </a:rPr>
              <a:t>Docker-pinned VDBMS @ version · raw HTTP logs (+ .done)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560000" y="90000"/>
            <a:ext cx="4500000" cy="162000"/>
          </a:xfrm>
          <a:prstGeom prst="rect">
            <a:avLst/>
          </a:prstGeom>
          <a:noFill/>
        </p:spPr>
        <p:txBody>
          <a:bodyPr wrap="square" lIns="7200" rIns="7200" tIns="7200" bIns="7200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Comic Sans MS"/>
              </a:rPr>
              <a:t>LLM agents: read · generate · adjudicate — execution &amp; checks deterministic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28000" y="3031200"/>
            <a:ext cx="882000" cy="100800"/>
          </a:xfrm>
          <a:prstGeom prst="rect">
            <a:avLst/>
          </a:prstGeom>
          <a:noFill/>
        </p:spPr>
        <p:txBody>
          <a:bodyPr wrap="square" lIns="7200" rIns="7200" tIns="7200" bIns="7200">
            <a:spAutoFit/>
          </a:bodyPr>
          <a:lstStyle/>
          <a:p>
            <a:pPr algn="l"/>
            <a:r>
              <a:rPr sz="700" b="1">
                <a:solidFill>
                  <a:srgbClr val="111111"/>
                </a:solidFill>
                <a:latin typeface="Comic Sans MS"/>
              </a:rPr>
              <a:t>chain auditor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28000" y="3131999"/>
            <a:ext cx="882000" cy="86400"/>
          </a:xfrm>
          <a:prstGeom prst="rect">
            <a:avLst/>
          </a:prstGeom>
          <a:noFill/>
        </p:spPr>
        <p:txBody>
          <a:bodyPr wrap="square" lIns="7200" rIns="7200" tIns="7200" bIns="7200">
            <a:spAutoFit/>
          </a:bodyPr>
          <a:lstStyle/>
          <a:p>
            <a:pPr algn="l"/>
            <a:r>
              <a:rPr sz="600" b="0">
                <a:solidFill>
                  <a:srgbClr val="111111"/>
                </a:solidFill>
                <a:latin typeface="Comic Sans MS"/>
              </a:rPr>
              <a:t>4 mechanical checks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28000" y="3218400"/>
            <a:ext cx="882000" cy="86400"/>
          </a:xfrm>
          <a:prstGeom prst="rect">
            <a:avLst/>
          </a:prstGeom>
          <a:noFill/>
        </p:spPr>
        <p:txBody>
          <a:bodyPr wrap="square" lIns="7200" rIns="7200" tIns="7200" bIns="7200">
            <a:spAutoFit/>
          </a:bodyPr>
          <a:lstStyle/>
          <a:p>
            <a:pPr algn="l"/>
            <a:r>
              <a:rPr sz="580" b="0">
                <a:solidFill>
                  <a:srgbClr val="111111"/>
                </a:solidFill>
                <a:latin typeface="Comic Sans MS"/>
              </a:rPr>
              <a:t>A contract · B physical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28000" y="3304800"/>
            <a:ext cx="882000" cy="86400"/>
          </a:xfrm>
          <a:prstGeom prst="rect">
            <a:avLst/>
          </a:prstGeom>
          <a:noFill/>
        </p:spPr>
        <p:txBody>
          <a:bodyPr wrap="square" lIns="7200" rIns="7200" tIns="7200" bIns="7200">
            <a:spAutoFit/>
          </a:bodyPr>
          <a:lstStyle/>
          <a:p>
            <a:pPr algn="l"/>
            <a:r>
              <a:rPr sz="580" b="0">
                <a:solidFill>
                  <a:srgbClr val="111111"/>
                </a:solidFill>
                <a:latin typeface="Comic Sans MS"/>
              </a:rPr>
              <a:t>C cognition · D source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46000" y="3448800"/>
            <a:ext cx="846000" cy="9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200" rIns="7200" tIns="7200" bIns="7200">
            <a:spAutoFit/>
          </a:bodyPr>
          <a:lstStyle/>
          <a:p>
            <a:pPr algn="l"/>
            <a:r>
              <a:rPr sz="550" b="0">
                <a:solidFill>
                  <a:srgbClr val="111111"/>
                </a:solidFill>
                <a:latin typeface="Comic Sans MS"/>
              </a:rPr>
              <a:t>evidence_chain.json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066000" y="3636000"/>
            <a:ext cx="594000" cy="0"/>
          </a:xfrm>
          <a:prstGeom prst="line">
            <a:avLst/>
          </a:prstGeom>
          <a:ln w="17780">
            <a:solidFill>
              <a:srgbClr val="59595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660000" y="3636000"/>
            <a:ext cx="0" cy="305999"/>
          </a:xfrm>
          <a:prstGeom prst="line">
            <a:avLst/>
          </a:prstGeom>
          <a:ln w="17780">
            <a:solidFill>
              <a:srgbClr val="59595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660000" y="3941999"/>
            <a:ext cx="1116000" cy="0"/>
          </a:xfrm>
          <a:prstGeom prst="line">
            <a:avLst/>
          </a:prstGeom>
          <a:ln w="17780">
            <a:solidFill>
              <a:srgbClr val="59595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7776000" y="3941999"/>
            <a:ext cx="0" cy="165601"/>
          </a:xfrm>
          <a:prstGeom prst="line">
            <a:avLst/>
          </a:prstGeom>
          <a:ln w="17780">
            <a:solidFill>
              <a:srgbClr val="59595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6786000" y="3851999"/>
            <a:ext cx="864000" cy="10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200" rIns="7200" tIns="7200" bIns="7200">
            <a:spAutoFit/>
          </a:bodyPr>
          <a:lstStyle/>
          <a:p>
            <a:pPr algn="l"/>
            <a:r>
              <a:rPr sz="650" b="1">
                <a:solidFill>
                  <a:srgbClr val="595959"/>
                </a:solidFill>
                <a:latin typeface="Comic Sans MS"/>
              </a:rPr>
              <a:t>rebuild ≤ 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880000" y="4121999"/>
            <a:ext cx="1440000" cy="115200"/>
          </a:xfrm>
          <a:prstGeom prst="rect">
            <a:avLst/>
          </a:prstGeom>
          <a:noFill/>
        </p:spPr>
        <p:txBody>
          <a:bodyPr wrap="square" lIns="7200" rIns="7200" tIns="7200" bIns="7200">
            <a:spAutoFit/>
          </a:bodyPr>
          <a:lstStyle/>
          <a:p>
            <a:pPr algn="l"/>
            <a:r>
              <a:rPr sz="750" b="1">
                <a:solidFill>
                  <a:srgbClr val="111111"/>
                </a:solidFill>
                <a:latin typeface="Comic Sans MS"/>
              </a:rPr>
              <a:t>doc verification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182000" y="4121999"/>
            <a:ext cx="1188000" cy="115200"/>
          </a:xfrm>
          <a:prstGeom prst="rect">
            <a:avLst/>
          </a:prstGeom>
          <a:noFill/>
        </p:spPr>
        <p:txBody>
          <a:bodyPr wrap="square" lIns="7200" rIns="7200" tIns="7200" bIns="7200">
            <a:spAutoFit/>
          </a:bodyPr>
          <a:lstStyle/>
          <a:p>
            <a:pPr algn="l"/>
            <a:r>
              <a:rPr sz="750" b="1">
                <a:solidFill>
                  <a:srgbClr val="111111"/>
                </a:solidFill>
                <a:latin typeface="Comic Sans MS"/>
              </a:rPr>
              <a:t>evidence builder</a:t>
            </a:r>
          </a:p>
        </p:txBody>
      </p:sp>
      <p:cxnSp>
        <p:nvCxnSpPr>
          <p:cNvPr id="96" name="Connector 95"/>
          <p:cNvCxnSpPr/>
          <p:nvPr/>
        </p:nvCxnSpPr>
        <p:spPr>
          <a:xfrm flipH="1">
            <a:off x="4500000" y="3726000"/>
            <a:ext cx="936000" cy="648000"/>
          </a:xfrm>
          <a:prstGeom prst="line">
            <a:avLst/>
          </a:prstGeom>
          <a:ln w="2540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5580000" y="3780000"/>
            <a:ext cx="165600" cy="558000"/>
          </a:xfrm>
          <a:prstGeom prst="line">
            <a:avLst/>
          </a:prstGeom>
          <a:ln w="2540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6048000" y="3726000"/>
            <a:ext cx="270000" cy="612000"/>
          </a:xfrm>
          <a:prstGeom prst="line">
            <a:avLst/>
          </a:prstGeom>
          <a:ln w="2540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5166000" y="4356000"/>
            <a:ext cx="792000" cy="288000"/>
          </a:xfrm>
          <a:prstGeom prst="rect">
            <a:avLst/>
          </a:prstGeom>
          <a:noFill/>
        </p:spPr>
        <p:txBody>
          <a:bodyPr wrap="square" lIns="7200" rIns="7200" tIns="7200" bIns="7200">
            <a:spAutoFit/>
          </a:bodyPr>
          <a:lstStyle/>
          <a:p>
            <a:pPr algn="ctr"/>
            <a:r>
              <a:rPr sz="750" b="1">
                <a:solidFill>
                  <a:srgbClr val="111111"/>
                </a:solidFill>
                <a:latin typeface="Comic Sans MS"/>
              </a:rPr>
              <a:t>Neutral →
human review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288000" y="4158000"/>
            <a:ext cx="2376000" cy="917999"/>
          </a:xfrm>
          <a:prstGeom prst="roundRect">
            <a:avLst>
              <a:gd name="adj" fmla="val 10000"/>
            </a:avLst>
          </a:prstGeom>
          <a:noFill/>
          <a:ln w="22225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Picture 10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3999" y="4266000"/>
            <a:ext cx="612000" cy="67320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1098000" y="4266000"/>
            <a:ext cx="1512000" cy="720000"/>
          </a:xfrm>
          <a:prstGeom prst="rect">
            <a:avLst/>
          </a:prstGeom>
          <a:noFill/>
        </p:spPr>
        <p:txBody>
          <a:bodyPr wrap="square" lIns="7200" rIns="7200" tIns="7200" bIns="7200">
            <a:spAutoFit/>
          </a:bodyPr>
          <a:lstStyle/>
          <a:p>
            <a:pPr algn="l"/>
            <a:r>
              <a:rPr sz="750" b="1">
                <a:solidFill>
                  <a:srgbClr val="111111"/>
                </a:solidFill>
                <a:latin typeface="Comic Sans MS"/>
              </a:rPr>
              <a:t>implementation source
(pinned clone)
falsification anchor —
independent of the
documentation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1475999" y="5076000"/>
            <a:ext cx="0" cy="108000"/>
          </a:xfrm>
          <a:prstGeom prst="line">
            <a:avLst/>
          </a:prstGeom>
          <a:ln w="17780">
            <a:solidFill>
              <a:srgbClr val="59595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475999" y="5184000"/>
            <a:ext cx="7020001" cy="0"/>
          </a:xfrm>
          <a:prstGeom prst="line">
            <a:avLst/>
          </a:prstGeom>
          <a:ln w="17780">
            <a:solidFill>
              <a:srgbClr val="59595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8496000" y="4111200"/>
            <a:ext cx="0" cy="1072800"/>
          </a:xfrm>
          <a:prstGeom prst="line">
            <a:avLst/>
          </a:prstGeom>
          <a:ln w="17780">
            <a:solidFill>
              <a:srgbClr val="59595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655999" y="5198400"/>
            <a:ext cx="4140000" cy="11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200" rIns="7200" tIns="7200" bIns="7200">
            <a:spAutoFit/>
          </a:bodyPr>
          <a:lstStyle/>
          <a:p>
            <a:pPr algn="l"/>
            <a:r>
              <a:rPr sz="700" b="1">
                <a:solidFill>
                  <a:srgbClr val="111111"/>
                </a:solidFill>
                <a:latin typeface="Comic Sans MS"/>
              </a:rPr>
              <a:t>source grounding (builder) · D perspective (auditor)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ldLvl="0" animBg="1"/>
      <p:bldP spid="55" grpId="0" bldLvl="0" animBg="1"/>
      <p:bldP spid="58" grpId="0"/>
      <p:bldP spid="44" grpId="0" bldLvl="0" animBg="1"/>
      <p:bldP spid="47" grpId="0" bldLvl="0" animBg="1"/>
      <p:bldP spid="52" grpId="0"/>
      <p:bldP spid="65" grpId="0" bldLvl="0" animBg="1"/>
      <p:bldP spid="72" grpId="0"/>
      <p:bldP spid="73" grpId="0"/>
      <p:bldP spid="79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DOCER_RESOURCE_TRACE_INFO" val="{&quot;id&quot;:&quot;50059455&quot;,&quot;origin&quot;:0,&quot;type&quot;:&quot;icons&quot;,&quot;user&quot;:&quot;1619202567&quot;}"/>
</p:tagLst>
</file>

<file path=ppt/tags/tag64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619202567&quot;}"/>
</p:tagLst>
</file>

<file path=ppt/tags/tag65.xml><?xml version="1.0" encoding="utf-8"?>
<p:tagLst xmlns:p="http://schemas.openxmlformats.org/presentationml/2006/main">
  <p:tag name="KSO_DOCER_RESOURCE_TRACE_INFO" val="{&quot;id&quot;:&quot;50033282&quot;,&quot;origin&quot;:0,&quot;type&quot;:&quot;icons&quot;,&quot;user&quot;:&quot;1619202567&quot;}"/>
</p:tagLst>
</file>

<file path=ppt/tags/tag66.xml><?xml version="1.0" encoding="utf-8"?>
<p:tagLst xmlns:p="http://schemas.openxmlformats.org/presentationml/2006/main">
  <p:tag name="KSO_DOCER_RESOURCE_TRACE_INFO" val="{&quot;id&quot;:&quot;50059455&quot;,&quot;origin&quot;:0,&quot;type&quot;:&quot;icons&quot;,&quot;user&quot;:&quot;1619202567&quot;}"/>
</p:tagLst>
</file>

<file path=ppt/tags/tag67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619202567&quot;}"/>
</p:tagLst>
</file>

<file path=ppt/tags/tag68.xml><?xml version="1.0" encoding="utf-8"?>
<p:tagLst xmlns:p="http://schemas.openxmlformats.org/presentationml/2006/main">
  <p:tag name="KSO_DOCER_RESOURCE_TRACE_INFO" val="{&quot;id&quot;:&quot;21549659&quot;,&quot;origin&quot;:0,&quot;type&quot;:&quot;icons&quot;,&quot;user&quot;:&quot;1619202567&quot;}"/>
</p:tagLst>
</file>

<file path=ppt/tags/tag69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619202567&quot;}"/>
</p:tagLst>
</file>

<file path=ppt/tags/tag70.xml><?xml version="1.0" encoding="utf-8"?>
<p:tagLst xmlns:p="http://schemas.openxmlformats.org/presentationml/2006/main">
  <p:tag name="KSO_DOCER_RESOURCE_TRACE_INFO" val="{&quot;id&quot;:&quot;21549659&quot;,&quot;origin&quot;:0,&quot;type&quot;:&quot;icons&quot;,&quot;user&quot;:&quot;1619202567&quot;}"/>
</p:tagLst>
</file>

<file path=ppt/tags/tag71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619202567&quot;}"/>
</p:tagLst>
</file>

<file path=ppt/tags/tag72.xml><?xml version="1.0" encoding="utf-8"?>
<p:tagLst xmlns:p="http://schemas.openxmlformats.org/presentationml/2006/main">
  <p:tag name="KSO_DOCER_RESOURCE_TRACE_INFO" val="{&quot;id&quot;:&quot;50044699&quot;,&quot;origin&quot;:0,&quot;type&quot;:&quot;icons&quot;,&quot;user&quot;:&quot;1619202567&quot;}"/>
</p:tagLst>
</file>

<file path=ppt/tags/tag73.xml><?xml version="1.0" encoding="utf-8"?>
<p:tagLst xmlns:p="http://schemas.openxmlformats.org/presentationml/2006/main">
  <p:tag name="KSO_DOCER_RESOURCE_TRACE_INFO" val="{&quot;id&quot;:&quot;20280902&quot;,&quot;origin&quot;:0,&quot;type&quot;:&quot;icons&quot;,&quot;user&quot;:&quot;1619202567&quot;}"/>
</p:tagLst>
</file>

<file path=ppt/tags/tag74.xml><?xml version="1.0" encoding="utf-8"?>
<p:tagLst xmlns:p="http://schemas.openxmlformats.org/presentationml/2006/main">
  <p:tag name="KSO_DOCER_RESOURCE_TRACE_INFO" val="{&quot;id&quot;:&quot;50062569&quot;,&quot;origin&quot;:0,&quot;type&quot;:&quot;icons&quot;,&quot;user&quot;:&quot;1619202567&quot;}"/>
</p:tagLst>
</file>

<file path=ppt/tags/tag75.xml><?xml version="1.0" encoding="utf-8"?>
<p:tagLst xmlns:p="http://schemas.openxmlformats.org/presentationml/2006/main">
  <p:tag name="KSO_DOCER_RESOURCE_TRACE_INFO" val="{&quot;id&quot;:&quot;50059455&quot;,&quot;origin&quot;:0,&quot;type&quot;:&quot;icons&quot;,&quot;user&quot;:&quot;1619202567&quot;}"/>
</p:tagLst>
</file>

<file path=ppt/tags/tag76.xml><?xml version="1.0" encoding="utf-8"?>
<p:tagLst xmlns:p="http://schemas.openxmlformats.org/presentationml/2006/main">
  <p:tag name="KSO_DOCER_RESOURCE_TRACE_INFO" val="{&quot;id&quot;:&quot;50044699&quot;,&quot;origin&quot;:0,&quot;type&quot;:&quot;icons&quot;,&quot;user&quot;:&quot;1619202567&quot;}"/>
</p:tagLst>
</file>

<file path=ppt/tags/tag77.xml><?xml version="1.0" encoding="utf-8"?>
<p:tagLst xmlns:p="http://schemas.openxmlformats.org/presentationml/2006/main">
  <p:tag name="KSO_DOCER_RESOURCE_TRACE_INFO" val="{&quot;id&quot;:&quot;20280902&quot;,&quot;origin&quot;:0,&quot;type&quot;:&quot;icons&quot;,&quot;user&quot;:&quot;1619202567&quot;}"/>
</p:tagLst>
</file>

<file path=ppt/tags/tag78.xml><?xml version="1.0" encoding="utf-8"?>
<p:tagLst xmlns:p="http://schemas.openxmlformats.org/presentationml/2006/main">
  <p:tag name="KSO_DOCER_RESOURCE_TRACE_INFO" val="{&quot;id&quot;:&quot;50062569&quot;,&quot;origin&quot;:0,&quot;type&quot;:&quot;icons&quot;,&quot;user&quot;:&quot;1619202567&quot;}"/>
</p:tagLst>
</file>

<file path=ppt/tags/tag79.xml><?xml version="1.0" encoding="utf-8"?>
<p:tagLst xmlns:p="http://schemas.openxmlformats.org/presentationml/2006/main">
  <p:tag name="KSO_DOCER_RESOURCE_TRACE_INFO" val="{&quot;id&quot;:&quot;21566523&quot;,&quot;origin&quot;:0,&quot;type&quot;:&quot;icons&quot;,&quot;user&quot;:&quot;1619202567&quot;}"/>
</p:tagLst>
</file>

<file path=ppt/tags/tag80.xml><?xml version="1.0" encoding="utf-8"?>
<p:tagLst xmlns:p="http://schemas.openxmlformats.org/presentationml/2006/main">
  <p:tag name="KSO_DOCER_RESOURCE_TRACE_INFO" val="{&quot;id&quot;:&quot;21558137&quot;,&quot;origin&quot;:0,&quot;type&quot;:&quot;icons&quot;,&quot;user&quot;:&quot;1619202567&quot;}"/>
</p:tagLst>
</file>

<file path=ppt/tags/tag81.xml><?xml version="1.0" encoding="utf-8"?>
<p:tagLst xmlns:p="http://schemas.openxmlformats.org/presentationml/2006/main">
  <p:tag name="KSO_DOCER_RESOURCE_TRACE_INFO" val="{&quot;id&quot;:&quot;3637342&quot;,&quot;origin&quot;:0,&quot;type&quot;:&quot;icons&quot;,&quot;user&quot;:&quot;1619202567&quot;}"/>
</p:tagLst>
</file>

<file path=ppt/tags/tag82.xml><?xml version="1.0" encoding="utf-8"?>
<p:tagLst xmlns:p="http://schemas.openxmlformats.org/presentationml/2006/main">
  <p:tag name="KSO_DOCER_RESOURCE_TRACE_INFO" val="{&quot;id&quot;:&quot;3644795&quot;,&quot;origin&quot;:0,&quot;type&quot;:&quot;icons&quot;,&quot;user&quot;:&quot;1619202567&quot;}"/>
</p:tagLst>
</file>

<file path=ppt/tags/tag83.xml><?xml version="1.0" encoding="utf-8"?>
<p:tagLst xmlns:p="http://schemas.openxmlformats.org/presentationml/2006/main">
  <p:tag name="KSO_DOCER_RESOURCE_TRACE_INFO" val="{&quot;id&quot;:&quot;50026891&quot;,&quot;origin&quot;:0,&quot;type&quot;:&quot;icons&quot;,&quot;user&quot;:&quot;1619202567&quot;}"/>
</p:tagLst>
</file>

<file path=ppt/tags/tag84.xml><?xml version="1.0" encoding="utf-8"?>
<p:tagLst xmlns:p="http://schemas.openxmlformats.org/presentationml/2006/main">
  <p:tag name="KSO_DOCER_RESOURCE_TRACE_INFO" val="{&quot;id&quot;:&quot;50062569&quot;,&quot;origin&quot;:0,&quot;type&quot;:&quot;icons&quot;,&quot;user&quot;:&quot;1619202567&quot;}"/>
</p:tagLst>
</file>

<file path=ppt/tags/tag85.xml><?xml version="1.0" encoding="utf-8"?>
<p:tagLst xmlns:p="http://schemas.openxmlformats.org/presentationml/2006/main">
  <p:tag name="KSO_DOCER_RESOURCE_TRACE_INFO" val="{&quot;id&quot;:&quot;50026891&quot;,&quot;origin&quot;:0,&quot;type&quot;:&quot;icons&quot;,&quot;user&quot;:&quot;1619202567&quot;}"/>
</p:tagLst>
</file>

<file path=ppt/tags/tag86.xml><?xml version="1.0" encoding="utf-8"?>
<p:tagLst xmlns:p="http://schemas.openxmlformats.org/presentationml/2006/main">
  <p:tag name="KSO_DOCER_RESOURCE_TRACE_INFO" val="{&quot;id&quot;:&quot;50062569&quot;,&quot;origin&quot;:0,&quot;type&quot;:&quot;icons&quot;,&quot;user&quot;:&quot;1619202567&quot;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</Words>
  <Application>WPS 演示</Application>
  <PresentationFormat>宽屏</PresentationFormat>
  <Paragraphs>47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Cambria</vt:lpstr>
      <vt:lpstr>Comic Sans MS</vt:lpstr>
      <vt:lpstr>Times New Roman</vt:lpstr>
      <vt:lpstr>Linux Libertine O</vt:lpstr>
      <vt:lpstr>MV Boli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Ratio</cp:lastModifiedBy>
  <cp:revision>157</cp:revision>
  <dcterms:created xsi:type="dcterms:W3CDTF">2019-06-19T02:08:00Z</dcterms:created>
  <dcterms:modified xsi:type="dcterms:W3CDTF">2026-09-06T07:53:33Z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2052-12.1.0.28488</vt:lpwstr>
  </property>
  <property fmtid="{D5CDD505-2E9C-101B-9397-08002B2CF9AE}" pid="3" name="ICV">
    <vt:lpwstr>C27C2159D615483C955ABF875DFCE4A2_11</vt:lpwstr>
  </property>
</Properties>
</file>