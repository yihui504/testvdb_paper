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400000" cy="47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96000" y="162000"/>
            <a:ext cx="57240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595959"/>
                </a:solidFill>
              </a:rPr>
              <a:t>reading · generation · adjudication by LLM agents · execution &amp; checks deterministic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25999"/>
            <a:ext cx="3096000" cy="4860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143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</a:rPr>
              <a:t>API documentation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</a:rPr>
              <a:t>natural-language prose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68000" y="612000"/>
            <a:ext cx="0" cy="100800"/>
          </a:xfrm>
          <a:prstGeom prst="line">
            <a:avLst/>
          </a:prstGeom>
          <a:ln w="1143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620000" y="712800"/>
            <a:ext cx="648000" cy="0"/>
          </a:xfrm>
          <a:prstGeom prst="line">
            <a:avLst/>
          </a:prstGeom>
          <a:ln w="1143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20000" y="712800"/>
            <a:ext cx="0" cy="115199"/>
          </a:xfrm>
          <a:prstGeom prst="line">
            <a:avLst/>
          </a:prstGeom>
          <a:ln w="1143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80000" y="827999"/>
            <a:ext cx="2880000" cy="27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43200" tIns="432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</a:rPr>
              <a:t>① Behavioral Specification Extraction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0000" y="827999"/>
            <a:ext cx="2880000" cy="27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43200" tIns="432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</a:rPr>
              <a:t>② Test Script Generation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0000" y="827999"/>
            <a:ext cx="2376000" cy="27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43200" tIns="432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</a:rPr>
              <a:t>③ Sandboxed Execution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56000" y="827999"/>
            <a:ext cx="5364000" cy="27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43200" tIns="432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</a:rPr>
              <a:t>④ Bug Confirmation — builder / auditor split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6000" y="1296000"/>
            <a:ext cx="2448000" cy="46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</a:rPr>
              <a:t>knowledge extractor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7F7F7F"/>
                </a:solidFill>
              </a:rPr>
              <a:t>Crawl4AI · coverage + version 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6000" y="1872000"/>
            <a:ext cx="2448000" cy="30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  <a:latin typeface="Consolas"/>
              </a:rPr>
              <a:t>knowledge.json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6000" y="2286000"/>
            <a:ext cx="2448000" cy="46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</a:rPr>
              <a:t>specification extractor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7F7F7F"/>
                </a:solidFill>
              </a:rPr>
              <a:t>categorize · evidence-tier · verify source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6000" y="2862000"/>
            <a:ext cx="2448000" cy="413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  <a:latin typeface="Consolas"/>
              </a:rPr>
              <a:t>specifications.json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7F7F7F"/>
                </a:solidFill>
              </a:rPr>
              <a:t>typed · tiered · source-verified · level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20000" y="1764000"/>
            <a:ext cx="0" cy="108000"/>
          </a:xfrm>
          <a:prstGeom prst="line">
            <a:avLst/>
          </a:prstGeom>
          <a:ln w="1143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620000" y="2178000"/>
            <a:ext cx="0" cy="108000"/>
          </a:xfrm>
          <a:prstGeom prst="line">
            <a:avLst/>
          </a:prstGeom>
          <a:ln w="1143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620000" y="2754000"/>
            <a:ext cx="0" cy="108000"/>
          </a:xfrm>
          <a:prstGeom prst="line">
            <a:avLst/>
          </a:prstGeom>
          <a:ln w="1143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456000" y="1296000"/>
            <a:ext cx="2448000" cy="46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</a:rPr>
              <a:t>strategy registry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7F7F7F"/>
                </a:solidFill>
              </a:rPr>
              <a:t>pre-bound: trigger → strategy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56000" y="1872000"/>
            <a:ext cx="2448000" cy="46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</a:rPr>
              <a:t>attack agents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</a:rPr>
              <a:t>boundary · state · semantic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56000" y="2448000"/>
            <a:ext cx="2448000" cy="46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</a:rPr>
              <a:t>scenario construction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7F7F7F"/>
                </a:solidFill>
              </a:rPr>
              <a:t>system-level · no-match fallback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4000" y="2988000"/>
            <a:ext cx="2232000" cy="324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143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</a:rPr>
              <a:t>5 generation gates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80000" y="1764000"/>
            <a:ext cx="0" cy="108000"/>
          </a:xfrm>
          <a:prstGeom prst="line">
            <a:avLst/>
          </a:prstGeom>
          <a:ln w="1143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80000" y="2340000"/>
            <a:ext cx="0" cy="108000"/>
          </a:xfrm>
          <a:prstGeom prst="line">
            <a:avLst/>
          </a:prstGeom>
          <a:ln w="1143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680000" y="2916000"/>
            <a:ext cx="0" cy="72000"/>
          </a:xfrm>
          <a:prstGeom prst="line">
            <a:avLst/>
          </a:prstGeom>
          <a:ln w="1143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n 24"/>
          <p:cNvSpPr/>
          <p:nvPr/>
        </p:nvSpPr>
        <p:spPr>
          <a:xfrm>
            <a:off x="6480000" y="1440000"/>
            <a:ext cx="2015999" cy="720000"/>
          </a:xfrm>
          <a:prstGeom prst="can">
            <a:avLst/>
          </a:prstGeom>
          <a:solidFill>
            <a:srgbClr val="FFFFFF"/>
          </a:solidFill>
          <a:ln w="1143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</a:rPr>
              <a:t>Docker-pinned VDBMS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7F7F7F"/>
                </a:solidFill>
              </a:rPr>
              <a:t>target @ version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80000" y="2376000"/>
            <a:ext cx="2015999" cy="413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  <a:latin typeface="Consolas"/>
              </a:rPr>
              <a:t>raw HTTP logs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7F7F7F"/>
                </a:solidFill>
              </a:rPr>
              <a:t>+ atomic .done markers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88000" y="2160000"/>
            <a:ext cx="0" cy="216000"/>
          </a:xfrm>
          <a:prstGeom prst="line">
            <a:avLst/>
          </a:prstGeom>
          <a:ln w="1143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72000" y="1260000"/>
            <a:ext cx="2124000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43200" tIns="540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</a:rPr>
              <a:t>evidence builder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404040"/>
                </a:solidFill>
              </a:rPr>
              <a:t>· doc verification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404040"/>
                </a:solidFill>
              </a:rPr>
              <a:t>· execution evidence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404040"/>
                </a:solidFill>
              </a:rPr>
              <a:t>· contract grounding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404040"/>
                </a:solidFill>
              </a:rPr>
              <a:t>· chain trace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404040"/>
                </a:solidFill>
              </a:rPr>
              <a:t>· source grounding (grep clone)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358000" y="1565999"/>
            <a:ext cx="1260000" cy="46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Consolas"/>
              </a:rPr>
              <a:t>evidence_chain.json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1">
                <a:solidFill>
                  <a:srgbClr val="7F7F7F"/>
                </a:solidFill>
              </a:rPr>
              <a:t>five sections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762000" y="1260000"/>
            <a:ext cx="1296000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43200" tIns="540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</a:rPr>
              <a:t>chain auditor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404040"/>
                </a:solidFill>
              </a:rPr>
              <a:t>4 mechanical checks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404040"/>
                </a:solidFill>
              </a:rPr>
              <a:t>4 perspectives: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404040"/>
                </a:solidFill>
              </a:rPr>
              <a:t>A contract · B physical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404040"/>
                </a:solidFill>
              </a:rPr>
              <a:t>C cognition · D source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656000" y="2772000"/>
            <a:ext cx="2664000" cy="4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</a:rPr>
              <a:t>verdict: Confirmed / Refuted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</a:rPr>
              <a:t>Neutral → human review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196000" y="1800000"/>
            <a:ext cx="162000" cy="0"/>
          </a:xfrm>
          <a:prstGeom prst="line">
            <a:avLst/>
          </a:prstGeom>
          <a:ln w="1143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2617999" y="1800000"/>
            <a:ext cx="144001" cy="0"/>
          </a:xfrm>
          <a:prstGeom prst="line">
            <a:avLst/>
          </a:prstGeom>
          <a:ln w="1143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3680000" y="2340000"/>
            <a:ext cx="0" cy="655200"/>
          </a:xfrm>
          <a:prstGeom prst="line">
            <a:avLst/>
          </a:prstGeom>
          <a:ln w="1143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3320000" y="2995200"/>
            <a:ext cx="360000" cy="0"/>
          </a:xfrm>
          <a:prstGeom prst="line">
            <a:avLst/>
          </a:prstGeom>
          <a:ln w="1143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2852000" y="2340000"/>
            <a:ext cx="0" cy="180000"/>
          </a:xfrm>
          <a:prstGeom prst="line">
            <a:avLst/>
          </a:prstGeom>
          <a:ln w="11430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10134000" y="2520000"/>
            <a:ext cx="2718000" cy="0"/>
          </a:xfrm>
          <a:prstGeom prst="line">
            <a:avLst/>
          </a:prstGeom>
          <a:ln w="11430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0134000" y="2340000"/>
            <a:ext cx="0" cy="180000"/>
          </a:xfrm>
          <a:prstGeom prst="line">
            <a:avLst/>
          </a:prstGeom>
          <a:ln w="11430">
            <a:solidFill>
              <a:srgbClr val="7F7F7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0998000" y="2455200"/>
            <a:ext cx="936000" cy="1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7F7F7F"/>
                </a:solidFill>
              </a:rPr>
              <a:t>rebuild ≤ 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1200" y="1897200"/>
            <a:ext cx="2397600" cy="255600"/>
          </a:xfrm>
          <a:prstGeom prst="rect">
            <a:avLst/>
          </a:prstGeom>
          <a:noFill/>
          <a:ln w="762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1200" y="2887200"/>
            <a:ext cx="2397600" cy="363599"/>
          </a:xfrm>
          <a:prstGeom prst="rect">
            <a:avLst/>
          </a:prstGeom>
          <a:noFill/>
          <a:ln w="762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05200" y="2401200"/>
            <a:ext cx="1965600" cy="363599"/>
          </a:xfrm>
          <a:prstGeom prst="rect">
            <a:avLst/>
          </a:prstGeom>
          <a:noFill/>
          <a:ln w="762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83200" y="1591200"/>
            <a:ext cx="1209600" cy="417600"/>
          </a:xfrm>
          <a:prstGeom prst="rect">
            <a:avLst/>
          </a:prstGeom>
          <a:noFill/>
          <a:ln w="762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1620000" y="3276000"/>
            <a:ext cx="0" cy="378000"/>
          </a:xfrm>
          <a:prstGeom prst="line">
            <a:avLst/>
          </a:prstGeom>
          <a:ln w="1143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620000" y="3654000"/>
            <a:ext cx="1728000" cy="0"/>
          </a:xfrm>
          <a:prstGeom prst="line">
            <a:avLst/>
          </a:prstGeom>
          <a:ln w="1143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348000" y="1530000"/>
            <a:ext cx="0" cy="2124000"/>
          </a:xfrm>
          <a:prstGeom prst="line">
            <a:avLst/>
          </a:prstGeom>
          <a:ln w="1143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348000" y="1530000"/>
            <a:ext cx="108000" cy="0"/>
          </a:xfrm>
          <a:prstGeom prst="line">
            <a:avLst/>
          </a:prstGeom>
          <a:ln w="1143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764000" y="3671999"/>
            <a:ext cx="720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0000"/>
                </a:solidFill>
              </a:rPr>
              <a:t>constraints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680000" y="3311999"/>
            <a:ext cx="0" cy="342001"/>
          </a:xfrm>
          <a:prstGeom prst="line">
            <a:avLst/>
          </a:prstGeom>
          <a:ln w="1143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0000" y="3654000"/>
            <a:ext cx="1710000" cy="0"/>
          </a:xfrm>
          <a:prstGeom prst="line">
            <a:avLst/>
          </a:prstGeom>
          <a:ln w="1143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390000" y="1800000"/>
            <a:ext cx="0" cy="1854000"/>
          </a:xfrm>
          <a:prstGeom prst="line">
            <a:avLst/>
          </a:prstGeom>
          <a:ln w="1143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390000" y="1800000"/>
            <a:ext cx="90000" cy="0"/>
          </a:xfrm>
          <a:prstGeom prst="line">
            <a:avLst/>
          </a:prstGeom>
          <a:ln w="1143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824000" y="3671999"/>
            <a:ext cx="432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0000"/>
                </a:solidFill>
              </a:rPr>
              <a:t>probes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488000" y="2790000"/>
            <a:ext cx="0" cy="864000"/>
          </a:xfrm>
          <a:prstGeom prst="line">
            <a:avLst/>
          </a:prstGeom>
          <a:ln w="1143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488000" y="3654000"/>
            <a:ext cx="1476000" cy="0"/>
          </a:xfrm>
          <a:prstGeom prst="line">
            <a:avLst/>
          </a:prstGeom>
          <a:ln w="1143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964000" y="2015999"/>
            <a:ext cx="0" cy="1638001"/>
          </a:xfrm>
          <a:prstGeom prst="line">
            <a:avLst/>
          </a:prstGeom>
          <a:ln w="1143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964000" y="2015999"/>
            <a:ext cx="108000" cy="0"/>
          </a:xfrm>
          <a:prstGeom prst="line">
            <a:avLst/>
          </a:prstGeom>
          <a:ln w="1143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596000" y="3671999"/>
            <a:ext cx="540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0000"/>
                </a:solidFill>
              </a:rPr>
              <a:t>outputs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24000" y="3780000"/>
            <a:ext cx="2736000" cy="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</a:rPr>
              <a:t>implementation source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000000"/>
                </a:solidFill>
              </a:rPr>
              <a:t>pinned clone · falsification anchor —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000000"/>
                </a:solidFill>
              </a:rPr>
              <a:t>independent of the documentation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10440000" y="3618000"/>
            <a:ext cx="0" cy="162000"/>
          </a:xfrm>
          <a:prstGeom prst="line">
            <a:avLst/>
          </a:prstGeom>
          <a:ln w="11430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9432000" y="3618000"/>
            <a:ext cx="1008000" cy="0"/>
          </a:xfrm>
          <a:prstGeom prst="line">
            <a:avLst/>
          </a:prstGeom>
          <a:ln w="11430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9432000" y="2340000"/>
            <a:ext cx="0" cy="1278000"/>
          </a:xfrm>
          <a:prstGeom prst="line">
            <a:avLst/>
          </a:prstGeom>
          <a:ln w="11430">
            <a:solidFill>
              <a:srgbClr val="00000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9522000" y="3463199"/>
            <a:ext cx="1080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</a:rPr>
              <a:t>source grounding</a:t>
            </a:r>
          </a:p>
        </p:txBody>
      </p:sp>
      <p:cxnSp>
        <p:nvCxnSpPr>
          <p:cNvPr id="64" name="Connector 63"/>
          <p:cNvCxnSpPr/>
          <p:nvPr/>
        </p:nvCxnSpPr>
        <p:spPr>
          <a:xfrm flipV="1">
            <a:off x="12672000" y="3618000"/>
            <a:ext cx="0" cy="162000"/>
          </a:xfrm>
          <a:prstGeom prst="line">
            <a:avLst/>
          </a:prstGeom>
          <a:ln w="11430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2672000" y="3618000"/>
            <a:ext cx="1224000" cy="0"/>
          </a:xfrm>
          <a:prstGeom prst="line">
            <a:avLst/>
          </a:prstGeom>
          <a:ln w="11430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3896000" y="2340000"/>
            <a:ext cx="0" cy="1278000"/>
          </a:xfrm>
          <a:prstGeom prst="line">
            <a:avLst/>
          </a:prstGeom>
          <a:ln w="11430">
            <a:solidFill>
              <a:srgbClr val="00000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2762000" y="3463199"/>
            <a:ext cx="1080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</a:rPr>
              <a:t>D perspective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0000" y="4482000"/>
            <a:ext cx="140400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595959"/>
                </a:solidFill>
              </a:rPr>
              <a:t>Running example (Qdrant #10369):  constraint qdrant_state_recommend_001 → state-agent scenario (delete–recreate lookup collection at size 8) → 200 with silently wrong scores vs. required 400 → source grounding finds the dimension check absent on the lookup_from path → Confirmed (maintainer accepted)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