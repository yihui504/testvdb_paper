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0.svg" ContentType="image/svg+xml"/>
  <Override PartName="/ppt/media/image101.svg" ContentType="image/svg+xml"/>
  <Override PartName="/ppt/media/image102.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69.svg" ContentType="image/svg+xml"/>
  <Override PartName="/ppt/media/image71.svg" ContentType="image/svg+xml"/>
  <Override PartName="/ppt/media/image73.svg" ContentType="image/svg+xml"/>
  <Override PartName="/ppt/media/image74.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webExtension1.xml" ContentType="application/vnd.wps-officedocument.webExtension+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3"/>
  </p:handoutMasterIdLst>
  <p:sldIdLst>
    <p:sldId id="257" r:id="rId3"/>
    <p:sldId id="1728" r:id="rId5"/>
    <p:sldId id="1671" r:id="rId6"/>
    <p:sldId id="1685" r:id="rId7"/>
    <p:sldId id="1603" r:id="rId8"/>
    <p:sldId id="1683" r:id="rId9"/>
    <p:sldId id="1682" r:id="rId10"/>
    <p:sldId id="1684" r:id="rId11"/>
    <p:sldId id="1672" r:id="rId12"/>
    <p:sldId id="1674" r:id="rId13"/>
    <p:sldId id="1687" r:id="rId14"/>
    <p:sldId id="1729" r:id="rId15"/>
    <p:sldId id="1688" r:id="rId16"/>
    <p:sldId id="1730" r:id="rId17"/>
    <p:sldId id="1701" r:id="rId18"/>
    <p:sldId id="1703" r:id="rId19"/>
    <p:sldId id="1727" r:id="rId20"/>
    <p:sldId id="1702" r:id="rId21"/>
    <p:sldId id="1724" r:id="rId22"/>
    <p:sldId id="1690" r:id="rId23"/>
    <p:sldId id="1704" r:id="rId24"/>
    <p:sldId id="1675" r:id="rId25"/>
    <p:sldId id="1691" r:id="rId26"/>
    <p:sldId id="1707" r:id="rId27"/>
    <p:sldId id="1712" r:id="rId28"/>
    <p:sldId id="1713" r:id="rId29"/>
    <p:sldId id="1714" r:id="rId30"/>
    <p:sldId id="1725" r:id="rId31"/>
    <p:sldId id="1676" r:id="rId32"/>
    <p:sldId id="1692" r:id="rId33"/>
    <p:sldId id="1677" r:id="rId34"/>
    <p:sldId id="1641" r:id="rId35"/>
    <p:sldId id="1715" r:id="rId36"/>
    <p:sldId id="1718" r:id="rId37"/>
    <p:sldId id="1716" r:id="rId38"/>
    <p:sldId id="1726" r:id="rId39"/>
    <p:sldId id="1678" r:id="rId40"/>
    <p:sldId id="1680" r:id="rId41"/>
    <p:sldId id="1698" r:id="rId42"/>
    <p:sldId id="1670" r:id="rId43"/>
    <p:sldId id="1720" r:id="rId44"/>
    <p:sldId id="1721" r:id="rId45"/>
    <p:sldId id="1722" r:id="rId46"/>
    <p:sldId id="1723" r:id="rId47"/>
    <p:sldId id="1719" r:id="rId48"/>
    <p:sldId id="1699" r:id="rId49"/>
    <p:sldId id="1681" r:id="rId50"/>
    <p:sldId id="1700" r:id="rId51"/>
    <p:sldId id="1634" r:id="rId52"/>
  </p:sldIdLst>
  <p:sldSz cx="12192000" cy="6858000"/>
  <p:notesSz cx="6858000" cy="9144000"/>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fef4b316-ed89-441a-9814-4960af9721f8}">
          <p14:sldIdLst>
            <p14:sldId id="257"/>
            <p14:sldId id="1728"/>
          </p14:sldIdLst>
        </p14:section>
        <p14:section name="Background" id="{cf5c8e1d-d87d-45d8-80f4-930d29565566}">
          <p14:sldIdLst>
            <p14:sldId id="1671"/>
            <p14:sldId id="1685"/>
            <p14:sldId id="1603"/>
            <p14:sldId id="1683"/>
            <p14:sldId id="1682"/>
            <p14:sldId id="1684"/>
          </p14:sldIdLst>
        </p14:section>
        <p14:section name="Approach" id="{7421b5e1-6752-4fbb-8f76-9a7a7a7d95ac}">
          <p14:sldIdLst>
            <p14:sldId id="1672"/>
            <p14:sldId id="1674"/>
            <p14:sldId id="1687"/>
            <p14:sldId id="1729"/>
            <p14:sldId id="1688"/>
            <p14:sldId id="1730"/>
            <p14:sldId id="1701"/>
            <p14:sldId id="1703"/>
            <p14:sldId id="1727"/>
            <p14:sldId id="1702"/>
            <p14:sldId id="1724"/>
            <p14:sldId id="1690"/>
            <p14:sldId id="1704"/>
            <p14:sldId id="1675"/>
            <p14:sldId id="1691"/>
            <p14:sldId id="1707"/>
            <p14:sldId id="1712"/>
            <p14:sldId id="1713"/>
            <p14:sldId id="1714"/>
            <p14:sldId id="1725"/>
            <p14:sldId id="1676"/>
            <p14:sldId id="1692"/>
            <p14:sldId id="1677"/>
            <p14:sldId id="1641"/>
            <p14:sldId id="1715"/>
            <p14:sldId id="1718"/>
            <p14:sldId id="1716"/>
            <p14:sldId id="1726"/>
          </p14:sldIdLst>
        </p14:section>
        <p14:section name="Evaluation" id="{8825967f-3848-405a-8b67-39765f8fb698}">
          <p14:sldIdLst>
            <p14:sldId id="1678"/>
            <p14:sldId id="1680"/>
            <p14:sldId id="1698"/>
            <p14:sldId id="1670"/>
            <p14:sldId id="1720"/>
            <p14:sldId id="1721"/>
            <p14:sldId id="1722"/>
            <p14:sldId id="1723"/>
            <p14:sldId id="1719"/>
            <p14:sldId id="1699"/>
            <p14:sldId id="1681"/>
            <p14:sldId id="1700"/>
            <p14:sldId id="1634"/>
          </p14:sldIdLst>
        </p14:section>
      </p14:sectionLst>
    </p:ext>
    <p:ext uri="{EFAFB233-063F-42B5-8137-9DF3F51BA10A}">
      <p15:sldGuideLst xmlns:p15="http://schemas.microsoft.com/office/powerpoint/2012/main">
        <p15:guide id="1" orient="horz" pos="2721" userDrawn="1">
          <p15:clr>
            <a:srgbClr val="A4A3A4"/>
          </p15:clr>
        </p15:guide>
        <p15:guide id="2"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epin"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A94"/>
    <a:srgbClr val="000000"/>
    <a:srgbClr val="0062DD"/>
    <a:srgbClr val="006DE2"/>
    <a:srgbClr val="FF0000"/>
    <a:srgbClr val="AA5D07"/>
    <a:srgbClr val="D2DDF5"/>
    <a:srgbClr val="00ABD7"/>
    <a:srgbClr val="DB380E"/>
    <a:srgbClr val="ED6D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BA7714E-D7FD-4C82-9671-EAE3478D38F4}" styleName="表样式 1 14">
    <a:wholeTbl>
      <a:tcTxStyle>
        <a:fontRef idx="none">
          <a:srgbClr val="000000"/>
        </a:fontRef>
      </a:tcTxStyle>
      <a:tcStyle>
        <a:tcBdr>
          <a:left>
            <a:ln>
              <a:noFill/>
            </a:ln>
          </a:left>
          <a:right>
            <a:ln>
              <a:noFill/>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rgbClr val="FFFFFF"/>
          </a:solidFill>
        </a:fill>
      </a:tcStyle>
    </a:wholeTbl>
    <a:band2H>
      <a:tcStyle>
        <a:tcBdr/>
        <a:fill>
          <a:solidFill>
            <a:schemeClr val="accent4">
              <a:lumMod val="10000"/>
              <a:lumOff val="90000"/>
            </a:schemeClr>
          </a:solidFill>
        </a:fill>
      </a:tcStyle>
    </a:band2H>
    <a:band1V>
      <a:tcStyle>
        <a:tcBdr>
          <a:left>
            <a:ln>
              <a:noFill/>
            </a:ln>
          </a:left>
          <a:right>
            <a:ln>
              <a:noFill/>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accent4">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accent4">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accent4">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accent4"/>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firstRow>
  </a:tblStyle>
  <a:tblStyle styleId="{B2E476ED-E556-45B5-8BDD-68916C002191}" styleName="表样式 1 14">
    <a:wholeTbl>
      <a:tcTxStyle>
        <a:fontRef idx="none">
          <a:schemeClr val="tx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bg1">
              <a:alpha val="0"/>
            </a:schemeClr>
          </a:solidFill>
        </a:fill>
      </a:tcStyle>
    </a:wholeTbl>
    <a:band2H>
      <a:tcStyle>
        <a:tcBdr/>
        <a:fill>
          <a:solidFill>
            <a:schemeClr val="accent5">
              <a:lumMod val="40000"/>
              <a:lumOff val="60000"/>
              <a:alpha val="25000"/>
            </a:schemeClr>
          </a:solidFill>
        </a:fill>
      </a:tcStyle>
    </a:band2H>
    <a:band1V>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accent5">
              <a:lumMod val="40000"/>
              <a:lumOff val="60000"/>
              <a:alpha val="25000"/>
            </a:schemeClr>
          </a:solidFill>
        </a:fill>
      </a:tcStyle>
    </a:band1V>
    <a:lastCol>
      <a:tcTxStyle b="on">
        <a:fontRef idx="none">
          <a:schemeClr val="tx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accent5">
              <a:lumMod val="40000"/>
              <a:lumOff val="60000"/>
              <a:alpha val="40000"/>
            </a:schemeClr>
          </a:solidFill>
        </a:fill>
      </a:tcStyle>
    </a:lastCol>
    <a:firstCol>
      <a:tcTxStyle b="on">
        <a:fontRef idx="none">
          <a:schemeClr val="tx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accent5">
              <a:lumMod val="40000"/>
              <a:lumOff val="60000"/>
              <a:alpha val="40000"/>
            </a:schemeClr>
          </a:solidFill>
        </a:fill>
      </a:tcStyle>
    </a:firstCol>
    <a:lastRow>
      <a:tcTxStyle b="on">
        <a:fontRef idx="none">
          <a:schemeClr val="bg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accent5"/>
          </a:solidFill>
        </a:fill>
      </a:tcStyle>
    </a:lastRow>
    <a:firstRow>
      <a:tcTxStyle b="on">
        <a:fontRef idx="none">
          <a:schemeClr val="bg1"/>
        </a:fontRef>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firstRow>
  </a:tblStyle>
  <a:tblStyle styleId="{49217015-400D-4278-81E5-65789FCF5C13}" styleName="表样式 1 25 3 2 3 2">
    <a:wholeTbl>
      <a:tcTxStyle>
        <a:fontRef idx="none">
          <a:srgbClr val="FFFFFF"/>
        </a:fontRef>
      </a:tcTxStyle>
      <a:tcStyle>
        <a:tcBdr>
          <a:left>
            <a:ln>
              <a:noFill/>
            </a:ln>
          </a:left>
          <a:right>
            <a:ln>
              <a:noFill/>
            </a:ln>
          </a:right>
          <a:top>
            <a:ln>
              <a:noFill/>
            </a:ln>
          </a:top>
          <a:bottom>
            <a:ln>
              <a:noFill/>
            </a:ln>
          </a:bottom>
          <a:insideH>
            <a:ln w="9525" cmpd="sng">
              <a:solidFill>
                <a:schemeClr val="accent5">
                  <a:lumMod val="80000"/>
                  <a:lumOff val="20000"/>
                </a:schemeClr>
              </a:solidFill>
              <a:prstDash val="solid"/>
            </a:ln>
          </a:insideH>
          <a:insideV>
            <a:ln w="9525" cmpd="sng">
              <a:solidFill>
                <a:schemeClr val="accent5">
                  <a:lumMod val="80000"/>
                  <a:lumOff val="20000"/>
                </a:schemeClr>
              </a:solidFill>
              <a:prstDash val="solid"/>
            </a:ln>
          </a:insideV>
        </a:tcBdr>
        <a:fill>
          <a:solidFill>
            <a:schemeClr val="accent5">
              <a:lumMod val="98000"/>
            </a:schemeClr>
          </a:solidFill>
        </a:fill>
      </a:tcStyle>
    </a:wholeTbl>
    <a:band1H>
      <a:tcStyle>
        <a:tcBdr>
          <a:left>
            <a:ln>
              <a:noFill/>
            </a:ln>
          </a:left>
          <a:right>
            <a:ln>
              <a:noFill/>
            </a:ln>
          </a:right>
          <a:top>
            <a:ln w="9525" cmpd="sng">
              <a:solidFill>
                <a:schemeClr val="accent5">
                  <a:lumMod val="75000"/>
                  <a:lumOff val="25000"/>
                </a:schemeClr>
              </a:solidFill>
              <a:prstDash val="solid"/>
            </a:ln>
          </a:top>
          <a:bottom>
            <a:ln w="9525" cmpd="sng">
              <a:solidFill>
                <a:schemeClr val="accent5">
                  <a:lumMod val="75000"/>
                  <a:lumOff val="25000"/>
                </a:schemeClr>
              </a:solidFill>
              <a:prstDash val="solid"/>
            </a:ln>
          </a:bottom>
          <a:insideH>
            <a:ln w="9525" cmpd="sng">
              <a:solidFill>
                <a:schemeClr val="accent5">
                  <a:lumMod val="75000"/>
                  <a:lumOff val="25000"/>
                </a:schemeClr>
              </a:solidFill>
              <a:prstDash val="solid"/>
            </a:ln>
          </a:insideH>
          <a:insideV>
            <a:ln>
              <a:noFill/>
            </a:ln>
          </a:insideV>
        </a:tcBdr>
        <a:fill>
          <a:solidFill>
            <a:schemeClr val="accent5">
              <a:lumMod val="98000"/>
            </a:schemeClr>
          </a:solidFill>
        </a:fill>
      </a:tcStyle>
    </a:band1H>
    <a:band2H>
      <a:tcStyle>
        <a:tcBdr>
          <a:left>
            <a:ln>
              <a:noFill/>
            </a:ln>
          </a:left>
          <a:right>
            <a:ln>
              <a:noFill/>
            </a:ln>
          </a:right>
          <a:top>
            <a:ln w="9525" cmpd="sng">
              <a:solidFill>
                <a:schemeClr val="accent5">
                  <a:lumMod val="75000"/>
                  <a:lumOff val="25000"/>
                </a:schemeClr>
              </a:solidFill>
              <a:prstDash val="solid"/>
            </a:ln>
          </a:top>
          <a:bottom>
            <a:ln w="9525" cmpd="sng">
              <a:solidFill>
                <a:schemeClr val="accent5">
                  <a:lumMod val="75000"/>
                  <a:lumOff val="25000"/>
                </a:schemeClr>
              </a:solidFill>
              <a:prstDash val="solid"/>
            </a:ln>
          </a:bottom>
          <a:insideH>
            <a:ln w="9525" cmpd="sng">
              <a:solidFill>
                <a:schemeClr val="accent5">
                  <a:lumMod val="75000"/>
                  <a:lumOff val="25000"/>
                </a:schemeClr>
              </a:solidFill>
              <a:prstDash val="solid"/>
            </a:ln>
          </a:insideH>
          <a:insideV>
            <a:ln>
              <a:noFill/>
            </a:ln>
          </a:insideV>
        </a:tcBdr>
        <a:fill>
          <a:solidFill>
            <a:schemeClr val="accent5">
              <a:lumMod val="90000"/>
            </a:schemeClr>
          </a:solidFill>
        </a:fill>
      </a:tcStyle>
    </a:band2H>
    <a:band1V>
      <a:tcTxStyle>
        <a:fontRef idx="none">
          <a:srgbClr val="FFFFFF"/>
        </a:fontRef>
      </a:tcTxStyle>
      <a:tcStyle>
        <a:tcBdr/>
        <a:fill>
          <a:solidFill>
            <a:schemeClr val="accent5">
              <a:lumMod val="90000"/>
            </a:schemeClr>
          </a:solidFill>
        </a:fill>
      </a:tcStyle>
    </a:band1V>
    <a:band2V>
      <a:tcStyle>
        <a:tcBdr/>
        <a:fill>
          <a:solidFill>
            <a:schemeClr val="accent5">
              <a:lumMod val="98000"/>
            </a:schemeClr>
          </a:solidFill>
        </a:fill>
      </a:tcStyle>
    </a:band2V>
    <a:lastCol>
      <a:tcTxStyle b="on">
        <a:fontRef idx="none">
          <a:srgbClr val="FFFFFF"/>
        </a:fontRef>
      </a:tcTxStyle>
      <a:tcStyle>
        <a:tcBdr/>
        <a:fill>
          <a:solidFill>
            <a:schemeClr val="accent5">
              <a:lumMod val="87000"/>
            </a:schemeClr>
          </a:solidFill>
        </a:fill>
      </a:tcStyle>
    </a:lastCol>
    <a:firstCol>
      <a:tcTxStyle b="on">
        <a:fontRef idx="none">
          <a:srgbClr val="FFFFFF"/>
        </a:fontRef>
      </a:tcTxStyle>
      <a:tcStyle>
        <a:tcBdr/>
        <a:fill>
          <a:solidFill>
            <a:schemeClr val="accent5">
              <a:lumMod val="87000"/>
            </a:schemeClr>
          </a:solidFill>
        </a:fill>
      </a:tcStyle>
    </a:firstCol>
    <a:lastRow>
      <a:tcTxStyle b="on">
        <a:fontRef idx="none">
          <a:srgbClr val="FFFFFF"/>
        </a:fontRef>
      </a:tcTxStyle>
      <a:tcStyle>
        <a:tcBdr>
          <a:left>
            <a:ln>
              <a:noFill/>
            </a:ln>
          </a:left>
          <a:right>
            <a:ln>
              <a:noFill/>
            </a:ln>
          </a:right>
          <a:top>
            <a:ln w="19050" cmpd="sng">
              <a:solidFill>
                <a:schemeClr val="accent5">
                  <a:lumMod val="10000"/>
                  <a:lumOff val="90000"/>
                </a:schemeClr>
              </a:solidFill>
              <a:prstDash val="solid"/>
            </a:ln>
          </a:top>
          <a:bottom>
            <a:ln>
              <a:noFill/>
            </a:ln>
          </a:bottom>
          <a:insideH>
            <a:ln>
              <a:noFill/>
            </a:ln>
          </a:insideH>
          <a:insideV>
            <a:ln>
              <a:noFill/>
            </a:ln>
          </a:insideV>
        </a:tcBdr>
        <a:fill>
          <a:solidFill>
            <a:schemeClr val="accent5">
              <a:lumMod val="65000"/>
            </a:schemeClr>
          </a:solidFill>
        </a:fill>
      </a:tcStyle>
    </a:lastRow>
    <a:firstRow>
      <a:tcTxStyle b="on">
        <a:fontRef idx="none">
          <a:srgbClr val="FFFFFF"/>
        </a:fontRef>
      </a:tcTxStyle>
      <a:tcStyle>
        <a:tcBdr>
          <a:left>
            <a:ln>
              <a:noFill/>
            </a:ln>
          </a:left>
          <a:right>
            <a:ln>
              <a:noFill/>
            </a:ln>
          </a:right>
          <a:top>
            <a:ln>
              <a:noFill/>
            </a:ln>
          </a:top>
          <a:bottom>
            <a:ln w="19050" cmpd="sng">
              <a:solidFill>
                <a:schemeClr val="accent5">
                  <a:lumMod val="10000"/>
                  <a:lumOff val="90000"/>
                </a:schemeClr>
              </a:solidFill>
              <a:prstDash val="solid"/>
            </a:ln>
          </a:bottom>
          <a:insideH>
            <a:ln>
              <a:noFill/>
            </a:ln>
          </a:insideH>
          <a:insideV>
            <a:ln>
              <a:noFill/>
            </a:ln>
          </a:insideV>
        </a:tcBdr>
        <a:fill>
          <a:solidFill>
            <a:schemeClr val="accent5">
              <a:lumMod val="65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87825" autoAdjust="0"/>
  </p:normalViewPr>
  <p:slideViewPr>
    <p:cSldViewPr snapToGrid="0" showGuides="1">
      <p:cViewPr varScale="1">
        <p:scale>
          <a:sx n="91" d="100"/>
          <a:sy n="91" d="100"/>
        </p:scale>
        <p:origin x="432" y="57"/>
      </p:cViewPr>
      <p:guideLst>
        <p:guide orient="horz" pos="2721"/>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handoutMaster" Target="handoutMasters/handout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ableStyles" Target="tableStyles.xml"/><Relationship Id="rId57" Type="http://schemas.openxmlformats.org/officeDocument/2006/relationships/commentAuthors" Target="commentAuthors.xml"/><Relationship Id="rId58" Type="http://schemas.openxmlformats.org/officeDocument/2006/relationships/tags" Target="tags/tag4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向量数据库作为大模型时代存储与检索知识的核心基础设施，应用渗透率持续提升，其可靠性直接决定了上层</a:t>
            </a:r>
            <a:r>
              <a:rPr lang="en-US" altLang="zh-CN" dirty="0"/>
              <a:t>AI</a:t>
            </a:r>
            <a:r>
              <a:rPr lang="zh-CN" altLang="en-US" dirty="0"/>
              <a:t>应用的稳定运行。现有测试方案多数聚焦崩溃类</a:t>
            </a:r>
            <a:r>
              <a:rPr lang="en-US" altLang="zh-CN" dirty="0"/>
              <a:t>bug</a:t>
            </a:r>
            <a:r>
              <a:rPr lang="zh-CN" altLang="en-US" dirty="0"/>
              <a:t>，却忽视了更隐蔽的逻辑缺陷</a:t>
            </a:r>
            <a:r>
              <a:rPr lang="en-US" altLang="zh-CN" dirty="0"/>
              <a:t>——</a:t>
            </a:r>
            <a:r>
              <a:rPr lang="zh-CN" altLang="en-US" dirty="0"/>
              <a:t>这类缺陷不会直接导致服务宕机，却会输出错误结果，引发下游应用的连锁故障。</a:t>
            </a:r>
            <a:r>
              <a:rPr lang="en-US" altLang="zh-CN" dirty="0"/>
              <a:t>
</a:t>
            </a:r>
            <a:r>
              <a:rPr lang="zh-CN" altLang="en-US" dirty="0"/>
              <a:t>本次研究锚定文档描述与实际实现不一致这一核心逻辑缺陷类型，借助大语言模型的自然语言理解能力，直接解析非结构化的官方文档，自动提取规则并生成测试用例，实现对这类隐蔽缺陷的高效检测。这项工作由黄一辉完成，今天我们就来拆解这套方案的设计思路与落地效果。</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向量数据库管理系统简称</a:t>
            </a:r>
            <a:r>
              <a:rPr lang="en-US" altLang="zh-CN" dirty="0"/>
              <a:t>VDBMS</a:t>
            </a:r>
            <a:r>
              <a:rPr lang="zh-CN" altLang="en-US" dirty="0"/>
              <a:t>，核心功能存储和检索大模型生成的向量嵌入，是当前</a:t>
            </a:r>
            <a:r>
              <a:rPr lang="en-US" altLang="zh-CN" dirty="0"/>
              <a:t>AI</a:t>
            </a:r>
            <a:r>
              <a:rPr lang="zh-CN" altLang="en-US" dirty="0"/>
              <a:t>检索、生成式应用等领域的核心基础设施。行业数据印证了</a:t>
            </a:r>
            <a:r>
              <a:rPr lang="en-US" altLang="zh-CN" dirty="0"/>
              <a:t>VDBMS</a:t>
            </a:r>
            <a:r>
              <a:rPr lang="zh-CN" altLang="en-US" dirty="0"/>
              <a:t>的普及程度，截至</a:t>
            </a:r>
            <a:r>
              <a:rPr lang="en-US" altLang="zh-CN" dirty="0"/>
              <a:t>2026</a:t>
            </a:r>
            <a:r>
              <a:rPr lang="zh-CN" altLang="en-US" dirty="0"/>
              <a:t>年</a:t>
            </a:r>
            <a:r>
              <a:rPr lang="en-US" altLang="zh-CN" dirty="0"/>
              <a:t>7</a:t>
            </a:r>
            <a:r>
              <a:rPr lang="zh-CN" altLang="en-US" dirty="0"/>
              <a:t>月，权威的</a:t>
            </a:r>
            <a:r>
              <a:rPr lang="en-US" altLang="zh-CN" dirty="0"/>
              <a:t>VDB-Engines</a:t>
            </a:r>
            <a:r>
              <a:rPr lang="zh-CN" altLang="en-US" dirty="0"/>
              <a:t>排行榜已经收录了</a:t>
            </a:r>
            <a:r>
              <a:rPr lang="en-US" altLang="zh-CN" dirty="0"/>
              <a:t>26</a:t>
            </a:r>
            <a:r>
              <a:rPr lang="zh-CN" altLang="en-US" dirty="0"/>
              <a:t>款成熟的</a:t>
            </a:r>
            <a:r>
              <a:rPr lang="en-US" altLang="zh-CN" dirty="0"/>
              <a:t>VDBMS</a:t>
            </a:r>
            <a:r>
              <a:rPr lang="zh-CN" altLang="en-US" dirty="0"/>
              <a:t>产品，大家熟知的</a:t>
            </a:r>
            <a:r>
              <a:rPr lang="en-US" altLang="zh-CN" dirty="0"/>
              <a:t>Faiss</a:t>
            </a:r>
            <a:r>
              <a:rPr lang="zh-CN" altLang="en-US" dirty="0"/>
              <a:t>就是其中极具代表性的一款产品。</a:t>
            </a:r>
            <a:r>
              <a:rPr lang="en-US" altLang="zh-CN" dirty="0"/>
              <a:t>
VDBMS</a:t>
            </a:r>
            <a:r>
              <a:rPr lang="zh-CN" altLang="en-US" dirty="0"/>
              <a:t>市场规模持续扩张，产品生态不断丰富，背后反映了大模型时代，</a:t>
            </a:r>
            <a:r>
              <a:rPr lang="en-US" altLang="zh-CN" dirty="0"/>
              <a:t>AI</a:t>
            </a:r>
            <a:r>
              <a:rPr lang="zh-CN" altLang="en-US" dirty="0"/>
              <a:t>应用对高效向量检索能力的刚性需求。这项技术的普及，一方面催生了更多落地的</a:t>
            </a:r>
            <a:r>
              <a:rPr lang="en-US" altLang="zh-CN" dirty="0"/>
              <a:t>AI</a:t>
            </a:r>
            <a:r>
              <a:rPr lang="zh-CN" altLang="en-US" dirty="0"/>
              <a:t>应用，另一方面也对系统本身的可靠性提出了更高要求，任何潜在缺陷都可能影响上层业务的稳定运行。</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en-US" dirty="0"/>
              <a:t>VDBMS</a:t>
            </a:r>
            <a:r>
              <a:rPr lang="zh-CN" altLang="en-US" dirty="0"/>
              <a:t>作为支撑</a:t>
            </a:r>
            <a:r>
              <a:rPr lang="en-US" altLang="zh-CN" dirty="0"/>
              <a:t>AI</a:t>
            </a:r>
            <a:r>
              <a:rPr lang="zh-CN" altLang="en-US" dirty="0"/>
              <a:t>应用向量存储与检索的核心基础设施，其稳定性直接决定上层业务的运行质量。一旦</a:t>
            </a:r>
            <a:r>
              <a:rPr lang="en-US" altLang="zh-CN" dirty="0"/>
              <a:t>VDBMS</a:t>
            </a:r>
            <a:r>
              <a:rPr lang="zh-CN" altLang="en-US" dirty="0"/>
              <a:t>内部出现缺陷，将引发两类严重后果。</a:t>
            </a:r>
            <a:r>
              <a:rPr lang="en-US" altLang="zh-CN" dirty="0"/>
              <a:t>
</a:t>
            </a:r>
            <a:r>
              <a:rPr lang="zh-CN" altLang="en-US" dirty="0"/>
              <a:t>第一类是服务可用性故障，这类故障会直接中断业务的正常运行，对于依赖向量检索的推荐系统、</a:t>
            </a:r>
            <a:r>
              <a:rPr lang="en-US" altLang="zh-CN" dirty="0"/>
              <a:t>AI</a:t>
            </a:r>
            <a:r>
              <a:rPr lang="zh-CN" altLang="en-US" dirty="0"/>
              <a:t>对话服务而言，几分钟的服务中断都可能造成难以挽回的用户流失与经济损失。</a:t>
            </a:r>
            <a:r>
              <a:rPr lang="en-US" altLang="zh-CN" dirty="0"/>
              <a:t>
</a:t>
            </a:r>
            <a:r>
              <a:rPr lang="zh-CN" altLang="en-US" dirty="0"/>
              <a:t>第二类是非预期输出结果，这类缺陷比服务中断更隐蔽，它不会直接终止服务，但会输出错误的检索结果，直接干扰</a:t>
            </a:r>
            <a:r>
              <a:rPr lang="en-US" altLang="zh-CN" dirty="0"/>
              <a:t>AI</a:t>
            </a:r>
            <a:r>
              <a:rPr lang="zh-CN" altLang="en-US" dirty="0"/>
              <a:t>模型决策，拉低应用服务质量，甚至误导用户得出错误结论，这类隐患的危害往往更持久也更难被及时发现。</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现有已发表的研究数据揭示了向量数据库管理系统的缺陷分布特征，占比最高的缺陷类型为不正确行为，达到</a:t>
            </a:r>
            <a:r>
              <a:rPr lang="en-US" altLang="zh-CN" dirty="0"/>
              <a:t>43.0%</a:t>
            </a:r>
            <a:r>
              <a:rPr lang="zh-CN" altLang="en-US" dirty="0"/>
              <a:t>，崩溃或宕机类缺陷仅占</a:t>
            </a:r>
            <a:r>
              <a:rPr lang="en-US" altLang="zh-CN" dirty="0"/>
              <a:t>23.1%</a:t>
            </a:r>
            <a:r>
              <a:rPr lang="zh-CN" altLang="en-US" dirty="0"/>
              <a:t>，其余缺陷依次为其他类型、构建失败和性能问题，占比分别为</a:t>
            </a:r>
            <a:r>
              <a:rPr lang="en-US" altLang="zh-CN" dirty="0"/>
              <a:t>15.0%</a:t>
            </a:r>
            <a:r>
              <a:rPr lang="zh-CN" altLang="en-US" dirty="0"/>
              <a:t>、</a:t>
            </a:r>
            <a:r>
              <a:rPr lang="en-US" altLang="zh-CN" dirty="0"/>
              <a:t>9.7%</a:t>
            </a:r>
            <a:r>
              <a:rPr lang="zh-CN" altLang="en-US" dirty="0"/>
              <a:t>和</a:t>
            </a:r>
            <a:r>
              <a:rPr lang="en-US" altLang="zh-CN" dirty="0"/>
              <a:t>9.3%</a:t>
            </a:r>
            <a:r>
              <a:rPr lang="zh-CN" altLang="en-US" dirty="0"/>
              <a:t>。</a:t>
            </a:r>
            <a:r>
              <a:rPr lang="en-US" altLang="zh-CN" dirty="0"/>
              <a:t>
</a:t>
            </a:r>
            <a:r>
              <a:rPr lang="zh-CN" altLang="en-US" dirty="0"/>
              <a:t>该数据明确指向一个核心结论，</a:t>
            </a:r>
            <a:r>
              <a:rPr lang="en-US" altLang="zh-CN" dirty="0"/>
              <a:t>VDBMS</a:t>
            </a:r>
            <a:r>
              <a:rPr lang="zh-CN" altLang="en-US" dirty="0"/>
              <a:t>的绝大多数缺陷属于不会直接导致程序崩溃的非崩溃缺陷，这类缺陷不会直接中断服务，却会引发逻辑错误，影响检索结果的正确性。</a:t>
            </a:r>
            <a:r>
              <a:rPr lang="en-US" altLang="zh-CN" dirty="0"/>
              <a:t>
</a:t>
            </a:r>
            <a:r>
              <a:rPr lang="zh-CN" altLang="en-US" dirty="0"/>
              <a:t>当前主流检测工具</a:t>
            </a:r>
            <a:r>
              <a:rPr lang="en-US" altLang="zh-CN" dirty="0"/>
              <a:t>VDBFuzz</a:t>
            </a:r>
            <a:r>
              <a:rPr lang="zh-CN" altLang="en-US" dirty="0"/>
              <a:t>，仅覆盖崩溃类缺陷，对占比最高的非崩溃逻辑缺陷缺乏检测能力，整个领域存在明显的研究空白，亟待填补。</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明确现有</a:t>
            </a:r>
            <a:r>
              <a:rPr lang="en-US" altLang="zh-CN" dirty="0"/>
              <a:t>VDBMS</a:t>
            </a:r>
            <a:r>
              <a:rPr lang="zh-CN" altLang="en-US" dirty="0"/>
              <a:t>测试领域的空白后，我们将研究目标锁定在文档与实现不一致的逻辑缺陷上。这类缺陷本质是</a:t>
            </a:r>
            <a:r>
              <a:rPr lang="en-US" altLang="zh-CN" dirty="0"/>
              <a:t>VDBMS</a:t>
            </a:r>
            <a:r>
              <a:rPr lang="zh-CN" altLang="en-US" dirty="0"/>
              <a:t>实际运行行为，偏离官方文档预先声明的预期行为，符合前面提到的占比最高的非崩溃类错误特征。</a:t>
            </a:r>
            <a:r>
              <a:rPr lang="en-US" altLang="zh-CN" dirty="0"/>
              <a:t>
</a:t>
            </a:r>
            <a:r>
              <a:rPr lang="zh-CN" altLang="en-US" dirty="0"/>
              <a:t>不同于内存泄漏这类需要复杂工具才能定位的深层问题，这类缺陷可以通过直观对比直接确认。只要实际行为不符合文档描述，即可判定为逻辑缺陷，反之则为正常实现。</a:t>
            </a:r>
            <a:r>
              <a:rPr lang="en-US" altLang="zh-CN" dirty="0"/>
              <a:t>
</a:t>
            </a:r>
            <a:r>
              <a:rPr lang="zh-CN" altLang="en-US" dirty="0"/>
              <a:t>锚定这个研究目标，既填补了现有测试方案只关注崩溃错误的空白，也抓住了</a:t>
            </a:r>
            <a:r>
              <a:rPr lang="en-US" altLang="zh-CN" dirty="0"/>
              <a:t>VDBMS</a:t>
            </a:r>
            <a:r>
              <a:rPr lang="zh-CN" altLang="en-US" dirty="0"/>
              <a:t>最普遍的缺陷类型，研究方向更具针对性和实用价值。</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明确当前检测目标后，我们需要剖析</a:t>
            </a:r>
            <a:r>
              <a:rPr lang="en-US" altLang="zh-CN" dirty="0"/>
              <a:t>VDBMS</a:t>
            </a:r>
            <a:r>
              <a:rPr lang="zh-CN" altLang="en-US" dirty="0"/>
              <a:t>官方文档本身的固有特性，解释现有自动化检测方案难以落地的核心原因。</a:t>
            </a:r>
            <a:r>
              <a:rPr lang="en-US" altLang="zh-CN" dirty="0"/>
              <a:t>
</a:t>
            </a:r>
            <a:r>
              <a:rPr lang="zh-CN" altLang="en-US" dirty="0"/>
              <a:t>绝大多数</a:t>
            </a:r>
            <a:r>
              <a:rPr lang="en-US" altLang="zh-CN" dirty="0"/>
              <a:t>VDBMS</a:t>
            </a:r>
            <a:r>
              <a:rPr lang="zh-CN" altLang="en-US" dirty="0"/>
              <a:t>的官方说明都以自然语言撰写，内容呈现非结构化特征，无法直接被自动化工具读取和利用，也无法直接转换为可执行的检测断言。这种非结构化特性直接抬高了自动化检测的门槛。</a:t>
            </a:r>
            <a:r>
              <a:rPr lang="en-US" altLang="zh-CN" dirty="0"/>
              <a:t>
</a:t>
            </a:r>
            <a:r>
              <a:rPr lang="zh-CN" altLang="en-US" dirty="0"/>
              <a:t>不同</a:t>
            </a:r>
            <a:r>
              <a:rPr lang="en-US" altLang="zh-CN" dirty="0"/>
              <a:t>VDBMS</a:t>
            </a:r>
            <a:r>
              <a:rPr lang="zh-CN" altLang="en-US" dirty="0"/>
              <a:t>厂商遵循独立的开发与文档规范，接口定义、参数规则乃至功能描述标准均不统一，难以构建通用的对比基准，导致依赖同功能对比的差分测试方法完全无法生效。两大特性共同决定，现有方案无法适配文档不一致缺陷的检测需求，必须探索全新技术路径。</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现有针对</a:t>
            </a:r>
            <a:r>
              <a:rPr lang="en-US" altLang="zh-CN" dirty="0"/>
              <a:t>VDBMS</a:t>
            </a:r>
            <a:r>
              <a:rPr lang="zh-CN" altLang="en-US" dirty="0"/>
              <a:t>漏洞检测的主流方案以</a:t>
            </a:r>
            <a:r>
              <a:rPr lang="en-US" altLang="zh-CN" dirty="0"/>
              <a:t>VDBFuzz</a:t>
            </a:r>
            <a:r>
              <a:rPr lang="zh-CN" altLang="en-US" dirty="0"/>
              <a:t>为代表，该方案核心逻辑围绕崩溃型漏洞构建，整体分为四个执行环节：基于预设模板生成初始输入，通过模式匹配完成输入变异，驱动</a:t>
            </a:r>
            <a:r>
              <a:rPr lang="en-US" altLang="zh-CN" dirty="0"/>
              <a:t>VDBMS</a:t>
            </a:r>
            <a:r>
              <a:rPr lang="zh-CN" altLang="en-US" dirty="0"/>
              <a:t>执行测试脚本，最终通过崩溃检测机制输出漏洞结果。</a:t>
            </a:r>
            <a:r>
              <a:rPr lang="en-US" altLang="zh-CN" dirty="0"/>
              <a:t>
</a:t>
            </a:r>
            <a:r>
              <a:rPr lang="zh-CN" altLang="en-US" dirty="0"/>
              <a:t>这套方案的设计目标十分聚焦，仅针对会导致系统崩溃、宕机的显性漏洞，对其他类型漏洞覆盖能力严重不足。</a:t>
            </a:r>
            <a:r>
              <a:rPr lang="en-US" altLang="zh-CN" dirty="0"/>
              <a:t>
</a:t>
            </a:r>
            <a:r>
              <a:rPr lang="zh-CN" altLang="en-US" dirty="0"/>
              <a:t>我们关注的文档与实现不一致类缺陷，属于不触发系统崩溃的隐性逻辑漏洞，完全超出</a:t>
            </a:r>
            <a:r>
              <a:rPr lang="en-US" altLang="zh-CN" dirty="0"/>
              <a:t>VDBFuzz</a:t>
            </a:r>
            <a:r>
              <a:rPr lang="zh-CN" altLang="en-US" dirty="0"/>
              <a:t>的检测能力范围。现有方案无法有效适配我们的研究目标，必须设计全新的检测框架解决这一痛点。</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这个公开</a:t>
            </a:r>
            <a:r>
              <a:rPr lang="en-US" altLang="zh-CN" dirty="0"/>
              <a:t>issue</a:t>
            </a:r>
            <a:r>
              <a:rPr lang="zh-CN" altLang="en-US" dirty="0"/>
              <a:t>的实际案例，能帮我们直观理解目标</a:t>
            </a:r>
            <a:r>
              <a:rPr lang="en-US" altLang="zh-CN" dirty="0"/>
              <a:t>bug</a:t>
            </a:r>
            <a:r>
              <a:rPr lang="zh-CN" altLang="en-US" dirty="0"/>
              <a:t>的形态与危害。官方文档明确标注参数</a:t>
            </a:r>
            <a:r>
              <a:rPr lang="en-US" altLang="zh-CN" dirty="0"/>
              <a:t>nprobe</a:t>
            </a:r>
            <a:r>
              <a:rPr lang="zh-CN" altLang="en-US" dirty="0"/>
              <a:t>为整数必填项，且合法取值范围是</a:t>
            </a:r>
            <a:r>
              <a:rPr lang="en-US" altLang="zh-CN" dirty="0"/>
              <a:t>1</a:t>
            </a:r>
            <a:r>
              <a:rPr lang="zh-CN" altLang="en-US" dirty="0"/>
              <a:t>到</a:t>
            </a:r>
            <a:r>
              <a:rPr lang="en-US" altLang="zh-CN" dirty="0"/>
              <a:t>16384</a:t>
            </a:r>
            <a:r>
              <a:rPr lang="zh-CN" altLang="en-US" dirty="0"/>
              <a:t>，按照约定，系统应当拒绝参数为</a:t>
            </a:r>
            <a:r>
              <a:rPr lang="en-US" altLang="zh-CN" dirty="0"/>
              <a:t>0</a:t>
            </a:r>
            <a:r>
              <a:rPr lang="zh-CN" altLang="en-US" dirty="0"/>
              <a:t>的非法请求。</a:t>
            </a:r>
            <a:r>
              <a:rPr lang="en-US" altLang="zh-CN" dirty="0"/>
              <a:t>
</a:t>
            </a:r>
            <a:r>
              <a:rPr lang="zh-CN" altLang="en-US" dirty="0"/>
              <a:t>我们发起一次参数为</a:t>
            </a:r>
            <a:r>
              <a:rPr lang="en-US" altLang="zh-CN" dirty="0"/>
              <a:t>nprobe=0</a:t>
            </a:r>
            <a:r>
              <a:rPr lang="zh-CN" altLang="en-US" dirty="0"/>
              <a:t>的搜索请求，观察系统响应。实际得到的结果是</a:t>
            </a:r>
            <a:r>
              <a:rPr lang="en-US" altLang="zh-CN" dirty="0"/>
              <a:t>HTTP 200</a:t>
            </a:r>
            <a:r>
              <a:rPr lang="zh-CN" altLang="en-US" dirty="0"/>
              <a:t>状态码，返回码</a:t>
            </a:r>
            <a:r>
              <a:rPr lang="en-US" altLang="zh-CN" dirty="0"/>
              <a:t>0</a:t>
            </a:r>
            <a:r>
              <a:rPr lang="zh-CN" altLang="en-US" dirty="0"/>
              <a:t>，系统明确报告本次查询执行成功，非法参数</a:t>
            </a:r>
            <a:r>
              <a:rPr lang="en-US" altLang="zh-CN" dirty="0"/>
              <a:t>0</a:t>
            </a:r>
            <a:r>
              <a:rPr lang="zh-CN" altLang="en-US" dirty="0"/>
              <a:t>被系统静默接受，还返回了错误的查询结果。</a:t>
            </a:r>
            <a:r>
              <a:rPr lang="en-US" altLang="zh-CN" dirty="0"/>
              <a:t>
</a:t>
            </a:r>
            <a:r>
              <a:rPr lang="zh-CN" altLang="en-US" dirty="0"/>
              <a:t>这类</a:t>
            </a:r>
            <a:r>
              <a:rPr lang="en-US" altLang="zh-CN" dirty="0"/>
              <a:t>bug</a:t>
            </a:r>
            <a:r>
              <a:rPr lang="zh-CN" altLang="en-US" dirty="0"/>
              <a:t>不会导致系统崩溃，因此此前专注检测崩溃</a:t>
            </a:r>
            <a:r>
              <a:rPr lang="en-US" altLang="zh-CN" dirty="0"/>
              <a:t>bug</a:t>
            </a:r>
            <a:r>
              <a:rPr lang="zh-CN" altLang="en-US" dirty="0"/>
              <a:t>的工具完全无法发现它。它不会直接造成服务不可用，却会输出错误的检索结果，用户很难第一时间察觉异常，最终会基于错误结果做出错误决策，危害远不止于数据层面。</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针对向量数据库管理系统文档与实现不一致的逻辑缺陷检测难题，我们提出全新检测方案</a:t>
            </a:r>
            <a:r>
              <a:rPr lang="en-US" altLang="zh-CN" dirty="0"/>
              <a:t>TestVDB</a:t>
            </a:r>
            <a:r>
              <a:rPr lang="zh-CN" altLang="en-US" dirty="0"/>
              <a:t>，方案分为四个核心执行阶段，构建完整的闭环检测流程。</a:t>
            </a:r>
            <a:r>
              <a:rPr lang="en-US" altLang="zh-CN" dirty="0"/>
              <a:t>
</a:t>
            </a:r>
            <a:r>
              <a:rPr lang="zh-CN" altLang="en-US" dirty="0"/>
              <a:t>第一阶段提取行为声明，从非结构化的自然语言官方文档中，抽取出数据库明确承诺的标准化行为规则，形成可用于验证的结构化断言依据。</a:t>
            </a:r>
            <a:r>
              <a:rPr lang="en-US" altLang="zh-CN" dirty="0"/>
              <a:t>
</a:t>
            </a:r>
            <a:r>
              <a:rPr lang="zh-CN" altLang="en-US" dirty="0"/>
              <a:t>第二阶段生成测试脚本，基于提取出的行为约束，自动化生成覆盖边界场景、异常场景的可执行测试用例。</a:t>
            </a:r>
            <a:r>
              <a:rPr lang="en-US" altLang="zh-CN" dirty="0"/>
              <a:t>
</a:t>
            </a:r>
            <a:r>
              <a:rPr lang="zh-CN" altLang="en-US" dirty="0"/>
              <a:t>第三阶段执行测试脚本，将测试用例注入目标向量数据库，采集运行后的响应报文、运行日志与系统状态，还原数据库的实际执行行为。</a:t>
            </a:r>
            <a:r>
              <a:rPr lang="en-US" altLang="zh-CN" dirty="0"/>
              <a:t>
</a:t>
            </a:r>
            <a:r>
              <a:rPr lang="zh-CN" altLang="en-US" dirty="0"/>
              <a:t>第四阶段确认缺陷，对比预期行为与实际执行结果，即可精准判定是否存在文档实现不一致的缺陷。</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解决文档与实现不一致缺陷的核心前提，是把自然语言撰写的官方文档，转化为机器可处理、可验证的结构化规则，也就是我们所说的行为声明。</a:t>
            </a:r>
            <a:r>
              <a:rPr lang="en-US" altLang="zh-CN" dirty="0"/>
              <a:t>
VDBMS</a:t>
            </a:r>
            <a:r>
              <a:rPr lang="zh-CN" altLang="en-US" dirty="0"/>
              <a:t>文档多以自然语言撰写，约束规则零散分布在不同页面，人工整理效率极低，也无法直接用于自动化测试。我们通过技术手段提取结构化行为声明，把文档中模糊的描述转化为清晰可校验的逻辑断言。</a:t>
            </a:r>
            <a:r>
              <a:rPr lang="en-US" altLang="zh-CN" dirty="0"/>
              <a:t>
</a:t>
            </a:r>
            <a:r>
              <a:rPr lang="zh-CN" altLang="en-US" dirty="0"/>
              <a:t>幻灯片展示的就是一个典型输出结果，我们提取了搜索接口</a:t>
            </a:r>
            <a:r>
              <a:rPr lang="en-US" altLang="zh-CN" dirty="0"/>
              <a:t>nprobe</a:t>
            </a:r>
            <a:r>
              <a:rPr lang="zh-CN" altLang="en-US" dirty="0"/>
              <a:t>参数的范围约束，明确给出可验证的断言逻辑，同时标注约束类型、置信度与来源，为后续生成测试用例、验证实际行为奠定基础。</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我们解决向量数据库文档与实现不一致问题的第一步，就是从自然语言撰写的官方文档中提取结构化行为断言。整个提取流程分为四个核心环节，依托模块化工具链实现自动化处理。</a:t>
            </a:r>
            <a:r>
              <a:rPr lang="en-US" altLang="zh-CN" dirty="0"/>
              <a:t>
</a:t>
            </a:r>
            <a:r>
              <a:rPr lang="zh-CN" altLang="en-US" dirty="0"/>
              <a:t>第一环节完成目标文档网页爬取，我们使用容器化部署的</a:t>
            </a:r>
            <a:r>
              <a:rPr lang="en-US" altLang="zh-CN" dirty="0"/>
              <a:t>Crawl4AI</a:t>
            </a:r>
            <a:r>
              <a:rPr lang="zh-CN" altLang="en-US" dirty="0"/>
              <a:t>工具，输入指定</a:t>
            </a:r>
            <a:r>
              <a:rPr lang="en-US" altLang="zh-CN" dirty="0"/>
              <a:t>VDBMS</a:t>
            </a:r>
            <a:r>
              <a:rPr lang="zh-CN" altLang="en-US" dirty="0"/>
              <a:t>的版本与对应文档地址，即可批量抓取完整的文档内容。</a:t>
            </a:r>
            <a:r>
              <a:rPr lang="en-US" altLang="zh-CN" dirty="0"/>
              <a:t>
</a:t>
            </a:r>
            <a:r>
              <a:rPr lang="zh-CN" altLang="en-US" dirty="0"/>
              <a:t>第二环节由知识提取模块完成信息抽取，抓取得到的自然语言文档，经提取后整理为标准化的</a:t>
            </a:r>
            <a:r>
              <a:rPr lang="en-US" altLang="zh-CN" dirty="0"/>
              <a:t>raw_knowledge.md</a:t>
            </a:r>
            <a:r>
              <a:rPr lang="zh-CN" altLang="en-US" dirty="0"/>
              <a:t>文件，统一存储所有文档中的约束与规则信息。</a:t>
            </a:r>
            <a:r>
              <a:rPr lang="en-US" altLang="zh-CN" dirty="0"/>
              <a:t>
</a:t>
            </a:r>
            <a:r>
              <a:rPr lang="zh-CN" altLang="en-US" dirty="0"/>
              <a:t>第三环节完成端点覆盖自检，校验所有对外暴露的</a:t>
            </a:r>
            <a:r>
              <a:rPr lang="en-US" altLang="zh-CN" dirty="0"/>
              <a:t>API</a:t>
            </a:r>
            <a:r>
              <a:rPr lang="zh-CN" altLang="en-US" dirty="0"/>
              <a:t>端点是否都已提取到对应规则，未通过校验的流程退回重新提取。</a:t>
            </a:r>
            <a:r>
              <a:rPr lang="en-US" altLang="zh-CN" dirty="0"/>
              <a:t>
</a:t>
            </a:r>
            <a:r>
              <a:rPr lang="zh-CN" altLang="en-US" dirty="0"/>
              <a:t>第四环节由断言格式化工具处理</a:t>
            </a:r>
            <a:r>
              <a:rPr lang="en-US" altLang="zh-CN" dirty="0"/>
              <a:t>raw_knowledge.md</a:t>
            </a:r>
            <a:r>
              <a:rPr lang="zh-CN" altLang="en-US" dirty="0"/>
              <a:t>，最终输出可被测试模块直接使用的结构化行为断言文件，为后续生成测试脚本提供完整规则依据。</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我们设计这套原始知识模板，核心目的是把非结构化的官方文档，转化为标准化可处理的测试依据，为后续提取行为断言打下基础。</a:t>
            </a:r>
            <a:r>
              <a:rPr lang="en-US" altLang="zh-CN" dirty="0"/>
              <a:t>
</a:t>
            </a:r>
            <a:r>
              <a:rPr lang="zh-CN" altLang="en-US" dirty="0"/>
              <a:t>模板第一部分记录基础元信息，涵盖文档版本、测试目标版本、抓取时间和来源信息，逐一核对版本匹配度，避免因版本错位导致测试误判，同时记录</a:t>
            </a:r>
            <a:r>
              <a:rPr lang="en-US" altLang="zh-CN" dirty="0"/>
              <a:t>SDK</a:t>
            </a:r>
            <a:r>
              <a:rPr lang="zh-CN" altLang="en-US" dirty="0"/>
              <a:t>信息与推荐</a:t>
            </a:r>
            <a:r>
              <a:rPr lang="en-US" altLang="zh-CN" dirty="0"/>
              <a:t>Docker</a:t>
            </a:r>
            <a:r>
              <a:rPr lang="zh-CN" altLang="en-US" dirty="0"/>
              <a:t>镜像标签，大幅简化后续测试环境的搭建流程。</a:t>
            </a:r>
            <a:r>
              <a:rPr lang="en-US" altLang="zh-CN" dirty="0"/>
              <a:t>
</a:t>
            </a:r>
            <a:r>
              <a:rPr lang="zh-CN" altLang="en-US" dirty="0"/>
              <a:t>模板第二部分按</a:t>
            </a:r>
            <a:r>
              <a:rPr lang="en-US" altLang="zh-CN" dirty="0"/>
              <a:t>API</a:t>
            </a:r>
            <a:r>
              <a:rPr lang="zh-CN" altLang="en-US" dirty="0"/>
              <a:t>端点分类整理核心信息，清晰记录每个接口的请求方法、路径和参数要求，按类型、范围、状态、行为四个维度分类整理约束规则，同时预定义各类响应的预期说明，专门收录数据库自定义数据类型的定义，为后续边界测试提供参考依据。</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这份原始知识模板的设计，遵循了测试工作从根源保证严谨性的核心逻辑，第一部分文档元数据与文档来源表，核心作用是校验文档版本与目标测试版本的匹配度。</a:t>
            </a:r>
            <a:r>
              <a:rPr lang="en-US" altLang="zh-CN" dirty="0"/>
              <a:t>
</a:t>
            </a:r>
            <a:r>
              <a:rPr lang="zh-CN" altLang="en-US" dirty="0"/>
              <a:t>文档版本对齐是开展后续测试的核心前提，只有文档描述的行为规范和待测试向量数据库版本匹配，提取出的行为断言才具备测试价值，避免出现文档错配导致的无效</a:t>
            </a:r>
            <a:r>
              <a:rPr lang="en-US" altLang="zh-CN" dirty="0"/>
              <a:t>bug</a:t>
            </a:r>
            <a:r>
              <a:rPr lang="zh-CN" altLang="en-US" dirty="0"/>
              <a:t>误报。</a:t>
            </a:r>
            <a:r>
              <a:rPr lang="en-US" altLang="zh-CN" dirty="0"/>
              <a:t>
</a:t>
            </a:r>
            <a:r>
              <a:rPr lang="zh-CN" altLang="en-US" dirty="0"/>
              <a:t>第二部分记录</a:t>
            </a:r>
            <a:r>
              <a:rPr lang="en-US" altLang="zh-CN" dirty="0"/>
              <a:t>SDK</a:t>
            </a:r>
            <a:r>
              <a:rPr lang="zh-CN" altLang="en-US" dirty="0"/>
              <a:t>信息与</a:t>
            </a:r>
            <a:r>
              <a:rPr lang="en-US" altLang="zh-CN" dirty="0"/>
              <a:t>Docker</a:t>
            </a:r>
            <a:r>
              <a:rPr lang="zh-CN" altLang="en-US" dirty="0"/>
              <a:t>镜像信息，明确指定测试环境需要依赖的组件版本与推荐配置，省去测试执行阶段手动查找适配环境的成本，保障测试环境可以快速标准化搭建，提升整个测试流程的可复现性。</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这份原始知识模板延续前文的结构设计，核心聚焦</a:t>
            </a:r>
            <a:r>
              <a:rPr lang="en-US" altLang="zh-CN" dirty="0"/>
              <a:t>API</a:t>
            </a:r>
            <a:r>
              <a:rPr lang="zh-CN" altLang="en-US" dirty="0"/>
              <a:t>与数据类型的信息归集，完全遵循官方文档的原有组织逻辑，以</a:t>
            </a:r>
            <a:r>
              <a:rPr lang="en-US" altLang="zh-CN" dirty="0"/>
              <a:t>API</a:t>
            </a:r>
            <a:r>
              <a:rPr lang="zh-CN" altLang="en-US" dirty="0"/>
              <a:t>端点为核心单位整理信息，保证信息梳理符合开发者认知习惯。</a:t>
            </a:r>
            <a:r>
              <a:rPr lang="en-US" altLang="zh-CN" dirty="0"/>
              <a:t>
</a:t>
            </a:r>
            <a:r>
              <a:rPr lang="zh-CN" altLang="en-US" dirty="0"/>
              <a:t>模板要求记录三类核心信息，分别是参数必填性与描述、分类型的约束规则、不同响应码对应的含义，同时要求所有信息绑定来源网页链接。这套设计保障信息可追溯，也为后续测试生成提供清晰的索引。</a:t>
            </a:r>
            <a:r>
              <a:rPr lang="en-US" altLang="zh-CN" dirty="0"/>
              <a:t>
</a:t>
            </a:r>
            <a:r>
              <a:rPr lang="zh-CN" altLang="en-US" dirty="0"/>
              <a:t>模板额外要求记录向量数据库自定义数据类型的定义。这项设计并非冗余，它直接为后续的类型边界测试提供设计依据，帮助我们精准构造边界测试用例，直击文档与实现不一致的逻辑缺陷。</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完成第一步的原始知识提取后，系统进入</a:t>
            </a:r>
            <a:r>
              <a:rPr lang="en-US" altLang="zh-CN" dirty="0"/>
              <a:t>claim formalizer</a:t>
            </a:r>
            <a:r>
              <a:rPr lang="zh-CN" altLang="en-US" dirty="0"/>
              <a:t>阶段，完成原始非结构化知识到结构化行为断言的转化，输出最终的结构化断言文件</a:t>
            </a:r>
            <a:r>
              <a:rPr lang="en-US" altLang="zh-CN" dirty="0"/>
              <a:t>structured_claims.json</a:t>
            </a:r>
            <a:r>
              <a:rPr lang="zh-CN" altLang="en-US" dirty="0"/>
              <a:t>。</a:t>
            </a:r>
            <a:r>
              <a:rPr lang="en-US" altLang="zh-CN" dirty="0"/>
              <a:t>
</a:t>
            </a:r>
            <a:r>
              <a:rPr lang="zh-CN" altLang="en-US" dirty="0"/>
              <a:t>该阶段核心完成三项核心处理。第一项完成约束分类，按照约束属性将断言划分为类型约束、范围约束、状态约束和行为约束四类，为后续测试脚本生成提供清晰的分类依据。第二项完成证据分级过滤，按照证据来源将断言分为文档明确说明、从示例推导、从行为推导、遵循行业惯例四个等级，过滤置信度不足的无效断言。</a:t>
            </a:r>
            <a:r>
              <a:rPr lang="en-US" altLang="zh-CN" dirty="0"/>
              <a:t>
</a:t>
            </a:r>
            <a:r>
              <a:rPr lang="zh-CN" altLang="en-US" dirty="0"/>
              <a:t>第三项完成来源验证校验，系统会调取每一条断言对应的原始文档链接，核验断言内容确实存在于官方文档中。验证通过的断言进入下一流程，未通过的断言直接剔除，从根源避免幻觉问题干扰后续测试。</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我们将行为声明提取流程拆分为知识提取和声明规整两个独立步骤，而非合并为单一模块，核心源于三方面工程理性考量。</a:t>
            </a:r>
            <a:r>
              <a:rPr lang="en-US" altLang="zh-CN" dirty="0"/>
              <a:t>
</a:t>
            </a:r>
            <a:r>
              <a:rPr lang="zh-CN" altLang="en-US" dirty="0"/>
              <a:t>第一，拆分设计保障全流程可审计。网络访问权限仅开放给知识提取模块，一旦流程出现问题，可快速定位故障根源，明确问题出在文档爬取阶段还是规整阶段，大幅降低问题排查成本。</a:t>
            </a:r>
            <a:r>
              <a:rPr lang="en-US" altLang="zh-CN" dirty="0"/>
              <a:t>
</a:t>
            </a:r>
            <a:r>
              <a:rPr lang="zh-CN" altLang="en-US" dirty="0"/>
              <a:t>第二，</a:t>
            </a:r>
            <a:r>
              <a:rPr lang="en-US" altLang="zh-CN" dirty="0"/>
              <a:t>raw_knowledge.md</a:t>
            </a:r>
            <a:r>
              <a:rPr lang="zh-CN" altLang="en-US" dirty="0"/>
              <a:t>可作为跨会话缓存。若后续调整规整规则，仅需重新运行规整模块即可，无需重复爬取官方文档，显著提升迭代效率。</a:t>
            </a:r>
            <a:r>
              <a:rPr lang="en-US" altLang="zh-CN" dirty="0"/>
              <a:t>
</a:t>
            </a:r>
            <a:r>
              <a:rPr lang="zh-CN" altLang="en-US" dirty="0"/>
              <a:t>第三，拆分设计合理分配上下文资源。数百页爬取内容与数百行规则规范会共同抢占大模型上下文窗口，分而治之的策略能保证两个阶段都获得充足的推理空间，最终得到更稳定准确的提取结果。</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完成文档行为主张的结构化提取后，流程进入第二步：基于提取到的规则生成可直接执行的测试脚本。</a:t>
            </a:r>
            <a:r>
              <a:rPr lang="en-US" altLang="zh-CN" dirty="0"/>
              <a:t>
</a:t>
            </a:r>
            <a:r>
              <a:rPr lang="zh-CN" altLang="en-US" dirty="0"/>
              <a:t>左侧展示的是最终生成的可执行</a:t>
            </a:r>
            <a:r>
              <a:rPr lang="en-US" altLang="zh-CN" dirty="0"/>
              <a:t>HTTP</a:t>
            </a:r>
            <a:r>
              <a:rPr lang="zh-CN" altLang="en-US" dirty="0"/>
              <a:t>请求示例，它针对</a:t>
            </a:r>
            <a:r>
              <a:rPr lang="en-US" altLang="zh-CN" dirty="0"/>
              <a:t>“</a:t>
            </a:r>
            <a:r>
              <a:rPr lang="zh-CN" altLang="en-US" dirty="0"/>
              <a:t>向量数据库实体搜索</a:t>
            </a:r>
            <a:r>
              <a:rPr lang="en-US" altLang="zh-CN" dirty="0"/>
              <a:t>”</a:t>
            </a:r>
            <a:r>
              <a:rPr lang="zh-CN" altLang="en-US" dirty="0"/>
              <a:t>接口，故意将文档要求范围外的</a:t>
            </a:r>
            <a:r>
              <a:rPr lang="en-US" altLang="zh-CN" dirty="0"/>
              <a:t>0</a:t>
            </a:r>
            <a:r>
              <a:rPr lang="zh-CN" altLang="en-US" dirty="0"/>
              <a:t>赋值给参数</a:t>
            </a:r>
            <a:r>
              <a:rPr lang="en-US" altLang="zh-CN" dirty="0"/>
              <a:t>nprobe</a:t>
            </a:r>
            <a:r>
              <a:rPr lang="zh-CN" altLang="en-US" dirty="0"/>
              <a:t>，构造出符合边界测试逻辑的请求，可直接发送到目标服务完成验证。</a:t>
            </a:r>
            <a:r>
              <a:rPr lang="en-US" altLang="zh-CN" dirty="0"/>
              <a:t>
</a:t>
            </a:r>
            <a:r>
              <a:rPr lang="zh-CN" altLang="en-US" dirty="0"/>
              <a:t>右侧对应支撑这个测试用例的结构化行为约束，完整保留了约束</a:t>
            </a:r>
            <a:r>
              <a:rPr lang="en-US" altLang="zh-CN" dirty="0"/>
              <a:t>ID</a:t>
            </a:r>
            <a:r>
              <a:rPr lang="zh-CN" altLang="en-US" dirty="0"/>
              <a:t>、所属接口、规则描述、断言表达式、约束类型、置信度、证据等级、来源链接和验证结果全维度信息。</a:t>
            </a:r>
            <a:r>
              <a:rPr lang="en-US" altLang="zh-CN" dirty="0"/>
              <a:t>
</a:t>
            </a:r>
            <a:r>
              <a:rPr lang="zh-CN" altLang="en-US" dirty="0"/>
              <a:t>这套设计实现了规则到执行的无缝衔接，结构化约束为测试生成提供明确依据，生成的测试请求直接对应约束要求，保障每一次测试都可追溯到原始文档规则。</a:t>
            </a: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结构化的行为约束提取完成后，系统会按三类测试方向生成可执行测试脚本，分别对应边界值攻击、语义攻击与状态攻击，最终输出</a:t>
            </a:r>
            <a:r>
              <a:rPr lang="en-US" altLang="zh-CN" dirty="0"/>
              <a:t>N</a:t>
            </a:r>
            <a:r>
              <a:rPr lang="zh-CN" altLang="en-US" dirty="0"/>
              <a:t>份独立的</a:t>
            </a:r>
            <a:r>
              <a:rPr lang="en-US" altLang="zh-CN" dirty="0"/>
              <a:t>Python</a:t>
            </a:r>
            <a:r>
              <a:rPr lang="zh-CN" altLang="en-US" dirty="0"/>
              <a:t>测试用例。</a:t>
            </a:r>
            <a:r>
              <a:rPr lang="en-US" altLang="zh-CN" dirty="0"/>
              <a:t>
</a:t>
            </a:r>
            <a:r>
              <a:rPr lang="zh-CN" altLang="en-US" dirty="0"/>
              <a:t>生成完成的脚本不会直接输出，系统会设置四道质量校验关卡，从基础语法到逻辑合法性逐层筛查。第一，通过</a:t>
            </a:r>
            <a:r>
              <a:rPr lang="en-US" altLang="zh-CN" dirty="0"/>
              <a:t>py_compile</a:t>
            </a:r>
            <a:r>
              <a:rPr lang="zh-CN" altLang="en-US" dirty="0"/>
              <a:t>校验脚本基础语法正确性；第二，确认脚本关联的约束</a:t>
            </a:r>
            <a:r>
              <a:rPr lang="en-US" altLang="zh-CN" dirty="0"/>
              <a:t>ID</a:t>
            </a:r>
            <a:r>
              <a:rPr lang="zh-CN" altLang="en-US" dirty="0"/>
              <a:t>真实存在于结构化合约中，避免无的放矢；第三，排查缺失安全请求封装、缺失异常捕获等危险代码模式；第四，通过签名指纹表检测不同数据库测试用例的交叉污染问题。</a:t>
            </a:r>
            <a:r>
              <a:rPr lang="en-US" altLang="zh-CN" dirty="0"/>
              <a:t>
</a:t>
            </a:r>
            <a:r>
              <a:rPr lang="zh-CN" altLang="en-US" dirty="0"/>
              <a:t>校验未通过的脚本会触发重新生成流程，只有完全符合校验标准的脚本，才会进入最终输出环节，从根源上避免无效测试，保障后续测试执行的稳定性。</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结构化行为断言提取完成后，系统进入可执行测试脚本生成阶段。整个生成流程依托三类攻击代理开展，围绕边界值、状态与语义三类测试方向设计生成逻辑。</a:t>
            </a:r>
            <a:r>
              <a:rPr lang="en-US" altLang="zh-CN" dirty="0"/>
              <a:t>
</a:t>
            </a:r>
            <a:r>
              <a:rPr lang="zh-CN" altLang="en-US" dirty="0"/>
              <a:t>分块预处理提升生成效率，专门脚本按照</a:t>
            </a:r>
            <a:r>
              <a:rPr lang="en-US" altLang="zh-CN" dirty="0"/>
              <a:t>API</a:t>
            </a:r>
            <a:r>
              <a:rPr lang="zh-CN" altLang="en-US" dirty="0"/>
              <a:t>端点对结构化断言完成分块，为后续生成奠定合理的任务粒度基础。分块完成后，系统确定测试覆盖目标，逐一枚举当前分块内所有约束与适用测试策略的组合，确保不遗漏任何待验证需求。</a:t>
            </a:r>
            <a:r>
              <a:rPr lang="en-US" altLang="zh-CN" dirty="0"/>
              <a:t>
</a:t>
            </a:r>
            <a:r>
              <a:rPr lang="zh-CN" altLang="en-US" dirty="0"/>
              <a:t>最后，系统基于每一组有效组合生成对应的</a:t>
            </a:r>
            <a:r>
              <a:rPr lang="en-US" altLang="zh-CN" dirty="0"/>
              <a:t>Python</a:t>
            </a:r>
            <a:r>
              <a:rPr lang="zh-CN" altLang="en-US" dirty="0"/>
              <a:t>测试脚本。所有生成脚本必须通过合规性校验，校验失败触发重新生成，校验通过才会输出可用脚本集合，从源头保障后续测试执行的稳定性与可靠性。</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完成结构化行为声明提取后，我们进入测试脚本生成阶段，针对不同类型的约束规则，匹配三类内置测试策略，边界攻击是其中最核心的一类。</a:t>
            </a:r>
            <a:r>
              <a:rPr lang="en-US" altLang="zh-CN" dirty="0"/>
              <a:t>
</a:t>
            </a:r>
            <a:r>
              <a:rPr lang="zh-CN" altLang="en-US" dirty="0"/>
              <a:t>软件系统的大多数故障，都源于边界值处理不当，向量数据库也不例外。官方文档给出的参数范围，往往存在描述模糊、执行逻辑与文档不一致的问题，边界值正是验证系统约束有效性的关键入口。</a:t>
            </a:r>
            <a:r>
              <a:rPr lang="en-US" altLang="zh-CN" dirty="0"/>
              <a:t>
</a:t>
            </a:r>
            <a:r>
              <a:rPr lang="zh-CN" altLang="en-US" dirty="0"/>
              <a:t>这一类内置测试策略，覆盖参数越界、空值、类型不匹配等多种常见异常场景，能够快速触发系统未处理的错误，精准定位文档描述与实际实现的偏差，为后续问题溯源提供清晰方向。</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完成边界值测试后，我们需要依托状态类测试策略进一步挖掘矢量数据库管理系统的潜在缺陷。这类测试聚焦</a:t>
            </a:r>
            <a:r>
              <a:rPr lang="en-US" altLang="zh-CN" dirty="0"/>
              <a:t>VDBMS</a:t>
            </a:r>
            <a:r>
              <a:rPr lang="zh-CN" altLang="en-US" dirty="0"/>
              <a:t>运行过程中的不同状态变化，重点验证系统在状态切换、状态维持、多请求状态冲突场景下的行为一致性。</a:t>
            </a:r>
            <a:r>
              <a:rPr lang="en-US" altLang="zh-CN" dirty="0"/>
              <a:t>
</a:t>
            </a:r>
            <a:r>
              <a:rPr lang="zh-CN" altLang="en-US" dirty="0"/>
              <a:t>状态类测试瞄准系统设计文档中未明确覆盖的隐性逻辑漏洞，比如长连接中断后恢复的数据一致性问题，批量写入后的索引状态异常，或者多并发请求下的状态竞态问题。</a:t>
            </a:r>
            <a:r>
              <a:rPr lang="en-US" altLang="zh-CN" dirty="0"/>
              <a:t>
</a:t>
            </a:r>
            <a:r>
              <a:rPr lang="zh-CN" altLang="en-US" dirty="0"/>
              <a:t>这类测试是边界测试的重要补充，能够覆盖仅靠输入参数校验无法发现的系统性缺陷，帮助我们更全面地验证</a:t>
            </a:r>
            <a:r>
              <a:rPr lang="en-US" altLang="zh-CN" dirty="0"/>
              <a:t>VDBMS</a:t>
            </a:r>
            <a:r>
              <a:rPr lang="zh-CN" altLang="en-US" dirty="0"/>
              <a:t>行为和文档约定的匹配程度，夯实测试的覆盖广度与深度。</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我们完成了边界、状态两类攻击的内置测试策略构建后，第三类核心策略聚焦语义维度的攻击场景，对应我们之前拆分出的</a:t>
            </a:r>
            <a:r>
              <a:rPr lang="en-US" altLang="zh-CN" dirty="0"/>
              <a:t>attack-semantic</a:t>
            </a:r>
            <a:r>
              <a:rPr lang="zh-CN" altLang="en-US" dirty="0"/>
              <a:t>类行为约束。</a:t>
            </a:r>
            <a:r>
              <a:rPr lang="en-US" altLang="zh-CN" dirty="0"/>
              <a:t>
</a:t>
            </a:r>
            <a:r>
              <a:rPr lang="zh-CN" altLang="en-US" dirty="0"/>
              <a:t>不同于边界测试对参数取值区间的探测，也不同于状态测试对系统运行状态的验证，语义维度的攻击测试，瞄准向量数据库接口语义规则层面的违规场景。这类场景往往是</a:t>
            </a:r>
            <a:r>
              <a:rPr lang="en-US" altLang="zh-CN" dirty="0"/>
              <a:t>API</a:t>
            </a:r>
            <a:r>
              <a:rPr lang="zh-CN" altLang="en-US" dirty="0"/>
              <a:t>文档定义隐含要求，或是实际业务运行中必须满足的语义逻辑，容易被常规测试忽略，却会直接导致系统逻辑异常。</a:t>
            </a:r>
            <a:r>
              <a:rPr lang="en-US" altLang="zh-CN" dirty="0"/>
              <a:t>
</a:t>
            </a:r>
            <a:r>
              <a:rPr lang="zh-CN" altLang="en-US" dirty="0"/>
              <a:t>我们针对不同语义违规场景，预设了多套成熟的测试生成策略，覆盖绝大多数公开文档中明确提及的语义约束，可直接对接我们的脚本生成流程，批量产出针对性测试用例。</a:t>
            </a: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完成可执行测试脚本生成与校验后，我们进入整个测试流程的第三步：在沙箱隔离的向量数据库实例中运行生成的测试脚本。</a:t>
            </a:r>
            <a:r>
              <a:rPr lang="en-US" altLang="zh-CN" dirty="0"/>
              <a:t>
</a:t>
            </a:r>
            <a:r>
              <a:rPr lang="zh-CN" altLang="en-US" dirty="0"/>
              <a:t>这一步的核心操作，是把按照攻击策略生成的测试用例，转化为符合目标向量数据库接口规范的真实</a:t>
            </a:r>
            <a:r>
              <a:rPr lang="en-US" altLang="zh-CN" dirty="0"/>
              <a:t>HTTP</a:t>
            </a:r>
            <a:r>
              <a:rPr lang="zh-CN" altLang="en-US" dirty="0"/>
              <a:t>请求。本页展示的示例，就是针对向量检索接口构造异常输入的请求样本，我们把违规的</a:t>
            </a:r>
            <a:r>
              <a:rPr lang="en-US" altLang="zh-CN" dirty="0"/>
              <a:t>`nprobe`</a:t>
            </a:r>
            <a:r>
              <a:rPr lang="zh-CN" altLang="en-US" dirty="0"/>
              <a:t>参数设置为</a:t>
            </a:r>
            <a:r>
              <a:rPr lang="en-US" altLang="zh-CN" dirty="0"/>
              <a:t>0</a:t>
            </a:r>
            <a:r>
              <a:rPr lang="zh-CN" altLang="en-US" dirty="0"/>
              <a:t>，触发对边界约束校验逻辑的测试。</a:t>
            </a:r>
            <a:r>
              <a:rPr lang="en-US" altLang="zh-CN" dirty="0"/>
              <a:t>
</a:t>
            </a:r>
            <a:r>
              <a:rPr lang="zh-CN" altLang="en-US" dirty="0"/>
              <a:t>请求发送完成后，系统完整留存三类核心观测数据，分别是向量数据库返回的原始</a:t>
            </a:r>
            <a:r>
              <a:rPr lang="en-US" altLang="zh-CN" dirty="0"/>
              <a:t>HTTP</a:t>
            </a:r>
            <a:r>
              <a:rPr lang="zh-CN" altLang="en-US" dirty="0"/>
              <a:t>响应、服务运行日志，以及数据库的状态变更记录。三类数据共同构成后续缺陷判定的完整事实依据，保障缺陷复现与溯源链路清晰可追溯。</a:t>
            </a: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我们完成测试脚本生成后，进入第三步测试执行环节，核心任务是把生成的测试脚本放到隔离的沙箱向量数据库实例中运行，整个流程依托</a:t>
            </a:r>
            <a:r>
              <a:rPr lang="en-US" altLang="zh-CN" dirty="0"/>
              <a:t>docker-executor</a:t>
            </a:r>
            <a:r>
              <a:rPr lang="zh-CN" altLang="en-US" dirty="0"/>
              <a:t>完成执行管控，兼顾环境隔离和执行效率。</a:t>
            </a:r>
            <a:r>
              <a:rPr lang="en-US" altLang="zh-CN" dirty="0"/>
              <a:t>
</a:t>
            </a:r>
            <a:r>
              <a:rPr lang="zh-CN" altLang="en-US" dirty="0"/>
              <a:t>整个执行分为四个标准化步骤：首先配置目标版本、会话目录等核心参数，写入</a:t>
            </a:r>
            <a:r>
              <a:rPr lang="en-US" altLang="zh-CN" dirty="0"/>
              <a:t>.env</a:t>
            </a:r>
            <a:r>
              <a:rPr lang="zh-CN" altLang="en-US" dirty="0"/>
              <a:t>环境配置文件；其次完成健康检查，确认数据库容器正常启动，避免无效执行浪费资源；再者采用宿主机</a:t>
            </a:r>
            <a:r>
              <a:rPr lang="en-US" altLang="zh-CN" dirty="0"/>
              <a:t>Python</a:t>
            </a:r>
            <a:r>
              <a:rPr lang="zh-CN" altLang="en-US" dirty="0"/>
              <a:t>批量运行测试脚本，不进入</a:t>
            </a:r>
            <a:r>
              <a:rPr lang="en-US" altLang="zh-CN" dirty="0"/>
              <a:t>docker</a:t>
            </a:r>
            <a:r>
              <a:rPr lang="zh-CN" altLang="en-US" dirty="0"/>
              <a:t>容器执行，简化执行链路降低环境干扰；最后通过</a:t>
            </a:r>
            <a:r>
              <a:rPr lang="en-US" altLang="zh-CN" dirty="0"/>
              <a:t>.done</a:t>
            </a:r>
            <a:r>
              <a:rPr lang="zh-CN" altLang="en-US" dirty="0"/>
              <a:t>标记文件和日志文件计数，验证脚本执行的完成状态。</a:t>
            </a:r>
            <a:r>
              <a:rPr lang="en-US" altLang="zh-CN" dirty="0"/>
              <a:t>
</a:t>
            </a:r>
            <a:r>
              <a:rPr lang="zh-CN" altLang="en-US" dirty="0"/>
              <a:t>所有执行结果按批次输出，每个批次生成独立日志文件存储原始</a:t>
            </a:r>
            <a:r>
              <a:rPr lang="en-US" altLang="zh-CN" dirty="0"/>
              <a:t>HTTP</a:t>
            </a:r>
            <a:r>
              <a:rPr lang="zh-CN" altLang="en-US" dirty="0"/>
              <a:t>请求与响应，添加</a:t>
            </a:r>
            <a:r>
              <a:rPr lang="en-US" altLang="zh-CN" dirty="0"/>
              <a:t>.done</a:t>
            </a:r>
            <a:r>
              <a:rPr lang="zh-CN" altLang="en-US" dirty="0"/>
              <a:t>原子完成标记避免文件损坏，最终汇总得到结构化的测试输出集，为后续缺陷确认环节提供完整原始数据。</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完成测试脚本执行后，我们进入缺陷确认的核心环节，通过对比预期行为与实际执行结果判定缺陷是否存在。</a:t>
            </a:r>
            <a:r>
              <a:rPr lang="en-US" altLang="zh-CN" dirty="0"/>
              <a:t>
</a:t>
            </a:r>
            <a:r>
              <a:rPr lang="zh-CN" altLang="en-US" dirty="0"/>
              <a:t>我们收集三类核心执行数据，分别是向量数据库返回的响应报文、运行日志与系统状态。本次示例中，我们发送了不符合文档约束的请求：将搜索参数</a:t>
            </a:r>
            <a:r>
              <a:rPr lang="en-US" altLang="zh-CN" dirty="0"/>
              <a:t>nprobe</a:t>
            </a:r>
            <a:r>
              <a:rPr lang="zh-CN" altLang="en-US" dirty="0"/>
              <a:t>设置为</a:t>
            </a:r>
            <a:r>
              <a:rPr lang="en-US" altLang="zh-CN" dirty="0"/>
              <a:t>0</a:t>
            </a:r>
            <a:r>
              <a:rPr lang="zh-CN" altLang="en-US" dirty="0"/>
              <a:t>，而官方文档明确要求</a:t>
            </a:r>
            <a:r>
              <a:rPr lang="en-US" altLang="zh-CN" dirty="0"/>
              <a:t>nprobe</a:t>
            </a:r>
            <a:r>
              <a:rPr lang="zh-CN" altLang="en-US" dirty="0"/>
              <a:t>取值必须落在</a:t>
            </a:r>
            <a:r>
              <a:rPr lang="en-US" altLang="zh-CN" dirty="0"/>
              <a:t>[1, nlist]</a:t>
            </a:r>
            <a:r>
              <a:rPr lang="zh-CN" altLang="en-US" dirty="0"/>
              <a:t>区间内。实际执行结果显示，向量数据库返回了正常的</a:t>
            </a:r>
            <a:r>
              <a:rPr lang="en-US" altLang="zh-CN" dirty="0"/>
              <a:t>200</a:t>
            </a:r>
            <a:r>
              <a:rPr lang="zh-CN" altLang="en-US" dirty="0"/>
              <a:t>状态码与搜索结果，未触发任何非法参数拦截。</a:t>
            </a:r>
            <a:r>
              <a:rPr lang="en-US" altLang="zh-CN" dirty="0"/>
              <a:t>
</a:t>
            </a:r>
            <a:r>
              <a:rPr lang="zh-CN" altLang="en-US" dirty="0"/>
              <a:t>我们将实际输出与预设行为断言做比对，本案中断言明确规定参数范围，实际执行违反断言却正常返回结果，足以判定缺陷存在。若执行结果符合断言约束，则标记为非缺陷。这套对比机制直接锚定</a:t>
            </a:r>
            <a:r>
              <a:rPr lang="en-US" altLang="zh-CN" dirty="0"/>
              <a:t>“</a:t>
            </a:r>
            <a:r>
              <a:rPr lang="zh-CN" altLang="en-US" dirty="0"/>
              <a:t>文档约定不符合实际实现</a:t>
            </a:r>
            <a:r>
              <a:rPr lang="en-US" altLang="zh-CN" dirty="0"/>
              <a:t>”</a:t>
            </a:r>
            <a:r>
              <a:rPr lang="zh-CN" altLang="en-US" dirty="0"/>
              <a:t>这一核心问题，为后续缺陷固化提供判断依据。</a:t>
            </a: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缺陷确认环节依托多源输入启动自动化验证，输入项涵盖官方文档、预设行为断言、生成测试脚本以及实际执行输出四类核心材料。</a:t>
            </a:r>
            <a:r>
              <a:rPr lang="en-US" altLang="zh-CN" dirty="0"/>
              <a:t>
</a:t>
            </a:r>
            <a:r>
              <a:rPr lang="zh-CN" altLang="en-US" dirty="0"/>
              <a:t>整个验证流程划分为两大核心模块，</a:t>
            </a:r>
            <a:r>
              <a:rPr lang="en-US" altLang="zh-CN" dirty="0"/>
              <a:t>Evidence_Builder</a:t>
            </a:r>
            <a:r>
              <a:rPr lang="zh-CN" altLang="en-US" dirty="0"/>
              <a:t>率先整合梳理所有输入信息，串联形成完整证据链，输出结构化的</a:t>
            </a:r>
            <a:r>
              <a:rPr lang="en-US" altLang="zh-CN" dirty="0"/>
              <a:t>evidence_chain.json</a:t>
            </a:r>
            <a:r>
              <a:rPr lang="zh-CN" altLang="en-US" dirty="0"/>
              <a:t>。</a:t>
            </a:r>
            <a:r>
              <a:rPr lang="en-US" altLang="zh-CN" dirty="0"/>
              <a:t>Chain_auditor</a:t>
            </a:r>
            <a:r>
              <a:rPr lang="zh-CN" altLang="en-US" dirty="0"/>
              <a:t>负责对证据链开展合规性校验，必要时触发</a:t>
            </a:r>
            <a:r>
              <a:rPr lang="en-US" altLang="zh-CN" dirty="0"/>
              <a:t>VDBMS</a:t>
            </a:r>
            <a:r>
              <a:rPr lang="zh-CN" altLang="en-US" dirty="0"/>
              <a:t>源码重建，整个过程最多重试三次，保障验证结果的稳定性。</a:t>
            </a:r>
            <a:r>
              <a:rPr lang="en-US" altLang="zh-CN" dirty="0"/>
              <a:t>
</a:t>
            </a:r>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缺陷确认环节由</a:t>
            </a:r>
            <a:r>
              <a:rPr lang="en-US" altLang="zh-CN" dirty="0"/>
              <a:t>Evidence_Builder</a:t>
            </a:r>
            <a:r>
              <a:rPr lang="zh-CN" altLang="en-US" dirty="0"/>
              <a:t>模块完成，整合多源输入生成结构化缺陷证据链，整个验证流程分为两个核心阶段。</a:t>
            </a:r>
            <a:r>
              <a:rPr lang="en-US" altLang="zh-CN" dirty="0"/>
              <a:t>
</a:t>
            </a:r>
            <a:r>
              <a:rPr lang="zh-CN" altLang="en-US" dirty="0"/>
              <a:t>第一阶段聚焦执行证据与文档校验，依次完成四项核心核查：验证测试输出与预设行为断言的匹配度，逐层校验文档链路可达性、版本一致性、内容匹配性与接口存在性，复现问题并校验</a:t>
            </a:r>
            <a:r>
              <a:rPr lang="en-US" altLang="zh-CN" dirty="0"/>
              <a:t>HTTP</a:t>
            </a:r>
            <a:r>
              <a:rPr lang="zh-CN" altLang="en-US" dirty="0"/>
              <a:t>返回语义合规性，追踪从契约到文档、脚本最终到运行日志的完整链路，标记链路断裂点。</a:t>
            </a:r>
            <a:r>
              <a:rPr lang="en-US" altLang="zh-CN" dirty="0"/>
              <a:t>
</a:t>
            </a:r>
            <a:r>
              <a:rPr lang="zh-CN" altLang="en-US" dirty="0"/>
              <a:t>第二阶段落地源码层面锚定，通过关键字检索定位源码中对应逻辑，最终输出五类验证结论，判定参数校验逻辑的实际实现状态。</a:t>
            </a:r>
            <a:r>
              <a:rPr lang="en-US" altLang="zh-CN" dirty="0"/>
              <a:t>Chain_auditor</a:t>
            </a:r>
            <a:r>
              <a:rPr lang="zh-CN" altLang="en-US" dirty="0"/>
              <a:t>可根据验证结果触发证据重构建请求，完善验证链路。</a:t>
            </a: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这套标准化证据链模板，系统化梳理了缺陷验证全流程的关键节点，为缺陷判定提供可复现、可追溯的统一依据。</a:t>
            </a:r>
            <a:r>
              <a:rPr lang="en-US" altLang="zh-CN" dirty="0"/>
              <a:t>
</a:t>
            </a:r>
            <a:r>
              <a:rPr lang="zh-CN" altLang="en-US" dirty="0"/>
              <a:t>文档验证模块从链接可达性、版本匹配、内容一致性、接口准确性四个维度，核查官方文档与预期行为的匹配度，明确文档层面的验证结论。</a:t>
            </a:r>
            <a:r>
              <a:rPr lang="en-US" altLang="zh-CN" dirty="0"/>
              <a:t>
</a:t>
            </a:r>
            <a:r>
              <a:rPr lang="zh-CN" altLang="en-US" dirty="0"/>
              <a:t>执行证据模块留存实际运行的原始观测数据，判定输出结果与预期断言的契合程度，同时标记缺陷的可复现性与触发路径。</a:t>
            </a:r>
            <a:r>
              <a:rPr lang="en-US" altLang="zh-CN" dirty="0"/>
              <a:t>
</a:t>
            </a:r>
            <a:r>
              <a:rPr lang="zh-CN" altLang="en-US" dirty="0"/>
              <a:t>合同锚定模块完整留存预期约束的原文信息，明确</a:t>
            </a:r>
            <a:r>
              <a:rPr lang="en-US" altLang="zh-CN" dirty="0"/>
              <a:t>API</a:t>
            </a:r>
            <a:r>
              <a:rPr lang="zh-CN" altLang="en-US" dirty="0"/>
              <a:t>是否违反约定规则。链路追踪模块梳理从约定到文档、脚本再到日志的完整链路，定位是否存在链路断裂。源码落地模块留存源码层面的核查结果，明确验证逻辑的实际实现状态。这套模板完整覆盖缺陷判定的全维度信息，为后续审计环节提供扎实的判定基础。</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Chain_auditor</a:t>
            </a:r>
            <a:r>
              <a:rPr lang="zh-CN" altLang="en-US" dirty="0"/>
              <a:t>先完成第一阶段四项基础校验，校验不通过直接触发证据链重建。第一项校验证据链完整性，要求五大核心板块全部存在且内容非空。第二项校验一致性，确认契约、文档、日志、源码四者信息对齐无冲突。第三项校验自洽性，排除证据内部存在逻辑矛盾的情况。第四项校验对应性，确认核心观测结果符合预设断言要求。</a:t>
            </a:r>
            <a:r>
              <a:rPr lang="en-US" altLang="zh-CN" dirty="0"/>
              <a:t>
</a:t>
            </a:r>
            <a:r>
              <a:rPr lang="zh-CN" altLang="en-US" dirty="0"/>
              <a:t>四项校验全部通过后，进入多维度结果判定环节。从契约维度验证约束关系，判定缺陷是否成立。从物理维度验证参数约束，判断缺陷是否触发。从认知维度匹配开发者认知，判断缺陷是否符合开发者预设的缺陷判定规则。从源码维度验证逻辑设计，确认缺陷是设计缺陷还是既定设计。任意维度触发不一致，都重新构建证据链，最终输出缺陷确认或驳回结果。</a:t>
            </a: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我们的整个评估环节围绕三个核心研究问题展开，精准锚定</a:t>
            </a:r>
            <a:r>
              <a:rPr lang="en-US" altLang="zh-CN" dirty="0"/>
              <a:t>TestVDB</a:t>
            </a:r>
            <a:r>
              <a:rPr lang="zh-CN" altLang="en-US" dirty="0"/>
              <a:t>方法的实际效能边界。</a:t>
            </a:r>
            <a:r>
              <a:rPr lang="en-US" altLang="zh-CN" dirty="0"/>
              <a:t>
</a:t>
            </a:r>
            <a:r>
              <a:rPr lang="zh-CN" altLang="en-US" dirty="0"/>
              <a:t>第一个问题聚焦缺陷检出能力，明确测试方案要回答</a:t>
            </a:r>
            <a:r>
              <a:rPr lang="en-US" altLang="zh-CN" dirty="0"/>
              <a:t>TestVDB</a:t>
            </a:r>
            <a:r>
              <a:rPr lang="zh-CN" altLang="en-US" dirty="0"/>
              <a:t>在真实向量数据库系统中，能够发现多少类型、多少数量的文档实现不一致缺陷。</a:t>
            </a:r>
            <a:r>
              <a:rPr lang="en-US" altLang="zh-CN" dirty="0"/>
              <a:t>
</a:t>
            </a:r>
            <a:r>
              <a:rPr lang="zh-CN" altLang="en-US" dirty="0"/>
              <a:t>第二个问题针对我们方法的核心创新点，验证基于源码校验的证伪逻辑，究竟能多大程度降低误报率，解决传统测试方法误报过多的痛点。</a:t>
            </a:r>
            <a:r>
              <a:rPr lang="en-US" altLang="zh-CN" dirty="0"/>
              <a:t>
</a:t>
            </a:r>
            <a:r>
              <a:rPr lang="zh-CN" altLang="en-US" dirty="0"/>
              <a:t>第三个问题完成横向对标，明确我们的方法相比现有工具</a:t>
            </a:r>
            <a:r>
              <a:rPr lang="en-US" altLang="zh-CN" dirty="0"/>
              <a:t>VDBFuzz</a:t>
            </a:r>
            <a:r>
              <a:rPr lang="zh-CN" altLang="en-US" dirty="0"/>
              <a:t>，能检出多少对方无法发现的新缺陷，清晰展现方法的增量价值。</a:t>
            </a: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TestVDB</a:t>
            </a:r>
            <a:r>
              <a:rPr lang="zh-CN" altLang="en-US" dirty="0"/>
              <a:t>在真实向量数据库场景下完成了缺陷检测全流程验证，最终累计提交</a:t>
            </a:r>
            <a:r>
              <a:rPr lang="en-US" altLang="zh-CN" dirty="0"/>
              <a:t>102</a:t>
            </a:r>
            <a:r>
              <a:rPr lang="zh-CN" altLang="en-US" dirty="0"/>
              <a:t>个缺陷报告，其中</a:t>
            </a:r>
            <a:r>
              <a:rPr lang="en-US" altLang="zh-CN" dirty="0"/>
              <a:t>44</a:t>
            </a:r>
            <a:r>
              <a:rPr lang="zh-CN" altLang="en-US" dirty="0"/>
              <a:t>个被社区确认为未公开的新增缺陷，目前已有</a:t>
            </a:r>
            <a:r>
              <a:rPr lang="en-US" altLang="zh-CN" dirty="0"/>
              <a:t>27</a:t>
            </a:r>
            <a:r>
              <a:rPr lang="zh-CN" altLang="en-US" dirty="0"/>
              <a:t>个缺陷被开发者合并修复。</a:t>
            </a:r>
            <a:r>
              <a:rPr lang="en-US" altLang="zh-CN" dirty="0"/>
              <a:t>
</a:t>
            </a:r>
            <a:r>
              <a:rPr lang="zh-CN" altLang="en-US" dirty="0"/>
              <a:t>该项成果充分证明，</a:t>
            </a:r>
            <a:r>
              <a:rPr lang="en-US" altLang="zh-CN" dirty="0"/>
              <a:t>TestVDB</a:t>
            </a:r>
            <a:r>
              <a:rPr lang="zh-CN" altLang="en-US" dirty="0"/>
              <a:t>的缺陷检测体系具备实打实的工业落地价值，能帮助主流</a:t>
            </a:r>
            <a:r>
              <a:rPr lang="en-US" altLang="zh-CN" dirty="0"/>
              <a:t>VDBMS</a:t>
            </a:r>
            <a:r>
              <a:rPr lang="zh-CN" altLang="en-US" dirty="0"/>
              <a:t>持续提升代码可靠性。</a:t>
            </a:r>
            <a:r>
              <a:rPr lang="en-US" altLang="zh-CN" dirty="0"/>
              <a:t>
</a:t>
            </a:r>
            <a:r>
              <a:rPr lang="zh-CN" altLang="en-US" dirty="0"/>
              <a:t>针对用户最关心的误报问题，数据给出了明确结论：原有历史产生的</a:t>
            </a:r>
            <a:r>
              <a:rPr lang="en-US" altLang="zh-CN" dirty="0"/>
              <a:t>26</a:t>
            </a:r>
            <a:r>
              <a:rPr lang="zh-CN" altLang="en-US" dirty="0"/>
              <a:t>个误报样本中，优化后的</a:t>
            </a:r>
            <a:r>
              <a:rPr lang="en-US" altLang="zh-CN" dirty="0"/>
              <a:t>TestVDB</a:t>
            </a:r>
            <a:r>
              <a:rPr lang="zh-CN" altLang="en-US" dirty="0"/>
              <a:t>成功过滤了</a:t>
            </a:r>
            <a:r>
              <a:rPr lang="en-US" altLang="zh-CN" dirty="0"/>
              <a:t>21</a:t>
            </a:r>
            <a:r>
              <a:rPr lang="zh-CN" altLang="en-US" dirty="0"/>
              <a:t>个误报，误报抑制率达到</a:t>
            </a:r>
            <a:r>
              <a:rPr lang="en-US" altLang="zh-CN" dirty="0"/>
              <a:t>81%</a:t>
            </a:r>
            <a:r>
              <a:rPr lang="zh-CN" altLang="en-US" dirty="0"/>
              <a:t>，验证了源码锚定核验机制的有效性。</a:t>
            </a:r>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我们开展本次实验，核心目标是验证</a:t>
            </a:r>
            <a:r>
              <a:rPr lang="en-US" altLang="zh-CN" dirty="0"/>
              <a:t>TestVDB</a:t>
            </a:r>
            <a:r>
              <a:rPr lang="zh-CN" altLang="en-US" dirty="0"/>
              <a:t>基于源</a:t>
            </a:r>
            <a:r>
              <a:rPr lang="en-US" altLang="zh-CN" dirty="0"/>
              <a:t> grounded </a:t>
            </a:r>
            <a:r>
              <a:rPr lang="zh-CN" altLang="en-US" dirty="0"/>
              <a:t>方法的误报抑制能力，实验从原真实缺陷与误报样本池中抽取了</a:t>
            </a:r>
            <a:r>
              <a:rPr lang="en-US" altLang="zh-CN" dirty="0"/>
              <a:t>71</a:t>
            </a:r>
            <a:r>
              <a:rPr lang="zh-CN" altLang="en-US" dirty="0"/>
              <a:t>个候选缺陷。其中包含</a:t>
            </a:r>
            <a:r>
              <a:rPr lang="en-US" altLang="zh-CN" dirty="0"/>
              <a:t>44</a:t>
            </a:r>
            <a:r>
              <a:rPr lang="zh-CN" altLang="en-US" dirty="0"/>
              <a:t>个真实真阳性和</a:t>
            </a:r>
            <a:r>
              <a:rPr lang="en-US" altLang="zh-CN" dirty="0"/>
              <a:t>27</a:t>
            </a:r>
            <a:r>
              <a:rPr lang="zh-CN" altLang="en-US" dirty="0"/>
              <a:t>个初始标注的假阳性样本，覆盖</a:t>
            </a:r>
            <a:r>
              <a:rPr lang="en-US" altLang="zh-CN" dirty="0"/>
              <a:t>Milvus</a:t>
            </a:r>
            <a:r>
              <a:rPr lang="zh-CN" altLang="en-US" dirty="0"/>
              <a:t>、</a:t>
            </a:r>
            <a:r>
              <a:rPr lang="en-US" altLang="zh-CN" dirty="0"/>
              <a:t>Qdrant</a:t>
            </a:r>
            <a:r>
              <a:rPr lang="zh-CN" altLang="en-US" dirty="0"/>
              <a:t>、</a:t>
            </a:r>
            <a:r>
              <a:rPr lang="en-US" altLang="zh-CN" dirty="0"/>
              <a:t>Weaviate</a:t>
            </a:r>
            <a:r>
              <a:rPr lang="zh-CN" altLang="en-US" dirty="0"/>
              <a:t>三款主流向量数据库，样本分布与实际场景保持一致。</a:t>
            </a:r>
            <a:r>
              <a:rPr lang="en-US" altLang="zh-CN" dirty="0"/>
              <a:t>
</a:t>
            </a:r>
            <a:r>
              <a:rPr lang="zh-CN" altLang="en-US" dirty="0"/>
              <a:t>人工验证结果显示，模型判断出</a:t>
            </a:r>
            <a:r>
              <a:rPr lang="en-US" altLang="zh-CN" dirty="0"/>
              <a:t>42</a:t>
            </a:r>
            <a:r>
              <a:rPr lang="zh-CN" altLang="en-US" dirty="0"/>
              <a:t>个候选为缺陷，剩余</a:t>
            </a:r>
            <a:r>
              <a:rPr lang="en-US" altLang="zh-CN" dirty="0"/>
              <a:t>29</a:t>
            </a:r>
            <a:r>
              <a:rPr lang="zh-CN" altLang="en-US" dirty="0"/>
              <a:t>个判定为非缺陷。对应真实情况来看，</a:t>
            </a:r>
            <a:r>
              <a:rPr lang="en-US" altLang="zh-CN" dirty="0"/>
              <a:t>37</a:t>
            </a:r>
            <a:r>
              <a:rPr lang="zh-CN" altLang="en-US" dirty="0"/>
              <a:t>个真实缺陷被成功检出，仅漏掉</a:t>
            </a:r>
            <a:r>
              <a:rPr lang="en-US" altLang="zh-CN" dirty="0"/>
              <a:t>5</a:t>
            </a:r>
            <a:r>
              <a:rPr lang="zh-CN" altLang="en-US" dirty="0"/>
              <a:t>个真实误报；同时成功拦截</a:t>
            </a:r>
            <a:r>
              <a:rPr lang="en-US" altLang="zh-CN" dirty="0"/>
              <a:t>22</a:t>
            </a:r>
            <a:r>
              <a:rPr lang="zh-CN" altLang="en-US" dirty="0"/>
              <a:t>个真实误报，仅误判</a:t>
            </a:r>
            <a:r>
              <a:rPr lang="en-US" altLang="zh-CN" dirty="0"/>
              <a:t>7</a:t>
            </a:r>
            <a:r>
              <a:rPr lang="zh-CN" altLang="en-US" dirty="0"/>
              <a:t>个真实缺陷为非缺陷。</a:t>
            </a:r>
            <a:r>
              <a:rPr lang="en-US" altLang="zh-CN" dirty="0"/>
              <a:t>
</a:t>
            </a:r>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我们分析了被误判为阳性的原始误报，拆解出两个核心诱因。</a:t>
            </a:r>
            <a:r>
              <a:rPr lang="en-US" altLang="zh-CN" dirty="0"/>
              <a:t>
</a:t>
            </a:r>
            <a:r>
              <a:rPr lang="zh-CN" altLang="en-US" dirty="0"/>
              <a:t>第一种诱因是</a:t>
            </a:r>
            <a:r>
              <a:rPr lang="en-US" altLang="zh-CN" dirty="0"/>
              <a:t>mundane_api_semantics</a:t>
            </a:r>
            <a:r>
              <a:rPr lang="zh-CN" altLang="en-US" dirty="0"/>
              <a:t>，模型将</a:t>
            </a:r>
            <a:r>
              <a:rPr lang="en-US" altLang="zh-CN" dirty="0"/>
              <a:t>API</a:t>
            </a:r>
            <a:r>
              <a:rPr lang="zh-CN" altLang="en-US" dirty="0"/>
              <a:t>接口的正常语义错误识别为异常缺陷，这类误报源于语义判断边界的模糊性。</a:t>
            </a:r>
            <a:r>
              <a:rPr lang="en-US" altLang="zh-CN" dirty="0"/>
              <a:t>
</a:t>
            </a:r>
            <a:r>
              <a:rPr lang="zh-CN" altLang="en-US" dirty="0"/>
              <a:t>第二种诱因是</a:t>
            </a:r>
            <a:r>
              <a:rPr lang="en-US" altLang="zh-CN" dirty="0"/>
              <a:t>eventual_consistency</a:t>
            </a:r>
            <a:r>
              <a:rPr lang="zh-CN" altLang="en-US" dirty="0"/>
              <a:t>，向量数据库本身采用最终一致性架构，数据读取发生在副本数据同步完成之前，就会产生临时的数据不一致，这是分布式架构的正常特性，却被错误标记成缺陷。</a:t>
            </a:r>
            <a:r>
              <a:rPr lang="en-US" altLang="zh-CN" dirty="0"/>
              <a:t>
</a:t>
            </a:r>
            <a:r>
              <a:rPr lang="zh-CN" altLang="en-US" dirty="0"/>
              <a:t>拆解误报产生的环节，能帮助我们针对性优化断言规则，进一步压缩误报空间，提升假阳性抑制的精准度。</a:t>
            </a:r>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误判问题</a:t>
            </a:r>
            <a:r>
              <a:rPr lang="en-US" altLang="zh-CN" dirty="0"/>
              <a:t>——7</a:t>
            </a:r>
            <a:r>
              <a:rPr lang="zh-CN" altLang="en-US" dirty="0"/>
              <a:t>个真实缺陷被我们错误标记成假阳性</a:t>
            </a:r>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原本真实存在的缺陷，为什么会被错误判定为误报过滤掉？</a:t>
            </a:r>
            <a:r>
              <a:rPr lang="en-US" altLang="zh-CN" dirty="0"/>
              <a:t>
</a:t>
            </a:r>
            <a:r>
              <a:rPr lang="zh-CN" altLang="en-US" dirty="0"/>
              <a:t>我们统计了人工核查结果。本次实验抽样的</a:t>
            </a:r>
            <a:r>
              <a:rPr lang="en-US" altLang="zh-CN" dirty="0"/>
              <a:t>71</a:t>
            </a:r>
            <a:r>
              <a:rPr lang="zh-CN" altLang="en-US" dirty="0"/>
              <a:t>个候选案例中，共有</a:t>
            </a:r>
            <a:r>
              <a:rPr lang="en-US" altLang="zh-CN" dirty="0"/>
              <a:t>7</a:t>
            </a:r>
            <a:r>
              <a:rPr lang="zh-CN" altLang="en-US" dirty="0"/>
              <a:t>个真实缺陷被模型误判为误报，这直接影响了我们方法的召回率。</a:t>
            </a:r>
            <a:r>
              <a:rPr lang="en-US" altLang="zh-CN" dirty="0"/>
              <a:t>
</a:t>
            </a:r>
            <a:r>
              <a:rPr lang="zh-CN" altLang="en-US" dirty="0"/>
              <a:t>深挖这类误判的核心成因，根源指向开源社区维护者的标准不一致。同类代码行为，不同项目甚至同一项目的不同维护者，会给出完全不同的缺陷判定结论。</a:t>
            </a:r>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ags" Target="../tags/tag61.xml"/><Relationship Id="rId17" Type="http://schemas.openxmlformats.org/officeDocument/2006/relationships/tags" Target="../tags/tag62.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tags" Target="../tags/tag64.xml"/><Relationship Id="rId3"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tags" Target="../tags/tag66.xml"/><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tags" Target="../tags/tag6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tags" Target="../tags/tag69.xml"/><Relationship Id="rId3" Type="http://schemas.openxmlformats.org/officeDocument/2006/relationships/tags" Target="../tags/tag70.xml"/><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tags" Target="../tags/tag72.xml"/><Relationship Id="rId3" Type="http://schemas.openxmlformats.org/officeDocument/2006/relationships/tags" Target="../tags/tag73.xml"/><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tags" Target="../tags/tag74.xml"/><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tags" Target="../tags/tag75.xml"/><Relationship Id="rId10" Type="http://schemas.openxmlformats.org/officeDocument/2006/relationships/image" Target="../media/image15.png"/><Relationship Id="rId11" Type="http://schemas.openxmlformats.org/officeDocument/2006/relationships/image" Target="../media/image16.svg"/><Relationship Id="rId12" Type="http://schemas.openxmlformats.org/officeDocument/2006/relationships/tags" Target="../tags/tag76.xml"/><Relationship Id="rId13" Type="http://schemas.openxmlformats.org/officeDocument/2006/relationships/image" Target="../media/image17.png"/><Relationship Id="rId14" Type="http://schemas.openxmlformats.org/officeDocument/2006/relationships/image" Target="../media/image18.svg"/><Relationship Id="rId15" Type="http://schemas.openxmlformats.org/officeDocument/2006/relationships/tags" Target="../tags/tag77.xml"/><Relationship Id="rId16" Type="http://schemas.openxmlformats.org/officeDocument/2006/relationships/image" Target="../media/image19.png"/><Relationship Id="rId17" Type="http://schemas.openxmlformats.org/officeDocument/2006/relationships/image" Target="../media/image20.svg"/><Relationship Id="rId18" Type="http://schemas.openxmlformats.org/officeDocument/2006/relationships/tags" Target="../tags/tag78.xml"/><Relationship Id="rId19" Type="http://schemas.openxmlformats.org/officeDocument/2006/relationships/image" Target="../media/image21.png"/><Relationship Id="rId20" Type="http://schemas.openxmlformats.org/officeDocument/2006/relationships/image" Target="../media/image22.svg"/><Relationship Id="rId21" Type="http://schemas.openxmlformats.org/officeDocument/2006/relationships/tags" Target="../tags/tag79.xml"/><Relationship Id="rId22" Type="http://schemas.openxmlformats.org/officeDocument/2006/relationships/image" Target="../media/image23.png"/><Relationship Id="rId23" Type="http://schemas.openxmlformats.org/officeDocument/2006/relationships/image" Target="../media/image24.svg"/><Relationship Id="rId24" Type="http://schemas.openxmlformats.org/officeDocument/2006/relationships/tags" Target="../tags/tag80.xml"/><Relationship Id="rId25" Type="http://schemas.openxmlformats.org/officeDocument/2006/relationships/image" Target="../media/image25.png"/><Relationship Id="rId26" Type="http://schemas.openxmlformats.org/officeDocument/2006/relationships/image" Target="../media/image26.svg"/><Relationship Id="rId27" Type="http://schemas.openxmlformats.org/officeDocument/2006/relationships/tags" Target="../tags/tag81.xml"/><Relationship Id="rId28" Type="http://schemas.openxmlformats.org/officeDocument/2006/relationships/image" Target="../media/image27.png"/><Relationship Id="rId29" Type="http://schemas.openxmlformats.org/officeDocument/2006/relationships/image" Target="../media/image28.svg"/><Relationship Id="rId30" Type="http://schemas.openxmlformats.org/officeDocument/2006/relationships/tags" Target="../tags/tag82.xml"/><Relationship Id="rId31" Type="http://schemas.openxmlformats.org/officeDocument/2006/relationships/slideLayout" Target="../slideLayouts/slideLayout2.xml"/><Relationship Id="rId3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tags" Target="../tags/tag84.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tags" Target="../tags/tag86.xml"/><Relationship Id="rId3" Type="http://schemas.openxmlformats.org/officeDocument/2006/relationships/tags" Target="../tags/tag87.xml"/><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tags" Target="../tags/tag88.xml"/><Relationship Id="rId7" Type="http://schemas.openxmlformats.org/officeDocument/2006/relationships/tags" Target="../tags/tag89.xml"/><Relationship Id="rId8" Type="http://schemas.openxmlformats.org/officeDocument/2006/relationships/image" Target="../media/image32.png"/><Relationship Id="rId9" Type="http://schemas.openxmlformats.org/officeDocument/2006/relationships/image" Target="../media/image33.svg"/><Relationship Id="rId10" Type="http://schemas.openxmlformats.org/officeDocument/2006/relationships/tags" Target="../tags/tag90.xml"/><Relationship Id="rId11" Type="http://schemas.openxmlformats.org/officeDocument/2006/relationships/image" Target="../media/image34.png"/><Relationship Id="rId12" Type="http://schemas.openxmlformats.org/officeDocument/2006/relationships/image" Target="../media/image35.svg"/><Relationship Id="rId13" Type="http://schemas.openxmlformats.org/officeDocument/2006/relationships/tags" Target="../tags/tag91.xml"/><Relationship Id="rId14" Type="http://schemas.openxmlformats.org/officeDocument/2006/relationships/tags" Target="../tags/tag92.xml"/><Relationship Id="rId15" Type="http://schemas.openxmlformats.org/officeDocument/2006/relationships/tags" Target="../tags/tag93.xml"/><Relationship Id="rId16" Type="http://schemas.openxmlformats.org/officeDocument/2006/relationships/image" Target="../media/image21.png"/><Relationship Id="rId17" Type="http://schemas.openxmlformats.org/officeDocument/2006/relationships/image" Target="../media/image22.svg"/><Relationship Id="rId18" Type="http://schemas.openxmlformats.org/officeDocument/2006/relationships/tags" Target="../tags/tag94.xml"/><Relationship Id="rId19" Type="http://schemas.openxmlformats.org/officeDocument/2006/relationships/image" Target="../media/image36.png"/><Relationship Id="rId20" Type="http://schemas.openxmlformats.org/officeDocument/2006/relationships/image" Target="../media/image37.svg"/><Relationship Id="rId21" Type="http://schemas.openxmlformats.org/officeDocument/2006/relationships/slideLayout" Target="../slideLayouts/slideLayout2.xml"/><Relationship Id="rId2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tags" Target="../tags/tag96.xml"/><Relationship Id="rId3" Type="http://schemas.openxmlformats.org/officeDocument/2006/relationships/tags" Target="../tags/tag97.xml"/><Relationship Id="rId4" Type="http://schemas.openxmlformats.org/officeDocument/2006/relationships/tags" Target="../tags/tag98.xml"/><Relationship Id="rId5" Type="http://schemas.openxmlformats.org/officeDocument/2006/relationships/tags" Target="../tags/tag99.xml"/><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tags" Target="../tags/tag100.xml"/><Relationship Id="rId9" Type="http://schemas.openxmlformats.org/officeDocument/2006/relationships/tags" Target="../tags/tag101.xml"/><Relationship Id="rId10" Type="http://schemas.openxmlformats.org/officeDocument/2006/relationships/tags" Target="../tags/tag102.xml"/><Relationship Id="rId11" Type="http://schemas.openxmlformats.org/officeDocument/2006/relationships/tags" Target="../tags/tag103.xml"/><Relationship Id="rId12" Type="http://schemas.openxmlformats.org/officeDocument/2006/relationships/tags" Target="../tags/tag104.xml"/><Relationship Id="rId13" Type="http://schemas.openxmlformats.org/officeDocument/2006/relationships/tags" Target="../tags/tag105.xml"/><Relationship Id="rId14" Type="http://schemas.openxmlformats.org/officeDocument/2006/relationships/tags" Target="../tags/tag106.xml"/><Relationship Id="rId15" Type="http://schemas.openxmlformats.org/officeDocument/2006/relationships/image" Target="../media/image40.png"/><Relationship Id="rId16" Type="http://schemas.openxmlformats.org/officeDocument/2006/relationships/image" Target="../media/image41.svg"/><Relationship Id="rId17" Type="http://schemas.openxmlformats.org/officeDocument/2006/relationships/tags" Target="../tags/tag107.xml"/><Relationship Id="rId18" Type="http://schemas.openxmlformats.org/officeDocument/2006/relationships/tags" Target="../tags/tag108.xml"/><Relationship Id="rId19" Type="http://schemas.openxmlformats.org/officeDocument/2006/relationships/tags" Target="../tags/tag109.xml"/><Relationship Id="rId20" Type="http://schemas.openxmlformats.org/officeDocument/2006/relationships/tags" Target="../tags/tag110.xml"/><Relationship Id="rId21" Type="http://schemas.openxmlformats.org/officeDocument/2006/relationships/tags" Target="../tags/tag111.xml"/><Relationship Id="rId22" Type="http://schemas.openxmlformats.org/officeDocument/2006/relationships/image" Target="../media/image42.png"/><Relationship Id="rId23" Type="http://schemas.openxmlformats.org/officeDocument/2006/relationships/image" Target="../media/image43.svg"/><Relationship Id="rId24" Type="http://schemas.openxmlformats.org/officeDocument/2006/relationships/tags" Target="../tags/tag112.xml"/><Relationship Id="rId25" Type="http://schemas.openxmlformats.org/officeDocument/2006/relationships/tags" Target="../tags/tag113.xml"/><Relationship Id="rId26" Type="http://schemas.openxmlformats.org/officeDocument/2006/relationships/tags" Target="../tags/tag114.xml"/><Relationship Id="rId27" Type="http://schemas.openxmlformats.org/officeDocument/2006/relationships/image" Target="../media/image21.png"/><Relationship Id="rId28" Type="http://schemas.openxmlformats.org/officeDocument/2006/relationships/image" Target="../media/image22.svg"/><Relationship Id="rId29" Type="http://schemas.openxmlformats.org/officeDocument/2006/relationships/tags" Target="../tags/tag115.xml"/><Relationship Id="rId30" Type="http://schemas.openxmlformats.org/officeDocument/2006/relationships/tags" Target="../tags/tag116.xml"/><Relationship Id="rId31" Type="http://schemas.openxmlformats.org/officeDocument/2006/relationships/tags" Target="../tags/tag117.xml"/><Relationship Id="rId32" Type="http://schemas.openxmlformats.org/officeDocument/2006/relationships/tags" Target="../tags/tag118.xml"/><Relationship Id="rId33" Type="http://schemas.openxmlformats.org/officeDocument/2006/relationships/tags" Target="../tags/tag119.xml"/><Relationship Id="rId34" Type="http://schemas.openxmlformats.org/officeDocument/2006/relationships/image" Target="../media/image19.png"/><Relationship Id="rId35" Type="http://schemas.openxmlformats.org/officeDocument/2006/relationships/image" Target="../media/image20.svg"/><Relationship Id="rId36" Type="http://schemas.openxmlformats.org/officeDocument/2006/relationships/slideLayout" Target="../slideLayouts/slideLayout2.xml"/><Relationship Id="rId37"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tags" Target="../tags/tag120.xml"/><Relationship Id="rId2" Type="http://schemas.openxmlformats.org/officeDocument/2006/relationships/tags" Target="../tags/tag121.xml"/><Relationship Id="rId3" Type="http://schemas.openxmlformats.org/officeDocument/2006/relationships/tags" Target="../tags/tag122.xml"/><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tags" Target="../tags/tag123.xml"/><Relationship Id="rId7" Type="http://schemas.openxmlformats.org/officeDocument/2006/relationships/image" Target="../media/image32.png"/><Relationship Id="rId8" Type="http://schemas.openxmlformats.org/officeDocument/2006/relationships/image" Target="../media/image33.svg"/><Relationship Id="rId9" Type="http://schemas.openxmlformats.org/officeDocument/2006/relationships/tags" Target="../tags/tag124.xml"/><Relationship Id="rId10" Type="http://schemas.openxmlformats.org/officeDocument/2006/relationships/image" Target="../media/image44.png"/><Relationship Id="rId11" Type="http://schemas.openxmlformats.org/officeDocument/2006/relationships/image" Target="../media/image45.svg"/><Relationship Id="rId12" Type="http://schemas.openxmlformats.org/officeDocument/2006/relationships/tags" Target="../tags/tag125.xml"/><Relationship Id="rId13" Type="http://schemas.openxmlformats.org/officeDocument/2006/relationships/tags" Target="../tags/tag126.xml"/><Relationship Id="rId14" Type="http://schemas.openxmlformats.org/officeDocument/2006/relationships/tags" Target="../tags/tag127.xml"/><Relationship Id="rId15" Type="http://schemas.openxmlformats.org/officeDocument/2006/relationships/image" Target="../media/image34.png"/><Relationship Id="rId16" Type="http://schemas.openxmlformats.org/officeDocument/2006/relationships/image" Target="../media/image35.svg"/><Relationship Id="rId17" Type="http://schemas.openxmlformats.org/officeDocument/2006/relationships/tags" Target="../tags/tag128.xml"/><Relationship Id="rId18" Type="http://schemas.openxmlformats.org/officeDocument/2006/relationships/tags" Target="../tags/tag129.xml"/><Relationship Id="rId19" Type="http://schemas.openxmlformats.org/officeDocument/2006/relationships/tags" Target="../tags/tag130.xml"/><Relationship Id="rId20" Type="http://schemas.openxmlformats.org/officeDocument/2006/relationships/tags" Target="../tags/tag131.xml"/><Relationship Id="rId21" Type="http://schemas.openxmlformats.org/officeDocument/2006/relationships/image" Target="../media/image46.png"/><Relationship Id="rId22" Type="http://schemas.openxmlformats.org/officeDocument/2006/relationships/image" Target="../media/image14.svg"/><Relationship Id="rId23" Type="http://schemas.openxmlformats.org/officeDocument/2006/relationships/tags" Target="../tags/tag132.xml"/><Relationship Id="rId24" Type="http://schemas.openxmlformats.org/officeDocument/2006/relationships/image" Target="../media/image47.png"/><Relationship Id="rId25" Type="http://schemas.openxmlformats.org/officeDocument/2006/relationships/image" Target="../media/image16.svg"/><Relationship Id="rId26" Type="http://schemas.openxmlformats.org/officeDocument/2006/relationships/tags" Target="../tags/tag133.xml"/><Relationship Id="rId27" Type="http://schemas.openxmlformats.org/officeDocument/2006/relationships/image" Target="../media/image17.png"/><Relationship Id="rId28" Type="http://schemas.openxmlformats.org/officeDocument/2006/relationships/image" Target="../media/image18.svg"/><Relationship Id="rId29" Type="http://schemas.openxmlformats.org/officeDocument/2006/relationships/tags" Target="../tags/tag134.xml"/><Relationship Id="rId30" Type="http://schemas.openxmlformats.org/officeDocument/2006/relationships/tags" Target="../tags/tag135.xml"/><Relationship Id="rId31" Type="http://schemas.openxmlformats.org/officeDocument/2006/relationships/tags" Target="../tags/tag136.xml"/><Relationship Id="rId32" Type="http://schemas.openxmlformats.org/officeDocument/2006/relationships/tags" Target="../tags/tag137.xml"/><Relationship Id="rId33" Type="http://schemas.openxmlformats.org/officeDocument/2006/relationships/tags" Target="../tags/tag138.xml"/><Relationship Id="rId34" Type="http://schemas.openxmlformats.org/officeDocument/2006/relationships/image" Target="../media/image19.png"/><Relationship Id="rId35" Type="http://schemas.openxmlformats.org/officeDocument/2006/relationships/image" Target="../media/image20.svg"/><Relationship Id="rId36" Type="http://schemas.openxmlformats.org/officeDocument/2006/relationships/tags" Target="../tags/tag139.xml"/><Relationship Id="rId37" Type="http://schemas.openxmlformats.org/officeDocument/2006/relationships/image" Target="../media/image21.png"/><Relationship Id="rId38" Type="http://schemas.openxmlformats.org/officeDocument/2006/relationships/image" Target="../media/image22.svg"/><Relationship Id="rId39" Type="http://schemas.openxmlformats.org/officeDocument/2006/relationships/tags" Target="../tags/tag140.xml"/><Relationship Id="rId40" Type="http://schemas.openxmlformats.org/officeDocument/2006/relationships/image" Target="../media/image48.png"/><Relationship Id="rId41" Type="http://schemas.openxmlformats.org/officeDocument/2006/relationships/image" Target="../media/image24.svg"/><Relationship Id="rId42" Type="http://schemas.openxmlformats.org/officeDocument/2006/relationships/tags" Target="../tags/tag141.xml"/><Relationship Id="rId43" Type="http://schemas.openxmlformats.org/officeDocument/2006/relationships/image" Target="../media/image49.png"/><Relationship Id="rId44" Type="http://schemas.openxmlformats.org/officeDocument/2006/relationships/image" Target="../media/image26.svg"/><Relationship Id="rId45" Type="http://schemas.openxmlformats.org/officeDocument/2006/relationships/tags" Target="../tags/tag142.xml"/><Relationship Id="rId46" Type="http://schemas.openxmlformats.org/officeDocument/2006/relationships/image" Target="../media/image50.png"/><Relationship Id="rId47" Type="http://schemas.openxmlformats.org/officeDocument/2006/relationships/image" Target="../media/image28.svg"/><Relationship Id="rId48" Type="http://schemas.openxmlformats.org/officeDocument/2006/relationships/tags" Target="../tags/tag143.xml"/><Relationship Id="rId49" Type="http://schemas.openxmlformats.org/officeDocument/2006/relationships/tags" Target="../tags/tag144.xml"/><Relationship Id="rId50" Type="http://schemas.openxmlformats.org/officeDocument/2006/relationships/tags" Target="../tags/tag145.xml"/><Relationship Id="rId51" Type="http://schemas.openxmlformats.org/officeDocument/2006/relationships/slideLayout" Target="../slideLayouts/slideLayout2.xml"/><Relationship Id="rId5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tags" Target="../tags/tag146.xml"/><Relationship Id="rId2" Type="http://schemas.openxmlformats.org/officeDocument/2006/relationships/tags" Target="../tags/tag147.xml"/><Relationship Id="rId3" Type="http://schemas.openxmlformats.org/officeDocument/2006/relationships/tags" Target="../tags/tag148.xml"/><Relationship Id="rId4" Type="http://schemas.openxmlformats.org/officeDocument/2006/relationships/tags" Target="../tags/tag149.xml"/><Relationship Id="rId5" Type="http://schemas.openxmlformats.org/officeDocument/2006/relationships/image" Target="../media/image38.png"/><Relationship Id="rId6" Type="http://schemas.openxmlformats.org/officeDocument/2006/relationships/image" Target="../media/image39.svg"/><Relationship Id="rId7" Type="http://schemas.openxmlformats.org/officeDocument/2006/relationships/tags" Target="../tags/tag150.xml"/><Relationship Id="rId8" Type="http://schemas.openxmlformats.org/officeDocument/2006/relationships/tags" Target="../tags/tag151.xml"/><Relationship Id="rId9" Type="http://schemas.openxmlformats.org/officeDocument/2006/relationships/tags" Target="../tags/tag152.xml"/><Relationship Id="rId10" Type="http://schemas.openxmlformats.org/officeDocument/2006/relationships/tags" Target="../tags/tag153.xml"/><Relationship Id="rId11" Type="http://schemas.openxmlformats.org/officeDocument/2006/relationships/image" Target="../media/image51.png"/><Relationship Id="rId12" Type="http://schemas.openxmlformats.org/officeDocument/2006/relationships/image" Target="../media/image52.svg"/><Relationship Id="rId13" Type="http://schemas.openxmlformats.org/officeDocument/2006/relationships/image" Target="../media/image53.png"/><Relationship Id="rId14" Type="http://schemas.openxmlformats.org/officeDocument/2006/relationships/slideLayout" Target="../slideLayouts/slideLayout2.xml"/><Relationship Id="rId15"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tags" Target="../tags/tag154.xml"/><Relationship Id="rId2" Type="http://schemas.openxmlformats.org/officeDocument/2006/relationships/tags" Target="../tags/tag155.xml"/><Relationship Id="rId3"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tags" Target="../tags/tag156.xml"/><Relationship Id="rId2" Type="http://schemas.openxmlformats.org/officeDocument/2006/relationships/tags" Target="../tags/tag157.xml"/><Relationship Id="rId3" Type="http://schemas.openxmlformats.org/officeDocument/2006/relationships/tags" Target="../tags/tag158.xml"/><Relationship Id="rId4" Type="http://schemas.openxmlformats.org/officeDocument/2006/relationships/tags" Target="../tags/tag159.xml"/><Relationship Id="rId5" Type="http://schemas.openxmlformats.org/officeDocument/2006/relationships/image" Target="../media/image38.png"/><Relationship Id="rId6" Type="http://schemas.openxmlformats.org/officeDocument/2006/relationships/image" Target="../media/image54.svg"/><Relationship Id="rId7" Type="http://schemas.openxmlformats.org/officeDocument/2006/relationships/tags" Target="../tags/tag160.xml"/><Relationship Id="rId8" Type="http://schemas.openxmlformats.org/officeDocument/2006/relationships/tags" Target="../tags/tag161.xml"/><Relationship Id="rId9" Type="http://schemas.openxmlformats.org/officeDocument/2006/relationships/tags" Target="../tags/tag162.xml"/><Relationship Id="rId10" Type="http://schemas.openxmlformats.org/officeDocument/2006/relationships/tags" Target="../tags/tag163.xml"/><Relationship Id="rId11" Type="http://schemas.openxmlformats.org/officeDocument/2006/relationships/image" Target="../media/image55.png"/><Relationship Id="rId12" Type="http://schemas.openxmlformats.org/officeDocument/2006/relationships/image" Target="../media/image56.svg"/><Relationship Id="rId13" Type="http://schemas.openxmlformats.org/officeDocument/2006/relationships/tags" Target="../tags/tag164.xml"/><Relationship Id="rId14" Type="http://schemas.openxmlformats.org/officeDocument/2006/relationships/tags" Target="../tags/tag165.xml"/><Relationship Id="rId15" Type="http://schemas.openxmlformats.org/officeDocument/2006/relationships/tags" Target="../tags/tag166.xml"/><Relationship Id="rId16" Type="http://schemas.openxmlformats.org/officeDocument/2006/relationships/image" Target="../media/image57.png"/><Relationship Id="rId17" Type="http://schemas.openxmlformats.org/officeDocument/2006/relationships/image" Target="../media/image58.svg"/><Relationship Id="rId18" Type="http://schemas.openxmlformats.org/officeDocument/2006/relationships/tags" Target="../tags/tag167.xml"/><Relationship Id="rId19" Type="http://schemas.openxmlformats.org/officeDocument/2006/relationships/tags" Target="../tags/tag168.xml"/><Relationship Id="rId20" Type="http://schemas.openxmlformats.org/officeDocument/2006/relationships/tags" Target="../tags/tag169.xml"/><Relationship Id="rId21" Type="http://schemas.openxmlformats.org/officeDocument/2006/relationships/tags" Target="../tags/tag170.xml"/><Relationship Id="rId22" Type="http://schemas.openxmlformats.org/officeDocument/2006/relationships/tags" Target="../tags/tag171.xml"/><Relationship Id="rId23" Type="http://schemas.openxmlformats.org/officeDocument/2006/relationships/tags" Target="../tags/tag172.xml"/><Relationship Id="rId24" Type="http://schemas.openxmlformats.org/officeDocument/2006/relationships/image" Target="../media/image59.png"/><Relationship Id="rId25" Type="http://schemas.openxmlformats.org/officeDocument/2006/relationships/tags" Target="../tags/tag173.xml"/><Relationship Id="rId26" Type="http://schemas.openxmlformats.org/officeDocument/2006/relationships/tags" Target="../tags/tag174.xml"/><Relationship Id="rId27" Type="http://schemas.openxmlformats.org/officeDocument/2006/relationships/tags" Target="../tags/tag175.xml"/><Relationship Id="rId28" Type="http://schemas.openxmlformats.org/officeDocument/2006/relationships/image" Target="../media/image60.png"/><Relationship Id="rId29" Type="http://schemas.openxmlformats.org/officeDocument/2006/relationships/slideLayout" Target="../slideLayouts/slideLayout2.xml"/><Relationship Id="rId30"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tags" Target="../tags/tag177.xml"/><Relationship Id="rId3"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tags" Target="../tags/tag178.xml"/><Relationship Id="rId2" Type="http://schemas.openxmlformats.org/officeDocument/2006/relationships/tags" Target="../tags/tag179.xml"/><Relationship Id="rId3" Type="http://schemas.openxmlformats.org/officeDocument/2006/relationships/tags" Target="../tags/tag180.xml"/><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tags" Target="../tags/tag182.xml"/><Relationship Id="rId3" Type="http://schemas.openxmlformats.org/officeDocument/2006/relationships/tags" Target="../tags/tag183.xml"/><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tags" Target="../tags/tag185.xml"/><Relationship Id="rId3"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tags" Target="../tags/tag187.xml"/><Relationship Id="rId3" Type="http://schemas.openxmlformats.org/officeDocument/2006/relationships/tags" Target="../tags/tag188.xml"/><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tags" Target="../tags/tag189.xml"/><Relationship Id="rId2" Type="http://schemas.openxmlformats.org/officeDocument/2006/relationships/tags" Target="../tags/tag190.xml"/><Relationship Id="rId3"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tags" Target="../tags/tag191.xml"/><Relationship Id="rId2" Type="http://schemas.openxmlformats.org/officeDocument/2006/relationships/tags" Target="../tags/tag192.xml"/><Relationship Id="rId3" Type="http://schemas.openxmlformats.org/officeDocument/2006/relationships/tags" Target="../tags/tag193.xml"/><Relationship Id="rId4" Type="http://schemas.openxmlformats.org/officeDocument/2006/relationships/tags" Target="../tags/tag194.xml"/><Relationship Id="rId5" Type="http://schemas.openxmlformats.org/officeDocument/2006/relationships/image" Target="../media/image38.png"/><Relationship Id="rId6" Type="http://schemas.openxmlformats.org/officeDocument/2006/relationships/image" Target="../media/image61.svg"/><Relationship Id="rId7" Type="http://schemas.openxmlformats.org/officeDocument/2006/relationships/tags" Target="../tags/tag195.xml"/><Relationship Id="rId8" Type="http://schemas.openxmlformats.org/officeDocument/2006/relationships/tags" Target="../tags/tag196.xml"/><Relationship Id="rId9" Type="http://schemas.openxmlformats.org/officeDocument/2006/relationships/tags" Target="../tags/tag197.xml"/><Relationship Id="rId10" Type="http://schemas.openxmlformats.org/officeDocument/2006/relationships/tags" Target="../tags/tag198.xml"/><Relationship Id="rId11" Type="http://schemas.openxmlformats.org/officeDocument/2006/relationships/image" Target="../media/image55.png"/><Relationship Id="rId12" Type="http://schemas.openxmlformats.org/officeDocument/2006/relationships/image" Target="../media/image62.svg"/><Relationship Id="rId13" Type="http://schemas.openxmlformats.org/officeDocument/2006/relationships/tags" Target="../tags/tag199.xml"/><Relationship Id="rId14" Type="http://schemas.openxmlformats.org/officeDocument/2006/relationships/tags" Target="../tags/tag200.xml"/><Relationship Id="rId15" Type="http://schemas.openxmlformats.org/officeDocument/2006/relationships/tags" Target="../tags/tag201.xml"/><Relationship Id="rId16" Type="http://schemas.openxmlformats.org/officeDocument/2006/relationships/image" Target="../media/image63.png"/><Relationship Id="rId17" Type="http://schemas.openxmlformats.org/officeDocument/2006/relationships/image" Target="../media/image64.svg"/><Relationship Id="rId18" Type="http://schemas.openxmlformats.org/officeDocument/2006/relationships/tags" Target="../tags/tag202.xml"/><Relationship Id="rId19" Type="http://schemas.openxmlformats.org/officeDocument/2006/relationships/tags" Target="../tags/tag203.xml"/><Relationship Id="rId20" Type="http://schemas.openxmlformats.org/officeDocument/2006/relationships/tags" Target="../tags/tag204.xml"/><Relationship Id="rId21" Type="http://schemas.openxmlformats.org/officeDocument/2006/relationships/tags" Target="../tags/tag205.xml"/><Relationship Id="rId22" Type="http://schemas.openxmlformats.org/officeDocument/2006/relationships/tags" Target="../tags/tag206.xml"/><Relationship Id="rId23" Type="http://schemas.openxmlformats.org/officeDocument/2006/relationships/tags" Target="../tags/tag207.xml"/><Relationship Id="rId24" Type="http://schemas.openxmlformats.org/officeDocument/2006/relationships/tags" Target="../tags/tag208.xml"/><Relationship Id="rId25" Type="http://schemas.openxmlformats.org/officeDocument/2006/relationships/image" Target="../media/image59.png"/><Relationship Id="rId26" Type="http://schemas.openxmlformats.org/officeDocument/2006/relationships/tags" Target="../tags/tag209.xml"/><Relationship Id="rId27" Type="http://schemas.openxmlformats.org/officeDocument/2006/relationships/tags" Target="../tags/tag210.xml"/><Relationship Id="rId28" Type="http://schemas.openxmlformats.org/officeDocument/2006/relationships/slideLayout" Target="../slideLayouts/slideLayout2.xml"/><Relationship Id="rId29"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tags" Target="../tags/tag211.xml"/><Relationship Id="rId2" Type="http://schemas.openxmlformats.org/officeDocument/2006/relationships/tags" Target="../tags/tag212.xml"/><Relationship Id="rId3" Type="http://schemas.openxmlformats.org/officeDocument/2006/relationships/tags" Target="../tags/tag213.xml"/><Relationship Id="rId4" Type="http://schemas.openxmlformats.org/officeDocument/2006/relationships/tags" Target="../tags/tag214.xml"/><Relationship Id="rId5" Type="http://schemas.openxmlformats.org/officeDocument/2006/relationships/image" Target="../media/image38.png"/><Relationship Id="rId6" Type="http://schemas.openxmlformats.org/officeDocument/2006/relationships/image" Target="../media/image65.svg"/><Relationship Id="rId7" Type="http://schemas.openxmlformats.org/officeDocument/2006/relationships/tags" Target="../tags/tag215.xml"/><Relationship Id="rId8" Type="http://schemas.openxmlformats.org/officeDocument/2006/relationships/tags" Target="../tags/tag216.xml"/><Relationship Id="rId9" Type="http://schemas.openxmlformats.org/officeDocument/2006/relationships/tags" Target="../tags/tag217.xml"/><Relationship Id="rId10" Type="http://schemas.openxmlformats.org/officeDocument/2006/relationships/tags" Target="../tags/tag218.xml"/><Relationship Id="rId11" Type="http://schemas.openxmlformats.org/officeDocument/2006/relationships/image" Target="../media/image55.png"/><Relationship Id="rId12" Type="http://schemas.openxmlformats.org/officeDocument/2006/relationships/image" Target="../media/image66.svg"/><Relationship Id="rId13" Type="http://schemas.openxmlformats.org/officeDocument/2006/relationships/tags" Target="../tags/tag219.xml"/><Relationship Id="rId14" Type="http://schemas.openxmlformats.org/officeDocument/2006/relationships/tags" Target="../tags/tag220.xml"/><Relationship Id="rId15" Type="http://schemas.openxmlformats.org/officeDocument/2006/relationships/tags" Target="../tags/tag221.xml"/><Relationship Id="rId16" Type="http://schemas.openxmlformats.org/officeDocument/2006/relationships/image" Target="../media/image67.png"/><Relationship Id="rId17" Type="http://schemas.openxmlformats.org/officeDocument/2006/relationships/image" Target="../media/image68.svg"/><Relationship Id="rId18" Type="http://schemas.openxmlformats.org/officeDocument/2006/relationships/tags" Target="../tags/tag222.xml"/><Relationship Id="rId19" Type="http://schemas.openxmlformats.org/officeDocument/2006/relationships/tags" Target="../tags/tag223.xml"/><Relationship Id="rId20" Type="http://schemas.openxmlformats.org/officeDocument/2006/relationships/tags" Target="../tags/tag224.xml"/><Relationship Id="rId21" Type="http://schemas.openxmlformats.org/officeDocument/2006/relationships/tags" Target="../tags/tag225.xml"/><Relationship Id="rId22" Type="http://schemas.openxmlformats.org/officeDocument/2006/relationships/tags" Target="../tags/tag226.xml"/><Relationship Id="rId23" Type="http://schemas.openxmlformats.org/officeDocument/2006/relationships/tags" Target="../tags/tag227.xml"/><Relationship Id="rId24" Type="http://schemas.openxmlformats.org/officeDocument/2006/relationships/slideLayout" Target="../slideLayouts/slideLayout2.xml"/><Relationship Id="rId25"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tags" Target="../tags/tag228.xml"/><Relationship Id="rId2" Type="http://schemas.openxmlformats.org/officeDocument/2006/relationships/tags" Target="../tags/tag229.xml"/><Relationship Id="rId3" Type="http://schemas.openxmlformats.org/officeDocument/2006/relationships/tags" Target="../tags/tag230.xml"/><Relationship Id="rId4" Type="http://schemas.openxmlformats.org/officeDocument/2006/relationships/tags" Target="../tags/tag231.xml"/><Relationship Id="rId5" Type="http://schemas.openxmlformats.org/officeDocument/2006/relationships/tags" Target="../tags/tag232.xml"/><Relationship Id="rId6" Type="http://schemas.openxmlformats.org/officeDocument/2006/relationships/image" Target="../media/image40.png"/><Relationship Id="rId7" Type="http://schemas.openxmlformats.org/officeDocument/2006/relationships/image" Target="../media/image69.svg"/><Relationship Id="rId8" Type="http://schemas.openxmlformats.org/officeDocument/2006/relationships/tags" Target="../tags/tag233.xml"/><Relationship Id="rId9" Type="http://schemas.openxmlformats.org/officeDocument/2006/relationships/tags" Target="../tags/tag234.xml"/><Relationship Id="rId10" Type="http://schemas.openxmlformats.org/officeDocument/2006/relationships/tags" Target="../tags/tag235.xml"/><Relationship Id="rId11" Type="http://schemas.openxmlformats.org/officeDocument/2006/relationships/image" Target="../media/image70.png"/><Relationship Id="rId12" Type="http://schemas.openxmlformats.org/officeDocument/2006/relationships/image" Target="../media/image71.svg"/><Relationship Id="rId13" Type="http://schemas.openxmlformats.org/officeDocument/2006/relationships/slideLayout" Target="../slideLayouts/slideLayout2.xml"/><Relationship Id="rId14"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tags" Target="../tags/tag236.xml"/><Relationship Id="rId2" Type="http://schemas.openxmlformats.org/officeDocument/2006/relationships/tags" Target="../tags/tag237.xml"/><Relationship Id="rId3" Type="http://schemas.openxmlformats.org/officeDocument/2006/relationships/tags" Target="../tags/tag238.xml"/><Relationship Id="rId4" Type="http://schemas.openxmlformats.org/officeDocument/2006/relationships/tags" Target="../tags/tag239.xml"/><Relationship Id="rId5" Type="http://schemas.openxmlformats.org/officeDocument/2006/relationships/tags" Target="../tags/tag240.xml"/><Relationship Id="rId6" Type="http://schemas.openxmlformats.org/officeDocument/2006/relationships/image" Target="../media/image55.png"/><Relationship Id="rId7" Type="http://schemas.openxmlformats.org/officeDocument/2006/relationships/image" Target="../media/image62.svg"/><Relationship Id="rId8" Type="http://schemas.openxmlformats.org/officeDocument/2006/relationships/tags" Target="../tags/tag241.xml"/><Relationship Id="rId9" Type="http://schemas.openxmlformats.org/officeDocument/2006/relationships/tags" Target="../tags/tag242.xml"/><Relationship Id="rId10" Type="http://schemas.openxmlformats.org/officeDocument/2006/relationships/tags" Target="../tags/tag243.xml"/><Relationship Id="rId11" Type="http://schemas.openxmlformats.org/officeDocument/2006/relationships/image" Target="../media/image63.png"/><Relationship Id="rId12" Type="http://schemas.openxmlformats.org/officeDocument/2006/relationships/image" Target="../media/image64.svg"/><Relationship Id="rId13" Type="http://schemas.openxmlformats.org/officeDocument/2006/relationships/tags" Target="../tags/tag244.xml"/><Relationship Id="rId14" Type="http://schemas.openxmlformats.org/officeDocument/2006/relationships/tags" Target="../tags/tag245.xml"/><Relationship Id="rId15" Type="http://schemas.openxmlformats.org/officeDocument/2006/relationships/tags" Target="../tags/tag246.xml"/><Relationship Id="rId16" Type="http://schemas.openxmlformats.org/officeDocument/2006/relationships/tags" Target="../tags/tag247.xml"/><Relationship Id="rId17" Type="http://schemas.openxmlformats.org/officeDocument/2006/relationships/tags" Target="../tags/tag248.xml"/><Relationship Id="rId18" Type="http://schemas.openxmlformats.org/officeDocument/2006/relationships/tags" Target="../tags/tag249.xml"/><Relationship Id="rId19" Type="http://schemas.openxmlformats.org/officeDocument/2006/relationships/tags" Target="../tags/tag250.xml"/><Relationship Id="rId20" Type="http://schemas.openxmlformats.org/officeDocument/2006/relationships/tags" Target="../tags/tag251.xml"/><Relationship Id="rId21" Type="http://schemas.openxmlformats.org/officeDocument/2006/relationships/tags" Target="../tags/tag252.xml"/><Relationship Id="rId22" Type="http://schemas.openxmlformats.org/officeDocument/2006/relationships/tags" Target="../tags/tag253.xml"/><Relationship Id="rId23" Type="http://schemas.openxmlformats.org/officeDocument/2006/relationships/image" Target="../media/image40.png"/><Relationship Id="rId24" Type="http://schemas.openxmlformats.org/officeDocument/2006/relationships/image" Target="../media/image69.svg"/><Relationship Id="rId25" Type="http://schemas.openxmlformats.org/officeDocument/2006/relationships/tags" Target="../tags/tag254.xml"/><Relationship Id="rId26" Type="http://schemas.openxmlformats.org/officeDocument/2006/relationships/tags" Target="../tags/tag255.xml"/><Relationship Id="rId27" Type="http://schemas.openxmlformats.org/officeDocument/2006/relationships/tags" Target="../tags/tag256.xml"/><Relationship Id="rId28" Type="http://schemas.openxmlformats.org/officeDocument/2006/relationships/image" Target="../media/image59.png"/><Relationship Id="rId29" Type="http://schemas.openxmlformats.org/officeDocument/2006/relationships/tags" Target="../tags/tag257.xml"/><Relationship Id="rId30" Type="http://schemas.openxmlformats.org/officeDocument/2006/relationships/tags" Target="../tags/tag258.xml"/><Relationship Id="rId31" Type="http://schemas.openxmlformats.org/officeDocument/2006/relationships/tags" Target="../tags/tag259.xml"/><Relationship Id="rId32" Type="http://schemas.openxmlformats.org/officeDocument/2006/relationships/tags" Target="../tags/tag260.xml"/><Relationship Id="rId33" Type="http://schemas.openxmlformats.org/officeDocument/2006/relationships/tags" Target="../tags/tag261.xml"/><Relationship Id="rId34" Type="http://schemas.openxmlformats.org/officeDocument/2006/relationships/tags" Target="../tags/tag262.xml"/><Relationship Id="rId35" Type="http://schemas.openxmlformats.org/officeDocument/2006/relationships/image" Target="../media/image72.png"/><Relationship Id="rId36" Type="http://schemas.openxmlformats.org/officeDocument/2006/relationships/image" Target="../media/image73.svg"/><Relationship Id="rId37" Type="http://schemas.openxmlformats.org/officeDocument/2006/relationships/slideLayout" Target="../slideLayouts/slideLayout2.xml"/><Relationship Id="rId38"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tags" Target="../tags/tag263.xml"/><Relationship Id="rId2" Type="http://schemas.openxmlformats.org/officeDocument/2006/relationships/tags" Target="../tags/tag264.xml"/><Relationship Id="rId3" Type="http://schemas.openxmlformats.org/officeDocument/2006/relationships/tags" Target="../tags/tag265.xml"/><Relationship Id="rId4" Type="http://schemas.openxmlformats.org/officeDocument/2006/relationships/tags" Target="../tags/tag266.xml"/><Relationship Id="rId5" Type="http://schemas.openxmlformats.org/officeDocument/2006/relationships/tags" Target="../tags/tag267.xml"/><Relationship Id="rId6" Type="http://schemas.openxmlformats.org/officeDocument/2006/relationships/image" Target="../media/image40.png"/><Relationship Id="rId7" Type="http://schemas.openxmlformats.org/officeDocument/2006/relationships/image" Target="../media/image41.svg"/><Relationship Id="rId8" Type="http://schemas.openxmlformats.org/officeDocument/2006/relationships/tags" Target="../tags/tag268.xml"/><Relationship Id="rId9" Type="http://schemas.openxmlformats.org/officeDocument/2006/relationships/tags" Target="../tags/tag269.xml"/><Relationship Id="rId10" Type="http://schemas.openxmlformats.org/officeDocument/2006/relationships/image" Target="../media/image59.png"/><Relationship Id="rId11" Type="http://schemas.openxmlformats.org/officeDocument/2006/relationships/tags" Target="../tags/tag270.xml"/><Relationship Id="rId12" Type="http://schemas.openxmlformats.org/officeDocument/2006/relationships/tags" Target="../tags/tag271.xml"/><Relationship Id="rId13" Type="http://schemas.openxmlformats.org/officeDocument/2006/relationships/tags" Target="../tags/tag272.xml"/><Relationship Id="rId14" Type="http://schemas.openxmlformats.org/officeDocument/2006/relationships/image" Target="../media/image55.png"/><Relationship Id="rId15" Type="http://schemas.openxmlformats.org/officeDocument/2006/relationships/image" Target="../media/image74.svg"/><Relationship Id="rId16" Type="http://schemas.openxmlformats.org/officeDocument/2006/relationships/tags" Target="../tags/tag273.xml"/><Relationship Id="rId17" Type="http://schemas.openxmlformats.org/officeDocument/2006/relationships/tags" Target="../tags/tag274.xml"/><Relationship Id="rId18" Type="http://schemas.openxmlformats.org/officeDocument/2006/relationships/tags" Target="../tags/tag275.xml"/><Relationship Id="rId19" Type="http://schemas.openxmlformats.org/officeDocument/2006/relationships/tags" Target="../tags/tag276.xml"/><Relationship Id="rId20" Type="http://schemas.openxmlformats.org/officeDocument/2006/relationships/image" Target="../media/image72.png"/><Relationship Id="rId21" Type="http://schemas.openxmlformats.org/officeDocument/2006/relationships/image" Target="../media/image73.svg"/><Relationship Id="rId22" Type="http://schemas.openxmlformats.org/officeDocument/2006/relationships/tags" Target="../tags/tag277.xml"/><Relationship Id="rId23" Type="http://schemas.openxmlformats.org/officeDocument/2006/relationships/tags" Target="../tags/tag278.xml"/><Relationship Id="rId24" Type="http://schemas.openxmlformats.org/officeDocument/2006/relationships/tags" Target="../tags/tag279.xml"/><Relationship Id="rId25" Type="http://schemas.openxmlformats.org/officeDocument/2006/relationships/tags" Target="../tags/tag280.xml"/><Relationship Id="rId26" Type="http://schemas.openxmlformats.org/officeDocument/2006/relationships/image" Target="../media/image75.png"/><Relationship Id="rId27" Type="http://schemas.openxmlformats.org/officeDocument/2006/relationships/image" Target="../media/image76.svg"/><Relationship Id="rId28" Type="http://schemas.openxmlformats.org/officeDocument/2006/relationships/slideLayout" Target="../slideLayouts/slideLayout2.xml"/><Relationship Id="rId29"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tags" Target="../tags/tag281.xml"/><Relationship Id="rId2" Type="http://schemas.openxmlformats.org/officeDocument/2006/relationships/tags" Target="../tags/tag282.xml"/><Relationship Id="rId3" Type="http://schemas.openxmlformats.org/officeDocument/2006/relationships/tags" Target="../tags/tag283.xml"/><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tags" Target="../tags/tag284.xml"/><Relationship Id="rId2" Type="http://schemas.openxmlformats.org/officeDocument/2006/relationships/tags" Target="../tags/tag285.xml"/><Relationship Id="rId3" Type="http://schemas.openxmlformats.org/officeDocument/2006/relationships/tags" Target="../tags/tag286.xml"/><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tags" Target="../tags/tag287.xml"/><Relationship Id="rId2" Type="http://schemas.openxmlformats.org/officeDocument/2006/relationships/tags" Target="../tags/tag288.xml"/><Relationship Id="rId3" Type="http://schemas.openxmlformats.org/officeDocument/2006/relationships/tags" Target="../tags/tag289.xml"/><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tags" Target="../tags/tag290.xml"/><Relationship Id="rId2" Type="http://schemas.openxmlformats.org/officeDocument/2006/relationships/tags" Target="../tags/tag291.xml"/><Relationship Id="rId3"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tags" Target="../tags/tag292.xml"/><Relationship Id="rId2" Type="http://schemas.openxmlformats.org/officeDocument/2006/relationships/tags" Target="../tags/tag293.xml"/><Relationship Id="rId3" Type="http://schemas.openxmlformats.org/officeDocument/2006/relationships/tags" Target="../tags/tag294.xml"/><Relationship Id="rId4" Type="http://schemas.openxmlformats.org/officeDocument/2006/relationships/tags" Target="../tags/tag295.xml"/><Relationship Id="rId5" Type="http://schemas.openxmlformats.org/officeDocument/2006/relationships/tags" Target="../tags/tag296.xml"/><Relationship Id="rId6" Type="http://schemas.openxmlformats.org/officeDocument/2006/relationships/image" Target="../media/image40.png"/><Relationship Id="rId7" Type="http://schemas.openxmlformats.org/officeDocument/2006/relationships/image" Target="../media/image41.svg"/><Relationship Id="rId8" Type="http://schemas.openxmlformats.org/officeDocument/2006/relationships/tags" Target="../tags/tag297.xml"/><Relationship Id="rId9" Type="http://schemas.openxmlformats.org/officeDocument/2006/relationships/tags" Target="../tags/tag298.xml"/><Relationship Id="rId10" Type="http://schemas.openxmlformats.org/officeDocument/2006/relationships/image" Target="../media/image46.png"/><Relationship Id="rId11" Type="http://schemas.openxmlformats.org/officeDocument/2006/relationships/image" Target="../media/image14.svg"/><Relationship Id="rId12" Type="http://schemas.openxmlformats.org/officeDocument/2006/relationships/tags" Target="../tags/tag299.xml"/><Relationship Id="rId13" Type="http://schemas.openxmlformats.org/officeDocument/2006/relationships/image" Target="../media/image47.png"/><Relationship Id="rId14" Type="http://schemas.openxmlformats.org/officeDocument/2006/relationships/image" Target="../media/image16.svg"/><Relationship Id="rId15" Type="http://schemas.openxmlformats.org/officeDocument/2006/relationships/tags" Target="../tags/tag300.xml"/><Relationship Id="rId16" Type="http://schemas.openxmlformats.org/officeDocument/2006/relationships/image" Target="../media/image50.png"/><Relationship Id="rId17" Type="http://schemas.openxmlformats.org/officeDocument/2006/relationships/image" Target="../media/image28.svg"/><Relationship Id="rId18" Type="http://schemas.openxmlformats.org/officeDocument/2006/relationships/slideLayout" Target="../slideLayouts/slideLayout2.xml"/><Relationship Id="rId19"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tags" Target="../tags/tag301.xml"/><Relationship Id="rId2" Type="http://schemas.openxmlformats.org/officeDocument/2006/relationships/tags" Target="../tags/tag302.xml"/><Relationship Id="rId3" Type="http://schemas.openxmlformats.org/officeDocument/2006/relationships/image" Target="../media/image60.png"/><Relationship Id="rId4" Type="http://schemas.openxmlformats.org/officeDocument/2006/relationships/tags" Target="../tags/tag303.xml"/><Relationship Id="rId5" Type="http://schemas.openxmlformats.org/officeDocument/2006/relationships/tags" Target="../tags/tag304.xml"/><Relationship Id="rId6" Type="http://schemas.openxmlformats.org/officeDocument/2006/relationships/tags" Target="../tags/tag305.xml"/><Relationship Id="rId7" Type="http://schemas.openxmlformats.org/officeDocument/2006/relationships/image" Target="../media/image63.png"/><Relationship Id="rId8" Type="http://schemas.openxmlformats.org/officeDocument/2006/relationships/image" Target="../media/image64.svg"/><Relationship Id="rId9" Type="http://schemas.openxmlformats.org/officeDocument/2006/relationships/tags" Target="../tags/tag306.xml"/><Relationship Id="rId10" Type="http://schemas.openxmlformats.org/officeDocument/2006/relationships/tags" Target="../tags/tag307.xml"/><Relationship Id="rId11" Type="http://schemas.openxmlformats.org/officeDocument/2006/relationships/tags" Target="../tags/tag308.xml"/><Relationship Id="rId12" Type="http://schemas.openxmlformats.org/officeDocument/2006/relationships/image" Target="../media/image40.png"/><Relationship Id="rId13" Type="http://schemas.openxmlformats.org/officeDocument/2006/relationships/image" Target="../media/image69.svg"/><Relationship Id="rId14" Type="http://schemas.openxmlformats.org/officeDocument/2006/relationships/tags" Target="../tags/tag309.xml"/><Relationship Id="rId15" Type="http://schemas.openxmlformats.org/officeDocument/2006/relationships/tags" Target="../tags/tag310.xml"/><Relationship Id="rId16" Type="http://schemas.openxmlformats.org/officeDocument/2006/relationships/image" Target="../media/image59.png"/><Relationship Id="rId17" Type="http://schemas.openxmlformats.org/officeDocument/2006/relationships/tags" Target="../tags/tag311.xml"/><Relationship Id="rId18" Type="http://schemas.openxmlformats.org/officeDocument/2006/relationships/tags" Target="../tags/tag312.xml"/><Relationship Id="rId19" Type="http://schemas.openxmlformats.org/officeDocument/2006/relationships/tags" Target="../tags/tag313.xml"/><Relationship Id="rId20" Type="http://schemas.openxmlformats.org/officeDocument/2006/relationships/image" Target="../media/image42.png"/><Relationship Id="rId21" Type="http://schemas.openxmlformats.org/officeDocument/2006/relationships/image" Target="../media/image77.svg"/><Relationship Id="rId22" Type="http://schemas.openxmlformats.org/officeDocument/2006/relationships/tags" Target="../tags/tag314.xml"/><Relationship Id="rId23" Type="http://schemas.openxmlformats.org/officeDocument/2006/relationships/slideLayout" Target="../slideLayouts/slideLayout2.xml"/><Relationship Id="rId24"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tags" Target="../tags/tag315.xml"/><Relationship Id="rId2" Type="http://schemas.openxmlformats.org/officeDocument/2006/relationships/tags" Target="../tags/tag316.xml"/><Relationship Id="rId3" Type="http://schemas.openxmlformats.org/officeDocument/2006/relationships/tags" Target="../tags/tag317.xml"/><Relationship Id="rId4" Type="http://schemas.openxmlformats.org/officeDocument/2006/relationships/tags" Target="../tags/tag318.xml"/><Relationship Id="rId5" Type="http://schemas.openxmlformats.org/officeDocument/2006/relationships/image" Target="../media/image13.png"/><Relationship Id="rId6" Type="http://schemas.openxmlformats.org/officeDocument/2006/relationships/image" Target="../media/image78.svg"/><Relationship Id="rId7" Type="http://schemas.openxmlformats.org/officeDocument/2006/relationships/tags" Target="../tags/tag319.xml"/><Relationship Id="rId8" Type="http://schemas.openxmlformats.org/officeDocument/2006/relationships/image" Target="../media/image15.png"/><Relationship Id="rId9" Type="http://schemas.openxmlformats.org/officeDocument/2006/relationships/image" Target="../media/image79.svg"/><Relationship Id="rId10" Type="http://schemas.openxmlformats.org/officeDocument/2006/relationships/tags" Target="../tags/tag320.xml"/><Relationship Id="rId11" Type="http://schemas.openxmlformats.org/officeDocument/2006/relationships/image" Target="../media/image80.png"/><Relationship Id="rId12" Type="http://schemas.openxmlformats.org/officeDocument/2006/relationships/image" Target="../media/image81.svg"/><Relationship Id="rId13" Type="http://schemas.openxmlformats.org/officeDocument/2006/relationships/tags" Target="../tags/tag321.xml"/><Relationship Id="rId14" Type="http://schemas.openxmlformats.org/officeDocument/2006/relationships/tags" Target="../tags/tag322.xml"/><Relationship Id="rId15" Type="http://schemas.openxmlformats.org/officeDocument/2006/relationships/tags" Target="../tags/tag323.xml"/><Relationship Id="rId16" Type="http://schemas.openxmlformats.org/officeDocument/2006/relationships/image" Target="../media/image70.png"/><Relationship Id="rId17" Type="http://schemas.openxmlformats.org/officeDocument/2006/relationships/image" Target="../media/image71.svg"/><Relationship Id="rId18" Type="http://schemas.openxmlformats.org/officeDocument/2006/relationships/tags" Target="../tags/tag324.xml"/><Relationship Id="rId19" Type="http://schemas.openxmlformats.org/officeDocument/2006/relationships/image" Target="../media/image19.png"/><Relationship Id="rId20" Type="http://schemas.openxmlformats.org/officeDocument/2006/relationships/image" Target="../media/image20.svg"/><Relationship Id="rId21" Type="http://schemas.openxmlformats.org/officeDocument/2006/relationships/tags" Target="../tags/tag325.xml"/><Relationship Id="rId22" Type="http://schemas.openxmlformats.org/officeDocument/2006/relationships/image" Target="../media/image48.png"/><Relationship Id="rId23" Type="http://schemas.openxmlformats.org/officeDocument/2006/relationships/image" Target="../media/image24.svg"/><Relationship Id="rId24" Type="http://schemas.openxmlformats.org/officeDocument/2006/relationships/tags" Target="../tags/tag326.xml"/><Relationship Id="rId25" Type="http://schemas.openxmlformats.org/officeDocument/2006/relationships/image" Target="../media/image49.png"/><Relationship Id="rId26" Type="http://schemas.openxmlformats.org/officeDocument/2006/relationships/image" Target="../media/image26.svg"/><Relationship Id="rId27" Type="http://schemas.openxmlformats.org/officeDocument/2006/relationships/tags" Target="../tags/tag327.xml"/><Relationship Id="rId28" Type="http://schemas.openxmlformats.org/officeDocument/2006/relationships/image" Target="../media/image21.png"/><Relationship Id="rId29" Type="http://schemas.openxmlformats.org/officeDocument/2006/relationships/image" Target="../media/image22.svg"/><Relationship Id="rId30" Type="http://schemas.openxmlformats.org/officeDocument/2006/relationships/slideLayout" Target="../slideLayouts/slideLayout2.xml"/><Relationship Id="rId31"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tags" Target="../tags/tag328.xml"/><Relationship Id="rId2" Type="http://schemas.openxmlformats.org/officeDocument/2006/relationships/tags" Target="../tags/tag329.xml"/><Relationship Id="rId3" Type="http://schemas.openxmlformats.org/officeDocument/2006/relationships/tags" Target="../tags/tag330.xml"/><Relationship Id="rId4" Type="http://schemas.openxmlformats.org/officeDocument/2006/relationships/tags" Target="../tags/tag331.xml"/><Relationship Id="rId5" Type="http://schemas.openxmlformats.org/officeDocument/2006/relationships/image" Target="../media/image82.png"/><Relationship Id="rId6" Type="http://schemas.openxmlformats.org/officeDocument/2006/relationships/image" Target="../media/image83.svg"/><Relationship Id="rId7" Type="http://schemas.openxmlformats.org/officeDocument/2006/relationships/tags" Target="../tags/tag332.xml"/><Relationship Id="rId8" Type="http://schemas.openxmlformats.org/officeDocument/2006/relationships/tags" Target="../tags/tag333.xml"/><Relationship Id="rId9" Type="http://schemas.openxmlformats.org/officeDocument/2006/relationships/tags" Target="../tags/tag334.xml"/><Relationship Id="rId10" Type="http://schemas.openxmlformats.org/officeDocument/2006/relationships/tags" Target="../tags/tag335.xml"/><Relationship Id="rId11" Type="http://schemas.openxmlformats.org/officeDocument/2006/relationships/image" Target="../media/image84.png"/><Relationship Id="rId12" Type="http://schemas.openxmlformats.org/officeDocument/2006/relationships/image" Target="../media/image85.svg"/><Relationship Id="rId13" Type="http://schemas.openxmlformats.org/officeDocument/2006/relationships/tags" Target="../tags/tag336.xml"/><Relationship Id="rId14" Type="http://schemas.openxmlformats.org/officeDocument/2006/relationships/tags" Target="../tags/tag337.xml"/><Relationship Id="rId15" Type="http://schemas.openxmlformats.org/officeDocument/2006/relationships/tags" Target="../tags/tag338.xml"/><Relationship Id="rId16" Type="http://schemas.openxmlformats.org/officeDocument/2006/relationships/image" Target="../media/image86.png"/><Relationship Id="rId17" Type="http://schemas.openxmlformats.org/officeDocument/2006/relationships/image" Target="../media/image87.svg"/><Relationship Id="rId18" Type="http://schemas.openxmlformats.org/officeDocument/2006/relationships/tags" Target="../tags/tag339.xml"/><Relationship Id="rId19" Type="http://schemas.openxmlformats.org/officeDocument/2006/relationships/tags" Target="../tags/tag340.xml"/><Relationship Id="rId20" Type="http://schemas.openxmlformats.org/officeDocument/2006/relationships/tags" Target="../tags/tag341.xml"/><Relationship Id="rId21" Type="http://schemas.openxmlformats.org/officeDocument/2006/relationships/image" Target="../media/image88.png"/><Relationship Id="rId22" Type="http://schemas.openxmlformats.org/officeDocument/2006/relationships/image" Target="../media/image89.svg"/><Relationship Id="rId23" Type="http://schemas.openxmlformats.org/officeDocument/2006/relationships/tags" Target="../tags/tag342.xml"/><Relationship Id="rId24" Type="http://schemas.openxmlformats.org/officeDocument/2006/relationships/tags" Target="../tags/tag343.xml"/><Relationship Id="rId25" Type="http://schemas.openxmlformats.org/officeDocument/2006/relationships/tags" Target="../tags/tag344.xml"/><Relationship Id="rId26" Type="http://schemas.openxmlformats.org/officeDocument/2006/relationships/tags" Target="../tags/tag345.xml"/><Relationship Id="rId27" Type="http://schemas.openxmlformats.org/officeDocument/2006/relationships/image" Target="../media/image90.png"/><Relationship Id="rId28" Type="http://schemas.openxmlformats.org/officeDocument/2006/relationships/image" Target="../media/image91.svg"/><Relationship Id="rId29" Type="http://schemas.openxmlformats.org/officeDocument/2006/relationships/tags" Target="../tags/tag346.xml"/><Relationship Id="rId30" Type="http://schemas.openxmlformats.org/officeDocument/2006/relationships/tags" Target="../tags/tag347.xml"/><Relationship Id="rId31" Type="http://schemas.openxmlformats.org/officeDocument/2006/relationships/image" Target="../media/image92.png"/><Relationship Id="rId32" Type="http://schemas.openxmlformats.org/officeDocument/2006/relationships/image" Target="../media/image93.svg"/><Relationship Id="rId33" Type="http://schemas.openxmlformats.org/officeDocument/2006/relationships/image" Target="../media/image94.png"/><Relationship Id="rId34" Type="http://schemas.openxmlformats.org/officeDocument/2006/relationships/image" Target="../media/image95.svg"/><Relationship Id="rId35" Type="http://schemas.openxmlformats.org/officeDocument/2006/relationships/tags" Target="../tags/tag348.xml"/><Relationship Id="rId36" Type="http://schemas.openxmlformats.org/officeDocument/2006/relationships/tags" Target="../tags/tag349.xml"/><Relationship Id="rId37" Type="http://schemas.openxmlformats.org/officeDocument/2006/relationships/image" Target="../media/image49.png"/><Relationship Id="rId38" Type="http://schemas.openxmlformats.org/officeDocument/2006/relationships/image" Target="../media/image26.svg"/><Relationship Id="rId39" Type="http://schemas.openxmlformats.org/officeDocument/2006/relationships/tags" Target="../tags/tag350.xml"/><Relationship Id="rId40" Type="http://schemas.openxmlformats.org/officeDocument/2006/relationships/image" Target="../media/image21.png"/><Relationship Id="rId41" Type="http://schemas.openxmlformats.org/officeDocument/2006/relationships/image" Target="../media/image22.svg"/><Relationship Id="rId42" Type="http://schemas.openxmlformats.org/officeDocument/2006/relationships/image" Target="../media/image96.png"/><Relationship Id="rId43" Type="http://schemas.openxmlformats.org/officeDocument/2006/relationships/tags" Target="../tags/tag351.xml"/><Relationship Id="rId44" Type="http://schemas.openxmlformats.org/officeDocument/2006/relationships/tags" Target="../tags/tag352.xml"/><Relationship Id="rId45" Type="http://schemas.openxmlformats.org/officeDocument/2006/relationships/tags" Target="../tags/tag353.xml"/><Relationship Id="rId46" Type="http://schemas.openxmlformats.org/officeDocument/2006/relationships/slideLayout" Target="../slideLayouts/slideLayout2.xml"/><Relationship Id="rId47"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tags" Target="../tags/tag354.xml"/><Relationship Id="rId2" Type="http://schemas.openxmlformats.org/officeDocument/2006/relationships/tags" Target="../tags/tag355.xml"/><Relationship Id="rId3" Type="http://schemas.openxmlformats.org/officeDocument/2006/relationships/tags" Target="../tags/tag356.xml"/><Relationship Id="rId4" Type="http://schemas.openxmlformats.org/officeDocument/2006/relationships/tags" Target="../tags/tag357.xml"/><Relationship Id="rId5" Type="http://schemas.openxmlformats.org/officeDocument/2006/relationships/tags" Target="../tags/tag358.xml"/><Relationship Id="rId6" Type="http://schemas.openxmlformats.org/officeDocument/2006/relationships/image" Target="../media/image82.png"/><Relationship Id="rId7" Type="http://schemas.openxmlformats.org/officeDocument/2006/relationships/image" Target="../media/image97.svg"/><Relationship Id="rId8" Type="http://schemas.openxmlformats.org/officeDocument/2006/relationships/tags" Target="../tags/tag359.xml"/><Relationship Id="rId9" Type="http://schemas.openxmlformats.org/officeDocument/2006/relationships/tags" Target="../tags/tag360.xml"/><Relationship Id="rId10" Type="http://schemas.openxmlformats.org/officeDocument/2006/relationships/tags" Target="../tags/tag361.xml"/><Relationship Id="rId11" Type="http://schemas.openxmlformats.org/officeDocument/2006/relationships/tags" Target="../tags/tag362.xml"/><Relationship Id="rId12" Type="http://schemas.openxmlformats.org/officeDocument/2006/relationships/image" Target="../media/image84.png"/><Relationship Id="rId13" Type="http://schemas.openxmlformats.org/officeDocument/2006/relationships/image" Target="../media/image98.svg"/><Relationship Id="rId14" Type="http://schemas.openxmlformats.org/officeDocument/2006/relationships/tags" Target="../tags/tag363.xml"/><Relationship Id="rId15" Type="http://schemas.openxmlformats.org/officeDocument/2006/relationships/tags" Target="../tags/tag364.xml"/><Relationship Id="rId16" Type="http://schemas.openxmlformats.org/officeDocument/2006/relationships/tags" Target="../tags/tag365.xml"/><Relationship Id="rId17" Type="http://schemas.openxmlformats.org/officeDocument/2006/relationships/image" Target="../media/image86.png"/><Relationship Id="rId18" Type="http://schemas.openxmlformats.org/officeDocument/2006/relationships/image" Target="../media/image99.svg"/><Relationship Id="rId19" Type="http://schemas.openxmlformats.org/officeDocument/2006/relationships/tags" Target="../tags/tag366.xml"/><Relationship Id="rId20" Type="http://schemas.openxmlformats.org/officeDocument/2006/relationships/tags" Target="../tags/tag367.xml"/><Relationship Id="rId21" Type="http://schemas.openxmlformats.org/officeDocument/2006/relationships/tags" Target="../tags/tag368.xml"/><Relationship Id="rId22" Type="http://schemas.openxmlformats.org/officeDocument/2006/relationships/image" Target="../media/image88.png"/><Relationship Id="rId23" Type="http://schemas.openxmlformats.org/officeDocument/2006/relationships/image" Target="../media/image100.svg"/><Relationship Id="rId24" Type="http://schemas.openxmlformats.org/officeDocument/2006/relationships/tags" Target="../tags/tag369.xml"/><Relationship Id="rId25" Type="http://schemas.openxmlformats.org/officeDocument/2006/relationships/tags" Target="../tags/tag370.xml"/><Relationship Id="rId26" Type="http://schemas.openxmlformats.org/officeDocument/2006/relationships/image" Target="../media/image57.png"/><Relationship Id="rId27" Type="http://schemas.openxmlformats.org/officeDocument/2006/relationships/image" Target="../media/image58.svg"/><Relationship Id="rId28" Type="http://schemas.openxmlformats.org/officeDocument/2006/relationships/tags" Target="../tags/tag371.xml"/><Relationship Id="rId29" Type="http://schemas.openxmlformats.org/officeDocument/2006/relationships/tags" Target="../tags/tag372.xml"/><Relationship Id="rId30" Type="http://schemas.openxmlformats.org/officeDocument/2006/relationships/image" Target="../media/image92.png"/><Relationship Id="rId31" Type="http://schemas.openxmlformats.org/officeDocument/2006/relationships/image" Target="../media/image101.svg"/><Relationship Id="rId32" Type="http://schemas.openxmlformats.org/officeDocument/2006/relationships/image" Target="../media/image94.png"/><Relationship Id="rId33" Type="http://schemas.openxmlformats.org/officeDocument/2006/relationships/image" Target="../media/image102.svg"/><Relationship Id="rId34" Type="http://schemas.openxmlformats.org/officeDocument/2006/relationships/tags" Target="../tags/tag373.xml"/><Relationship Id="rId35" Type="http://schemas.openxmlformats.org/officeDocument/2006/relationships/tags" Target="../tags/tag374.xml"/><Relationship Id="rId36" Type="http://schemas.openxmlformats.org/officeDocument/2006/relationships/tags" Target="../tags/tag375.xml"/><Relationship Id="rId37" Type="http://schemas.openxmlformats.org/officeDocument/2006/relationships/tags" Target="../tags/tag376.xml"/><Relationship Id="rId38" Type="http://schemas.openxmlformats.org/officeDocument/2006/relationships/slideLayout" Target="../slideLayouts/slideLayout2.xml"/><Relationship Id="rId39"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tags" Target="../tags/tag377.xml"/><Relationship Id="rId2" Type="http://schemas.openxmlformats.org/officeDocument/2006/relationships/tags" Target="../tags/tag378.xml"/><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tags" Target="../tags/tag379.xml"/><Relationship Id="rId2" Type="http://schemas.openxmlformats.org/officeDocument/2006/relationships/tags" Target="../tags/tag380.xml"/><Relationship Id="rId3" Type="http://schemas.openxmlformats.org/officeDocument/2006/relationships/tags" Target="../tags/tag381.xml"/><Relationship Id="rId4" Type="http://schemas.openxmlformats.org/officeDocument/2006/relationships/tags" Target="../tags/tag382.xml"/><Relationship Id="rId5" Type="http://schemas.openxmlformats.org/officeDocument/2006/relationships/tags" Target="../tags/tag383.xml"/><Relationship Id="rId6" Type="http://schemas.openxmlformats.org/officeDocument/2006/relationships/tags" Target="../tags/tag384.xml"/><Relationship Id="rId7" Type="http://schemas.openxmlformats.org/officeDocument/2006/relationships/tags" Target="../tags/tag385.xml"/><Relationship Id="rId8" Type="http://schemas.openxmlformats.org/officeDocument/2006/relationships/tags" Target="../tags/tag386.xml"/><Relationship Id="rId9" Type="http://schemas.openxmlformats.org/officeDocument/2006/relationships/tags" Target="../tags/tag387.xml"/><Relationship Id="rId10" Type="http://schemas.openxmlformats.org/officeDocument/2006/relationships/tags" Target="../tags/tag388.xml"/><Relationship Id="rId11" Type="http://schemas.openxmlformats.org/officeDocument/2006/relationships/tags" Target="../tags/tag389.xml"/><Relationship Id="rId12" Type="http://schemas.openxmlformats.org/officeDocument/2006/relationships/image" Target="../media/image63.png"/><Relationship Id="rId13" Type="http://schemas.openxmlformats.org/officeDocument/2006/relationships/image" Target="../media/image64.svg"/><Relationship Id="rId14" Type="http://schemas.openxmlformats.org/officeDocument/2006/relationships/tags" Target="../tags/tag390.xml"/><Relationship Id="rId15" Type="http://schemas.openxmlformats.org/officeDocument/2006/relationships/tags" Target="../tags/tag391.xml"/><Relationship Id="rId16" Type="http://schemas.openxmlformats.org/officeDocument/2006/relationships/tags" Target="../tags/tag392.xml"/><Relationship Id="rId17" Type="http://schemas.openxmlformats.org/officeDocument/2006/relationships/image" Target="../media/image75.png"/><Relationship Id="rId18" Type="http://schemas.openxmlformats.org/officeDocument/2006/relationships/image" Target="../media/image76.svg"/><Relationship Id="rId19" Type="http://schemas.openxmlformats.org/officeDocument/2006/relationships/tags" Target="../tags/tag393.xml"/><Relationship Id="rId20" Type="http://schemas.openxmlformats.org/officeDocument/2006/relationships/image" Target="../media/image21.png"/><Relationship Id="rId21" Type="http://schemas.openxmlformats.org/officeDocument/2006/relationships/image" Target="../media/image22.svg"/><Relationship Id="rId22" Type="http://schemas.openxmlformats.org/officeDocument/2006/relationships/tags" Target="../tags/tag394.xml"/><Relationship Id="rId23" Type="http://schemas.openxmlformats.org/officeDocument/2006/relationships/image" Target="../media/image49.png"/><Relationship Id="rId24" Type="http://schemas.openxmlformats.org/officeDocument/2006/relationships/image" Target="../media/image26.svg"/><Relationship Id="rId25" Type="http://schemas.openxmlformats.org/officeDocument/2006/relationships/tags" Target="../tags/tag395.xml"/><Relationship Id="rId26" Type="http://schemas.openxmlformats.org/officeDocument/2006/relationships/tags" Target="../tags/tag396.xml"/><Relationship Id="rId27" Type="http://schemas.openxmlformats.org/officeDocument/2006/relationships/tags" Target="../tags/tag397.xml"/><Relationship Id="rId28" Type="http://schemas.openxmlformats.org/officeDocument/2006/relationships/tags" Target="../tags/tag398.xml"/><Relationship Id="rId29" Type="http://schemas.openxmlformats.org/officeDocument/2006/relationships/tags" Target="../tags/tag399.xml"/><Relationship Id="rId30" Type="http://schemas.openxmlformats.org/officeDocument/2006/relationships/tags" Target="../tags/tag400.xml"/><Relationship Id="rId31" Type="http://schemas.openxmlformats.org/officeDocument/2006/relationships/tags" Target="../tags/tag401.xml"/><Relationship Id="rId32" Type="http://schemas.openxmlformats.org/officeDocument/2006/relationships/tags" Target="../tags/tag402.xml"/><Relationship Id="rId33" Type="http://schemas.openxmlformats.org/officeDocument/2006/relationships/slideLayout" Target="../slideLayouts/slideLayout2.xml"/><Relationship Id="rId34"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tags" Target="../tags/tag403.xml"/><Relationship Id="rId2" Type="http://schemas.openxmlformats.org/officeDocument/2006/relationships/tags" Target="../tags/tag404.xml"/><Relationship Id="rId3"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tags" Target="../tags/tag405.xml"/><Relationship Id="rId2" Type="http://schemas.openxmlformats.org/officeDocument/2006/relationships/tags" Target="../tags/tag406.xml"/><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tags" Target="../tags/tag407.xml"/><Relationship Id="rId2" Type="http://schemas.openxmlformats.org/officeDocument/2006/relationships/tags" Target="../tags/tag408.xml"/><Relationship Id="rId3" Type="http://schemas.openxmlformats.org/officeDocument/2006/relationships/tags" Target="../tags/tag409.xml"/><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tags" Target="../tags/tag410.xml"/><Relationship Id="rId2" Type="http://schemas.openxmlformats.org/officeDocument/2006/relationships/tags" Target="../tags/tag411.xml"/><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tags" Target="../tags/tag412.xml"/><Relationship Id="rId2" Type="http://schemas.openxmlformats.org/officeDocument/2006/relationships/tags" Target="../tags/tag413.xml"/><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tags" Target="../tags/tag414.xml"/><Relationship Id="rId2" Type="http://schemas.openxmlformats.org/officeDocument/2006/relationships/tags" Target="../tags/tag415.xml"/><Relationship Id="rId3" Type="http://schemas.openxmlformats.org/officeDocument/2006/relationships/tags" Target="../tags/tag416.xml"/><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tags" Target="../tags/tag417.xml"/><Relationship Id="rId2" Type="http://schemas.openxmlformats.org/officeDocument/2006/relationships/tags" Target="../tags/tag418.xml"/><Relationship Id="rId3" Type="http://schemas.openxmlformats.org/officeDocument/2006/relationships/tags" Target="../tags/tag419.xml"/><Relationship Id="rId4" Type="http://schemas.openxmlformats.org/officeDocument/2006/relationships/tags" Target="../tags/tag420.xml"/><Relationship Id="rId5" Type="http://schemas.openxmlformats.org/officeDocument/2006/relationships/slideLayout" Target="../slideLayouts/slideLayout2.xml"/><Relationship Id="rId6"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tags" Target="../tags/tag421.xml"/><Relationship Id="rId2" Type="http://schemas.openxmlformats.org/officeDocument/2006/relationships/tags" Target="../tags/tag422.xml"/><Relationship Id="rId3" Type="http://schemas.openxmlformats.org/officeDocument/2006/relationships/tags" Target="../tags/tag423.xml"/><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tags" Target="../tags/tag424.xml"/><Relationship Id="rId2" Type="http://schemas.openxmlformats.org/officeDocument/2006/relationships/tags" Target="../tags/tag425.xml"/><Relationship Id="rId3" Type="http://schemas.openxmlformats.org/officeDocument/2006/relationships/tags" Target="../tags/tag426.xml"/><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tags" Target="../tags/tag427.xml"/><Relationship Id="rId2" Type="http://schemas.openxmlformats.org/officeDocument/2006/relationships/tags" Target="../tags/tag428.xml"/><Relationship Id="rId3" Type="http://www.wps.cn/officeDocument/2018/webExtension" Target="../webExtensions/webExtension1.xml"/><Relationship Id="rId4" Type="http://www.wps.cn/officeDocument/2018/webExtension" Target="../webExtensions/webExtension1.xml" TargetMode="External"/><Relationship Id="rId5" Type="http://schemas.openxmlformats.org/officeDocument/2006/relationships/image" Target="../media/image103.png"/><Relationship Id="rId6" Type="http://schemas.openxmlformats.org/officeDocument/2006/relationships/slideLayout" Target="../slideLayouts/slideLayout2.xml"/><Relationship Id="rId7"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tags" Target="../tags/tag429.xml"/><Relationship Id="rId2" Type="http://schemas.openxmlformats.org/officeDocument/2006/relationships/tags" Target="../tags/tag430.xml"/><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tags" Target="../tags/tag431.xml"/><Relationship Id="rId2" Type="http://schemas.openxmlformats.org/officeDocument/2006/relationships/tags" Target="../tags/tag432.xml"/><Relationship Id="rId3" Type="http://schemas.openxmlformats.org/officeDocument/2006/relationships/tags" Target="../tags/tag433.xml"/><Relationship Id="rId4" Type="http://schemas.openxmlformats.org/officeDocument/2006/relationships/slideLayout" Target="../slideLayouts/slideLayout2.xml"/><Relationship Id="rId5"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tags" Target="../tags/tag434.xml"/><Relationship Id="rId2" Type="http://schemas.openxmlformats.org/officeDocument/2006/relationships/tags" Target="../tags/tag435.xml"/><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tags" Target="../tags/tag436.xml"/><Relationship Id="rId2" Type="http://schemas.openxmlformats.org/officeDocument/2006/relationships/tags" Target="../tags/tag437.xml"/><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slideLayout" Target="../slideLayouts/slideLayout2.xml"/><Relationship Id="rId8"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965835" y="3326765"/>
            <a:ext cx="10260330" cy="0"/>
          </a:xfrm>
          <a:prstGeom prst="line">
            <a:avLst/>
          </a:prstGeom>
          <a:ln w="63500">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965835" y="3472180"/>
            <a:ext cx="10260330" cy="0"/>
          </a:xfrm>
          <a:prstGeom prst="line">
            <a:avLst/>
          </a:prstGeom>
          <a:ln w="63500">
            <a:solidFill>
              <a:srgbClr val="ED6D00"/>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07304" y="1698017"/>
            <a:ext cx="11177393" cy="706755"/>
          </a:xfrm>
          <a:prstGeom prst="rect">
            <a:avLst/>
          </a:prstGeom>
          <a:noFill/>
        </p:spPr>
        <p:txBody>
          <a:bodyPr wrap="square" rtlCol="0">
            <a:spAutoFit/>
          </a:bodyPr>
          <a:lstStyle/>
          <a:p>
            <a:pPr algn="ctr">
              <a:defRPr sz="2200">
                <a:solidFill>
                  <a:srgbClr val="CCDDEE"/>
                </a:solidFill>
              </a:defRPr>
            </a:pPr>
            <a:r>
              <a:rPr lang="en-US" altLang="zh-CN" sz="4000" b="1" dirty="0">
                <a:solidFill>
                  <a:schemeClr val="tx1"/>
                </a:solidFill>
                <a:latin typeface="Cambria" panose="02040503050406030204" charset="0"/>
                <a:ea typeface="Cambria" panose="02040503050406030204" charset="0"/>
                <a:cs typeface="Cambria" panose="02040503050406030204" charset="0"/>
                <a:sym typeface="+mn-ea"/>
              </a:rPr>
              <a:t>Detecting Logic Defects in VDBMS with LLMs</a:t>
            </a:r>
            <a:endParaRPr lang="en-US" altLang="zh-CN" sz="4000" b="1" dirty="0">
              <a:solidFill>
                <a:schemeClr val="tx1"/>
              </a:solidFill>
              <a:latin typeface="Cambria" panose="02040503050406030204" charset="0"/>
              <a:ea typeface="Cambria" panose="02040503050406030204" charset="0"/>
              <a:cs typeface="Cambria" panose="02040503050406030204" charset="0"/>
              <a:sym typeface="+mn-ea"/>
            </a:endParaRPr>
          </a:p>
        </p:txBody>
      </p:sp>
      <p:sp>
        <p:nvSpPr>
          <p:cNvPr id="14" name="Rectangle 2"/>
          <p:cNvSpPr>
            <a:spLocks noGrp="1" noChangeArrowheads="1"/>
          </p:cNvSpPr>
          <p:nvPr/>
        </p:nvSpPr>
        <p:spPr bwMode="auto">
          <a:xfrm>
            <a:off x="2516505" y="3759200"/>
            <a:ext cx="7158990" cy="460375"/>
          </a:xfrm>
          <a:prstGeom prst="rect">
            <a:avLst/>
          </a:prstGeom>
          <a:noFill/>
          <a:ln w="9525" algn="ctr">
            <a:noFill/>
            <a:miter lim="800000"/>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ysClr val="windowText" lastClr="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vert="horz" wrap="square" lIns="91440" tIns="45720" rIns="91440" bIns="45720" numCol="1" anchor="ctr" anchorCtr="0" compatLnSpc="1">
            <a:spAutoFit/>
          </a:bodyPr>
          <a:lstStyle>
            <a:lvl1pPr marL="0" indent="0" algn="l" defTabSz="1219200" rtl="0" eaLnBrk="1" fontAlgn="base" latinLnBrk="0" hangingPunct="1">
              <a:lnSpc>
                <a:spcPct val="100000"/>
              </a:lnSpc>
              <a:spcBef>
                <a:spcPts val="1600"/>
              </a:spcBef>
              <a:spcAft>
                <a:spcPts val="0"/>
              </a:spcAft>
              <a:buClr>
                <a:srgbClr val="70AD47"/>
              </a:buClr>
              <a:buFont typeface="Wingdings" panose="05000000000000000000" pitchFamily="2" charset="2"/>
              <a:buNone/>
              <a:defRPr lang="en-US" sz="2935" b="1" i="1" kern="1200" baseline="0" smtClean="0">
                <a:solidFill>
                  <a:srgbClr val="70AD47"/>
                </a:solidFill>
                <a:latin typeface="Cambria" panose="02040503050406030204" charset="0"/>
                <a:ea typeface="+mn-ea"/>
                <a:cs typeface="+mn-ea"/>
              </a:defRPr>
            </a:lvl1pPr>
            <a:lvl2pPr marL="609600" indent="0" algn="ctr" defTabSz="1219200" rtl="0" eaLnBrk="1" fontAlgn="base" latinLnBrk="0" hangingPunct="1">
              <a:lnSpc>
                <a:spcPct val="100000"/>
              </a:lnSpc>
              <a:spcBef>
                <a:spcPts val="800"/>
              </a:spcBef>
              <a:spcAft>
                <a:spcPct val="0"/>
              </a:spcAft>
              <a:buClr>
                <a:srgbClr val="4472C4"/>
              </a:buClr>
              <a:buSzPct val="90000"/>
              <a:buFont typeface="Wingdings" panose="05000000000000000000" pitchFamily="2" charset="2"/>
              <a:buNone/>
              <a:defRPr lang="en-US" sz="2000" b="0" kern="1200" smtClean="0">
                <a:solidFill>
                  <a:sysClr val="windowText" lastClr="000000">
                    <a:tint val="75000"/>
                  </a:sysClr>
                </a:solidFill>
                <a:latin typeface="Cambria" panose="02040503050406030204" charset="0"/>
                <a:ea typeface="Cambria" panose="02040503050406030204" charset="0"/>
                <a:cs typeface="+mn-ea"/>
              </a:defRPr>
            </a:lvl2pPr>
            <a:lvl3pPr marL="1219200" indent="0" algn="ctr" defTabSz="1219200" rtl="0" eaLnBrk="1" fontAlgn="base" latinLnBrk="0" hangingPunct="1">
              <a:lnSpc>
                <a:spcPct val="100000"/>
              </a:lnSpc>
              <a:spcBef>
                <a:spcPts val="800"/>
              </a:spcBef>
              <a:spcAft>
                <a:spcPct val="0"/>
              </a:spcAft>
              <a:buClr>
                <a:srgbClr val="4472C4"/>
              </a:buClr>
              <a:buFont typeface="Wingdings" panose="05000000000000000000" pitchFamily="2" charset="2"/>
              <a:buNone/>
              <a:defRPr lang="en-US" sz="1800" b="0" kern="1200" smtClean="0">
                <a:solidFill>
                  <a:sysClr val="windowText" lastClr="000000">
                    <a:tint val="75000"/>
                  </a:sysClr>
                </a:solidFill>
                <a:latin typeface="Cambria" panose="02040503050406030204" charset="0"/>
                <a:ea typeface="Cambria" panose="02040503050406030204" charset="0"/>
                <a:cs typeface="+mn-ea"/>
              </a:defRPr>
            </a:lvl3pPr>
            <a:lvl4pPr marL="1828800" indent="0" algn="ctr" defTabSz="1219200" rtl="0" eaLnBrk="1" fontAlgn="base" latinLnBrk="0" hangingPunct="1">
              <a:lnSpc>
                <a:spcPct val="100000"/>
              </a:lnSpc>
              <a:spcBef>
                <a:spcPts val="800"/>
              </a:spcBef>
              <a:spcAft>
                <a:spcPct val="0"/>
              </a:spcAft>
              <a:buClr>
                <a:srgbClr val="4472C4"/>
              </a:buClr>
              <a:buFont typeface="Wingdings" panose="05000000000000000000" pitchFamily="2" charset="2"/>
              <a:buNone/>
              <a:defRPr lang="en-US" sz="1600" b="0" kern="1200" smtClean="0">
                <a:solidFill>
                  <a:sysClr val="windowText" lastClr="000000">
                    <a:tint val="75000"/>
                  </a:sysClr>
                </a:solidFill>
                <a:latin typeface="Cambria" panose="02040503050406030204" charset="0"/>
                <a:ea typeface="Cambria" panose="02040503050406030204" charset="0"/>
                <a:cs typeface="+mn-ea"/>
              </a:defRPr>
            </a:lvl4pPr>
            <a:lvl5pPr marL="2438400" indent="0" algn="ctr" defTabSz="1219200" rtl="0" eaLnBrk="1" fontAlgn="base" latinLnBrk="0" hangingPunct="1">
              <a:lnSpc>
                <a:spcPct val="100000"/>
              </a:lnSpc>
              <a:spcBef>
                <a:spcPts val="800"/>
              </a:spcBef>
              <a:spcAft>
                <a:spcPct val="0"/>
              </a:spcAft>
              <a:buClr>
                <a:srgbClr val="4472C4"/>
              </a:buClr>
              <a:buFont typeface="Wingdings" panose="05000000000000000000" pitchFamily="2" charset="2"/>
              <a:buNone/>
              <a:defRPr lang="en-US" sz="1400" b="0" kern="1200" dirty="0" smtClean="0">
                <a:solidFill>
                  <a:sysClr val="windowText" lastClr="000000">
                    <a:tint val="75000"/>
                  </a:sysClr>
                </a:solidFill>
                <a:latin typeface="Cambria" panose="02040503050406030204" charset="0"/>
                <a:ea typeface="Cambria" panose="02040503050406030204" charset="0"/>
                <a:cs typeface="+mn-ea"/>
              </a:defRPr>
            </a:lvl5pPr>
            <a:lvl6pPr marL="3048000" indent="0" algn="ctr" defTabSz="1219200" rtl="0" eaLnBrk="1" latinLnBrk="0" hangingPunct="1">
              <a:spcBef>
                <a:spcPct val="20000"/>
              </a:spcBef>
              <a:buFont typeface="Arial" panose="020B0604020202020204" pitchFamily="34" charset="0"/>
              <a:buNone/>
              <a:defRPr sz="2665" kern="1200">
                <a:solidFill>
                  <a:sysClr val="windowText" lastClr="000000">
                    <a:tint val="75000"/>
                  </a:sysClr>
                </a:solidFill>
                <a:latin typeface="Cambria" panose="02040503050406030204" charset="0"/>
                <a:ea typeface="+mn-ea"/>
                <a:cs typeface="+mn-ea"/>
              </a:defRPr>
            </a:lvl6pPr>
            <a:lvl7pPr marL="3657600" indent="0" algn="ctr" defTabSz="1219200" rtl="0" eaLnBrk="1" latinLnBrk="0" hangingPunct="1">
              <a:spcBef>
                <a:spcPct val="20000"/>
              </a:spcBef>
              <a:buFont typeface="Arial" panose="020B0604020202020204" pitchFamily="34" charset="0"/>
              <a:buNone/>
              <a:defRPr sz="2665" kern="1200">
                <a:solidFill>
                  <a:sysClr val="windowText" lastClr="000000">
                    <a:tint val="75000"/>
                  </a:sysClr>
                </a:solidFill>
                <a:latin typeface="Cambria" panose="02040503050406030204" charset="0"/>
                <a:ea typeface="+mn-ea"/>
                <a:cs typeface="+mn-ea"/>
              </a:defRPr>
            </a:lvl7pPr>
            <a:lvl8pPr marL="4267200" indent="0" algn="ctr" defTabSz="1219200" rtl="0" eaLnBrk="1" latinLnBrk="0" hangingPunct="1">
              <a:spcBef>
                <a:spcPct val="20000"/>
              </a:spcBef>
              <a:buFont typeface="Arial" panose="020B0604020202020204" pitchFamily="34" charset="0"/>
              <a:buNone/>
              <a:defRPr sz="2665" kern="1200">
                <a:solidFill>
                  <a:sysClr val="windowText" lastClr="000000">
                    <a:tint val="75000"/>
                  </a:sysClr>
                </a:solidFill>
                <a:latin typeface="Cambria" panose="02040503050406030204" charset="0"/>
                <a:ea typeface="+mn-ea"/>
                <a:cs typeface="+mn-ea"/>
              </a:defRPr>
            </a:lvl8pPr>
            <a:lvl9pPr marL="4876800" indent="0" algn="ctr" defTabSz="1219200" rtl="0" eaLnBrk="1" latinLnBrk="0" hangingPunct="1">
              <a:spcBef>
                <a:spcPct val="20000"/>
              </a:spcBef>
              <a:buFont typeface="Arial" panose="020B0604020202020204" pitchFamily="34" charset="0"/>
              <a:buNone/>
              <a:defRPr sz="2665" kern="1200">
                <a:solidFill>
                  <a:sysClr val="windowText" lastClr="000000">
                    <a:tint val="75000"/>
                  </a:sysClr>
                </a:solidFill>
                <a:latin typeface="Cambria" panose="02040503050406030204" charset="0"/>
                <a:ea typeface="+mn-ea"/>
                <a:cs typeface="+mn-ea"/>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0" i="0" strike="noStrike" cap="none" normalizeH="0" baseline="0" dirty="0">
                <a:ln>
                  <a:noFill/>
                </a:ln>
                <a:solidFill>
                  <a:sysClr val="windowText" lastClr="000000"/>
                </a:solidFill>
                <a:effectLst/>
                <a:latin typeface="Cambria" panose="02040503050406030204" charset="0"/>
                <a:ea typeface="Cambria" panose="02040503050406030204" charset="0"/>
              </a:rPr>
              <a:t>Yihui Huang</a:t>
            </a:r>
            <a:endParaRPr kumimoji="0" lang="zh-CN" altLang="en-US" sz="2400" b="0" i="0" strike="noStrike" cap="none" normalizeH="0" baseline="0" dirty="0">
              <a:ln>
                <a:noFill/>
              </a:ln>
              <a:solidFill>
                <a:sysClr val="windowText" lastClr="000000"/>
              </a:solidFill>
              <a:effectLst/>
              <a:latin typeface="Cambria" panose="02040503050406030204" charset="0"/>
              <a:ea typeface="SimSun" panose="02010600030101010101" pitchFamily="2" charset="-122"/>
            </a:endParaRPr>
          </a:p>
        </p:txBody>
      </p:sp>
      <p:sp>
        <p:nvSpPr>
          <p:cNvPr id="2" name="文本框 1"/>
          <p:cNvSpPr txBox="1"/>
          <p:nvPr/>
        </p:nvSpPr>
        <p:spPr>
          <a:xfrm>
            <a:off x="2899410" y="2762250"/>
            <a:ext cx="6392545" cy="391795"/>
          </a:xfrm>
          <a:prstGeom prst="rect">
            <a:avLst/>
          </a:prstGeom>
          <a:noFill/>
        </p:spPr>
        <p:txBody>
          <a:bodyPr wrap="square" rtlCol="0">
            <a:noAutofit/>
          </a:bodyPr>
          <a:p>
            <a:pPr algn="ctr">
              <a:defRPr sz="2200" b="0">
                <a:solidFill>
                  <a:srgbClr val="CCDDEE"/>
                </a:solidFill>
                <a:latin typeface="Microsoft YaHei" panose="020B0503020204020204" charset="-122"/>
              </a:defRPr>
            </a:pPr>
            <a:r>
              <a:rPr sz="1800" b="1">
                <a:solidFill>
                  <a:schemeClr val="tx1">
                    <a:lumMod val="50000"/>
                    <a:lumOff val="50000"/>
                  </a:schemeClr>
                </a:solidFill>
                <a:latin typeface="Cambria" panose="02040503050406030204" charset="0"/>
                <a:cs typeface="Cambria" panose="02040503050406030204" charset="0"/>
                <a:sym typeface="+mn-ea"/>
              </a:rPr>
              <a:t>用 LLM </a:t>
            </a:r>
            <a:r>
              <a:rPr lang="zh-CN" sz="1800" b="1">
                <a:solidFill>
                  <a:schemeClr val="tx1">
                    <a:lumMod val="50000"/>
                    <a:lumOff val="50000"/>
                  </a:schemeClr>
                </a:solidFill>
                <a:latin typeface="Cambria" panose="02040503050406030204" charset="0"/>
                <a:cs typeface="Cambria" panose="02040503050406030204" charset="0"/>
                <a:sym typeface="+mn-ea"/>
              </a:rPr>
              <a:t>检测向量数据库</a:t>
            </a:r>
            <a:r>
              <a:rPr sz="1800" b="1">
                <a:solidFill>
                  <a:schemeClr val="tx1">
                    <a:lumMod val="50000"/>
                    <a:lumOff val="50000"/>
                  </a:schemeClr>
                </a:solidFill>
                <a:latin typeface="Cambria" panose="02040503050406030204" charset="0"/>
                <a:cs typeface="Cambria" panose="02040503050406030204" charset="0"/>
                <a:sym typeface="+mn-ea"/>
              </a:rPr>
              <a:t>的</a:t>
            </a:r>
            <a:r>
              <a:rPr lang="zh-CN" sz="1800" b="1">
                <a:solidFill>
                  <a:schemeClr val="tx1">
                    <a:lumMod val="50000"/>
                    <a:lumOff val="50000"/>
                  </a:schemeClr>
                </a:solidFill>
                <a:latin typeface="Cambria" panose="02040503050406030204" charset="0"/>
                <a:cs typeface="Cambria" panose="02040503050406030204" charset="0"/>
                <a:sym typeface="+mn-ea"/>
              </a:rPr>
              <a:t>逻辑</a:t>
            </a:r>
            <a:r>
              <a:rPr sz="1800" b="1">
                <a:solidFill>
                  <a:schemeClr val="tx1">
                    <a:lumMod val="50000"/>
                    <a:lumOff val="50000"/>
                  </a:schemeClr>
                </a:solidFill>
                <a:latin typeface="Cambria" panose="02040503050406030204" charset="0"/>
                <a:cs typeface="Cambria" panose="02040503050406030204" charset="0"/>
                <a:sym typeface="+mn-ea"/>
              </a:rPr>
              <a:t>缺陷</a:t>
            </a:r>
            <a:endParaRPr lang="zh-CN" altLang="en-US" sz="1800" b="1">
              <a:solidFill>
                <a:schemeClr val="tx1">
                  <a:lumMod val="50000"/>
                  <a:lumOff val="50000"/>
                </a:schemeClr>
              </a:solidFill>
              <a:latin typeface="Cambria" panose="02040503050406030204" charset="0"/>
              <a:cs typeface="Cambria" panose="020405030504060302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a:t>统一表述，不要用</a:t>
            </a:r>
            <a:r>
              <a:rPr lang="en-US" altLang="zh-CN"/>
              <a:t>defect</a:t>
            </a:r>
            <a:r>
              <a:rPr lang="zh-CN" altLang="en-US"/>
              <a:t>，用</a:t>
            </a:r>
            <a:r>
              <a:rPr lang="en-US" altLang="zh-CN"/>
              <a:t>bug</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674370" y="1250315"/>
            <a:ext cx="10852150" cy="4941570"/>
          </a:xfrm>
        </p:spPr>
        <p:txBody>
          <a:bodyPr/>
          <a:lstStyle/>
          <a:p>
            <a:pPr>
              <a:lnSpc>
                <a:spcPct val="100000"/>
              </a:lnSpc>
              <a:buFont typeface="Wingdings" panose="05000000000000000000" charset="0"/>
              <a:buChar char="p"/>
            </a:pPr>
            <a:r>
              <a:rPr lang="en-US" sz="2140" b="1">
                <a:solidFill>
                  <a:schemeClr val="tx1"/>
                </a:solidFill>
                <a:latin typeface="Cambria" panose="02040503050406030204" charset="0"/>
                <a:cs typeface="Cambria" panose="02040503050406030204" charset="0"/>
                <a:sym typeface="+mn-ea"/>
              </a:rPr>
              <a:t> </a:t>
            </a:r>
            <a:r>
              <a:rPr lang="en-US" altLang="zh-CN" sz="2140" b="1">
                <a:solidFill>
                  <a:schemeClr val="tx1"/>
                </a:solidFill>
                <a:latin typeface="Cambria" panose="02040503050406030204" charset="0"/>
                <a:cs typeface="Cambria" panose="02040503050406030204" charset="0"/>
                <a:sym typeface="+mn-ea"/>
              </a:rPr>
              <a:t>VDBMS are widely used to store and retrieve vector embeddings.</a:t>
            </a:r>
            <a:endParaRPr lang="en-US" altLang="zh-CN" sz="2140" b="1">
              <a:solidFill>
                <a:schemeClr val="tx1"/>
              </a:solidFill>
              <a:latin typeface="Cambria" panose="02040503050406030204" charset="0"/>
              <a:cs typeface="Cambria" panose="02040503050406030204" charset="0"/>
              <a:sym typeface="+mn-ea"/>
            </a:endParaRPr>
          </a:p>
        </p:txBody>
      </p:sp>
      <p:sp>
        <p:nvSpPr>
          <p:cNvPr id="12" name="文本框 11"/>
          <p:cNvSpPr txBox="1"/>
          <p:nvPr/>
        </p:nvSpPr>
        <p:spPr>
          <a:xfrm>
            <a:off x="717070" y="39598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09106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444818"/>
            <a:ext cx="10571480" cy="553720"/>
          </a:xfrm>
          <a:prstGeom prst="rect">
            <a:avLst/>
          </a:prstGeom>
          <a:noFill/>
        </p:spPr>
        <p:txBody>
          <a:bodyPr vert="horz" wrap="square" lIns="0" tIns="0" rIns="0" bIns="0" rtlCol="0" anchor="ctr" anchorCtr="0">
            <a:spAutoFit/>
          </a:bodyPr>
          <a:lstStyle/>
          <a:p>
            <a:r>
              <a:rPr lang="en-US" sz="3600" b="1">
                <a:solidFill>
                  <a:srgbClr val="0A4A94"/>
                </a:solidFill>
                <a:latin typeface="Cambria" panose="02040503050406030204" charset="0"/>
                <a:cs typeface="Cambria" panose="02040503050406030204" charset="0"/>
                <a:sym typeface="+mn-ea"/>
              </a:rPr>
              <a:t>Vector Database Management System(VDBMS)</a:t>
            </a:r>
            <a:r>
              <a:rPr sz="3600" b="1">
                <a:solidFill>
                  <a:srgbClr val="0A4A94"/>
                </a:solidFill>
                <a:latin typeface="Cambria" panose="02040503050406030204" charset="0"/>
                <a:cs typeface="Cambria" panose="02040503050406030204" charset="0"/>
                <a:sym typeface="+mn-ea"/>
              </a:rPr>
              <a:t> </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pic>
        <p:nvPicPr>
          <p:cNvPr id="2" name="图片 1" descr="chroma"/>
          <p:cNvPicPr>
            <a:picLocks noChangeAspect="1"/>
          </p:cNvPicPr>
          <p:nvPr/>
        </p:nvPicPr>
        <p:blipFill>
          <a:blip r:embed="rId2"/>
          <a:stretch>
            <a:fillRect/>
          </a:stretch>
        </p:blipFill>
        <p:spPr>
          <a:xfrm>
            <a:off x="8410575" y="3867150"/>
            <a:ext cx="1156335" cy="1092835"/>
          </a:xfrm>
          <a:prstGeom prst="rect">
            <a:avLst/>
          </a:prstGeom>
        </p:spPr>
      </p:pic>
      <p:pic>
        <p:nvPicPr>
          <p:cNvPr id="9" name="图片 8" descr="Faiss"/>
          <p:cNvPicPr>
            <a:picLocks noChangeAspect="1"/>
          </p:cNvPicPr>
          <p:nvPr/>
        </p:nvPicPr>
        <p:blipFill>
          <a:blip r:embed="rId3"/>
          <a:stretch>
            <a:fillRect/>
          </a:stretch>
        </p:blipFill>
        <p:spPr>
          <a:xfrm>
            <a:off x="9767570" y="3757295"/>
            <a:ext cx="1202690" cy="869950"/>
          </a:xfrm>
          <a:prstGeom prst="rect">
            <a:avLst/>
          </a:prstGeom>
        </p:spPr>
      </p:pic>
      <p:pic>
        <p:nvPicPr>
          <p:cNvPr id="10" name="图片 9" descr="milvus"/>
          <p:cNvPicPr>
            <a:picLocks noChangeAspect="1"/>
          </p:cNvPicPr>
          <p:nvPr/>
        </p:nvPicPr>
        <p:blipFill>
          <a:blip r:embed="rId4"/>
          <a:stretch>
            <a:fillRect/>
          </a:stretch>
        </p:blipFill>
        <p:spPr>
          <a:xfrm>
            <a:off x="6837045" y="2400935"/>
            <a:ext cx="1466215" cy="1466215"/>
          </a:xfrm>
          <a:prstGeom prst="rect">
            <a:avLst/>
          </a:prstGeom>
        </p:spPr>
      </p:pic>
      <p:pic>
        <p:nvPicPr>
          <p:cNvPr id="18" name="图片 17" descr="qdrant"/>
          <p:cNvPicPr>
            <a:picLocks noChangeAspect="1"/>
          </p:cNvPicPr>
          <p:nvPr/>
        </p:nvPicPr>
        <p:blipFill>
          <a:blip r:embed="rId5"/>
          <a:stretch>
            <a:fillRect/>
          </a:stretch>
        </p:blipFill>
        <p:spPr>
          <a:xfrm>
            <a:off x="8410575" y="2699385"/>
            <a:ext cx="2605405" cy="688975"/>
          </a:xfrm>
          <a:prstGeom prst="rect">
            <a:avLst/>
          </a:prstGeom>
        </p:spPr>
      </p:pic>
      <p:pic>
        <p:nvPicPr>
          <p:cNvPr id="29" name="图片 28" descr="weaviate"/>
          <p:cNvPicPr>
            <a:picLocks noChangeAspect="1"/>
          </p:cNvPicPr>
          <p:nvPr/>
        </p:nvPicPr>
        <p:blipFill>
          <a:blip r:embed="rId6"/>
          <a:stretch>
            <a:fillRect/>
          </a:stretch>
        </p:blipFill>
        <p:spPr>
          <a:xfrm>
            <a:off x="6892290" y="3771265"/>
            <a:ext cx="1377315" cy="1377315"/>
          </a:xfrm>
          <a:prstGeom prst="rect">
            <a:avLst/>
          </a:prstGeom>
        </p:spPr>
      </p:pic>
      <p:pic>
        <p:nvPicPr>
          <p:cNvPr id="31" name="图片 30" descr="rankings"/>
          <p:cNvPicPr>
            <a:picLocks noChangeAspect="1"/>
          </p:cNvPicPr>
          <p:nvPr/>
        </p:nvPicPr>
        <p:blipFill>
          <a:blip r:embed="rId7"/>
          <a:srcRect r="25794"/>
          <a:stretch>
            <a:fillRect/>
          </a:stretch>
        </p:blipFill>
        <p:spPr>
          <a:xfrm>
            <a:off x="1508125" y="2004060"/>
            <a:ext cx="4569460" cy="3693160"/>
          </a:xfrm>
          <a:prstGeom prst="rect">
            <a:avLst/>
          </a:prstGeom>
        </p:spPr>
      </p:pic>
      <p:sp>
        <p:nvSpPr>
          <p:cNvPr id="32" name="文本框 31"/>
          <p:cNvSpPr txBox="1"/>
          <p:nvPr/>
        </p:nvSpPr>
        <p:spPr>
          <a:xfrm>
            <a:off x="9932035" y="4601210"/>
            <a:ext cx="873760" cy="398780"/>
          </a:xfrm>
          <a:prstGeom prst="rect">
            <a:avLst/>
          </a:prstGeom>
          <a:noFill/>
        </p:spPr>
        <p:txBody>
          <a:bodyPr wrap="square" rtlCol="0">
            <a:spAutoFit/>
          </a:bodyPr>
          <a:p>
            <a:pPr algn="ctr"/>
            <a:r>
              <a:rPr lang="en-US" altLang="zh-CN" sz="2000" b="1">
                <a:solidFill>
                  <a:srgbClr val="0062DD"/>
                </a:solidFill>
                <a:latin typeface="Comic Sans MS" panose="030F0702030302020204" charset="0"/>
                <a:cs typeface="Comic Sans MS" panose="030F0702030302020204" charset="0"/>
              </a:rPr>
              <a:t>Faiss</a:t>
            </a:r>
            <a:endParaRPr lang="en-US" altLang="zh-CN" sz="2000" b="1">
              <a:solidFill>
                <a:srgbClr val="0062DD"/>
              </a:solidFill>
              <a:latin typeface="Comic Sans MS" panose="030F0702030302020204" charset="0"/>
              <a:cs typeface="Comic Sans MS" panose="030F0702030302020204" charset="0"/>
            </a:endParaRPr>
          </a:p>
        </p:txBody>
      </p:sp>
      <p:sp>
        <p:nvSpPr>
          <p:cNvPr id="34" name="矩形 33"/>
          <p:cNvSpPr/>
          <p:nvPr/>
        </p:nvSpPr>
        <p:spPr>
          <a:xfrm>
            <a:off x="2571750" y="5767070"/>
            <a:ext cx="2580005" cy="386715"/>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Cambria" panose="02040503050406030204" charset="0"/>
                <a:ea typeface="FangSong" panose="02010609060101010101" charset="-122"/>
                <a:cs typeface="Cambria" panose="02040503050406030204" charset="0"/>
              </a:rPr>
              <a:t>VDB-Engines Ranking</a:t>
            </a:r>
            <a:r>
              <a:rPr kumimoji="0" lang="en-US" altLang="zh-CN" sz="1400" b="0" i="0" u="none" strike="noStrike" kern="1200" cap="none" spc="0" normalizeH="0" baseline="0" noProof="0" dirty="0">
                <a:ln>
                  <a:noFill/>
                </a:ln>
                <a:solidFill>
                  <a:prstClr val="black"/>
                </a:solidFill>
                <a:effectLst/>
                <a:uLnTx/>
                <a:uFillTx/>
                <a:latin typeface="Cambria" panose="02040503050406030204" charset="0"/>
                <a:ea typeface="FangSong" panose="02010609060101010101" charset="-122"/>
                <a:cs typeface="Cambria" panose="02040503050406030204" charset="0"/>
              </a:rPr>
              <a:t>[1]</a:t>
            </a:r>
            <a:endParaRPr kumimoji="0" lang="en-US" altLang="zh-CN" sz="1400" b="0" i="0" u="none" strike="noStrike" kern="1200" cap="none" spc="0" normalizeH="0" baseline="0" noProof="0" dirty="0">
              <a:ln>
                <a:noFill/>
              </a:ln>
              <a:solidFill>
                <a:prstClr val="black"/>
              </a:solidFill>
              <a:effectLst/>
              <a:uLnTx/>
              <a:uFillTx/>
              <a:latin typeface="Cambria" panose="02040503050406030204" charset="0"/>
              <a:ea typeface="FangSong" panose="02010609060101010101" charset="-122"/>
              <a:cs typeface="Cambria" panose="02040503050406030204" charset="0"/>
            </a:endParaRPr>
          </a:p>
        </p:txBody>
      </p:sp>
      <p:sp>
        <p:nvSpPr>
          <p:cNvPr id="43" name="圆角矩形 42"/>
          <p:cNvSpPr/>
          <p:nvPr/>
        </p:nvSpPr>
        <p:spPr>
          <a:xfrm>
            <a:off x="4715510" y="3630295"/>
            <a:ext cx="492760" cy="202565"/>
          </a:xfrm>
          <a:prstGeom prst="roundRect">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圆角矩形 43"/>
          <p:cNvSpPr/>
          <p:nvPr/>
        </p:nvSpPr>
        <p:spPr>
          <a:xfrm>
            <a:off x="4715510" y="4233545"/>
            <a:ext cx="492760" cy="507365"/>
          </a:xfrm>
          <a:prstGeom prst="roundRect">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圆角矩形 53"/>
          <p:cNvSpPr/>
          <p:nvPr/>
        </p:nvSpPr>
        <p:spPr>
          <a:xfrm>
            <a:off x="4714875" y="5147945"/>
            <a:ext cx="492760" cy="214630"/>
          </a:xfrm>
          <a:prstGeom prst="roundRect">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文本框 54"/>
          <p:cNvSpPr txBox="1"/>
          <p:nvPr/>
        </p:nvSpPr>
        <p:spPr>
          <a:xfrm>
            <a:off x="716915" y="6370955"/>
            <a:ext cx="7014845" cy="306705"/>
          </a:xfrm>
          <a:prstGeom prst="rect">
            <a:avLst/>
          </a:prstGeom>
          <a:noFill/>
        </p:spPr>
        <p:txBody>
          <a:bodyPr wrap="square" rtlCol="0">
            <a:spAutoFit/>
          </a:bodyPr>
          <a:p>
            <a:r>
              <a:rPr lang="en-US" altLang="zh-CN" sz="1400"/>
              <a:t>[1] https://db-engines.com/en/ranking/vector+dbms (26 systems in ranking, July 2026)</a:t>
            </a:r>
            <a:endParaRPr lang="en-US" altLang="zh-CN" sz="1400"/>
          </a:p>
        </p:txBody>
      </p:sp>
      <p:sp>
        <p:nvSpPr>
          <p:cNvPr id="4" name="灯片编号占位符 3"/>
          <p:cNvSpPr>
            <a:spLocks noGrp="1"/>
          </p:cNvSpPr>
          <p:nvPr>
            <p:ph type="sldNum" sz="quarter" idx="12"/>
            <p:custDataLst>
              <p:tags r:id="rId8"/>
            </p:custDataLst>
          </p:nvPr>
        </p:nvSpPr>
        <p:spPr/>
        <p:txBody>
          <a:bodyPr/>
          <a:lstStyle/>
          <a:p>
            <a:fld id="{E09368C2-8BE5-4C19-86FB-98954A39BC6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674370" y="1257300"/>
            <a:ext cx="10852150" cy="4941570"/>
          </a:xfrm>
        </p:spPr>
        <p:txBody>
          <a:bodyPr/>
          <a:lstStyle/>
          <a:p>
            <a:pPr>
              <a:lnSpc>
                <a:spcPct val="100000"/>
              </a:lnSpc>
              <a:buFont typeface="Wingdings" panose="05000000000000000000" charset="0"/>
              <a:buChar char="p"/>
            </a:pPr>
            <a:r>
              <a:rPr lang="en-US" altLang="zh-CN" sz="2000" b="1">
                <a:solidFill>
                  <a:schemeClr val="tx1"/>
                </a:solidFill>
                <a:latin typeface="Cambria" panose="02040503050406030204" charset="0"/>
                <a:cs typeface="Cambria" panose="02040503050406030204" charset="0"/>
                <a:sym typeface="+mn-ea"/>
              </a:rPr>
              <a:t>VDBMS bugs can lead to serious consequences, ranging from "unexpected results" to "service unavailability".</a:t>
            </a:r>
            <a:endParaRPr lang="en-US" altLang="zh-CN" sz="2000" b="1">
              <a:solidFill>
                <a:schemeClr val="tx1"/>
              </a:solidFill>
              <a:latin typeface="Cambria" panose="02040503050406030204" charset="0"/>
              <a:cs typeface="Cambria" panose="02040503050406030204" charset="0"/>
              <a:sym typeface="+mn-ea"/>
            </a:endParaRPr>
          </a:p>
        </p:txBody>
      </p:sp>
      <p:sp>
        <p:nvSpPr>
          <p:cNvPr id="12" name="文本框 11"/>
          <p:cNvSpPr txBox="1"/>
          <p:nvPr/>
        </p:nvSpPr>
        <p:spPr>
          <a:xfrm>
            <a:off x="717070" y="39598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09106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444818"/>
            <a:ext cx="10571480" cy="553720"/>
          </a:xfrm>
          <a:prstGeom prst="rect">
            <a:avLst/>
          </a:prstGeom>
          <a:noFill/>
        </p:spPr>
        <p:txBody>
          <a:bodyPr vert="horz" wrap="square" lIns="0" tIns="0" rIns="0" bIns="0" rtlCol="0" anchor="ctr" anchorCtr="0">
            <a:spAutoFit/>
          </a:bodyPr>
          <a:lstStyle/>
          <a:p>
            <a:r>
              <a:rPr lang="en-US" sz="3600" b="1">
                <a:solidFill>
                  <a:srgbClr val="0A4A94"/>
                </a:solidFill>
                <a:latin typeface="Cambria" panose="02040503050406030204" charset="0"/>
                <a:cs typeface="Cambria" panose="02040503050406030204" charset="0"/>
                <a:sym typeface="+mn-ea"/>
              </a:rPr>
              <a:t>What Happens </a:t>
            </a:r>
            <a:r>
              <a:rPr lang="en-US" sz="3600" b="1">
                <a:solidFill>
                  <a:srgbClr val="0A4A94"/>
                </a:solidFill>
                <a:latin typeface="Cambria" panose="02040503050406030204" charset="0"/>
                <a:cs typeface="Cambria" panose="02040503050406030204" charset="0"/>
                <a:sym typeface="+mn-ea"/>
              </a:rPr>
              <a:t>When </a:t>
            </a:r>
            <a:r>
              <a:rPr sz="3600" b="1">
                <a:solidFill>
                  <a:srgbClr val="0A4A94"/>
                </a:solidFill>
                <a:latin typeface="Cambria" panose="02040503050406030204" charset="0"/>
                <a:cs typeface="Cambria" panose="02040503050406030204" charset="0"/>
                <a:sym typeface="+mn-ea"/>
              </a:rPr>
              <a:t>VDBMS</a:t>
            </a:r>
            <a:r>
              <a:rPr lang="en-US" sz="3600" b="1">
                <a:solidFill>
                  <a:srgbClr val="0A4A94"/>
                </a:solidFill>
                <a:latin typeface="Cambria" panose="02040503050406030204" charset="0"/>
                <a:cs typeface="Cambria" panose="02040503050406030204" charset="0"/>
                <a:sym typeface="+mn-ea"/>
              </a:rPr>
              <a:t> Bugs </a:t>
            </a:r>
            <a:r>
              <a:rPr lang="en-US" sz="3600" b="1">
                <a:solidFill>
                  <a:srgbClr val="0A4A94"/>
                </a:solidFill>
                <a:latin typeface="Cambria" panose="02040503050406030204" charset="0"/>
                <a:cs typeface="Cambria" panose="02040503050406030204" charset="0"/>
                <a:sym typeface="+mn-ea"/>
              </a:rPr>
              <a:t>Occur</a:t>
            </a:r>
            <a:endParaRPr lang="en-US" sz="3600" b="1">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pic>
        <p:nvPicPr>
          <p:cNvPr id="6" name="图片 5" descr="looking-to-the-future-of-vector-database-and-rag"/>
          <p:cNvPicPr>
            <a:picLocks noChangeAspect="1"/>
          </p:cNvPicPr>
          <p:nvPr/>
        </p:nvPicPr>
        <p:blipFill>
          <a:blip r:embed="rId3"/>
          <a:srcRect b="8933"/>
          <a:stretch>
            <a:fillRect/>
          </a:stretch>
        </p:blipFill>
        <p:spPr>
          <a:xfrm>
            <a:off x="1024255" y="2045335"/>
            <a:ext cx="10152380" cy="4382770"/>
          </a:xfrm>
          <a:prstGeom prst="rect">
            <a:avLst/>
          </a:prstGeom>
        </p:spPr>
      </p:pic>
      <p:pic>
        <p:nvPicPr>
          <p:cNvPr id="2" name="图片 1" descr="警告"/>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86830" y="4204970"/>
            <a:ext cx="372110" cy="372110"/>
          </a:xfrm>
          <a:prstGeom prst="rect">
            <a:avLst/>
          </a:prstGeom>
        </p:spPr>
      </p:pic>
      <p:cxnSp>
        <p:nvCxnSpPr>
          <p:cNvPr id="5" name="直接箭头连接符 4"/>
          <p:cNvCxnSpPr/>
          <p:nvPr/>
        </p:nvCxnSpPr>
        <p:spPr>
          <a:xfrm>
            <a:off x="6213475" y="4876800"/>
            <a:ext cx="2540" cy="784860"/>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flipH="1" flipV="1">
            <a:off x="6758940" y="4126230"/>
            <a:ext cx="1477645" cy="1270"/>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a:off x="5049520" y="4422775"/>
            <a:ext cx="734060" cy="3175"/>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flipV="1">
            <a:off x="6803390" y="6047105"/>
            <a:ext cx="1102995" cy="3175"/>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flipH="1" flipV="1">
            <a:off x="8764905" y="4686935"/>
            <a:ext cx="5080" cy="1042670"/>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a:off x="9218295" y="4348480"/>
            <a:ext cx="711200" cy="0"/>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sp>
        <p:nvSpPr>
          <p:cNvPr id="17" name="圆角矩形 16"/>
          <p:cNvSpPr/>
          <p:nvPr/>
        </p:nvSpPr>
        <p:spPr>
          <a:xfrm>
            <a:off x="5276850" y="2689860"/>
            <a:ext cx="2176145" cy="638810"/>
          </a:xfrm>
          <a:prstGeom prst="round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b="1">
              <a:solidFill>
                <a:schemeClr val="tx1"/>
              </a:solidFill>
              <a:latin typeface="Comic Sans MS" panose="030F0702030302020204" charset="0"/>
              <a:cs typeface="Comic Sans MS" panose="030F0702030302020204" charset="0"/>
              <a:sym typeface="+mn-ea"/>
            </a:endParaRPr>
          </a:p>
          <a:p>
            <a:pPr algn="ctr"/>
            <a:r>
              <a:rPr lang="zh-CN" altLang="en-US" b="1">
                <a:solidFill>
                  <a:schemeClr val="tx1"/>
                </a:solidFill>
                <a:latin typeface="Comic Sans MS" panose="030F0702030302020204" charset="0"/>
                <a:cs typeface="Comic Sans MS" panose="030F0702030302020204" charset="0"/>
                <a:sym typeface="+mn-ea"/>
              </a:rPr>
              <a:t>①</a:t>
            </a:r>
            <a:r>
              <a:rPr lang="en-US" altLang="zh-CN" b="1">
                <a:solidFill>
                  <a:schemeClr val="tx1"/>
                </a:solidFill>
                <a:latin typeface="Comic Sans MS" panose="030F0702030302020204" charset="0"/>
                <a:cs typeface="Comic Sans MS" panose="030F0702030302020204" charset="0"/>
                <a:sym typeface="+mn-ea"/>
              </a:rPr>
              <a:t> service unavailability</a:t>
            </a:r>
            <a:endParaRPr lang="zh-CN" altLang="en-US">
              <a:latin typeface="Comic Sans MS" panose="030F0702030302020204" charset="0"/>
              <a:cs typeface="Comic Sans MS" panose="030F0702030302020204" charset="0"/>
            </a:endParaRPr>
          </a:p>
          <a:p>
            <a:pPr algn="ctr"/>
            <a:endParaRPr lang="zh-CN" altLang="en-US"/>
          </a:p>
        </p:txBody>
      </p:sp>
      <p:cxnSp>
        <p:nvCxnSpPr>
          <p:cNvPr id="18" name="直接箭头连接符 17"/>
          <p:cNvCxnSpPr/>
          <p:nvPr/>
        </p:nvCxnSpPr>
        <p:spPr>
          <a:xfrm flipV="1">
            <a:off x="5700395" y="3380740"/>
            <a:ext cx="167005" cy="937895"/>
          </a:xfrm>
          <a:prstGeom prst="straightConnector1">
            <a:avLst/>
          </a:prstGeom>
          <a:ln w="31750">
            <a:tailEnd type="stealth"/>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flipH="1" flipV="1">
            <a:off x="6814820" y="3394710"/>
            <a:ext cx="147955" cy="638175"/>
          </a:xfrm>
          <a:prstGeom prst="straightConnector1">
            <a:avLst/>
          </a:prstGeom>
          <a:ln w="31750">
            <a:tailEnd type="stealth"/>
          </a:ln>
        </p:spPr>
        <p:style>
          <a:lnRef idx="2">
            <a:schemeClr val="accent1"/>
          </a:lnRef>
          <a:fillRef idx="0">
            <a:srgbClr val="FFFFFF"/>
          </a:fillRef>
          <a:effectRef idx="0">
            <a:srgbClr val="FFFFFF"/>
          </a:effectRef>
          <a:fontRef idx="minor">
            <a:schemeClr val="tx1"/>
          </a:fontRef>
        </p:style>
      </p:cxnSp>
      <p:sp>
        <p:nvSpPr>
          <p:cNvPr id="21" name="圆角矩形 20"/>
          <p:cNvSpPr/>
          <p:nvPr/>
        </p:nvSpPr>
        <p:spPr>
          <a:xfrm>
            <a:off x="7941945" y="2689860"/>
            <a:ext cx="2176145" cy="638810"/>
          </a:xfrm>
          <a:prstGeom prst="round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b="1">
              <a:solidFill>
                <a:schemeClr val="tx1"/>
              </a:solidFill>
              <a:latin typeface="Comic Sans MS" panose="030F0702030302020204" charset="0"/>
              <a:cs typeface="Comic Sans MS" panose="030F0702030302020204" charset="0"/>
              <a:sym typeface="+mn-ea"/>
            </a:endParaRPr>
          </a:p>
          <a:p>
            <a:pPr algn="ctr"/>
            <a:r>
              <a:rPr lang="zh-CN" altLang="en-US" b="1">
                <a:solidFill>
                  <a:schemeClr val="tx1"/>
                </a:solidFill>
                <a:latin typeface="Comic Sans MS" panose="030F0702030302020204" charset="0"/>
                <a:cs typeface="Comic Sans MS" panose="030F0702030302020204" charset="0"/>
                <a:sym typeface="+mn-ea"/>
              </a:rPr>
              <a:t>②</a:t>
            </a:r>
            <a:r>
              <a:rPr lang="en-US" altLang="zh-CN" b="1">
                <a:solidFill>
                  <a:schemeClr val="tx1"/>
                </a:solidFill>
                <a:latin typeface="Comic Sans MS" panose="030F0702030302020204" charset="0"/>
                <a:cs typeface="Comic Sans MS" panose="030F0702030302020204" charset="0"/>
                <a:sym typeface="+mn-ea"/>
              </a:rPr>
              <a:t> </a:t>
            </a:r>
            <a:r>
              <a:rPr lang="en-US" altLang="zh-CN" b="1">
                <a:solidFill>
                  <a:schemeClr val="tx1"/>
                </a:solidFill>
                <a:latin typeface="Comic Sans MS" panose="030F0702030302020204" charset="0"/>
                <a:cs typeface="Comic Sans MS" panose="030F0702030302020204" charset="0"/>
                <a:sym typeface="+mn-ea"/>
              </a:rPr>
              <a:t>unexpected results</a:t>
            </a:r>
            <a:endParaRPr lang="zh-CN" altLang="en-US">
              <a:latin typeface="Comic Sans MS" panose="030F0702030302020204" charset="0"/>
              <a:cs typeface="Comic Sans MS" panose="030F0702030302020204" charset="0"/>
            </a:endParaRPr>
          </a:p>
          <a:p>
            <a:pPr algn="ctr"/>
            <a:endParaRPr lang="zh-CN" altLang="en-US">
              <a:latin typeface="Comic Sans MS" panose="030F0702030302020204" charset="0"/>
              <a:cs typeface="Comic Sans MS" panose="030F0702030302020204" charset="0"/>
            </a:endParaRPr>
          </a:p>
        </p:txBody>
      </p:sp>
      <p:cxnSp>
        <p:nvCxnSpPr>
          <p:cNvPr id="22" name="直接箭头连接符 21"/>
          <p:cNvCxnSpPr/>
          <p:nvPr/>
        </p:nvCxnSpPr>
        <p:spPr>
          <a:xfrm flipH="1" flipV="1">
            <a:off x="9758045" y="3390265"/>
            <a:ext cx="171450" cy="878840"/>
          </a:xfrm>
          <a:prstGeom prst="straightConnector1">
            <a:avLst/>
          </a:prstGeom>
          <a:ln w="31750">
            <a:tailEnd type="stealth"/>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0"/>
          <p:cNvGrpSpPr/>
          <p:nvPr/>
        </p:nvGrpSpPr>
        <p:grpSpPr>
          <a:xfrm>
            <a:off x="7060565" y="2342515"/>
            <a:ext cx="4798060" cy="2905760"/>
            <a:chOff x="7048500" y="1905000"/>
            <a:chExt cx="4533900" cy="2638425"/>
          </a:xfrm>
        </p:grpSpPr>
        <p:pic>
          <p:nvPicPr>
            <p:cNvPr id="39" name="Image 28"/>
            <p:cNvPicPr>
              <a:picLocks noChangeAspect="1"/>
            </p:cNvPicPr>
            <p:nvPr/>
          </p:nvPicPr>
          <p:blipFill>
            <a:blip r:embed="rId1"/>
            <a:stretch>
              <a:fillRect/>
            </a:stretch>
          </p:blipFill>
          <p:spPr>
            <a:xfrm>
              <a:off x="7052473" y="1905000"/>
              <a:ext cx="4525953" cy="2638425"/>
            </a:xfrm>
            <a:prstGeom prst="rect">
              <a:avLst/>
            </a:prstGeom>
          </p:spPr>
        </p:pic>
        <p:sp>
          <p:nvSpPr>
            <p:cNvPr id="40" name="Rectangle 29"/>
            <p:cNvSpPr/>
            <p:nvPr/>
          </p:nvSpPr>
          <p:spPr>
            <a:xfrm>
              <a:off x="7048500" y="1905000"/>
              <a:ext cx="4533900" cy="2638425"/>
            </a:xfrm>
            <a:prstGeom prst="rect">
              <a:avLst/>
            </a:prstGeom>
            <a:noFill/>
            <a:ln w="9525">
              <a:solidFill>
                <a:srgbClr val="D9D9D9"/>
              </a:solidFill>
            </a:ln>
          </p:spPr>
          <p:txBody>
            <a:bodyPr/>
            <a:p/>
          </p:txBody>
        </p:sp>
      </p:grpSp>
      <p:sp>
        <p:nvSpPr>
          <p:cNvPr id="33" name="内容占位符 32"/>
          <p:cNvSpPr>
            <a:spLocks noGrp="1"/>
          </p:cNvSpPr>
          <p:nvPr>
            <p:ph idx="1"/>
          </p:nvPr>
        </p:nvSpPr>
        <p:spPr>
          <a:xfrm>
            <a:off x="674370" y="1420495"/>
            <a:ext cx="10852150" cy="4941570"/>
          </a:xfrm>
        </p:spPr>
        <p:txBody>
          <a:bodyPr/>
          <a:lstStyle/>
          <a:p>
            <a:pPr>
              <a:buFont typeface="Wingdings" panose="05000000000000000000" charset="0"/>
              <a:buChar char="p"/>
            </a:pPr>
            <a:r>
              <a:rPr lang="en-US" sz="2140" b="1">
                <a:solidFill>
                  <a:schemeClr val="tx1"/>
                </a:solidFill>
                <a:latin typeface="Cambria" panose="02040503050406030204" charset="0"/>
                <a:cs typeface="Cambria" panose="02040503050406030204" charset="0"/>
                <a:sym typeface="+mn-ea"/>
              </a:rPr>
              <a:t> </a:t>
            </a:r>
            <a:r>
              <a:rPr sz="2140" b="1">
                <a:solidFill>
                  <a:schemeClr val="tx1"/>
                </a:solidFill>
                <a:latin typeface="Cambria" panose="02040503050406030204" charset="0"/>
                <a:cs typeface="Cambria" panose="02040503050406030204" charset="0"/>
                <a:sym typeface="+mn-ea"/>
              </a:rPr>
              <a:t>VDBMS</a:t>
            </a:r>
            <a:r>
              <a:rPr lang="en-US" sz="2140" b="1">
                <a:solidFill>
                  <a:schemeClr val="tx1"/>
                </a:solidFill>
                <a:latin typeface="Cambria" panose="02040503050406030204" charset="0"/>
                <a:cs typeface="Cambria" panose="02040503050406030204" charset="0"/>
                <a:sym typeface="+mn-ea"/>
              </a:rPr>
              <a:t> bugs are </a:t>
            </a:r>
            <a:r>
              <a:rPr sz="2140" b="1">
                <a:solidFill>
                  <a:schemeClr val="tx1"/>
                </a:solidFill>
                <a:latin typeface="Cambria" panose="02040503050406030204" charset="0"/>
                <a:cs typeface="Cambria" panose="02040503050406030204" charset="0"/>
                <a:sym typeface="+mn-ea"/>
              </a:rPr>
              <a:t>mostly </a:t>
            </a:r>
            <a:r>
              <a:rPr lang="en-US" sz="2140" b="1">
                <a:solidFill>
                  <a:srgbClr val="0A4A94"/>
                </a:solidFill>
                <a:latin typeface="Cambria" panose="02040503050406030204" charset="0"/>
                <a:cs typeface="Cambria" panose="02040503050406030204" charset="0"/>
                <a:sym typeface="+mn-ea"/>
              </a:rPr>
              <a:t>non-</a:t>
            </a:r>
            <a:r>
              <a:rPr lang="en-US" sz="2140" b="1">
                <a:solidFill>
                  <a:srgbClr val="0A4A94"/>
                </a:solidFill>
                <a:latin typeface="Cambria" panose="02040503050406030204" charset="0"/>
                <a:cs typeface="Cambria" panose="02040503050406030204" charset="0"/>
                <a:sym typeface="+mn-ea"/>
              </a:rPr>
              <a:t>crashing bugs</a:t>
            </a:r>
            <a:endParaRPr lang="en-US" altLang="zh-CN" sz="2140" b="1" dirty="0">
              <a:solidFill>
                <a:schemeClr val="tx1"/>
              </a:solidFill>
              <a:latin typeface="Cambria" panose="02040503050406030204" charset="0"/>
              <a:ea typeface="Segoe UI" panose="020B0502040204020203"/>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22568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814070" y="579438"/>
            <a:ext cx="10571480" cy="553720"/>
          </a:xfrm>
          <a:prstGeom prst="rect">
            <a:avLst/>
          </a:prstGeom>
          <a:noFill/>
        </p:spPr>
        <p:txBody>
          <a:bodyPr vert="horz" wrap="square" lIns="0" tIns="0" rIns="0" bIns="0" rtlCol="0" anchor="ctr" anchorCtr="0">
            <a:spAutoFit/>
          </a:bodyPr>
          <a:lstStyle/>
          <a:p>
            <a:r>
              <a:rPr sz="3600" b="1">
                <a:solidFill>
                  <a:srgbClr val="0A4A94"/>
                </a:solidFill>
                <a:latin typeface="Cambria" panose="02040503050406030204" charset="0"/>
                <a:cs typeface="Cambria" panose="02040503050406030204" charset="0"/>
                <a:sym typeface="+mn-ea"/>
              </a:rPr>
              <a:t>VDBMS</a:t>
            </a:r>
            <a:r>
              <a:rPr lang="en-US" sz="3600" b="1">
                <a:solidFill>
                  <a:srgbClr val="0A4A94"/>
                </a:solidFill>
                <a:latin typeface="Cambria" panose="02040503050406030204" charset="0"/>
                <a:cs typeface="Cambria" panose="02040503050406030204" charset="0"/>
                <a:sym typeface="+mn-ea"/>
              </a:rPr>
              <a:t> Bug Distribution</a:t>
            </a:r>
            <a:r>
              <a:rPr lang="en-US" sz="3600" b="1">
                <a:solidFill>
                  <a:srgbClr val="0A4A94"/>
                </a:solidFill>
                <a:latin typeface="Cambria" panose="02040503050406030204" charset="0"/>
                <a:cs typeface="Cambria" panose="02040503050406030204" charset="0"/>
                <a:sym typeface="+mn-ea"/>
              </a:rPr>
              <a:t> </a:t>
            </a:r>
            <a:r>
              <a:rPr sz="3600" b="1">
                <a:solidFill>
                  <a:srgbClr val="0A4A94"/>
                </a:solidFill>
                <a:latin typeface="Cambria" panose="02040503050406030204" charset="0"/>
                <a:cs typeface="Cambria" panose="02040503050406030204" charset="0"/>
                <a:sym typeface="+mn-ea"/>
              </a:rPr>
              <a:t> </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4" name="灯片编号占位符 3"/>
          <p:cNvSpPr>
            <a:spLocks noGrp="1"/>
          </p:cNvSpPr>
          <p:nvPr>
            <p:ph type="sldNum" sz="quarter" idx="12"/>
            <p:custDataLst>
              <p:tags r:id="rId3"/>
            </p:custDataLst>
          </p:nvPr>
        </p:nvSpPr>
        <p:spPr/>
        <p:txBody>
          <a:bodyPr/>
          <a:lstStyle/>
          <a:p>
            <a:fld id="{E09368C2-8BE5-4C19-86FB-98954A39BC6E}" type="slidenum">
              <a:rPr lang="zh-CN" altLang="en-US" smtClean="0"/>
            </a:fld>
            <a:endParaRPr lang="zh-CN" altLang="en-US"/>
          </a:p>
        </p:txBody>
      </p:sp>
      <p:grpSp>
        <p:nvGrpSpPr>
          <p:cNvPr id="5" name="Group 27"/>
          <p:cNvGrpSpPr/>
          <p:nvPr/>
        </p:nvGrpSpPr>
        <p:grpSpPr>
          <a:xfrm>
            <a:off x="1161415" y="2292350"/>
            <a:ext cx="5431790" cy="2875915"/>
            <a:chOff x="602742" y="1759268"/>
            <a:chExt cx="5079177" cy="2660332"/>
          </a:xfrm>
        </p:grpSpPr>
        <p:sp>
          <p:nvSpPr>
            <p:cNvPr id="8" name="TextBox 8"/>
            <p:cNvSpPr txBox="1"/>
            <p:nvPr/>
          </p:nvSpPr>
          <p:spPr>
            <a:xfrm>
              <a:off x="602742" y="1759268"/>
              <a:ext cx="4313203" cy="192080"/>
            </a:xfrm>
            <a:prstGeom prst="rect">
              <a:avLst/>
            </a:prstGeom>
            <a:noFill/>
            <a:ln>
              <a:noFill/>
            </a:ln>
          </p:spPr>
          <p:txBody>
            <a:bodyPr wrap="square" lIns="0" tIns="0" rIns="0" bIns="0" anchor="t" anchorCtr="0">
              <a:spAutoFit/>
            </a:bodyPr>
            <a:lstStyle/>
            <a:p>
              <a:pPr algn="l"/>
              <a:r>
                <a:rPr lang="en-US" altLang="zh-CN" sz="1350" b="1" dirty="0">
                  <a:solidFill>
                    <a:srgbClr val="1F4E79"/>
                  </a:solidFill>
                  <a:latin typeface="Segoe UI" panose="020B0502040204020203"/>
                  <a:ea typeface="Microsoft YaHei" panose="020B0503020204020204" charset="-122"/>
                  <a:cs typeface="Segoe UI" panose="020B0502040204020203"/>
                </a:rPr>
                <a:t>Previous</a:t>
              </a:r>
              <a:r>
                <a:rPr lang="zh-CN" sz="1350" b="1" dirty="0">
                  <a:solidFill>
                    <a:srgbClr val="1F4E79"/>
                  </a:solidFill>
                  <a:latin typeface="Segoe UI" panose="020B0502040204020203"/>
                  <a:ea typeface="Microsoft YaHei" panose="020B0503020204020204" charset="-122"/>
                  <a:cs typeface="Segoe UI" panose="020B0502040204020203"/>
                </a:rPr>
                <a:t> VDBMS bug </a:t>
              </a:r>
              <a:r>
                <a:rPr lang="en-US" altLang="zh-CN" sz="1350" b="1" dirty="0">
                  <a:solidFill>
                    <a:srgbClr val="1F4E79"/>
                  </a:solidFill>
                  <a:latin typeface="Segoe UI" panose="020B0502040204020203"/>
                  <a:ea typeface="Microsoft YaHei" panose="020B0503020204020204" charset="-122"/>
                  <a:cs typeface="Segoe UI" panose="020B0502040204020203"/>
                </a:rPr>
                <a:t>symptom distribution research</a:t>
              </a:r>
              <a:endParaRPr lang="en-US" altLang="zh-CN" sz="1350" b="1" dirty="0">
                <a:solidFill>
                  <a:srgbClr val="1F4E79"/>
                </a:solidFill>
                <a:latin typeface="Segoe UI" panose="020B0502040204020203"/>
                <a:ea typeface="Microsoft YaHei" panose="020B0503020204020204" charset="-122"/>
                <a:cs typeface="Segoe UI" panose="020B0502040204020203"/>
              </a:endParaRPr>
            </a:p>
          </p:txBody>
        </p:sp>
        <p:grpSp>
          <p:nvGrpSpPr>
            <p:cNvPr id="6" name="Group 26"/>
            <p:cNvGrpSpPr/>
            <p:nvPr/>
          </p:nvGrpSpPr>
          <p:grpSpPr>
            <a:xfrm>
              <a:off x="921542" y="2038350"/>
              <a:ext cx="4760377" cy="2381250"/>
              <a:chOff x="921542" y="2038350"/>
              <a:chExt cx="4760377" cy="2381250"/>
            </a:xfrm>
          </p:grpSpPr>
          <p:sp>
            <p:nvSpPr>
              <p:cNvPr id="7" name="Line 9"/>
              <p:cNvSpPr/>
              <p:nvPr/>
            </p:nvSpPr>
            <p:spPr>
              <a:xfrm>
                <a:off x="2324100" y="2038350"/>
                <a:ext cx="9525" cy="2381250"/>
              </a:xfrm>
              <a:custGeom>
                <a:avLst/>
                <a:gdLst/>
                <a:ahLst/>
                <a:cxnLst/>
                <a:rect l="l" t="t" r="r" b="b"/>
                <a:pathLst>
                  <a:path w="9525" h="2381250">
                    <a:moveTo>
                      <a:pt x="0" y="0"/>
                    </a:moveTo>
                    <a:lnTo>
                      <a:pt x="0" y="2381250"/>
                    </a:lnTo>
                  </a:path>
                </a:pathLst>
              </a:custGeom>
              <a:noFill/>
              <a:ln w="9525">
                <a:solidFill>
                  <a:srgbClr val="D9D9D9"/>
                </a:solidFill>
              </a:ln>
            </p:spPr>
            <p:txBody>
              <a:bodyPr/>
              <a:p/>
            </p:txBody>
          </p:sp>
          <p:sp>
            <p:nvSpPr>
              <p:cNvPr id="11" name="TextBox 10"/>
              <p:cNvSpPr txBox="1"/>
              <p:nvPr/>
            </p:nvSpPr>
            <p:spPr>
              <a:xfrm>
                <a:off x="921542" y="2258378"/>
                <a:ext cx="1312642" cy="149199"/>
              </a:xfrm>
              <a:prstGeom prst="rect">
                <a:avLst/>
              </a:prstGeom>
              <a:noFill/>
              <a:ln>
                <a:noFill/>
              </a:ln>
            </p:spPr>
            <p:txBody>
              <a:bodyPr wrap="square" lIns="0" tIns="0" rIns="0" bIns="0" anchor="t" anchorCtr="0">
                <a:spAutoFit/>
              </a:bodyPr>
              <a:lstStyle/>
              <a:p>
                <a:pPr algn="r"/>
                <a:r>
                  <a:rPr lang="en-US" sz="1050" dirty="0">
                    <a:solidFill>
                      <a:srgbClr val="262626"/>
                    </a:solidFill>
                    <a:latin typeface="Segoe UI" panose="020B0502040204020203"/>
                    <a:ea typeface="Segoe UI" panose="020B0502040204020203"/>
                    <a:cs typeface="Segoe UI" panose="020B0502040204020203"/>
                  </a:rPr>
                  <a:t>Incorrect Behavior</a:t>
                </a:r>
                <a:endParaRPr lang="en-US" sz="1050" dirty="0">
                  <a:solidFill>
                    <a:srgbClr val="262626"/>
                  </a:solidFill>
                  <a:latin typeface="Segoe UI" panose="020B0502040204020203"/>
                  <a:ea typeface="Segoe UI" panose="020B0502040204020203"/>
                  <a:cs typeface="Segoe UI" panose="020B0502040204020203"/>
                </a:endParaRPr>
              </a:p>
            </p:txBody>
          </p:sp>
          <p:sp>
            <p:nvSpPr>
              <p:cNvPr id="13" name="Rectangle 11"/>
              <p:cNvSpPr/>
              <p:nvPr/>
            </p:nvSpPr>
            <p:spPr>
              <a:xfrm>
                <a:off x="2324100" y="2190750"/>
                <a:ext cx="2857500" cy="266700"/>
              </a:xfrm>
              <a:prstGeom prst="rect">
                <a:avLst/>
              </a:prstGeom>
              <a:solidFill>
                <a:srgbClr val="C00000"/>
              </a:solidFill>
              <a:ln>
                <a:noFill/>
              </a:ln>
            </p:spPr>
            <p:txBody>
              <a:bodyPr/>
              <a:p/>
            </p:txBody>
          </p:sp>
          <p:sp>
            <p:nvSpPr>
              <p:cNvPr id="14" name="TextBox 12"/>
              <p:cNvSpPr txBox="1"/>
              <p:nvPr/>
            </p:nvSpPr>
            <p:spPr>
              <a:xfrm>
                <a:off x="5233416" y="2258378"/>
                <a:ext cx="448503" cy="149199"/>
              </a:xfrm>
              <a:prstGeom prst="rect">
                <a:avLst/>
              </a:prstGeom>
              <a:noFill/>
              <a:ln>
                <a:noFill/>
              </a:ln>
            </p:spPr>
            <p:txBody>
              <a:bodyPr wrap="square" lIns="0" tIns="0" rIns="0" bIns="0" anchor="t" anchorCtr="0">
                <a:spAutoFit/>
              </a:bodyPr>
              <a:lstStyle/>
              <a:p>
                <a:pPr algn="l"/>
                <a:r>
                  <a:rPr lang="en-US" sz="1050" b="1" dirty="0">
                    <a:solidFill>
                      <a:srgbClr val="C00000"/>
                    </a:solidFill>
                    <a:latin typeface="Segoe UI" panose="020B0502040204020203"/>
                    <a:ea typeface="Segoe UI" panose="020B0502040204020203"/>
                    <a:cs typeface="Segoe UI" panose="020B0502040204020203"/>
                  </a:rPr>
                  <a:t>43.0%</a:t>
                </a:r>
                <a:endParaRPr lang="en-US" sz="1050" b="1" dirty="0">
                  <a:solidFill>
                    <a:srgbClr val="C00000"/>
                  </a:solidFill>
                  <a:latin typeface="Segoe UI" panose="020B0502040204020203"/>
                  <a:ea typeface="Segoe UI" panose="020B0502040204020203"/>
                  <a:cs typeface="Segoe UI" panose="020B0502040204020203"/>
                </a:endParaRPr>
              </a:p>
            </p:txBody>
          </p:sp>
          <p:sp>
            <p:nvSpPr>
              <p:cNvPr id="15" name="TextBox 13"/>
              <p:cNvSpPr txBox="1"/>
              <p:nvPr/>
            </p:nvSpPr>
            <p:spPr>
              <a:xfrm>
                <a:off x="1436306" y="2734628"/>
                <a:ext cx="797878" cy="149199"/>
              </a:xfrm>
              <a:prstGeom prst="rect">
                <a:avLst/>
              </a:prstGeom>
              <a:noFill/>
              <a:ln>
                <a:noFill/>
              </a:ln>
            </p:spPr>
            <p:txBody>
              <a:bodyPr wrap="square" lIns="0" tIns="0" rIns="0" bIns="0" anchor="t" anchorCtr="0">
                <a:spAutoFit/>
              </a:bodyPr>
              <a:lstStyle/>
              <a:p>
                <a:pPr algn="r"/>
                <a:r>
                  <a:rPr lang="en-US" sz="1050" dirty="0">
                    <a:solidFill>
                      <a:srgbClr val="262626"/>
                    </a:solidFill>
                    <a:latin typeface="Segoe UI" panose="020B0502040204020203"/>
                    <a:ea typeface="Segoe UI" panose="020B0502040204020203"/>
                    <a:cs typeface="Segoe UI" panose="020B0502040204020203"/>
                  </a:rPr>
                  <a:t>Crash/Hang</a:t>
                </a:r>
                <a:endParaRPr lang="en-US" sz="1050" dirty="0">
                  <a:solidFill>
                    <a:srgbClr val="262626"/>
                  </a:solidFill>
                  <a:latin typeface="Segoe UI" panose="020B0502040204020203"/>
                  <a:ea typeface="Segoe UI" panose="020B0502040204020203"/>
                  <a:cs typeface="Segoe UI" panose="020B0502040204020203"/>
                </a:endParaRPr>
              </a:p>
            </p:txBody>
          </p:sp>
          <p:sp>
            <p:nvSpPr>
              <p:cNvPr id="16" name="Rectangle 14"/>
              <p:cNvSpPr/>
              <p:nvPr/>
            </p:nvSpPr>
            <p:spPr>
              <a:xfrm>
                <a:off x="2324100" y="2667000"/>
                <a:ext cx="1533525" cy="266700"/>
              </a:xfrm>
              <a:prstGeom prst="rect">
                <a:avLst/>
              </a:prstGeom>
              <a:solidFill>
                <a:srgbClr val="1F4E79"/>
              </a:solidFill>
              <a:ln>
                <a:noFill/>
              </a:ln>
            </p:spPr>
            <p:txBody>
              <a:bodyPr/>
              <a:p/>
            </p:txBody>
          </p:sp>
          <p:sp>
            <p:nvSpPr>
              <p:cNvPr id="17" name="TextBox 15"/>
              <p:cNvSpPr txBox="1"/>
              <p:nvPr/>
            </p:nvSpPr>
            <p:spPr>
              <a:xfrm>
                <a:off x="3915964" y="2734418"/>
                <a:ext cx="420989" cy="167409"/>
              </a:xfrm>
              <a:prstGeom prst="rect">
                <a:avLst/>
              </a:prstGeom>
              <a:noFill/>
              <a:ln>
                <a:noFill/>
              </a:ln>
            </p:spPr>
            <p:txBody>
              <a:bodyPr wrap="square" lIns="0" tIns="0" rIns="0" bIns="0" anchor="t" anchorCtr="0">
                <a:noAutofit/>
              </a:bodyPr>
              <a:lstStyle/>
              <a:p>
                <a:pPr algn="l"/>
                <a:r>
                  <a:rPr lang="en-US" sz="1050" dirty="0">
                    <a:solidFill>
                      <a:srgbClr val="262626"/>
                    </a:solidFill>
                    <a:latin typeface="Segoe UI" panose="020B0502040204020203"/>
                    <a:ea typeface="Segoe UI" panose="020B0502040204020203"/>
                    <a:cs typeface="Segoe UI" panose="020B0502040204020203"/>
                  </a:rPr>
                  <a:t>23.1%</a:t>
                </a:r>
                <a:endParaRPr lang="en-US" sz="1050" dirty="0">
                  <a:solidFill>
                    <a:srgbClr val="262626"/>
                  </a:solidFill>
                  <a:latin typeface="Segoe UI" panose="020B0502040204020203"/>
                  <a:ea typeface="Segoe UI" panose="020B0502040204020203"/>
                  <a:cs typeface="Segoe UI" panose="020B0502040204020203"/>
                </a:endParaRPr>
              </a:p>
            </p:txBody>
          </p:sp>
          <p:sp>
            <p:nvSpPr>
              <p:cNvPr id="20" name="TextBox 17"/>
              <p:cNvSpPr txBox="1"/>
              <p:nvPr/>
            </p:nvSpPr>
            <p:spPr>
              <a:xfrm>
                <a:off x="1724120" y="3210878"/>
                <a:ext cx="510064" cy="149199"/>
              </a:xfrm>
              <a:prstGeom prst="rect">
                <a:avLst/>
              </a:prstGeom>
              <a:noFill/>
              <a:ln>
                <a:noFill/>
              </a:ln>
            </p:spPr>
            <p:txBody>
              <a:bodyPr wrap="square" lIns="0" tIns="0" rIns="0" bIns="0" anchor="t" anchorCtr="0">
                <a:spAutoFit/>
              </a:bodyPr>
              <a:lstStyle/>
              <a:p>
                <a:pPr algn="r"/>
                <a:r>
                  <a:rPr lang="en-US" sz="1050" dirty="0">
                    <a:solidFill>
                      <a:srgbClr val="262626"/>
                    </a:solidFill>
                    <a:latin typeface="Segoe UI" panose="020B0502040204020203"/>
                    <a:ea typeface="Segoe UI" panose="020B0502040204020203"/>
                    <a:cs typeface="Segoe UI" panose="020B0502040204020203"/>
                  </a:rPr>
                  <a:t>Others</a:t>
                </a:r>
                <a:endParaRPr lang="en-US" sz="1050" dirty="0">
                  <a:solidFill>
                    <a:srgbClr val="262626"/>
                  </a:solidFill>
                  <a:latin typeface="Segoe UI" panose="020B0502040204020203"/>
                  <a:ea typeface="Segoe UI" panose="020B0502040204020203"/>
                  <a:cs typeface="Segoe UI" panose="020B0502040204020203"/>
                </a:endParaRPr>
              </a:p>
            </p:txBody>
          </p:sp>
          <p:sp>
            <p:nvSpPr>
              <p:cNvPr id="21" name="Rectangle 18"/>
              <p:cNvSpPr/>
              <p:nvPr/>
            </p:nvSpPr>
            <p:spPr>
              <a:xfrm>
                <a:off x="2324100" y="3143250"/>
                <a:ext cx="1000125" cy="266700"/>
              </a:xfrm>
              <a:prstGeom prst="rect">
                <a:avLst/>
              </a:prstGeom>
              <a:solidFill>
                <a:srgbClr val="595959"/>
              </a:solidFill>
              <a:ln>
                <a:noFill/>
              </a:ln>
            </p:spPr>
            <p:txBody>
              <a:bodyPr/>
              <a:p/>
            </p:txBody>
          </p:sp>
          <p:sp>
            <p:nvSpPr>
              <p:cNvPr id="22" name="TextBox 19"/>
              <p:cNvSpPr txBox="1"/>
              <p:nvPr/>
            </p:nvSpPr>
            <p:spPr>
              <a:xfrm>
                <a:off x="3376041" y="3210878"/>
                <a:ext cx="427653" cy="149199"/>
              </a:xfrm>
              <a:prstGeom prst="rect">
                <a:avLst/>
              </a:prstGeom>
              <a:noFill/>
              <a:ln>
                <a:noFill/>
              </a:ln>
            </p:spPr>
            <p:txBody>
              <a:bodyPr wrap="square" lIns="0" tIns="0" rIns="0" bIns="0" anchor="t" anchorCtr="0">
                <a:spAutoFit/>
              </a:bodyPr>
              <a:lstStyle/>
              <a:p>
                <a:pPr algn="l"/>
                <a:r>
                  <a:rPr lang="en-US" sz="1050" dirty="0">
                    <a:solidFill>
                      <a:srgbClr val="595959"/>
                    </a:solidFill>
                    <a:latin typeface="Segoe UI" panose="020B0502040204020203"/>
                    <a:ea typeface="Segoe UI" panose="020B0502040204020203"/>
                    <a:cs typeface="Segoe UI" panose="020B0502040204020203"/>
                  </a:rPr>
                  <a:t>15.0%</a:t>
                </a:r>
                <a:endParaRPr lang="en-US" sz="1050" dirty="0">
                  <a:solidFill>
                    <a:srgbClr val="595959"/>
                  </a:solidFill>
                  <a:latin typeface="Segoe UI" panose="020B0502040204020203"/>
                  <a:ea typeface="Segoe UI" panose="020B0502040204020203"/>
                  <a:cs typeface="Segoe UI" panose="020B0502040204020203"/>
                </a:endParaRPr>
              </a:p>
            </p:txBody>
          </p:sp>
          <p:sp>
            <p:nvSpPr>
              <p:cNvPr id="23" name="TextBox 20"/>
              <p:cNvSpPr txBox="1"/>
              <p:nvPr/>
            </p:nvSpPr>
            <p:spPr>
              <a:xfrm>
                <a:off x="1381677" y="3687128"/>
                <a:ext cx="852507" cy="149199"/>
              </a:xfrm>
              <a:prstGeom prst="rect">
                <a:avLst/>
              </a:prstGeom>
              <a:noFill/>
              <a:ln>
                <a:noFill/>
              </a:ln>
            </p:spPr>
            <p:txBody>
              <a:bodyPr wrap="square" lIns="0" tIns="0" rIns="0" bIns="0" anchor="t" anchorCtr="0">
                <a:spAutoFit/>
              </a:bodyPr>
              <a:lstStyle/>
              <a:p>
                <a:pPr algn="r"/>
                <a:r>
                  <a:rPr lang="en-US" sz="1050" dirty="0">
                    <a:solidFill>
                      <a:srgbClr val="262626"/>
                    </a:solidFill>
                    <a:latin typeface="Segoe UI" panose="020B0502040204020203"/>
                    <a:ea typeface="Segoe UI" panose="020B0502040204020203"/>
                    <a:cs typeface="Segoe UI" panose="020B0502040204020203"/>
                  </a:rPr>
                  <a:t>Build Failure</a:t>
                </a:r>
                <a:endParaRPr lang="en-US" sz="1050" dirty="0">
                  <a:solidFill>
                    <a:srgbClr val="262626"/>
                  </a:solidFill>
                  <a:latin typeface="Segoe UI" panose="020B0502040204020203"/>
                  <a:ea typeface="Segoe UI" panose="020B0502040204020203"/>
                  <a:cs typeface="Segoe UI" panose="020B0502040204020203"/>
                </a:endParaRPr>
              </a:p>
            </p:txBody>
          </p:sp>
          <p:sp>
            <p:nvSpPr>
              <p:cNvPr id="24" name="Rectangle 21"/>
              <p:cNvSpPr/>
              <p:nvPr/>
            </p:nvSpPr>
            <p:spPr>
              <a:xfrm>
                <a:off x="2324100" y="3619500"/>
                <a:ext cx="647700" cy="266700"/>
              </a:xfrm>
              <a:prstGeom prst="rect">
                <a:avLst/>
              </a:prstGeom>
              <a:solidFill>
                <a:srgbClr val="595959"/>
              </a:solidFill>
              <a:ln>
                <a:noFill/>
              </a:ln>
            </p:spPr>
            <p:txBody>
              <a:bodyPr/>
              <a:p/>
            </p:txBody>
          </p:sp>
          <p:sp>
            <p:nvSpPr>
              <p:cNvPr id="25" name="TextBox 22"/>
              <p:cNvSpPr txBox="1"/>
              <p:nvPr/>
            </p:nvSpPr>
            <p:spPr>
              <a:xfrm>
                <a:off x="3023616" y="3687128"/>
                <a:ext cx="349910" cy="149199"/>
              </a:xfrm>
              <a:prstGeom prst="rect">
                <a:avLst/>
              </a:prstGeom>
              <a:noFill/>
              <a:ln>
                <a:noFill/>
              </a:ln>
            </p:spPr>
            <p:txBody>
              <a:bodyPr wrap="square" lIns="0" tIns="0" rIns="0" bIns="0" anchor="t" anchorCtr="0">
                <a:spAutoFit/>
              </a:bodyPr>
              <a:lstStyle/>
              <a:p>
                <a:pPr algn="l"/>
                <a:r>
                  <a:rPr lang="en-US" sz="1050" dirty="0">
                    <a:solidFill>
                      <a:srgbClr val="595959"/>
                    </a:solidFill>
                    <a:latin typeface="Segoe UI" panose="020B0502040204020203"/>
                    <a:ea typeface="Segoe UI" panose="020B0502040204020203"/>
                    <a:cs typeface="Segoe UI" panose="020B0502040204020203"/>
                  </a:rPr>
                  <a:t>9.7%</a:t>
                </a:r>
                <a:endParaRPr lang="en-US" sz="1050" dirty="0">
                  <a:solidFill>
                    <a:srgbClr val="595959"/>
                  </a:solidFill>
                  <a:latin typeface="Segoe UI" panose="020B0502040204020203"/>
                  <a:ea typeface="Segoe UI" panose="020B0502040204020203"/>
                  <a:cs typeface="Segoe UI" panose="020B0502040204020203"/>
                </a:endParaRPr>
              </a:p>
            </p:txBody>
          </p:sp>
          <p:sp>
            <p:nvSpPr>
              <p:cNvPr id="28" name="TextBox 23"/>
              <p:cNvSpPr txBox="1"/>
              <p:nvPr/>
            </p:nvSpPr>
            <p:spPr>
              <a:xfrm>
                <a:off x="1335526" y="4163378"/>
                <a:ext cx="898658" cy="149199"/>
              </a:xfrm>
              <a:prstGeom prst="rect">
                <a:avLst/>
              </a:prstGeom>
              <a:noFill/>
              <a:ln>
                <a:noFill/>
              </a:ln>
            </p:spPr>
            <p:txBody>
              <a:bodyPr wrap="square" lIns="0" tIns="0" rIns="0" bIns="0" anchor="t" anchorCtr="0">
                <a:spAutoFit/>
              </a:bodyPr>
              <a:lstStyle/>
              <a:p>
                <a:pPr algn="r"/>
                <a:r>
                  <a:rPr lang="en-US" sz="1050" dirty="0">
                    <a:solidFill>
                      <a:srgbClr val="262626"/>
                    </a:solidFill>
                    <a:latin typeface="Segoe UI" panose="020B0502040204020203"/>
                    <a:ea typeface="Segoe UI" panose="020B0502040204020203"/>
                    <a:cs typeface="Segoe UI" panose="020B0502040204020203"/>
                  </a:rPr>
                  <a:t>Performance</a:t>
                </a:r>
                <a:endParaRPr lang="en-US" sz="1050" dirty="0">
                  <a:solidFill>
                    <a:srgbClr val="262626"/>
                  </a:solidFill>
                  <a:latin typeface="Segoe UI" panose="020B0502040204020203"/>
                  <a:ea typeface="Segoe UI" panose="020B0502040204020203"/>
                  <a:cs typeface="Segoe UI" panose="020B0502040204020203"/>
                </a:endParaRPr>
              </a:p>
            </p:txBody>
          </p:sp>
          <p:sp>
            <p:nvSpPr>
              <p:cNvPr id="36" name="Rectangle 24"/>
              <p:cNvSpPr/>
              <p:nvPr/>
            </p:nvSpPr>
            <p:spPr>
              <a:xfrm>
                <a:off x="2324100" y="4095750"/>
                <a:ext cx="619125" cy="266700"/>
              </a:xfrm>
              <a:prstGeom prst="rect">
                <a:avLst/>
              </a:prstGeom>
              <a:solidFill>
                <a:srgbClr val="595959"/>
              </a:solidFill>
              <a:ln>
                <a:noFill/>
              </a:ln>
            </p:spPr>
            <p:txBody>
              <a:bodyPr/>
              <a:p/>
            </p:txBody>
          </p:sp>
          <p:sp>
            <p:nvSpPr>
              <p:cNvPr id="37" name="TextBox 25"/>
              <p:cNvSpPr txBox="1"/>
              <p:nvPr/>
            </p:nvSpPr>
            <p:spPr>
              <a:xfrm>
                <a:off x="2995041" y="4163378"/>
                <a:ext cx="349910" cy="149199"/>
              </a:xfrm>
              <a:prstGeom prst="rect">
                <a:avLst/>
              </a:prstGeom>
              <a:noFill/>
              <a:ln>
                <a:noFill/>
              </a:ln>
            </p:spPr>
            <p:txBody>
              <a:bodyPr wrap="square" lIns="0" tIns="0" rIns="0" bIns="0" anchor="t" anchorCtr="0">
                <a:spAutoFit/>
              </a:bodyPr>
              <a:lstStyle/>
              <a:p>
                <a:pPr algn="l"/>
                <a:r>
                  <a:rPr lang="en-US" sz="1050" dirty="0">
                    <a:solidFill>
                      <a:srgbClr val="595959"/>
                    </a:solidFill>
                    <a:latin typeface="Segoe UI" panose="020B0502040204020203"/>
                    <a:ea typeface="Segoe UI" panose="020B0502040204020203"/>
                    <a:cs typeface="Segoe UI" panose="020B0502040204020203"/>
                  </a:rPr>
                  <a:t>9.3%</a:t>
                </a:r>
                <a:endParaRPr lang="en-US" sz="1050" dirty="0">
                  <a:solidFill>
                    <a:srgbClr val="595959"/>
                  </a:solidFill>
                  <a:latin typeface="Segoe UI" panose="020B0502040204020203"/>
                  <a:ea typeface="Segoe UI" panose="020B0502040204020203"/>
                  <a:cs typeface="Segoe UI" panose="020B0502040204020203"/>
                </a:endParaRPr>
              </a:p>
            </p:txBody>
          </p:sp>
        </p:grpSp>
      </p:grpSp>
      <p:sp>
        <p:nvSpPr>
          <p:cNvPr id="41" name="TextBox 32"/>
          <p:cNvSpPr txBox="1"/>
          <p:nvPr/>
        </p:nvSpPr>
        <p:spPr>
          <a:xfrm>
            <a:off x="813753" y="6126480"/>
            <a:ext cx="6583680" cy="184150"/>
          </a:xfrm>
          <a:prstGeom prst="rect">
            <a:avLst/>
          </a:prstGeom>
          <a:noFill/>
          <a:ln>
            <a:noFill/>
          </a:ln>
        </p:spPr>
        <p:txBody>
          <a:bodyPr wrap="none" lIns="0" tIns="0" rIns="0" bIns="0" anchor="t" anchorCtr="0">
            <a:spAutoFit/>
          </a:bodyPr>
          <a:lstStyle/>
          <a:p>
            <a:pPr algn="l"/>
            <a:r>
              <a:rPr lang="en-US" altLang="zh-CN" sz="1200" dirty="0">
                <a:solidFill>
                  <a:schemeClr val="tx1">
                    <a:lumMod val="95000"/>
                    <a:lumOff val="5000"/>
                  </a:schemeClr>
                </a:solidFill>
                <a:latin typeface="Segoe UI" panose="020B0502040204020203"/>
                <a:ea typeface="Microsoft YaHei" panose="020B0503020204020204" charset="-122"/>
                <a:cs typeface="Segoe UI" panose="020B0502040204020203"/>
              </a:rPr>
              <a:t>[1] </a:t>
            </a:r>
            <a:r>
              <a:rPr lang="zh-CN" sz="1200" dirty="0">
                <a:solidFill>
                  <a:schemeClr val="tx1">
                    <a:lumMod val="95000"/>
                    <a:lumOff val="5000"/>
                  </a:schemeClr>
                </a:solidFill>
                <a:latin typeface="Segoe UI" panose="020B0502040204020203"/>
                <a:ea typeface="Microsoft YaHei" panose="020B0503020204020204" charset="-122"/>
                <a:cs typeface="Segoe UI" panose="020B0502040204020203"/>
              </a:rPr>
              <a:t>Towards Reliable Vector Database Management Systems: A Software Testing Roadmap for 2030</a:t>
            </a:r>
            <a:endParaRPr lang="zh-CN" sz="1200" dirty="0">
              <a:solidFill>
                <a:schemeClr val="tx1">
                  <a:lumMod val="95000"/>
                  <a:lumOff val="5000"/>
                </a:schemeClr>
              </a:solidFill>
              <a:latin typeface="Segoe UI" panose="020B0502040204020203"/>
              <a:ea typeface="Microsoft YaHei" panose="020B0503020204020204" charset="-122"/>
              <a:cs typeface="Segoe UI" panose="020B0502040204020203"/>
            </a:endParaRPr>
          </a:p>
        </p:txBody>
      </p:sp>
      <p:sp>
        <p:nvSpPr>
          <p:cNvPr id="42" name="TextBox 33"/>
          <p:cNvSpPr txBox="1"/>
          <p:nvPr/>
        </p:nvSpPr>
        <p:spPr>
          <a:xfrm>
            <a:off x="813753" y="6310630"/>
            <a:ext cx="4926330" cy="184150"/>
          </a:xfrm>
          <a:prstGeom prst="rect">
            <a:avLst/>
          </a:prstGeom>
          <a:noFill/>
          <a:ln>
            <a:noFill/>
          </a:ln>
        </p:spPr>
        <p:txBody>
          <a:bodyPr wrap="none" lIns="0" tIns="0" rIns="0" bIns="0" anchor="t" anchorCtr="0">
            <a:spAutoFit/>
          </a:bodyPr>
          <a:lstStyle/>
          <a:p>
            <a:pPr algn="l"/>
            <a:r>
              <a:rPr lang="en-US" altLang="zh-CN" sz="1200" dirty="0">
                <a:solidFill>
                  <a:schemeClr val="tx1">
                    <a:lumMod val="95000"/>
                    <a:lumOff val="5000"/>
                  </a:schemeClr>
                </a:solidFill>
                <a:latin typeface="Segoe UI" panose="020B0502040204020203"/>
                <a:ea typeface="Microsoft YaHei" panose="020B0503020204020204" charset="-122"/>
                <a:cs typeface="Segoe UI" panose="020B0502040204020203"/>
              </a:rPr>
              <a:t>[2] </a:t>
            </a:r>
            <a:r>
              <a:rPr lang="zh-CN" sz="1200" dirty="0">
                <a:solidFill>
                  <a:schemeClr val="tx1">
                    <a:lumMod val="95000"/>
                    <a:lumOff val="5000"/>
                  </a:schemeClr>
                </a:solidFill>
                <a:latin typeface="Segoe UI" panose="020B0502040204020203"/>
                <a:ea typeface="Microsoft YaHei" panose="020B0503020204020204" charset="-122"/>
                <a:cs typeface="Segoe UI" panose="020B0502040204020203"/>
              </a:rPr>
              <a:t>Toward Understanding Bugs in Vector Database Management Systems</a:t>
            </a:r>
            <a:endParaRPr lang="zh-CN" sz="1200" dirty="0">
              <a:solidFill>
                <a:schemeClr val="tx1">
                  <a:lumMod val="95000"/>
                  <a:lumOff val="5000"/>
                </a:schemeClr>
              </a:solidFill>
              <a:latin typeface="Segoe UI" panose="020B0502040204020203"/>
              <a:ea typeface="Microsoft YaHei" panose="020B0503020204020204" charset="-122"/>
              <a:cs typeface="Segoe UI" panose="020B0502040204020203"/>
            </a:endParaRPr>
          </a:p>
        </p:txBody>
      </p:sp>
      <p:sp>
        <p:nvSpPr>
          <p:cNvPr id="45" name="文本框 44"/>
          <p:cNvSpPr txBox="1"/>
          <p:nvPr/>
        </p:nvSpPr>
        <p:spPr>
          <a:xfrm>
            <a:off x="9103995" y="5575935"/>
            <a:ext cx="535305" cy="306705"/>
          </a:xfrm>
          <a:prstGeom prst="rect">
            <a:avLst/>
          </a:prstGeom>
          <a:noFill/>
        </p:spPr>
        <p:txBody>
          <a:bodyPr wrap="square" rtlCol="0">
            <a:spAutoFit/>
          </a:bodyPr>
          <a:p>
            <a:pPr algn="ctr"/>
            <a:r>
              <a:rPr lang="en-US" altLang="zh-CN" sz="1400" b="1" dirty="0">
                <a:latin typeface="Segoe UI" panose="020B0502040204020203"/>
                <a:ea typeface="Microsoft YaHei" panose="020B0503020204020204" charset="-122"/>
                <a:cs typeface="Segoe UI" panose="020B0502040204020203"/>
                <a:sym typeface="+mn-ea"/>
              </a:rPr>
              <a:t>[2]</a:t>
            </a:r>
            <a:endParaRPr lang="en-US" altLang="zh-CN" sz="1400" b="1" dirty="0">
              <a:latin typeface="Segoe UI" panose="020B0502040204020203"/>
              <a:ea typeface="Microsoft YaHei" panose="020B0503020204020204" charset="-122"/>
              <a:cs typeface="Segoe UI" panose="020B0502040204020203"/>
              <a:sym typeface="+mn-ea"/>
            </a:endParaRPr>
          </a:p>
        </p:txBody>
      </p:sp>
      <p:sp>
        <p:nvSpPr>
          <p:cNvPr id="46" name="文本框 45"/>
          <p:cNvSpPr txBox="1"/>
          <p:nvPr/>
        </p:nvSpPr>
        <p:spPr>
          <a:xfrm>
            <a:off x="3536315" y="5625465"/>
            <a:ext cx="535305" cy="306705"/>
          </a:xfrm>
          <a:prstGeom prst="rect">
            <a:avLst/>
          </a:prstGeom>
          <a:noFill/>
        </p:spPr>
        <p:txBody>
          <a:bodyPr wrap="square" rtlCol="0">
            <a:spAutoFit/>
          </a:bodyPr>
          <a:p>
            <a:pPr algn="ctr"/>
            <a:r>
              <a:rPr lang="en-US" altLang="zh-CN" sz="1400" b="1" dirty="0">
                <a:latin typeface="Segoe UI" panose="020B0502040204020203"/>
                <a:ea typeface="Microsoft YaHei" panose="020B0503020204020204" charset="-122"/>
                <a:cs typeface="Segoe UI" panose="020B0502040204020203"/>
                <a:sym typeface="+mn-ea"/>
              </a:rPr>
              <a:t>[1]</a:t>
            </a:r>
            <a:endParaRPr lang="en-US" altLang="zh-CN" sz="1400" b="1" dirty="0">
              <a:latin typeface="Segoe UI" panose="020B0502040204020203"/>
              <a:ea typeface="Microsoft YaHei" panose="020B0503020204020204" charset="-122"/>
              <a:cs typeface="Segoe UI" panose="020B0502040204020203"/>
              <a:sym typeface="+mn-ea"/>
            </a:endParaRPr>
          </a:p>
        </p:txBody>
      </p:sp>
      <p:sp>
        <p:nvSpPr>
          <p:cNvPr id="47" name="矩形 46"/>
          <p:cNvSpPr/>
          <p:nvPr/>
        </p:nvSpPr>
        <p:spPr>
          <a:xfrm>
            <a:off x="10031095" y="3507740"/>
            <a:ext cx="1764000" cy="281940"/>
          </a:xfrm>
          <a:prstGeom prst="rect">
            <a:avLst/>
          </a:prstGeom>
          <a:noFill/>
          <a:ln w="50800" cmpd="sng">
            <a:solidFill>
              <a:schemeClr val="accent6">
                <a:lumMod val="7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矩形 47"/>
          <p:cNvSpPr/>
          <p:nvPr/>
        </p:nvSpPr>
        <p:spPr>
          <a:xfrm>
            <a:off x="1717675" y="2782570"/>
            <a:ext cx="1228725" cy="281940"/>
          </a:xfrm>
          <a:prstGeom prst="rect">
            <a:avLst/>
          </a:prstGeom>
          <a:noFill/>
          <a:ln w="50800" cmpd="sng">
            <a:solidFill>
              <a:schemeClr val="accent6">
                <a:lumMod val="7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9" name="直接箭头连接符 48"/>
          <p:cNvCxnSpPr>
            <a:stCxn id="53" idx="3"/>
          </p:cNvCxnSpPr>
          <p:nvPr/>
        </p:nvCxnSpPr>
        <p:spPr>
          <a:xfrm>
            <a:off x="7440295" y="3370580"/>
            <a:ext cx="727075" cy="17145"/>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cxnSp>
        <p:nvCxnSpPr>
          <p:cNvPr id="50" name="直接箭头连接符 49"/>
          <p:cNvCxnSpPr>
            <a:stCxn id="18" idx="1"/>
            <a:endCxn id="17" idx="3"/>
          </p:cNvCxnSpPr>
          <p:nvPr/>
        </p:nvCxnSpPr>
        <p:spPr>
          <a:xfrm flipH="1">
            <a:off x="5154930" y="3390265"/>
            <a:ext cx="755650" cy="4699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sp>
        <p:nvSpPr>
          <p:cNvPr id="51" name="矩形 50"/>
          <p:cNvSpPr/>
          <p:nvPr/>
        </p:nvSpPr>
        <p:spPr>
          <a:xfrm>
            <a:off x="4667250" y="3320415"/>
            <a:ext cx="404495" cy="211455"/>
          </a:xfrm>
          <a:prstGeom prst="rect">
            <a:avLst/>
          </a:prstGeom>
          <a:noFill/>
          <a:ln w="25400">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矩形 51"/>
          <p:cNvSpPr/>
          <p:nvPr/>
        </p:nvSpPr>
        <p:spPr>
          <a:xfrm>
            <a:off x="8194040" y="3306445"/>
            <a:ext cx="414020" cy="220980"/>
          </a:xfrm>
          <a:prstGeom prst="rect">
            <a:avLst/>
          </a:prstGeom>
          <a:noFill/>
          <a:ln w="25400">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TextBox 16"/>
          <p:cNvSpPr txBox="1"/>
          <p:nvPr/>
        </p:nvSpPr>
        <p:spPr>
          <a:xfrm>
            <a:off x="5910580" y="3179445"/>
            <a:ext cx="1529715" cy="382270"/>
          </a:xfrm>
          <a:prstGeom prst="rect">
            <a:avLst/>
          </a:prstGeom>
          <a:noFill/>
          <a:ln>
            <a:noFill/>
          </a:ln>
        </p:spPr>
        <p:txBody>
          <a:bodyPr wrap="square" lIns="0" tIns="0" rIns="0" bIns="0" anchor="t" anchorCtr="0">
            <a:noAutofit/>
          </a:bodyPr>
          <a:lstStyle/>
          <a:p>
            <a:pPr algn="l"/>
            <a:r>
              <a:rPr lang="zh-CN" sz="1400" dirty="0">
                <a:solidFill>
                  <a:srgbClr val="1F4E79"/>
                </a:solidFill>
                <a:latin typeface="Segoe UI" panose="020B0502040204020203"/>
                <a:ea typeface="Microsoft YaHei" panose="020B0503020204020204" charset="-122"/>
                <a:cs typeface="Segoe UI" panose="020B0502040204020203"/>
              </a:rPr>
              <a:t>VDBFuzz </a:t>
            </a:r>
            <a:r>
              <a:rPr lang="en-US" altLang="zh-CN" sz="1400" dirty="0">
                <a:solidFill>
                  <a:srgbClr val="1F4E79"/>
                </a:solidFill>
                <a:latin typeface="Segoe UI" panose="020B0502040204020203"/>
                <a:ea typeface="Microsoft YaHei" panose="020B0503020204020204" charset="-122"/>
                <a:cs typeface="Segoe UI" panose="020B0502040204020203"/>
              </a:rPr>
              <a:t>[3]only covers crash bugs</a:t>
            </a:r>
            <a:endParaRPr lang="en-US" altLang="zh-CN" sz="1400" dirty="0">
              <a:solidFill>
                <a:srgbClr val="1F4E79"/>
              </a:solidFill>
              <a:latin typeface="Segoe UI" panose="020B0502040204020203"/>
              <a:ea typeface="Microsoft YaHei" panose="020B0503020204020204" charset="-122"/>
              <a:cs typeface="Segoe UI" panose="020B0502040204020203"/>
            </a:endParaRPr>
          </a:p>
        </p:txBody>
      </p:sp>
      <p:sp>
        <p:nvSpPr>
          <p:cNvPr id="3" name="TextBox 33"/>
          <p:cNvSpPr txBox="1"/>
          <p:nvPr/>
        </p:nvSpPr>
        <p:spPr>
          <a:xfrm>
            <a:off x="814070" y="6494780"/>
            <a:ext cx="7352665" cy="184150"/>
          </a:xfrm>
          <a:prstGeom prst="rect">
            <a:avLst/>
          </a:prstGeom>
          <a:noFill/>
          <a:ln>
            <a:noFill/>
          </a:ln>
        </p:spPr>
        <p:txBody>
          <a:bodyPr wrap="square" lIns="0" tIns="0" rIns="0" bIns="0" anchor="t" anchorCtr="0">
            <a:spAutoFit/>
          </a:bodyPr>
          <a:lstStyle/>
          <a:p>
            <a:pPr algn="l"/>
            <a:r>
              <a:rPr lang="en-US" altLang="zh-CN" sz="1200" dirty="0">
                <a:solidFill>
                  <a:schemeClr val="tx1">
                    <a:lumMod val="95000"/>
                    <a:lumOff val="5000"/>
                  </a:schemeClr>
                </a:solidFill>
                <a:latin typeface="Segoe UI" panose="020B0502040204020203"/>
                <a:ea typeface="Microsoft YaHei" panose="020B0503020204020204" charset="-122"/>
                <a:cs typeface="Segoe UI" panose="020B0502040204020203"/>
              </a:rPr>
              <a:t>[3] VDBFuzz: Understanding and Detecting Crash Bugs in Vector Database Management Systems</a:t>
            </a:r>
            <a:endParaRPr lang="en-US" altLang="zh-CN" sz="1200" dirty="0">
              <a:solidFill>
                <a:schemeClr val="tx1">
                  <a:lumMod val="95000"/>
                  <a:lumOff val="5000"/>
                </a:schemeClr>
              </a:solidFill>
              <a:latin typeface="Segoe UI" panose="020B0502040204020203"/>
              <a:ea typeface="Microsoft YaHei"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716915" y="1372235"/>
            <a:ext cx="10852150" cy="4941570"/>
          </a:xfrm>
        </p:spPr>
        <p:txBody>
          <a:bodyPr/>
          <a:lstStyle/>
          <a:p>
            <a:pPr>
              <a:buFont typeface="Wingdings" panose="05000000000000000000" charset="0"/>
              <a:buChar char="p"/>
            </a:pPr>
            <a:r>
              <a:rPr lang="en-US" b="1">
                <a:solidFill>
                  <a:schemeClr val="tx1"/>
                </a:solidFill>
                <a:latin typeface="Cambria" panose="02040503050406030204" charset="0"/>
                <a:cs typeface="Cambria" panose="02040503050406030204" charset="0"/>
                <a:sym typeface="+mn-ea"/>
              </a:rPr>
              <a:t> </a:t>
            </a:r>
            <a:r>
              <a:rPr lang="zh-CN" altLang="en-US" b="1">
                <a:solidFill>
                  <a:schemeClr val="tx1"/>
                </a:solidFill>
                <a:latin typeface="Cambria" panose="02040503050406030204" charset="0"/>
                <a:cs typeface="Cambria" panose="02040503050406030204" charset="0"/>
                <a:sym typeface="+mn-ea"/>
              </a:rPr>
              <a:t>我们选择从官方文档（</a:t>
            </a:r>
            <a:r>
              <a:rPr lang="en-US" altLang="zh-CN" b="1">
                <a:solidFill>
                  <a:schemeClr val="tx1"/>
                </a:solidFill>
                <a:latin typeface="Cambria" panose="02040503050406030204" charset="0"/>
                <a:cs typeface="Cambria" panose="02040503050406030204" charset="0"/>
                <a:sym typeface="+mn-ea"/>
              </a:rPr>
              <a:t>documentation</a:t>
            </a:r>
            <a:r>
              <a:rPr lang="zh-CN" altLang="en-US" b="1">
                <a:solidFill>
                  <a:schemeClr val="tx1"/>
                </a:solidFill>
                <a:latin typeface="Cambria" panose="02040503050406030204" charset="0"/>
                <a:cs typeface="Cambria" panose="02040503050406030204" charset="0"/>
                <a:sym typeface="+mn-ea"/>
              </a:rPr>
              <a:t>）提取</a:t>
            </a:r>
            <a:r>
              <a:rPr lang="en-US" altLang="zh-CN" b="1">
                <a:solidFill>
                  <a:schemeClr val="tx1"/>
                </a:solidFill>
                <a:latin typeface="Cambria" panose="02040503050406030204" charset="0"/>
                <a:cs typeface="Cambria" panose="02040503050406030204" charset="0"/>
                <a:sym typeface="+mn-ea"/>
              </a:rPr>
              <a:t>“</a:t>
            </a:r>
            <a:r>
              <a:rPr lang="zh-CN" altLang="en-US" b="1">
                <a:solidFill>
                  <a:schemeClr val="tx1"/>
                </a:solidFill>
                <a:latin typeface="Cambria" panose="02040503050406030204" charset="0"/>
                <a:cs typeface="Cambria" panose="02040503050406030204" charset="0"/>
                <a:sym typeface="+mn-ea"/>
              </a:rPr>
              <a:t>预先给定的行为声明</a:t>
            </a:r>
            <a:r>
              <a:rPr lang="en-US" altLang="zh-CN" b="1">
                <a:solidFill>
                  <a:schemeClr val="tx1"/>
                </a:solidFill>
                <a:latin typeface="Cambria" panose="02040503050406030204" charset="0"/>
                <a:cs typeface="Cambria" panose="02040503050406030204" charset="0"/>
                <a:sym typeface="+mn-ea"/>
              </a:rPr>
              <a:t>”</a:t>
            </a:r>
            <a:r>
              <a:rPr lang="zh-CN" altLang="en-US" b="1">
                <a:solidFill>
                  <a:schemeClr val="tx1"/>
                </a:solidFill>
                <a:latin typeface="Cambria" panose="02040503050406030204" charset="0"/>
                <a:cs typeface="Cambria" panose="02040503050406030204" charset="0"/>
                <a:sym typeface="+mn-ea"/>
              </a:rPr>
              <a:t>，问题变成</a:t>
            </a:r>
            <a:r>
              <a:rPr lang="en-US" altLang="zh-CN" b="1">
                <a:solidFill>
                  <a:schemeClr val="tx1"/>
                </a:solidFill>
                <a:latin typeface="Cambria" panose="02040503050406030204" charset="0"/>
                <a:cs typeface="Cambria" panose="02040503050406030204" charset="0"/>
                <a:sym typeface="+mn-ea"/>
              </a:rPr>
              <a:t>“</a:t>
            </a:r>
            <a:r>
              <a:rPr lang="zh-CN" altLang="en-US" b="1">
                <a:solidFill>
                  <a:schemeClr val="tx1"/>
                </a:solidFill>
                <a:latin typeface="Cambria" panose="02040503050406030204" charset="0"/>
                <a:cs typeface="Cambria" panose="02040503050406030204" charset="0"/>
                <a:sym typeface="+mn-ea"/>
              </a:rPr>
              <a:t>如何找出</a:t>
            </a:r>
            <a:r>
              <a:rPr lang="en-US" altLang="zh-CN" b="1">
                <a:solidFill>
                  <a:schemeClr val="tx1"/>
                </a:solidFill>
                <a:latin typeface="Cambria" panose="02040503050406030204" charset="0"/>
                <a:cs typeface="Cambria" panose="02040503050406030204" charset="0"/>
                <a:sym typeface="+mn-ea"/>
              </a:rPr>
              <a:t>VDBMS</a:t>
            </a:r>
            <a:r>
              <a:rPr lang="zh-CN" altLang="en-US" b="1">
                <a:solidFill>
                  <a:schemeClr val="tx1"/>
                </a:solidFill>
                <a:latin typeface="Cambria" panose="02040503050406030204" charset="0"/>
                <a:cs typeface="Cambria" panose="02040503050406030204" charset="0"/>
                <a:sym typeface="+mn-ea"/>
              </a:rPr>
              <a:t>真实行为与文档描述不一致之处</a:t>
            </a:r>
            <a:r>
              <a:rPr lang="en-US" altLang="zh-CN" b="1">
                <a:solidFill>
                  <a:schemeClr val="tx1"/>
                </a:solidFill>
                <a:latin typeface="Cambria" panose="02040503050406030204" charset="0"/>
                <a:cs typeface="Cambria" panose="02040503050406030204" charset="0"/>
                <a:sym typeface="+mn-ea"/>
              </a:rPr>
              <a:t>”</a:t>
            </a:r>
            <a:r>
              <a:rPr lang="zh-CN" altLang="en-US" b="1">
                <a:solidFill>
                  <a:schemeClr val="tx1"/>
                </a:solidFill>
                <a:latin typeface="Cambria" panose="02040503050406030204" charset="0"/>
                <a:cs typeface="Cambria" panose="02040503050406030204" charset="0"/>
                <a:sym typeface="+mn-ea"/>
              </a:rPr>
              <a:t>，即</a:t>
            </a:r>
            <a:r>
              <a:rPr sz="2000" b="1">
                <a:solidFill>
                  <a:srgbClr val="0A4A94"/>
                </a:solidFill>
                <a:latin typeface="Cambria" panose="02040503050406030204" charset="0"/>
                <a:cs typeface="Cambria" panose="02040503050406030204" charset="0"/>
                <a:sym typeface="+mn-ea"/>
              </a:rPr>
              <a:t>Doc-implementation</a:t>
            </a:r>
            <a:r>
              <a:rPr lang="en-US" altLang="zh-CN" sz="2000" b="1">
                <a:solidFill>
                  <a:srgbClr val="0A4A94"/>
                </a:solidFill>
                <a:latin typeface="Cambria" panose="02040503050406030204" charset="0"/>
                <a:cs typeface="Cambria" panose="02040503050406030204" charset="0"/>
                <a:sym typeface="+mn-ea"/>
              </a:rPr>
              <a:t> inconsistency</a:t>
            </a:r>
            <a:r>
              <a:rPr lang="zh-CN" altLang="en-US" sz="2000" b="1">
                <a:solidFill>
                  <a:srgbClr val="0A4A94"/>
                </a:solidFill>
                <a:latin typeface="Cambria" panose="02040503050406030204" charset="0"/>
                <a:cs typeface="Cambria" panose="02040503050406030204" charset="0"/>
                <a:sym typeface="+mn-ea"/>
              </a:rPr>
              <a:t>。</a:t>
            </a:r>
            <a:br>
              <a:rPr lang="zh-CN" altLang="en-US" sz="2000" b="1">
                <a:solidFill>
                  <a:schemeClr val="tx1"/>
                </a:solidFill>
                <a:latin typeface="Cambria" panose="02040503050406030204" charset="0"/>
                <a:cs typeface="Cambria" panose="02040503050406030204" charset="0"/>
                <a:sym typeface="+mn-ea"/>
              </a:rPr>
            </a:br>
            <a:endParaRPr lang="zh-CN" altLang="en-US" sz="2000" b="1">
              <a:solidFill>
                <a:schemeClr val="tx1"/>
              </a:solidFill>
              <a:latin typeface="Cambria" panose="02040503050406030204" charset="0"/>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22568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374333"/>
            <a:ext cx="10571480" cy="1107440"/>
          </a:xfrm>
          <a:prstGeom prst="rect">
            <a:avLst/>
          </a:prstGeom>
          <a:noFill/>
        </p:spPr>
        <p:txBody>
          <a:bodyPr vert="horz" wrap="square" lIns="0" tIns="0" rIns="0" bIns="0" rtlCol="0" anchor="ctr" anchorCtr="0">
            <a:spAutoFit/>
          </a:bodyPr>
          <a:lstStyle/>
          <a:p>
            <a:r>
              <a:rPr lang="en-US" sz="3600" b="1">
                <a:solidFill>
                  <a:srgbClr val="0A4A94"/>
                </a:solidFill>
                <a:latin typeface="Cambria" panose="02040503050406030204" charset="0"/>
                <a:cs typeface="Cambria" panose="02040503050406030204" charset="0"/>
                <a:sym typeface="+mn-ea"/>
              </a:rPr>
              <a:t>Target:</a:t>
            </a:r>
            <a:r>
              <a:rPr sz="3600" b="1">
                <a:solidFill>
                  <a:srgbClr val="0A4A94"/>
                </a:solidFill>
                <a:latin typeface="Cambria" panose="02040503050406030204" charset="0"/>
                <a:cs typeface="Cambria" panose="02040503050406030204" charset="0"/>
                <a:sym typeface="+mn-ea"/>
              </a:rPr>
              <a:t>Doc-implementation</a:t>
            </a:r>
            <a:r>
              <a:rPr lang="en-US" altLang="zh-CN" sz="3600" b="1">
                <a:solidFill>
                  <a:srgbClr val="0A4A94"/>
                </a:solidFill>
                <a:latin typeface="Cambria" panose="02040503050406030204" charset="0"/>
                <a:cs typeface="Cambria" panose="02040503050406030204" charset="0"/>
                <a:sym typeface="+mn-ea"/>
              </a:rPr>
              <a:t> inconsistency </a:t>
            </a:r>
            <a:r>
              <a:rPr sz="3600" b="1">
                <a:solidFill>
                  <a:srgbClr val="0A4A94"/>
                </a:solidFill>
                <a:latin typeface="Cambria" panose="02040503050406030204" charset="0"/>
                <a:cs typeface="Cambria" panose="02040503050406030204" charset="0"/>
                <a:sym typeface="+mn-ea"/>
              </a:rPr>
              <a:t>defects</a:t>
            </a:r>
            <a:endParaRPr lang="en-US" sz="3600" b="1" dirty="0">
              <a:solidFill>
                <a:srgbClr val="0A4A94"/>
              </a:solidFill>
              <a:latin typeface="Cambria" panose="02040503050406030204" charset="0"/>
              <a:ea typeface="Segoe UI" panose="020B0502040204020203"/>
              <a:cs typeface="Cambria" panose="02040503050406030204" charset="0"/>
            </a:endParaRPr>
          </a:p>
          <a:p>
            <a:r>
              <a:rPr sz="3600" b="1">
                <a:solidFill>
                  <a:srgbClr val="0A4A94"/>
                </a:solidFill>
                <a:latin typeface="Cambria" panose="02040503050406030204" charset="0"/>
                <a:cs typeface="Cambria" panose="02040503050406030204" charset="0"/>
                <a:sym typeface="+mn-ea"/>
              </a:rPr>
              <a:t> </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sp>
        <p:nvSpPr>
          <p:cNvPr id="47" name="圆角矩形 46"/>
          <p:cNvSpPr/>
          <p:nvPr/>
        </p:nvSpPr>
        <p:spPr>
          <a:xfrm>
            <a:off x="7074535" y="3111500"/>
            <a:ext cx="2762250"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8" name="图片 47" descr="文档"/>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3176905" y="3199130"/>
            <a:ext cx="713105" cy="713105"/>
          </a:xfrm>
          <a:prstGeom prst="rect">
            <a:avLst/>
          </a:prstGeom>
        </p:spPr>
      </p:pic>
      <p:pic>
        <p:nvPicPr>
          <p:cNvPr id="49" name="图片 48" descr="文件"/>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8039100" y="3345815"/>
            <a:ext cx="693420" cy="692785"/>
          </a:xfrm>
          <a:prstGeom prst="rect">
            <a:avLst/>
          </a:prstGeom>
        </p:spPr>
      </p:pic>
      <p:pic>
        <p:nvPicPr>
          <p:cNvPr id="50" name="图片 49" descr="文件"/>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7112635" y="3325495"/>
            <a:ext cx="693420" cy="713105"/>
          </a:xfrm>
          <a:prstGeom prst="rect">
            <a:avLst/>
          </a:prstGeom>
        </p:spPr>
      </p:pic>
      <p:pic>
        <p:nvPicPr>
          <p:cNvPr id="51" name="图片 50" descr="加号"/>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7756525" y="3575685"/>
            <a:ext cx="356870" cy="356870"/>
          </a:xfrm>
          <a:prstGeom prst="rect">
            <a:avLst/>
          </a:prstGeom>
        </p:spPr>
      </p:pic>
      <p:sp>
        <p:nvSpPr>
          <p:cNvPr id="52" name="文本框 51"/>
          <p:cNvSpPr txBox="1"/>
          <p:nvPr/>
        </p:nvSpPr>
        <p:spPr>
          <a:xfrm>
            <a:off x="7694295" y="4038600"/>
            <a:ext cx="1503680" cy="378460"/>
          </a:xfrm>
          <a:prstGeom prst="rect">
            <a:avLst/>
          </a:prstGeom>
          <a:noFill/>
        </p:spPr>
        <p:txBody>
          <a:bodyPr wrap="square" rtlCol="0">
            <a:noAutofit/>
          </a:bodyPr>
          <a:p>
            <a:pPr algn="ctr"/>
            <a:r>
              <a:rPr lang="en-US" altLang="zh-CN" sz="1200" b="1">
                <a:latin typeface="Comic Sans MS" panose="030F0702030302020204" charset="0"/>
                <a:cs typeface="Comic Sans MS" panose="030F0702030302020204" charset="0"/>
                <a:sym typeface="+mn-ea"/>
              </a:rPr>
              <a:t>VDBMS’s</a:t>
            </a:r>
            <a:endParaRPr lang="en-US" altLang="zh-CN" sz="1200" b="1">
              <a:latin typeface="Comic Sans MS" panose="030F0702030302020204" charset="0"/>
              <a:cs typeface="Comic Sans MS" panose="030F0702030302020204" charset="0"/>
              <a:sym typeface="+mn-ea"/>
            </a:endParaRPr>
          </a:p>
          <a:p>
            <a:pPr algn="ctr"/>
            <a:r>
              <a:rPr lang="en-US" altLang="zh-CN" sz="1200" b="1">
                <a:latin typeface="Comic Sans MS" panose="030F0702030302020204" charset="0"/>
                <a:cs typeface="Comic Sans MS" panose="030F0702030302020204" charset="0"/>
              </a:rPr>
              <a:t>Actual Behaviour</a:t>
            </a:r>
            <a:endParaRPr lang="en-US" altLang="zh-CN" sz="1200" b="1">
              <a:latin typeface="Comic Sans MS" panose="030F0702030302020204" charset="0"/>
              <a:cs typeface="Comic Sans MS" panose="030F0702030302020204" charset="0"/>
            </a:endParaRPr>
          </a:p>
        </p:txBody>
      </p:sp>
      <p:sp>
        <p:nvSpPr>
          <p:cNvPr id="55" name="圆角矩形 54"/>
          <p:cNvSpPr/>
          <p:nvPr/>
        </p:nvSpPr>
        <p:spPr>
          <a:xfrm>
            <a:off x="2781935" y="3111500"/>
            <a:ext cx="1503045"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文本框 57"/>
          <p:cNvSpPr txBox="1"/>
          <p:nvPr/>
        </p:nvSpPr>
        <p:spPr>
          <a:xfrm>
            <a:off x="2781300" y="3912235"/>
            <a:ext cx="1503680" cy="378460"/>
          </a:xfrm>
          <a:prstGeom prst="rect">
            <a:avLst/>
          </a:prstGeom>
          <a:noFill/>
        </p:spPr>
        <p:txBody>
          <a:bodyPr wrap="square" rtlCol="0">
            <a:noAutofit/>
          </a:bodyPr>
          <a:p>
            <a:pPr algn="ctr"/>
            <a:r>
              <a:rPr lang="en-US" altLang="zh-CN" sz="1200" b="1">
                <a:latin typeface="Comic Sans MS" panose="030F0702030302020204" charset="0"/>
                <a:cs typeface="Comic Sans MS" panose="030F0702030302020204" charset="0"/>
              </a:rPr>
              <a:t>Expected VDBMS Behavior in Documentation</a:t>
            </a:r>
            <a:endParaRPr lang="en-US" altLang="zh-CN" sz="1200" b="1">
              <a:latin typeface="Comic Sans MS" panose="030F0702030302020204" charset="0"/>
              <a:cs typeface="Comic Sans MS" panose="030F0702030302020204" charset="0"/>
            </a:endParaRPr>
          </a:p>
        </p:txBody>
      </p:sp>
      <p:sp>
        <p:nvSpPr>
          <p:cNvPr id="65" name="椭圆 64"/>
          <p:cNvSpPr/>
          <p:nvPr/>
        </p:nvSpPr>
        <p:spPr>
          <a:xfrm>
            <a:off x="5267325" y="3430905"/>
            <a:ext cx="834390" cy="800100"/>
          </a:xfrm>
          <a:prstGeom prst="ellipse">
            <a:avLst/>
          </a:prstGeom>
          <a:noFill/>
          <a:ln w="34925">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7" name="图片 66" descr="不等于"/>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5716270" y="3662045"/>
            <a:ext cx="336550" cy="336550"/>
          </a:xfrm>
          <a:prstGeom prst="rect">
            <a:avLst/>
          </a:prstGeom>
        </p:spPr>
      </p:pic>
      <p:cxnSp>
        <p:nvCxnSpPr>
          <p:cNvPr id="68" name="直接箭头连接符 67"/>
          <p:cNvCxnSpPr>
            <a:stCxn id="55" idx="3"/>
            <a:endCxn id="65" idx="2"/>
          </p:cNvCxnSpPr>
          <p:nvPr/>
        </p:nvCxnSpPr>
        <p:spPr>
          <a:xfrm>
            <a:off x="4284980" y="3830955"/>
            <a:ext cx="982345" cy="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69" name="直接箭头连接符 68"/>
          <p:cNvCxnSpPr>
            <a:endCxn id="65" idx="6"/>
          </p:cNvCxnSpPr>
          <p:nvPr/>
        </p:nvCxnSpPr>
        <p:spPr>
          <a:xfrm flipH="1">
            <a:off x="6101715" y="3830955"/>
            <a:ext cx="972820" cy="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70" name="直接箭头连接符 69"/>
          <p:cNvCxnSpPr>
            <a:stCxn id="65" idx="5"/>
          </p:cNvCxnSpPr>
          <p:nvPr/>
        </p:nvCxnSpPr>
        <p:spPr>
          <a:xfrm>
            <a:off x="5979795" y="4113530"/>
            <a:ext cx="349250" cy="64579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71" name="图片 70" descr="BUG问题修复"/>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6015355" y="4815840"/>
            <a:ext cx="648970" cy="664210"/>
          </a:xfrm>
          <a:prstGeom prst="rect">
            <a:avLst/>
          </a:prstGeom>
        </p:spPr>
      </p:pic>
      <p:sp>
        <p:nvSpPr>
          <p:cNvPr id="73" name="文本框 72"/>
          <p:cNvSpPr txBox="1"/>
          <p:nvPr/>
        </p:nvSpPr>
        <p:spPr>
          <a:xfrm>
            <a:off x="6864985" y="4963795"/>
            <a:ext cx="124841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Bug </a:t>
            </a:r>
            <a:endParaRPr lang="zh-CN" altLang="en-US">
              <a:latin typeface="Comic Sans MS" panose="030F0702030302020204" charset="0"/>
              <a:cs typeface="Comic Sans MS" panose="030F0702030302020204" charset="0"/>
            </a:endParaRPr>
          </a:p>
        </p:txBody>
      </p:sp>
      <p:cxnSp>
        <p:nvCxnSpPr>
          <p:cNvPr id="74" name="直接连接符 73"/>
          <p:cNvCxnSpPr>
            <a:endCxn id="65" idx="4"/>
          </p:cNvCxnSpPr>
          <p:nvPr/>
        </p:nvCxnSpPr>
        <p:spPr>
          <a:xfrm>
            <a:off x="5668645" y="3451225"/>
            <a:ext cx="15875" cy="779780"/>
          </a:xfrm>
          <a:prstGeom prst="line">
            <a:avLst/>
          </a:prstGeom>
          <a:ln w="22225">
            <a:solidFill>
              <a:srgbClr val="000000"/>
            </a:solidFill>
          </a:ln>
        </p:spPr>
        <p:style>
          <a:lnRef idx="2">
            <a:schemeClr val="accent1"/>
          </a:lnRef>
          <a:fillRef idx="0">
            <a:srgbClr val="FFFFFF"/>
          </a:fillRef>
          <a:effectRef idx="0">
            <a:srgbClr val="FFFFFF"/>
          </a:effectRef>
          <a:fontRef idx="minor">
            <a:schemeClr val="tx1"/>
          </a:fontRef>
        </p:style>
      </p:cxnSp>
      <p:pic>
        <p:nvPicPr>
          <p:cNvPr id="75" name="图片 74" descr="等于号"/>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5332095" y="3662680"/>
            <a:ext cx="317500" cy="335915"/>
          </a:xfrm>
          <a:prstGeom prst="rect">
            <a:avLst/>
          </a:prstGeom>
        </p:spPr>
      </p:pic>
      <p:cxnSp>
        <p:nvCxnSpPr>
          <p:cNvPr id="77" name="直接箭头连接符 76"/>
          <p:cNvCxnSpPr>
            <a:stCxn id="65" idx="3"/>
          </p:cNvCxnSpPr>
          <p:nvPr/>
        </p:nvCxnSpPr>
        <p:spPr>
          <a:xfrm flipH="1">
            <a:off x="5071745" y="4113530"/>
            <a:ext cx="317500" cy="65849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78" name="图片 77" descr="对"/>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4729480" y="4815840"/>
            <a:ext cx="537845" cy="537845"/>
          </a:xfrm>
          <a:prstGeom prst="rect">
            <a:avLst/>
          </a:prstGeom>
        </p:spPr>
      </p:pic>
      <p:sp>
        <p:nvSpPr>
          <p:cNvPr id="79" name="文本框 78"/>
          <p:cNvSpPr txBox="1"/>
          <p:nvPr/>
        </p:nvSpPr>
        <p:spPr>
          <a:xfrm>
            <a:off x="3557905" y="5035550"/>
            <a:ext cx="1336675"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Not a Bug </a:t>
            </a:r>
            <a:endParaRPr lang="zh-CN" altLang="en-US">
              <a:latin typeface="Comic Sans MS" panose="030F0702030302020204" charset="0"/>
              <a:cs typeface="Comic Sans MS" panose="030F0702030302020204" charset="0"/>
            </a:endParaRPr>
          </a:p>
        </p:txBody>
      </p:sp>
      <p:pic>
        <p:nvPicPr>
          <p:cNvPr id="28" name="图片 27" descr="数据库"/>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9011920" y="3325495"/>
            <a:ext cx="758825" cy="758825"/>
          </a:xfrm>
          <a:prstGeom prst="rect">
            <a:avLst/>
          </a:prstGeom>
        </p:spPr>
      </p:pic>
      <p:pic>
        <p:nvPicPr>
          <p:cNvPr id="2" name="图片 1" descr="加号"/>
          <p:cNvPicPr>
            <a:picLocks noChangeAspect="1"/>
          </p:cNvPicPr>
          <p:nvPr>
            <p:custDataLst>
              <p:tags r:id="rId30"/>
            </p:custDataLst>
          </p:nvPr>
        </p:nvPicPr>
        <p:blipFill>
          <a:blip r:embed="rId13">
            <a:extLst>
              <a:ext uri="{96DAC541-7B7A-43D3-8B79-37D633B846F1}">
                <asvg:svgBlip xmlns:asvg="http://schemas.microsoft.com/office/drawing/2016/SVG/main" r:embed="rId14"/>
              </a:ext>
            </a:extLst>
          </a:blip>
          <a:stretch>
            <a:fillRect/>
          </a:stretch>
        </p:blipFill>
        <p:spPr>
          <a:xfrm>
            <a:off x="8672195" y="3575685"/>
            <a:ext cx="356870" cy="356870"/>
          </a:xfrm>
          <a:prstGeom prst="rect">
            <a:avLst/>
          </a:prstGeom>
        </p:spPr>
      </p:pic>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680720" y="1377950"/>
            <a:ext cx="10888345" cy="5020310"/>
          </a:xfrm>
        </p:spPr>
        <p:txBody>
          <a:bodyPr/>
          <a:lstStyle/>
          <a:p>
            <a:pPr>
              <a:lnSpc>
                <a:spcPct val="100000"/>
              </a:lnSpc>
              <a:buFont typeface="Wingdings" panose="05000000000000000000" charset="0"/>
              <a:buChar char="p"/>
            </a:pPr>
            <a:r>
              <a:rPr lang="en-US" sz="2140" b="1">
                <a:solidFill>
                  <a:schemeClr val="tx1"/>
                </a:solidFill>
                <a:latin typeface="Cambria" panose="02040503050406030204" charset="0"/>
                <a:cs typeface="Cambria" panose="02040503050406030204" charset="0"/>
                <a:sym typeface="+mn-ea"/>
              </a:rPr>
              <a:t> Mostly </a:t>
            </a:r>
            <a:r>
              <a:rPr lang="en-US" altLang="zh-CN" sz="2140" b="1">
                <a:solidFill>
                  <a:schemeClr val="tx1"/>
                </a:solidFill>
                <a:latin typeface="Cambria" panose="02040503050406030204" charset="0"/>
                <a:cs typeface="Cambria" panose="02040503050406030204" charset="0"/>
                <a:sym typeface="+mn-ea"/>
              </a:rPr>
              <a:t>natural-language docs</a:t>
            </a:r>
            <a:r>
              <a:rPr lang="en-US" sz="2140" b="1">
                <a:solidFill>
                  <a:schemeClr val="tx1"/>
                </a:solidFill>
                <a:latin typeface="Cambria" panose="02040503050406030204" charset="0"/>
                <a:cs typeface="Cambria" panose="02040503050406030204" charset="0"/>
                <a:sym typeface="+mn-ea"/>
              </a:rPr>
              <a:t>:Hard to structure</a:t>
            </a:r>
            <a:endParaRPr lang="en-US" sz="2140" b="1">
              <a:solidFill>
                <a:schemeClr val="tx1"/>
              </a:solidFill>
              <a:latin typeface="Cambria" panose="02040503050406030204" charset="0"/>
              <a:cs typeface="Cambria" panose="02040503050406030204" charset="0"/>
              <a:sym typeface="+mn-ea"/>
            </a:endParaRPr>
          </a:p>
          <a:p>
            <a:pPr>
              <a:lnSpc>
                <a:spcPct val="100000"/>
              </a:lnSpc>
              <a:buFont typeface="Wingdings" panose="05000000000000000000" charset="0"/>
              <a:buChar char="p"/>
            </a:pPr>
            <a:r>
              <a:rPr lang="en-US" sz="2140" b="1">
                <a:solidFill>
                  <a:schemeClr val="tx1"/>
                </a:solidFill>
                <a:latin typeface="Cambria" panose="02040503050406030204" charset="0"/>
                <a:cs typeface="Cambria" panose="02040503050406030204" charset="0"/>
                <a:sym typeface="+mn-ea"/>
              </a:rPr>
              <a:t> Different VDBMS,different standards: Hard to do </a:t>
            </a:r>
            <a:r>
              <a:rPr lang="en-US" altLang="zh-CN" sz="2140" b="1">
                <a:solidFill>
                  <a:schemeClr val="tx1"/>
                </a:solidFill>
                <a:latin typeface="Cambria" panose="02040503050406030204" charset="0"/>
                <a:cs typeface="Cambria" panose="02040503050406030204" charset="0"/>
                <a:sym typeface="+mn-ea"/>
              </a:rPr>
              <a:t>differential testing</a:t>
            </a:r>
            <a:endParaRPr lang="en-US" altLang="zh-CN" sz="2140" b="1">
              <a:solidFill>
                <a:schemeClr val="tx1"/>
              </a:solidFill>
              <a:latin typeface="Cambria" panose="02040503050406030204" charset="0"/>
              <a:cs typeface="Cambria" panose="02040503050406030204" charset="0"/>
              <a:sym typeface="+mn-ea"/>
            </a:endParaRPr>
          </a:p>
          <a:p>
            <a:pPr>
              <a:buFont typeface="Wingdings" panose="05000000000000000000" charset="0"/>
              <a:buChar char="p"/>
            </a:pPr>
            <a:endParaRPr lang="en-US" sz="2140" b="1" dirty="0">
              <a:solidFill>
                <a:schemeClr val="tx1"/>
              </a:solidFill>
              <a:latin typeface="Cambria" panose="02040503050406030204" charset="0"/>
              <a:ea typeface="Segoe UI" panose="020B0502040204020203"/>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22568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579438"/>
            <a:ext cx="10571480" cy="553720"/>
          </a:xfrm>
          <a:prstGeom prst="rect">
            <a:avLst/>
          </a:prstGeom>
          <a:noFill/>
        </p:spPr>
        <p:txBody>
          <a:bodyPr vert="horz" wrap="square" lIns="0" tIns="0" rIns="0" bIns="0" rtlCol="0" anchor="ctr" anchorCtr="0">
            <a:spAutoFit/>
          </a:bodyPr>
          <a:lstStyle/>
          <a:p>
            <a:r>
              <a:rPr sz="3600" b="1">
                <a:solidFill>
                  <a:srgbClr val="0A4A94"/>
                </a:solidFill>
                <a:latin typeface="Cambria" panose="02040503050406030204" charset="0"/>
                <a:cs typeface="Cambria" panose="02040503050406030204" charset="0"/>
                <a:sym typeface="+mn-ea"/>
              </a:rPr>
              <a:t>VDBMS</a:t>
            </a:r>
            <a:r>
              <a:rPr lang="en-US" sz="3600" b="1">
                <a:solidFill>
                  <a:srgbClr val="0A4A94"/>
                </a:solidFill>
                <a:latin typeface="Cambria" panose="02040503050406030204" charset="0"/>
                <a:cs typeface="Cambria" panose="02040503050406030204" charset="0"/>
                <a:sym typeface="+mn-ea"/>
              </a:rPr>
              <a:t> Documentation </a:t>
            </a:r>
            <a:r>
              <a:rPr sz="3600" b="1">
                <a:solidFill>
                  <a:srgbClr val="0A4A94"/>
                </a:solidFill>
                <a:latin typeface="Cambria" panose="02040503050406030204" charset="0"/>
                <a:cs typeface="Cambria" panose="02040503050406030204" charset="0"/>
                <a:sym typeface="+mn-ea"/>
              </a:rPr>
              <a:t> </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pic>
        <p:nvPicPr>
          <p:cNvPr id="9" name="图片 8"/>
          <p:cNvPicPr>
            <a:picLocks noChangeAspect="1"/>
          </p:cNvPicPr>
          <p:nvPr/>
        </p:nvPicPr>
        <p:blipFill>
          <a:blip r:embed="rId3"/>
          <a:srcRect r="18685"/>
          <a:stretch>
            <a:fillRect/>
          </a:stretch>
        </p:blipFill>
        <p:spPr>
          <a:xfrm>
            <a:off x="5541010" y="4094480"/>
            <a:ext cx="5844540" cy="2219960"/>
          </a:xfrm>
          <a:prstGeom prst="rect">
            <a:avLst/>
          </a:prstGeom>
          <a:ln w="25400">
            <a:solidFill>
              <a:srgbClr val="000000"/>
            </a:solidFill>
          </a:ln>
        </p:spPr>
      </p:pic>
      <p:pic>
        <p:nvPicPr>
          <p:cNvPr id="10" name="图片 9"/>
          <p:cNvPicPr>
            <a:picLocks noChangeAspect="1"/>
          </p:cNvPicPr>
          <p:nvPr/>
        </p:nvPicPr>
        <p:blipFill>
          <a:blip r:embed="rId4"/>
          <a:srcRect l="1802" r="26303"/>
          <a:stretch>
            <a:fillRect/>
          </a:stretch>
        </p:blipFill>
        <p:spPr>
          <a:xfrm>
            <a:off x="1130300" y="2519045"/>
            <a:ext cx="4229735" cy="3795395"/>
          </a:xfrm>
          <a:prstGeom prst="rect">
            <a:avLst/>
          </a:prstGeom>
          <a:ln w="25400">
            <a:solidFill>
              <a:schemeClr val="tx1"/>
            </a:solidFill>
          </a:ln>
        </p:spPr>
      </p:pic>
      <p:sp>
        <p:nvSpPr>
          <p:cNvPr id="18" name="矩形 17"/>
          <p:cNvSpPr/>
          <p:nvPr/>
        </p:nvSpPr>
        <p:spPr>
          <a:xfrm>
            <a:off x="7952105" y="5457825"/>
            <a:ext cx="3358515" cy="755650"/>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矩形 30"/>
          <p:cNvSpPr/>
          <p:nvPr/>
        </p:nvSpPr>
        <p:spPr>
          <a:xfrm>
            <a:off x="3955415" y="3359150"/>
            <a:ext cx="1334770" cy="578485"/>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2" name="图片 31"/>
          <p:cNvPicPr>
            <a:picLocks noChangeAspect="1"/>
          </p:cNvPicPr>
          <p:nvPr/>
        </p:nvPicPr>
        <p:blipFill>
          <a:blip r:embed="rId5"/>
          <a:stretch>
            <a:fillRect/>
          </a:stretch>
        </p:blipFill>
        <p:spPr>
          <a:xfrm>
            <a:off x="5502910" y="2486660"/>
            <a:ext cx="5882640" cy="1504950"/>
          </a:xfrm>
          <a:prstGeom prst="rect">
            <a:avLst/>
          </a:prstGeom>
        </p:spPr>
      </p:pic>
      <p:sp>
        <p:nvSpPr>
          <p:cNvPr id="34" name="矩形 33"/>
          <p:cNvSpPr/>
          <p:nvPr/>
        </p:nvSpPr>
        <p:spPr>
          <a:xfrm>
            <a:off x="8108315" y="2715260"/>
            <a:ext cx="718820" cy="365760"/>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716915" y="1372235"/>
            <a:ext cx="10852150" cy="4941570"/>
          </a:xfrm>
        </p:spPr>
        <p:txBody>
          <a:bodyPr/>
          <a:lstStyle/>
          <a:p>
            <a:pPr>
              <a:buFont typeface="Wingdings" panose="05000000000000000000" charset="0"/>
              <a:buChar char="p"/>
            </a:pPr>
            <a:r>
              <a:rPr lang="en-US" altLang="zh-CN" sz="2000" b="1" dirty="0">
                <a:solidFill>
                  <a:schemeClr val="tx2"/>
                </a:solidFill>
                <a:latin typeface="Cambria" panose="02040503050406030204" charset="0"/>
                <a:cs typeface="Cambria" panose="02040503050406030204" charset="0"/>
                <a:sym typeface="+mn-ea"/>
              </a:rPr>
              <a:t> Existing approach(VDBFuzz) focuses on detecting crash bugs</a:t>
            </a:r>
            <a:endParaRPr lang="en-US" altLang="zh-CN" sz="2000" b="1" dirty="0">
              <a:solidFill>
                <a:schemeClr val="tx2"/>
              </a:solidFill>
              <a:latin typeface="Cambria" panose="02040503050406030204" charset="0"/>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22568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793115"/>
            <a:ext cx="10571480" cy="483870"/>
          </a:xfrm>
          <a:prstGeom prst="rect">
            <a:avLst/>
          </a:prstGeom>
          <a:noFill/>
        </p:spPr>
        <p:txBody>
          <a:bodyPr vert="horz" wrap="square" lIns="0" tIns="0" rIns="0" bIns="0" rtlCol="0" anchor="ctr" anchorCtr="0">
            <a:noAutofit/>
          </a:bodyPr>
          <a:lstStyle/>
          <a:p>
            <a:r>
              <a:rPr lang="en-US" altLang="zh-CN" sz="3600" b="1" dirty="0">
                <a:solidFill>
                  <a:srgbClr val="0A4A94"/>
                </a:solidFill>
                <a:latin typeface="Cambria" panose="02040503050406030204" charset="0"/>
                <a:cs typeface="Cambria" panose="02040503050406030204" charset="0"/>
                <a:sym typeface="+mn-ea"/>
              </a:rPr>
              <a:t>Existing Approach</a:t>
            </a:r>
            <a:endParaRPr lang="zh-CN" altLang="en-US" sz="3600" b="1" dirty="0">
              <a:solidFill>
                <a:srgbClr val="0A4A94"/>
              </a:solidFill>
              <a:latin typeface="Cambria" panose="02040503050406030204" charset="0"/>
              <a:cs typeface="Cambria" panose="02040503050406030204" charset="0"/>
            </a:endParaRPr>
          </a:p>
          <a:p>
            <a:r>
              <a:rPr sz="3600" b="1">
                <a:solidFill>
                  <a:srgbClr val="0A4A94"/>
                </a:solidFill>
                <a:latin typeface="Cambria" panose="02040503050406030204" charset="0"/>
                <a:cs typeface="Cambria" panose="02040503050406030204" charset="0"/>
                <a:sym typeface="+mn-ea"/>
              </a:rPr>
              <a:t> </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3" name="灯片编号占位符 2"/>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pic>
        <p:nvPicPr>
          <p:cNvPr id="5" name="图片 4" descr="文档"/>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2172335" y="2210435"/>
            <a:ext cx="713105" cy="713105"/>
          </a:xfrm>
          <a:prstGeom prst="rect">
            <a:avLst/>
          </a:prstGeom>
        </p:spPr>
      </p:pic>
      <p:sp>
        <p:nvSpPr>
          <p:cNvPr id="6" name="文本框 5"/>
          <p:cNvSpPr txBox="1"/>
          <p:nvPr/>
        </p:nvSpPr>
        <p:spPr>
          <a:xfrm>
            <a:off x="1839595" y="3286760"/>
            <a:ext cx="1631315" cy="36830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rPr>
              <a:t>① Templates</a:t>
            </a:r>
            <a:endParaRPr lang="en-US" altLang="zh-CN">
              <a:latin typeface="Comic Sans MS" panose="030F0702030302020204" charset="0"/>
              <a:cs typeface="Comic Sans MS" panose="030F0702030302020204" charset="0"/>
            </a:endParaRPr>
          </a:p>
        </p:txBody>
      </p:sp>
      <p:cxnSp>
        <p:nvCxnSpPr>
          <p:cNvPr id="10" name="直接箭头连接符 9"/>
          <p:cNvCxnSpPr>
            <a:endCxn id="16" idx="1"/>
          </p:cNvCxnSpPr>
          <p:nvPr/>
        </p:nvCxnSpPr>
        <p:spPr>
          <a:xfrm flipV="1">
            <a:off x="2885654" y="2636643"/>
            <a:ext cx="1648460" cy="8890"/>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4245610" y="3286760"/>
            <a:ext cx="2592070" cy="64516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②</a:t>
            </a:r>
            <a:r>
              <a:rPr lang="en-US" altLang="zh-CN">
                <a:latin typeface="Comic Sans MS" panose="030F0702030302020204" charset="0"/>
                <a:cs typeface="Comic Sans MS" panose="030F0702030302020204" charset="0"/>
              </a:rPr>
              <a:t> Pattern-based Input Mutation</a:t>
            </a:r>
            <a:endParaRPr lang="en-US" altLang="zh-CN">
              <a:latin typeface="Comic Sans MS" panose="030F0702030302020204" charset="0"/>
              <a:cs typeface="Comic Sans MS" panose="030F0702030302020204" charset="0"/>
            </a:endParaRPr>
          </a:p>
        </p:txBody>
      </p:sp>
      <p:pic>
        <p:nvPicPr>
          <p:cNvPr id="13" name="图片 12" descr="文档"/>
          <p:cNvPicPr>
            <a:picLocks noChangeAspect="1"/>
          </p:cNvPicPr>
          <p:nvPr>
            <p:custDataLst>
              <p:tags r:id="rId6"/>
            </p:custDataLst>
          </p:nvPr>
        </p:nvPicPr>
        <p:blipFill>
          <a:blip r:embed="rId4">
            <a:extLst>
              <a:ext uri="{96DAC541-7B7A-43D3-8B79-37D633B846F1}">
                <asvg:svgBlip xmlns:asvg="http://schemas.microsoft.com/office/drawing/2016/SVG/main" r:embed="rId5"/>
              </a:ext>
            </a:extLst>
          </a:blip>
          <a:stretch>
            <a:fillRect/>
          </a:stretch>
        </p:blipFill>
        <p:spPr>
          <a:xfrm>
            <a:off x="4601845" y="2153920"/>
            <a:ext cx="713105" cy="713105"/>
          </a:xfrm>
          <a:prstGeom prst="rect">
            <a:avLst/>
          </a:prstGeom>
        </p:spPr>
      </p:pic>
      <p:pic>
        <p:nvPicPr>
          <p:cNvPr id="14" name="图片 13" descr="箭头-直角-向右"/>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5226685" y="2302510"/>
            <a:ext cx="415925" cy="415925"/>
          </a:xfrm>
          <a:prstGeom prst="rect">
            <a:avLst/>
          </a:prstGeom>
        </p:spPr>
      </p:pic>
      <p:sp>
        <p:nvSpPr>
          <p:cNvPr id="16" name="圆角矩形 15"/>
          <p:cNvSpPr/>
          <p:nvPr/>
        </p:nvSpPr>
        <p:spPr>
          <a:xfrm>
            <a:off x="4533900" y="2063750"/>
            <a:ext cx="1892300" cy="1145540"/>
          </a:xfrm>
          <a:prstGeom prst="roundRect">
            <a:avLst/>
          </a:prstGeom>
          <a:noFill/>
          <a:ln w="34925" cmpd="sng">
            <a:solidFill>
              <a:srgbClr val="00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 name="图片 16" descr="程序代码编程"/>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5694045" y="2153285"/>
            <a:ext cx="648335" cy="713740"/>
          </a:xfrm>
          <a:prstGeom prst="rect">
            <a:avLst/>
          </a:prstGeom>
        </p:spPr>
      </p:pic>
      <p:grpSp>
        <p:nvGrpSpPr>
          <p:cNvPr id="53" name="组合 52"/>
          <p:cNvGrpSpPr/>
          <p:nvPr/>
        </p:nvGrpSpPr>
        <p:grpSpPr>
          <a:xfrm>
            <a:off x="8834120" y="2153285"/>
            <a:ext cx="694055" cy="714375"/>
            <a:chOff x="10768037" y="2587551"/>
            <a:chExt cx="694233" cy="769441"/>
          </a:xfrm>
        </p:grpSpPr>
        <p:sp>
          <p:nvSpPr>
            <p:cNvPr id="54" name="圆柱体 53"/>
            <p:cNvSpPr/>
            <p:nvPr/>
          </p:nvSpPr>
          <p:spPr bwMode="auto">
            <a:xfrm>
              <a:off x="10768037" y="2649006"/>
              <a:ext cx="693836" cy="707986"/>
            </a:xfrm>
            <a:prstGeom prst="can">
              <a:avLst>
                <a:gd name="adj" fmla="val 44670"/>
              </a:avLst>
            </a:prstGeom>
            <a:solidFill>
              <a:schemeClr val="bg1"/>
            </a:solidFill>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ctr" anchorCtr="0" compatLnSpc="1">
              <a:noAutofit/>
            </a:bodyPr>
            <a:lstStyle/>
            <a:p>
              <a:pPr algn="ctr" fontAlgn="base">
                <a:spcBef>
                  <a:spcPct val="20000"/>
                </a:spcBef>
                <a:spcAft>
                  <a:spcPct val="0"/>
                </a:spcAft>
                <a:buClr>
                  <a:srgbClr val="FF3300"/>
                </a:buClr>
                <a:buSzPct val="75000"/>
              </a:pPr>
              <a:r>
                <a:rPr lang="en-US" altLang="zh-CN" sz="2800" dirty="0">
                  <a:latin typeface="Times New Roman" panose="02020603050405020304" charset="0"/>
                  <a:ea typeface="Linux Libertine O" panose="02000503000000000000" pitchFamily="50" charset="0"/>
                  <a:cs typeface="Times New Roman" panose="02020603050405020304" charset="0"/>
                </a:rPr>
                <a:t>      </a:t>
              </a:r>
              <a:endParaRPr lang="zh-CN" altLang="en-US" sz="2800" dirty="0" err="1">
                <a:latin typeface="Times New Roman" panose="02020603050405020304" charset="0"/>
                <a:ea typeface="Linux Libertine O" panose="02000503000000000000" pitchFamily="50" charset="0"/>
                <a:cs typeface="Times New Roman" panose="02020603050405020304" charset="0"/>
              </a:endParaRPr>
            </a:p>
          </p:txBody>
        </p:sp>
        <p:sp>
          <p:nvSpPr>
            <p:cNvPr id="57" name="文本框 56"/>
            <p:cNvSpPr txBox="1"/>
            <p:nvPr/>
          </p:nvSpPr>
          <p:spPr>
            <a:xfrm>
              <a:off x="10768433" y="2587551"/>
              <a:ext cx="693837" cy="429519"/>
            </a:xfrm>
            <a:prstGeom prst="rect">
              <a:avLst/>
            </a:prstGeom>
            <a:noFill/>
          </p:spPr>
          <p:txBody>
            <a:bodyPr wrap="square" rtlCol="0">
              <a:spAutoFit/>
            </a:bodyPr>
            <a:lstStyle/>
            <a:p>
              <a:pPr algn="ctr"/>
              <a:r>
                <a:rPr lang="en-US" altLang="zh-CN" sz="2000" b="1" dirty="0">
                  <a:latin typeface="Times New Roman" panose="02020603050405020304" charset="0"/>
                </a:rPr>
                <a:t>vdb</a:t>
              </a:r>
              <a:endParaRPr lang="en-US" altLang="zh-CN" sz="2000" b="1" dirty="0">
                <a:latin typeface="Times New Roman" panose="02020603050405020304" charset="0"/>
              </a:endParaRPr>
            </a:p>
          </p:txBody>
        </p:sp>
      </p:grpSp>
      <p:cxnSp>
        <p:nvCxnSpPr>
          <p:cNvPr id="18" name="直接箭头连接符 17"/>
          <p:cNvCxnSpPr>
            <a:stCxn id="16" idx="3"/>
            <a:endCxn id="22" idx="1"/>
          </p:cNvCxnSpPr>
          <p:nvPr/>
        </p:nvCxnSpPr>
        <p:spPr>
          <a:xfrm>
            <a:off x="6426414" y="2636643"/>
            <a:ext cx="1050925" cy="635"/>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pic>
        <p:nvPicPr>
          <p:cNvPr id="21" name="图片 20" descr="箭头-直角-向右"/>
          <p:cNvPicPr>
            <a:picLocks noChangeAspect="1"/>
          </p:cNvPicPr>
          <p:nvPr>
            <p:custDataLst>
              <p:tags r:id="rId13"/>
            </p:custDataLst>
          </p:nvPr>
        </p:nvPicPr>
        <p:blipFill>
          <a:blip r:embed="rId8">
            <a:extLst>
              <a:ext uri="{96DAC541-7B7A-43D3-8B79-37D633B846F1}">
                <asvg:svgBlip xmlns:asvg="http://schemas.microsoft.com/office/drawing/2016/SVG/main" r:embed="rId9"/>
              </a:ext>
            </a:extLst>
          </a:blip>
          <a:stretch>
            <a:fillRect/>
          </a:stretch>
        </p:blipFill>
        <p:spPr>
          <a:xfrm>
            <a:off x="8342630" y="2334260"/>
            <a:ext cx="415925" cy="415925"/>
          </a:xfrm>
          <a:prstGeom prst="rect">
            <a:avLst/>
          </a:prstGeom>
        </p:spPr>
      </p:pic>
      <p:sp>
        <p:nvSpPr>
          <p:cNvPr id="22" name="圆角矩形 21"/>
          <p:cNvSpPr/>
          <p:nvPr/>
        </p:nvSpPr>
        <p:spPr>
          <a:xfrm>
            <a:off x="7477125" y="2064385"/>
            <a:ext cx="2223135" cy="1144905"/>
          </a:xfrm>
          <a:prstGeom prst="roundRect">
            <a:avLst/>
          </a:prstGeom>
          <a:noFill/>
          <a:ln w="34925" cmpd="sng">
            <a:solidFill>
              <a:srgbClr val="00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3" name="图片 22" descr="程序代码编程"/>
          <p:cNvPicPr>
            <a:picLocks noChangeAspect="1"/>
          </p:cNvPicPr>
          <p:nvPr>
            <p:custDataLst>
              <p:tags r:id="rId14"/>
            </p:custDataLst>
          </p:nvPr>
        </p:nvPicPr>
        <p:blipFill>
          <a:blip r:embed="rId11">
            <a:extLst>
              <a:ext uri="{96DAC541-7B7A-43D3-8B79-37D633B846F1}">
                <asvg:svgBlip xmlns:asvg="http://schemas.microsoft.com/office/drawing/2016/SVG/main" r:embed="rId12"/>
              </a:ext>
            </a:extLst>
          </a:blip>
          <a:stretch>
            <a:fillRect/>
          </a:stretch>
        </p:blipFill>
        <p:spPr>
          <a:xfrm>
            <a:off x="7623175" y="2153920"/>
            <a:ext cx="648335" cy="713740"/>
          </a:xfrm>
          <a:prstGeom prst="rect">
            <a:avLst/>
          </a:prstGeom>
        </p:spPr>
      </p:pic>
      <p:sp>
        <p:nvSpPr>
          <p:cNvPr id="25" name="文本框 24"/>
          <p:cNvSpPr txBox="1"/>
          <p:nvPr/>
        </p:nvSpPr>
        <p:spPr>
          <a:xfrm>
            <a:off x="7531100" y="3328035"/>
            <a:ext cx="2110105" cy="36830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③</a:t>
            </a:r>
            <a:r>
              <a:rPr lang="en-US" altLang="zh-CN">
                <a:latin typeface="Comic Sans MS" panose="030F0702030302020204" charset="0"/>
                <a:cs typeface="Comic Sans MS" panose="030F0702030302020204" charset="0"/>
              </a:rPr>
              <a:t> Test</a:t>
            </a:r>
            <a:r>
              <a:rPr lang="en-US" altLang="zh-CN">
                <a:latin typeface="Comic Sans MS" panose="030F0702030302020204" charset="0"/>
                <a:cs typeface="Comic Sans MS" panose="030F0702030302020204" charset="0"/>
                <a:sym typeface="+mn-ea"/>
              </a:rPr>
              <a:t> E</a:t>
            </a:r>
            <a:r>
              <a:rPr lang="en-US" altLang="zh-CN" dirty="0" err="1">
                <a:latin typeface="Comic Sans MS" panose="030F0702030302020204" charset="0"/>
                <a:ea typeface="Microsoft YaHei" panose="020B0503020204020204" charset="-122"/>
                <a:cs typeface="Comic Sans MS" panose="030F0702030302020204" charset="0"/>
                <a:sym typeface="+mn-ea"/>
              </a:rPr>
              <a:t>xecution</a:t>
            </a:r>
            <a:endParaRPr lang="en-US" altLang="zh-CN" dirty="0" err="1">
              <a:latin typeface="Comic Sans MS" panose="030F0702030302020204" charset="0"/>
              <a:ea typeface="Microsoft YaHei" panose="020B0503020204020204" charset="-122"/>
              <a:cs typeface="Comic Sans MS" panose="030F0702030302020204" charset="0"/>
              <a:sym typeface="+mn-ea"/>
            </a:endParaRPr>
          </a:p>
        </p:txBody>
      </p:sp>
      <p:pic>
        <p:nvPicPr>
          <p:cNvPr id="80" name="图片 79" descr="BUG问题修复"/>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6499860" y="4456430"/>
            <a:ext cx="648970" cy="664210"/>
          </a:xfrm>
          <a:prstGeom prst="rect">
            <a:avLst/>
          </a:prstGeom>
        </p:spPr>
      </p:pic>
      <p:sp>
        <p:nvSpPr>
          <p:cNvPr id="81" name="文本框 80"/>
          <p:cNvSpPr txBox="1"/>
          <p:nvPr/>
        </p:nvSpPr>
        <p:spPr>
          <a:xfrm>
            <a:off x="7733665" y="4001135"/>
            <a:ext cx="1941195" cy="36830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④</a:t>
            </a:r>
            <a:r>
              <a:rPr lang="en-US" altLang="zh-CN">
                <a:latin typeface="Comic Sans MS" panose="030F0702030302020204" charset="0"/>
                <a:cs typeface="Comic Sans MS" panose="030F0702030302020204" charset="0"/>
              </a:rPr>
              <a:t> Crash Oracle</a:t>
            </a:r>
            <a:endParaRPr lang="en-US" altLang="zh-CN">
              <a:latin typeface="Comic Sans MS" panose="030F0702030302020204" charset="0"/>
              <a:cs typeface="Comic Sans MS" panose="030F0702030302020204" charset="0"/>
            </a:endParaRPr>
          </a:p>
        </p:txBody>
      </p:sp>
      <p:sp>
        <p:nvSpPr>
          <p:cNvPr id="82" name="文本框 81"/>
          <p:cNvSpPr txBox="1"/>
          <p:nvPr/>
        </p:nvSpPr>
        <p:spPr>
          <a:xfrm>
            <a:off x="6257290" y="5277485"/>
            <a:ext cx="124841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Bug found</a:t>
            </a:r>
            <a:endParaRPr lang="zh-CN" altLang="en-US">
              <a:latin typeface="Comic Sans MS" panose="030F0702030302020204" charset="0"/>
              <a:cs typeface="Comic Sans MS" panose="030F0702030302020204" charset="0"/>
            </a:endParaRPr>
          </a:p>
        </p:txBody>
      </p:sp>
      <p:sp>
        <p:nvSpPr>
          <p:cNvPr id="95" name="文本框 94"/>
          <p:cNvSpPr txBox="1"/>
          <p:nvPr/>
        </p:nvSpPr>
        <p:spPr>
          <a:xfrm>
            <a:off x="4533900" y="2785745"/>
            <a:ext cx="836930" cy="24511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Templates</a:t>
            </a:r>
            <a:endParaRPr lang="en-US" altLang="zh-CN" sz="1000" b="1">
              <a:latin typeface="Comic Sans MS" panose="030F0702030302020204" charset="0"/>
              <a:cs typeface="Comic Sans MS" panose="030F0702030302020204" charset="0"/>
            </a:endParaRPr>
          </a:p>
        </p:txBody>
      </p:sp>
      <p:sp>
        <p:nvSpPr>
          <p:cNvPr id="96" name="文本框 95"/>
          <p:cNvSpPr txBox="1"/>
          <p:nvPr/>
        </p:nvSpPr>
        <p:spPr>
          <a:xfrm>
            <a:off x="5589270" y="2785745"/>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Test</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rPr>
              <a:t>scripts</a:t>
            </a:r>
            <a:endParaRPr lang="en-US" altLang="zh-CN" sz="1000" b="1">
              <a:latin typeface="Comic Sans MS" panose="030F0702030302020204" charset="0"/>
              <a:cs typeface="Comic Sans MS" panose="030F0702030302020204" charset="0"/>
            </a:endParaRPr>
          </a:p>
        </p:txBody>
      </p:sp>
      <p:sp>
        <p:nvSpPr>
          <p:cNvPr id="97" name="文本框 96"/>
          <p:cNvSpPr txBox="1"/>
          <p:nvPr/>
        </p:nvSpPr>
        <p:spPr>
          <a:xfrm>
            <a:off x="7531100" y="2785745"/>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Test</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rPr>
              <a:t>scripts</a:t>
            </a:r>
            <a:endParaRPr lang="en-US" altLang="zh-CN" sz="1000" b="1">
              <a:latin typeface="Comic Sans MS" panose="030F0702030302020204" charset="0"/>
              <a:cs typeface="Comic Sans MS" panose="030F0702030302020204" charset="0"/>
            </a:endParaRPr>
          </a:p>
        </p:txBody>
      </p:sp>
      <p:sp>
        <p:nvSpPr>
          <p:cNvPr id="98" name="文本框 97"/>
          <p:cNvSpPr txBox="1"/>
          <p:nvPr/>
        </p:nvSpPr>
        <p:spPr>
          <a:xfrm>
            <a:off x="8758555" y="2867025"/>
            <a:ext cx="836930" cy="24511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VDBMS</a:t>
            </a:r>
            <a:endParaRPr lang="en-US" altLang="zh-CN" sz="1000" b="1">
              <a:latin typeface="Comic Sans MS" panose="030F0702030302020204" charset="0"/>
              <a:cs typeface="Comic Sans MS" panose="030F0702030302020204" charset="0"/>
            </a:endParaRPr>
          </a:p>
        </p:txBody>
      </p:sp>
      <p:cxnSp>
        <p:nvCxnSpPr>
          <p:cNvPr id="100" name="直接箭头连接符 99"/>
          <p:cNvCxnSpPr>
            <a:stCxn id="103" idx="1"/>
            <a:endCxn id="80" idx="3"/>
          </p:cNvCxnSpPr>
          <p:nvPr/>
        </p:nvCxnSpPr>
        <p:spPr>
          <a:xfrm flipH="1">
            <a:off x="7149044" y="4775958"/>
            <a:ext cx="1193800" cy="12700"/>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cxnSp>
        <p:nvCxnSpPr>
          <p:cNvPr id="101" name="曲线连接符 100"/>
          <p:cNvCxnSpPr>
            <a:stCxn id="22" idx="3"/>
            <a:endCxn id="103" idx="3"/>
          </p:cNvCxnSpPr>
          <p:nvPr/>
        </p:nvCxnSpPr>
        <p:spPr>
          <a:xfrm flipH="1">
            <a:off x="9155430" y="2637155"/>
            <a:ext cx="544830" cy="2138680"/>
          </a:xfrm>
          <a:prstGeom prst="curvedConnector3">
            <a:avLst>
              <a:gd name="adj1" fmla="val -43706"/>
            </a:avLst>
          </a:prstGeom>
          <a:ln w="38100">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103" name="图片 102" descr="感叹号-圆环"/>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8342630" y="4369435"/>
            <a:ext cx="812800" cy="812800"/>
          </a:xfrm>
          <a:prstGeom prst="rect">
            <a:avLst/>
          </a:prstGeom>
        </p:spPr>
      </p:pic>
      <p:sp>
        <p:nvSpPr>
          <p:cNvPr id="104" name="文本框 103"/>
          <p:cNvSpPr txBox="1"/>
          <p:nvPr/>
        </p:nvSpPr>
        <p:spPr>
          <a:xfrm>
            <a:off x="1083945" y="5788025"/>
            <a:ext cx="9608185" cy="754380"/>
          </a:xfrm>
          <a:prstGeom prst="roundRect">
            <a:avLst/>
          </a:prstGeom>
          <a:solidFill>
            <a:srgbClr val="FFCDCD"/>
          </a:solidFill>
          <a:ln w="57150">
            <a:solidFill>
              <a:schemeClr val="bg1"/>
            </a:solidFill>
          </a:ln>
          <a:effectLst>
            <a:outerShdw blurRad="63500" sx="102000" sy="102000" algn="ctr"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wrap="none" anchor="ctr">
            <a:noAutofit/>
          </a:bodyPr>
          <a:lstStyle/>
          <a:p>
            <a:pPr algn="ctr"/>
            <a:r>
              <a:rPr lang="en-US" altLang="zh-CN" b="1" dirty="0">
                <a:solidFill>
                  <a:schemeClr val="tx1"/>
                </a:solidFill>
                <a:latin typeface="Cambria" panose="02040503050406030204" charset="0"/>
                <a:cs typeface="Cambria" panose="02040503050406030204" charset="0"/>
              </a:rPr>
              <a:t>VDBFuzz cannot be effectively applied to detect </a:t>
            </a:r>
            <a:r>
              <a:rPr b="1">
                <a:solidFill>
                  <a:srgbClr val="0A4A94"/>
                </a:solidFill>
                <a:latin typeface="Cambria" panose="02040503050406030204" charset="0"/>
                <a:cs typeface="Cambria" panose="02040503050406030204" charset="0"/>
                <a:sym typeface="+mn-ea"/>
              </a:rPr>
              <a:t>Doc-implementation</a:t>
            </a:r>
            <a:r>
              <a:rPr lang="en-US" altLang="zh-CN" b="1">
                <a:solidFill>
                  <a:srgbClr val="0A4A94"/>
                </a:solidFill>
                <a:latin typeface="Cambria" panose="02040503050406030204" charset="0"/>
                <a:cs typeface="Cambria" panose="02040503050406030204" charset="0"/>
                <a:sym typeface="+mn-ea"/>
              </a:rPr>
              <a:t> inconsistency</a:t>
            </a:r>
            <a:r>
              <a:rPr lang="en-US" altLang="zh-CN" b="1">
                <a:solidFill>
                  <a:srgbClr val="0A4A94"/>
                </a:solidFill>
                <a:latin typeface="Cambria" panose="02040503050406030204" charset="0"/>
                <a:cs typeface="Cambria" panose="02040503050406030204" charset="0"/>
                <a:sym typeface="+mn-ea"/>
              </a:rPr>
              <a:t> </a:t>
            </a:r>
            <a:r>
              <a:rPr lang="en-US" altLang="zh-CN" b="1" dirty="0" err="1">
                <a:solidFill>
                  <a:schemeClr val="tx1"/>
                </a:solidFill>
                <a:latin typeface="Cambria" panose="02040503050406030204" charset="0"/>
                <a:cs typeface="Cambria" panose="02040503050406030204" charset="0"/>
              </a:rPr>
              <a:t>bugs</a:t>
            </a:r>
            <a:endParaRPr lang="en-US" altLang="zh-CN" b="1" dirty="0" err="1">
              <a:solidFill>
                <a:schemeClr val="tx1"/>
              </a:solidFill>
              <a:latin typeface="Cambria" panose="02040503050406030204" charset="0"/>
              <a:cs typeface="Cambria" panose="02040503050406030204" charset="0"/>
            </a:endParaRPr>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矩形 13"/>
          <p:cNvSpPr/>
          <p:nvPr>
            <p:custDataLst>
              <p:tags r:id="rId1"/>
            </p:custDataLst>
          </p:nvPr>
        </p:nvSpPr>
        <p:spPr>
          <a:xfrm>
            <a:off x="664210" y="1819275"/>
            <a:ext cx="2702560" cy="2031365"/>
          </a:xfrm>
          <a:prstGeom prst="rect">
            <a:avLst/>
          </a:prstGeom>
          <a:solidFill>
            <a:schemeClr val="accent3">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内容占位符 32"/>
          <p:cNvSpPr>
            <a:spLocks noGrp="1"/>
          </p:cNvSpPr>
          <p:nvPr>
            <p:ph idx="1"/>
          </p:nvPr>
        </p:nvSpPr>
        <p:spPr>
          <a:xfrm>
            <a:off x="574040" y="1039495"/>
            <a:ext cx="10852150" cy="4941570"/>
          </a:xfrm>
        </p:spPr>
        <p:txBody>
          <a:bodyPr/>
          <a:lstStyle/>
          <a:p>
            <a:pPr>
              <a:buFont typeface="Wingdings" panose="05000000000000000000" charset="0"/>
              <a:buChar char="p"/>
            </a:pPr>
            <a:r>
              <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rPr>
              <a:t> How a bug that “silently accepts queries with nprobe=0”</a:t>
            </a:r>
            <a:r>
              <a:rPr lang="en-US" altLang="zh-CN" sz="1400" dirty="0">
                <a:solidFill>
                  <a:srgbClr val="000000"/>
                </a:solidFill>
                <a:latin typeface="Times New Roman" panose="02020603050405020304" charset="0"/>
                <a:ea typeface="SimSun" panose="02010600030101010101" pitchFamily="2" charset="-122"/>
                <a:cs typeface="Times New Roman" panose="02020603050405020304" charset="0"/>
                <a:sym typeface="+mn-ea"/>
              </a:rPr>
              <a:t>[1]</a:t>
            </a:r>
            <a:r>
              <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rPr>
              <a:t>is discovered </a:t>
            </a:r>
            <a:endPar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endParaRPr>
          </a:p>
          <a:p>
            <a:pPr marL="914400" lvl="2" indent="0">
              <a:buFont typeface="Wingdings" panose="05000000000000000000" charset="0"/>
              <a:buNone/>
            </a:pPr>
            <a:endPar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6006" y="105296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Observation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3"/>
            </p:custDataLst>
          </p:nvPr>
        </p:nvSpPr>
        <p:spPr>
          <a:xfrm>
            <a:off x="8781415" y="6276975"/>
            <a:ext cx="2700020" cy="265430"/>
          </a:xfrm>
        </p:spPr>
        <p:txBody>
          <a:bodyPr/>
          <a:lstStyle/>
          <a:p>
            <a:fld id="{E09368C2-8BE5-4C19-86FB-98954A39BC6E}" type="slidenum">
              <a:rPr lang="zh-CN" altLang="en-US" smtClean="0"/>
            </a:fld>
            <a:endParaRPr lang="zh-CN" altLang="en-US"/>
          </a:p>
        </p:txBody>
      </p:sp>
      <p:sp>
        <p:nvSpPr>
          <p:cNvPr id="44" name="文本框 43"/>
          <p:cNvSpPr txBox="1"/>
          <p:nvPr/>
        </p:nvSpPr>
        <p:spPr>
          <a:xfrm>
            <a:off x="664210" y="6339205"/>
            <a:ext cx="3797300" cy="362585"/>
          </a:xfrm>
          <a:prstGeom prst="rect">
            <a:avLst/>
          </a:prstGeom>
          <a:noFill/>
        </p:spPr>
        <p:txBody>
          <a:bodyPr wrap="square" rtlCol="0">
            <a:noAutofit/>
          </a:bodyPr>
          <a:lstStyle/>
          <a:p>
            <a:pPr marL="252095" indent="-347980" eaLnBrk="1" hangingPunct="1">
              <a:lnSpc>
                <a:spcPct val="125000"/>
              </a:lnSpc>
            </a:pPr>
            <a:r>
              <a:rPr lang="en-US" altLang="zh-CN" sz="1300" dirty="0">
                <a:solidFill>
                  <a:srgbClr val="000000"/>
                </a:solidFill>
                <a:latin typeface="Times New Roman" panose="02020603050405020304" charset="0"/>
                <a:ea typeface="SimSun" panose="02010600030101010101" pitchFamily="2" charset="-122"/>
                <a:cs typeface="Times New Roman" panose="02020603050405020304" charset="0"/>
                <a:sym typeface="+mn-ea"/>
              </a:rPr>
              <a:t>[1] https://github.com/milvus-io/milvus/issues/49823</a:t>
            </a:r>
            <a:endParaRPr lang="en-US" altLang="zh-CN" sz="1300" dirty="0">
              <a:solidFill>
                <a:srgbClr val="000000"/>
              </a:solidFill>
              <a:latin typeface="Times New Roman" panose="02020603050405020304" charset="0"/>
              <a:ea typeface="SimSun" panose="02010600030101010101" pitchFamily="2" charset="-122"/>
              <a:cs typeface="Times New Roman" panose="02020603050405020304" charset="0"/>
              <a:sym typeface="+mn-ea"/>
            </a:endParaRPr>
          </a:p>
        </p:txBody>
      </p:sp>
      <p:sp>
        <p:nvSpPr>
          <p:cNvPr id="8" name="圆角矩形 7"/>
          <p:cNvSpPr/>
          <p:nvPr>
            <p:custDataLst>
              <p:tags r:id="rId4"/>
            </p:custDataLst>
          </p:nvPr>
        </p:nvSpPr>
        <p:spPr>
          <a:xfrm>
            <a:off x="664210" y="1755775"/>
            <a:ext cx="2702560" cy="49593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descr="书-翻开"/>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10895" y="1755775"/>
            <a:ext cx="445770" cy="445770"/>
          </a:xfrm>
          <a:prstGeom prst="rect">
            <a:avLst/>
          </a:prstGeom>
        </p:spPr>
      </p:pic>
      <p:sp>
        <p:nvSpPr>
          <p:cNvPr id="7" name="文本框 6"/>
          <p:cNvSpPr txBox="1"/>
          <p:nvPr>
            <p:custDataLst>
              <p:tags r:id="rId8"/>
            </p:custDataLst>
          </p:nvPr>
        </p:nvSpPr>
        <p:spPr>
          <a:xfrm>
            <a:off x="1355090" y="1817370"/>
            <a:ext cx="1915160" cy="36830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rPr>
              <a:t>documentation</a:t>
            </a:r>
            <a:endParaRPr lang="en-US" altLang="zh-CN">
              <a:latin typeface="Comic Sans MS" panose="030F0702030302020204" charset="0"/>
              <a:cs typeface="Comic Sans MS" panose="030F0702030302020204" charset="0"/>
            </a:endParaRPr>
          </a:p>
        </p:txBody>
      </p:sp>
      <p:sp>
        <p:nvSpPr>
          <p:cNvPr id="15" name="文本框 14"/>
          <p:cNvSpPr txBox="1"/>
          <p:nvPr>
            <p:custDataLst>
              <p:tags r:id="rId9"/>
            </p:custDataLst>
          </p:nvPr>
        </p:nvSpPr>
        <p:spPr>
          <a:xfrm>
            <a:off x="738505" y="2108835"/>
            <a:ext cx="2513965" cy="1792605"/>
          </a:xfrm>
          <a:prstGeom prst="rect">
            <a:avLst/>
          </a:prstGeom>
          <a:noFill/>
        </p:spPr>
        <p:txBody>
          <a:bodyPr wrap="square" rtlCol="0">
            <a:noAutofit/>
          </a:bodyPr>
          <a:p>
            <a:pPr>
              <a:lnSpc>
                <a:spcPct val="100000"/>
              </a:lnSpc>
              <a:defRPr sz="1300" b="0">
                <a:solidFill>
                  <a:srgbClr val="333333"/>
                </a:solidFill>
                <a:latin typeface="Microsoft YaHei" panose="020B0503020204020204" charset="-122"/>
              </a:defRPr>
            </a:pPr>
            <a:endParaRPr lang="en-US" sz="1800" b="1">
              <a:effectLst/>
              <a:latin typeface="Cambria" panose="02040503050406030204" charset="0"/>
              <a:cs typeface="Cambria" panose="02040503050406030204" charset="0"/>
              <a:sym typeface="+mn-ea"/>
            </a:endParaRPr>
          </a:p>
          <a:p>
            <a:pPr>
              <a:lnSpc>
                <a:spcPct val="100000"/>
              </a:lnSpc>
              <a:defRPr sz="1300" b="0">
                <a:solidFill>
                  <a:srgbClr val="333333"/>
                </a:solidFill>
                <a:latin typeface="Microsoft YaHei" panose="020B0503020204020204" charset="-122"/>
              </a:defRPr>
            </a:pPr>
            <a:r>
              <a:rPr lang="en-US" sz="1800" b="1">
                <a:effectLst/>
                <a:latin typeface="Cambria" panose="02040503050406030204" charset="0"/>
                <a:cs typeface="Cambria" panose="02040503050406030204" charset="0"/>
                <a:sym typeface="+mn-ea"/>
              </a:rPr>
              <a:t>........</a:t>
            </a:r>
            <a:br>
              <a:rPr sz="1600" b="1">
                <a:effectLst/>
                <a:latin typeface="Cambria" panose="02040503050406030204" charset="0"/>
                <a:cs typeface="Cambria" panose="02040503050406030204" charset="0"/>
                <a:sym typeface="+mn-ea"/>
              </a:rPr>
            </a:br>
            <a:r>
              <a:rPr sz="1600" b="1">
                <a:effectLst/>
                <a:latin typeface="Cambria" panose="02040503050406030204" charset="0"/>
                <a:cs typeface="Cambria" panose="02040503050406030204" charset="0"/>
                <a:sym typeface="+mn-ea"/>
              </a:rPr>
              <a:t>nprobe (int</a:t>
            </a:r>
            <a:r>
              <a:rPr lang="en-US" sz="1600" b="1">
                <a:effectLst/>
                <a:latin typeface="Cambria" panose="02040503050406030204" charset="0"/>
                <a:cs typeface="Cambria" panose="02040503050406030204" charset="0"/>
                <a:sym typeface="+mn-ea"/>
              </a:rPr>
              <a:t>,must</a:t>
            </a:r>
            <a:r>
              <a:rPr sz="1600" b="1">
                <a:effectLst/>
                <a:latin typeface="Cambria" panose="02040503050406030204" charset="0"/>
                <a:cs typeface="Cambria" panose="02040503050406030204" charset="0"/>
                <a:sym typeface="+mn-ea"/>
              </a:rPr>
              <a:t>):</a:t>
            </a:r>
            <a:br>
              <a:rPr sz="1600" b="1">
                <a:effectLst/>
                <a:latin typeface="Cambria" panose="02040503050406030204" charset="0"/>
                <a:cs typeface="Cambria" panose="02040503050406030204" charset="0"/>
                <a:sym typeface="+mn-ea"/>
              </a:rPr>
            </a:br>
            <a:r>
              <a:rPr sz="1600" b="1">
                <a:effectLst/>
                <a:latin typeface="Cambria" panose="02040503050406030204" charset="0"/>
                <a:cs typeface="Cambria" panose="02040503050406030204" charset="0"/>
                <a:sym typeface="+mn-ea"/>
              </a:rPr>
              <a:t> </a:t>
            </a:r>
            <a:r>
              <a:rPr lang="en-US" sz="1600" b="1">
                <a:effectLst/>
                <a:latin typeface="Cambria" panose="02040503050406030204" charset="0"/>
                <a:cs typeface="Cambria" panose="02040503050406030204" charset="0"/>
                <a:sym typeface="+mn-ea"/>
              </a:rPr>
              <a:t> range:</a:t>
            </a:r>
            <a:r>
              <a:rPr sz="1600" b="1">
                <a:effectLst/>
                <a:latin typeface="Cambria" panose="02040503050406030204" charset="0"/>
                <a:cs typeface="Cambria" panose="02040503050406030204" charset="0"/>
                <a:sym typeface="+mn-ea"/>
              </a:rPr>
              <a:t> </a:t>
            </a:r>
            <a:r>
              <a:rPr lang="en-US" sz="1600" b="1">
                <a:effectLst/>
                <a:latin typeface="Cambria" panose="02040503050406030204" charset="0"/>
                <a:cs typeface="Cambria" panose="02040503050406030204" charset="0"/>
                <a:sym typeface="+mn-ea"/>
              </a:rPr>
              <a:t>[1,</a:t>
            </a:r>
            <a:r>
              <a:rPr sz="1600" b="1">
                <a:effectLst/>
                <a:latin typeface="Cambria" panose="02040503050406030204" charset="0"/>
                <a:cs typeface="Cambria" panose="02040503050406030204" charset="0"/>
                <a:sym typeface="+mn-ea"/>
              </a:rPr>
              <a:t>16384</a:t>
            </a:r>
            <a:r>
              <a:rPr lang="en-US" sz="1600" b="1">
                <a:effectLst/>
                <a:latin typeface="Cambria" panose="02040503050406030204" charset="0"/>
                <a:cs typeface="Cambria" panose="02040503050406030204" charset="0"/>
                <a:sym typeface="+mn-ea"/>
              </a:rPr>
              <a:t>]</a:t>
            </a:r>
            <a:endParaRPr sz="1600" b="1">
              <a:effectLst/>
              <a:latin typeface="Cambria" panose="02040503050406030204" charset="0"/>
              <a:cs typeface="Cambria" panose="02040503050406030204" charset="0"/>
              <a:sym typeface="+mn-ea"/>
            </a:endParaRPr>
          </a:p>
          <a:p>
            <a:pPr>
              <a:lnSpc>
                <a:spcPct val="100000"/>
              </a:lnSpc>
              <a:defRPr sz="1200" b="0">
                <a:solidFill>
                  <a:srgbClr val="666666"/>
                </a:solidFill>
                <a:latin typeface="Microsoft YaHei" panose="020B0503020204020204" charset="-122"/>
              </a:defRPr>
            </a:pPr>
            <a:r>
              <a:rPr sz="1400" b="1">
                <a:solidFill>
                  <a:schemeClr val="bg2">
                    <a:lumMod val="50000"/>
                  </a:schemeClr>
                </a:solidFill>
                <a:effectLst/>
                <a:latin typeface="Cambria" panose="02040503050406030204" charset="0"/>
                <a:cs typeface="Cambria" panose="02040503050406030204" charset="0"/>
                <a:sym typeface="+mn-ea"/>
              </a:rPr>
              <a:t>（</a:t>
            </a:r>
            <a:r>
              <a:rPr lang="zh-CN" sz="1400" b="1">
                <a:solidFill>
                  <a:schemeClr val="bg2">
                    <a:lumMod val="50000"/>
                  </a:schemeClr>
                </a:solidFill>
                <a:effectLst/>
                <a:latin typeface="Cambria" panose="02040503050406030204" charset="0"/>
                <a:cs typeface="Cambria" panose="02040503050406030204" charset="0"/>
                <a:sym typeface="+mn-ea"/>
              </a:rPr>
              <a:t>推测：</a:t>
            </a:r>
            <a:r>
              <a:rPr sz="1400" b="1">
                <a:solidFill>
                  <a:schemeClr val="bg2">
                    <a:lumMod val="50000"/>
                  </a:schemeClr>
                </a:solidFill>
                <a:effectLst/>
                <a:latin typeface="Cambria" panose="02040503050406030204" charset="0"/>
                <a:cs typeface="Cambria" panose="02040503050406030204" charset="0"/>
                <a:sym typeface="+mn-ea"/>
              </a:rPr>
              <a:t>应拒</a:t>
            </a:r>
            <a:r>
              <a:rPr lang="zh-CN" altLang="en-US" sz="1400" b="1">
                <a:solidFill>
                  <a:schemeClr val="bg2">
                    <a:lumMod val="50000"/>
                  </a:schemeClr>
                </a:solidFill>
                <a:effectLst/>
                <a:latin typeface="Cambria" panose="02040503050406030204" charset="0"/>
                <a:cs typeface="Cambria" panose="02040503050406030204" charset="0"/>
                <a:sym typeface="+mn-ea"/>
              </a:rPr>
              <a:t>绝</a:t>
            </a:r>
            <a:r>
              <a:rPr sz="1400" b="1">
                <a:solidFill>
                  <a:schemeClr val="bg2">
                    <a:lumMod val="50000"/>
                  </a:schemeClr>
                </a:solidFill>
                <a:effectLst/>
                <a:latin typeface="Cambria" panose="02040503050406030204" charset="0"/>
                <a:cs typeface="Cambria" panose="02040503050406030204" charset="0"/>
                <a:sym typeface="+mn-ea"/>
              </a:rPr>
              <a:t>nprobe=0）</a:t>
            </a:r>
            <a:endParaRPr lang="zh-CN" altLang="en-US" b="1">
              <a:solidFill>
                <a:schemeClr val="bg2">
                  <a:lumMod val="50000"/>
                </a:schemeClr>
              </a:solidFill>
              <a:effectLst/>
              <a:latin typeface="Cambria" panose="02040503050406030204" charset="0"/>
              <a:cs typeface="Cambria" panose="02040503050406030204" charset="0"/>
            </a:endParaRPr>
          </a:p>
          <a:p>
            <a:pPr>
              <a:lnSpc>
                <a:spcPct val="100000"/>
              </a:lnSpc>
              <a:defRPr sz="1300" b="0">
                <a:solidFill>
                  <a:srgbClr val="333333"/>
                </a:solidFill>
                <a:latin typeface="Microsoft YaHei" panose="020B0503020204020204" charset="-122"/>
              </a:defRPr>
            </a:pPr>
            <a:r>
              <a:rPr lang="en-US" sz="1800" b="1">
                <a:effectLst/>
                <a:latin typeface="Cambria" panose="02040503050406030204" charset="0"/>
                <a:cs typeface="Cambria" panose="02040503050406030204" charset="0"/>
                <a:sym typeface="+mn-ea"/>
              </a:rPr>
              <a:t>........</a:t>
            </a:r>
            <a:endParaRPr lang="en-US" altLang="zh-CN" sz="1800" b="1">
              <a:effectLst/>
              <a:latin typeface="Cambria" panose="02040503050406030204" charset="0"/>
              <a:cs typeface="Cambria" panose="02040503050406030204" charset="0"/>
              <a:sym typeface="+mn-ea"/>
            </a:endParaRPr>
          </a:p>
        </p:txBody>
      </p:sp>
      <p:sp>
        <p:nvSpPr>
          <p:cNvPr id="16" name="矩形 15"/>
          <p:cNvSpPr/>
          <p:nvPr>
            <p:custDataLst>
              <p:tags r:id="rId10"/>
            </p:custDataLst>
          </p:nvPr>
        </p:nvSpPr>
        <p:spPr>
          <a:xfrm>
            <a:off x="676275" y="3945255"/>
            <a:ext cx="2702560" cy="2350135"/>
          </a:xfrm>
          <a:prstGeom prst="rect">
            <a:avLst/>
          </a:prstGeom>
          <a:solidFill>
            <a:schemeClr val="accent4">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圆角矩形 16"/>
          <p:cNvSpPr/>
          <p:nvPr>
            <p:custDataLst>
              <p:tags r:id="rId11"/>
            </p:custDataLst>
          </p:nvPr>
        </p:nvSpPr>
        <p:spPr>
          <a:xfrm>
            <a:off x="676275" y="3883660"/>
            <a:ext cx="2702560" cy="495300"/>
          </a:xfrm>
          <a:prstGeom prst="roundRect">
            <a:avLst/>
          </a:prstGeom>
          <a:solidFill>
            <a:schemeClr val="accent4">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custDataLst>
              <p:tags r:id="rId12"/>
            </p:custDataLst>
          </p:nvPr>
        </p:nvSpPr>
        <p:spPr>
          <a:xfrm>
            <a:off x="1355090" y="3961130"/>
            <a:ext cx="1981835" cy="36830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rPr>
              <a:t>user’s operation</a:t>
            </a:r>
            <a:endParaRPr lang="en-US" altLang="zh-CN">
              <a:latin typeface="Comic Sans MS" panose="030F0702030302020204" charset="0"/>
              <a:cs typeface="Comic Sans MS" panose="030F0702030302020204" charset="0"/>
            </a:endParaRPr>
          </a:p>
        </p:txBody>
      </p:sp>
      <p:sp>
        <p:nvSpPr>
          <p:cNvPr id="28" name="文本框 27"/>
          <p:cNvSpPr txBox="1"/>
          <p:nvPr>
            <p:custDataLst>
              <p:tags r:id="rId13"/>
            </p:custDataLst>
          </p:nvPr>
        </p:nvSpPr>
        <p:spPr>
          <a:xfrm>
            <a:off x="730885" y="4343400"/>
            <a:ext cx="2527300" cy="1952625"/>
          </a:xfrm>
          <a:prstGeom prst="rect">
            <a:avLst/>
          </a:prstGeom>
          <a:noFill/>
        </p:spPr>
        <p:txBody>
          <a:bodyPr wrap="square" rtlCol="0">
            <a:noAutofit/>
          </a:bodyPr>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POST /v2/vectordb/entities/</a:t>
            </a:r>
            <a:r>
              <a:rPr lang="en-US" altLang="zh-CN" sz="1200" b="1">
                <a:solidFill>
                  <a:srgbClr val="FF0000"/>
                </a:solidFill>
                <a:effectLst/>
                <a:highlight>
                  <a:srgbClr val="FFFF00"/>
                </a:highlight>
                <a:latin typeface="Cambria" panose="02040503050406030204" charset="0"/>
                <a:cs typeface="Cambria" panose="02040503050406030204" charset="0"/>
                <a:sym typeface="+mn-ea"/>
              </a:rPr>
              <a:t>search</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Host: localhost:19530</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  "collectionName": "demo",</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  "data": [[0.1, 0.2, 0.3, ..., 0.512]],</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  "searchParams": {</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    </a:t>
            </a:r>
            <a:r>
              <a:rPr lang="en-US" altLang="zh-CN" sz="1200" b="1">
                <a:solidFill>
                  <a:srgbClr val="FF0000"/>
                </a:solidFill>
                <a:effectLst/>
                <a:highlight>
                  <a:srgbClr val="FFFF00"/>
                </a:highlight>
                <a:latin typeface="Cambria" panose="02040503050406030204" charset="0"/>
                <a:cs typeface="Cambria" panose="02040503050406030204" charset="0"/>
                <a:sym typeface="+mn-ea"/>
              </a:rPr>
              <a:t>"params": { "nprobe": 0 }</a:t>
            </a:r>
            <a:endParaRPr lang="en-US" altLang="zh-CN" sz="1200" b="1">
              <a:solidFill>
                <a:srgbClr val="FF0000"/>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  }</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a:t>
            </a:r>
            <a:endParaRPr lang="en-US" altLang="zh-CN" sz="1200" b="1">
              <a:effectLst/>
              <a:latin typeface="Cambria" panose="02040503050406030204" charset="0"/>
              <a:cs typeface="Cambria" panose="02040503050406030204" charset="0"/>
              <a:sym typeface="+mn-ea"/>
            </a:endParaRPr>
          </a:p>
        </p:txBody>
      </p:sp>
      <p:pic>
        <p:nvPicPr>
          <p:cNvPr id="29" name="图片 28" descr="软件"/>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798830" y="3919220"/>
            <a:ext cx="457835" cy="424180"/>
          </a:xfrm>
          <a:prstGeom prst="rect">
            <a:avLst/>
          </a:prstGeom>
        </p:spPr>
      </p:pic>
      <p:sp>
        <p:nvSpPr>
          <p:cNvPr id="31" name="矩形 30"/>
          <p:cNvSpPr/>
          <p:nvPr>
            <p:custDataLst>
              <p:tags r:id="rId17"/>
            </p:custDataLst>
          </p:nvPr>
        </p:nvSpPr>
        <p:spPr>
          <a:xfrm>
            <a:off x="8712200" y="2686050"/>
            <a:ext cx="2957830" cy="3498850"/>
          </a:xfrm>
          <a:prstGeom prst="rect">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圆角矩形 36"/>
          <p:cNvSpPr/>
          <p:nvPr>
            <p:custDataLst>
              <p:tags r:id="rId18"/>
            </p:custDataLst>
          </p:nvPr>
        </p:nvSpPr>
        <p:spPr>
          <a:xfrm>
            <a:off x="8712200" y="2108835"/>
            <a:ext cx="2957830" cy="628015"/>
          </a:xfrm>
          <a:prstGeom prst="roundRect">
            <a:avLst/>
          </a:prstGeom>
          <a:solidFill>
            <a:schemeClr val="accent6">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文本框 37"/>
          <p:cNvSpPr txBox="1"/>
          <p:nvPr>
            <p:custDataLst>
              <p:tags r:id="rId19"/>
            </p:custDataLst>
          </p:nvPr>
        </p:nvSpPr>
        <p:spPr>
          <a:xfrm>
            <a:off x="9444990" y="2225675"/>
            <a:ext cx="2251075" cy="383540"/>
          </a:xfrm>
          <a:prstGeom prst="rect">
            <a:avLst/>
          </a:prstGeom>
          <a:noFill/>
        </p:spPr>
        <p:txBody>
          <a:bodyPr wrap="square" rtlCol="0">
            <a:noAutofit/>
          </a:bodyPr>
          <a:p>
            <a:pPr algn="ctr"/>
            <a:r>
              <a:rPr lang="en-US" altLang="zh-CN">
                <a:latin typeface="Comic Sans MS" panose="030F0702030302020204" charset="0"/>
                <a:cs typeface="Comic Sans MS" panose="030F0702030302020204" charset="0"/>
              </a:rPr>
              <a:t>VDBMS Response</a:t>
            </a:r>
            <a:endParaRPr lang="en-US" altLang="zh-CN">
              <a:latin typeface="Comic Sans MS" panose="030F0702030302020204" charset="0"/>
              <a:cs typeface="Comic Sans MS" panose="030F0702030302020204" charset="0"/>
            </a:endParaRPr>
          </a:p>
        </p:txBody>
      </p:sp>
      <p:sp>
        <p:nvSpPr>
          <p:cNvPr id="43" name="文本框 42"/>
          <p:cNvSpPr txBox="1"/>
          <p:nvPr>
            <p:custDataLst>
              <p:tags r:id="rId20"/>
            </p:custDataLst>
          </p:nvPr>
        </p:nvSpPr>
        <p:spPr>
          <a:xfrm>
            <a:off x="8846185" y="2919730"/>
            <a:ext cx="2748280" cy="3255010"/>
          </a:xfrm>
          <a:prstGeom prst="rect">
            <a:avLst/>
          </a:prstGeom>
          <a:noFill/>
          <a:ln>
            <a:noFill/>
          </a:ln>
        </p:spPr>
        <p:txBody>
          <a:bodyPr wrap="square" rtlCol="0">
            <a:noAutofit/>
          </a:bodyPr>
          <a:p>
            <a:pPr>
              <a:defRPr sz="1300" b="0">
                <a:solidFill>
                  <a:srgbClr val="333333"/>
                </a:solidFill>
                <a:latin typeface="Microsoft YaHei" panose="020B0503020204020204" charset="-122"/>
              </a:defRPr>
            </a:pPr>
            <a:r>
              <a:rPr lang="en-US" altLang="zh-CN" sz="1400" b="1">
                <a:solidFill>
                  <a:srgbClr val="FF0000"/>
                </a:solidFill>
                <a:effectLst/>
                <a:highlight>
                  <a:srgbClr val="FFFF00"/>
                </a:highlight>
                <a:latin typeface="Cambria" panose="02040503050406030204" charset="0"/>
                <a:cs typeface="Cambria" panose="02040503050406030204" charset="0"/>
                <a:sym typeface="+mn-ea"/>
              </a:rPr>
              <a:t>HTTP/1.1 200 OK</a:t>
            </a:r>
            <a:endParaRPr lang="en-US" altLang="zh-CN" sz="1400" b="1">
              <a:solidFill>
                <a:srgbClr val="FF0000"/>
              </a:solidFill>
              <a:effectLst/>
              <a:highlight>
                <a:srgbClr val="FFFF00"/>
              </a:highligh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Content-Type: application/json</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a:t>
            </a:r>
            <a:r>
              <a:rPr lang="en-US" altLang="zh-CN" sz="1400" b="1">
                <a:solidFill>
                  <a:srgbClr val="FF0000"/>
                </a:solidFill>
                <a:effectLst/>
                <a:highlight>
                  <a:srgbClr val="FFFF00"/>
                </a:highlight>
                <a:latin typeface="Cambria" panose="02040503050406030204" charset="0"/>
                <a:cs typeface="Cambria" panose="02040503050406030204" charset="0"/>
                <a:sym typeface="+mn-ea"/>
              </a:rPr>
              <a:t>"code": 0,</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"cost": 0,</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"data": [</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{"id": "1", "distance": 0.834},</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{"id": "2", "distance": 0.721},</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{"id": "3", "distance": 0.655}</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a:t>
            </a:r>
            <a:endParaRPr lang="en-US" altLang="zh-CN" sz="1400" b="1">
              <a:effectLst/>
              <a:latin typeface="Cambria" panose="02040503050406030204" charset="0"/>
              <a:cs typeface="Cambria" panose="02040503050406030204" charset="0"/>
              <a:sym typeface="+mn-ea"/>
            </a:endParaRPr>
          </a:p>
        </p:txBody>
      </p:sp>
      <p:pic>
        <p:nvPicPr>
          <p:cNvPr id="47" name="图片 46" descr="数据库"/>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8768715" y="2120900"/>
            <a:ext cx="783590" cy="599440"/>
          </a:xfrm>
          <a:prstGeom prst="rect">
            <a:avLst/>
          </a:prstGeom>
        </p:spPr>
      </p:pic>
      <p:sp>
        <p:nvSpPr>
          <p:cNvPr id="54" name="右箭头 53"/>
          <p:cNvSpPr/>
          <p:nvPr>
            <p:custDataLst>
              <p:tags r:id="rId24"/>
            </p:custDataLst>
          </p:nvPr>
        </p:nvSpPr>
        <p:spPr>
          <a:xfrm>
            <a:off x="3390900" y="4946650"/>
            <a:ext cx="5308600" cy="347345"/>
          </a:xfrm>
          <a:prstGeom prst="righ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3" name="圆角矩形 62"/>
          <p:cNvSpPr/>
          <p:nvPr/>
        </p:nvSpPr>
        <p:spPr>
          <a:xfrm>
            <a:off x="6615430" y="1936115"/>
            <a:ext cx="1874520" cy="2153920"/>
          </a:xfrm>
          <a:prstGeom prst="roundRect">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4" name="文本框 63"/>
          <p:cNvSpPr txBox="1"/>
          <p:nvPr/>
        </p:nvSpPr>
        <p:spPr>
          <a:xfrm>
            <a:off x="6680835" y="2015490"/>
            <a:ext cx="1756410" cy="2061845"/>
          </a:xfrm>
          <a:prstGeom prst="rect">
            <a:avLst/>
          </a:prstGeom>
          <a:noFill/>
        </p:spPr>
        <p:txBody>
          <a:bodyPr wrap="square" rtlCol="0">
            <a:noAutofit/>
          </a:bodyPr>
          <a:p>
            <a:pPr>
              <a:lnSpc>
                <a:spcPct val="100000"/>
              </a:lnSpc>
            </a:pPr>
            <a:r>
              <a:rPr sz="1400" b="1">
                <a:effectLst/>
                <a:latin typeface="Cambria" panose="02040503050406030204" charset="0"/>
                <a:cs typeface="Cambria" panose="02040503050406030204" charset="0"/>
                <a:sym typeface="+mn-ea"/>
              </a:rPr>
              <a:t>nprobe=</a:t>
            </a:r>
            <a:r>
              <a:rPr lang="en-US" sz="1400" b="1">
                <a:effectLst/>
                <a:latin typeface="Cambria" panose="02040503050406030204" charset="0"/>
                <a:cs typeface="Cambria" panose="02040503050406030204" charset="0"/>
                <a:sym typeface="+mn-ea"/>
              </a:rPr>
              <a:t>0</a:t>
            </a:r>
            <a:r>
              <a:rPr lang="zh-CN" altLang="en-US" sz="1400" b="1">
                <a:solidFill>
                  <a:srgbClr val="0A4A94"/>
                </a:solidFill>
                <a:latin typeface="Cambria" panose="02040503050406030204" charset="0"/>
                <a:cs typeface="Cambria" panose="02040503050406030204" charset="0"/>
                <a:sym typeface="+mn-ea"/>
              </a:rPr>
              <a:t>时，</a:t>
            </a:r>
            <a:endParaRPr lang="zh-CN" altLang="en-US" sz="1400" b="1">
              <a:solidFill>
                <a:srgbClr val="0A4A94"/>
              </a:solidFill>
              <a:latin typeface="Cambria" panose="02040503050406030204" charset="0"/>
              <a:cs typeface="Cambria" panose="02040503050406030204" charset="0"/>
              <a:sym typeface="+mn-ea"/>
            </a:endParaRPr>
          </a:p>
          <a:p>
            <a:pPr>
              <a:lnSpc>
                <a:spcPct val="100000"/>
              </a:lnSpc>
            </a:pPr>
            <a:r>
              <a:rPr lang="en-US" altLang="zh-CN" sz="1400" b="1">
                <a:latin typeface="Cambria" panose="02040503050406030204" charset="0"/>
                <a:cs typeface="Cambria" panose="02040503050406030204" charset="0"/>
                <a:sym typeface="+mn-ea"/>
              </a:rPr>
              <a:t>VDBMS</a:t>
            </a:r>
            <a:r>
              <a:rPr lang="zh-CN" altLang="en-US" sz="1400" b="1">
                <a:latin typeface="Cambria" panose="02040503050406030204" charset="0"/>
                <a:cs typeface="Cambria" panose="02040503050406030204" charset="0"/>
                <a:sym typeface="+mn-ea"/>
              </a:rPr>
              <a:t>实际行为</a:t>
            </a:r>
            <a:r>
              <a:rPr lang="zh-CN" altLang="en-US" sz="1400">
                <a:latin typeface="Cambria" panose="02040503050406030204" charset="0"/>
                <a:cs typeface="Cambria" panose="02040503050406030204" charset="0"/>
                <a:sym typeface="+mn-ea"/>
              </a:rPr>
              <a:t>：</a:t>
            </a:r>
            <a:endParaRPr lang="zh-CN" altLang="en-US" sz="1400">
              <a:latin typeface="Cambria" panose="02040503050406030204" charset="0"/>
              <a:cs typeface="Cambria" panose="02040503050406030204" charset="0"/>
              <a:sym typeface="+mn-ea"/>
            </a:endParaRPr>
          </a:p>
          <a:p>
            <a:pPr>
              <a:lnSpc>
                <a:spcPct val="100000"/>
              </a:lnSpc>
            </a:pPr>
            <a:br>
              <a:rPr lang="en-US" altLang="zh-CN" sz="1400">
                <a:latin typeface="Cambria" panose="02040503050406030204" charset="0"/>
                <a:cs typeface="Cambria" panose="02040503050406030204" charset="0"/>
              </a:rPr>
            </a:br>
            <a:r>
              <a:rPr lang="en-US" altLang="zh-CN" sz="1400">
                <a:latin typeface="Cambria" panose="02040503050406030204" charset="0"/>
                <a:cs typeface="Cambria" panose="02040503050406030204" charset="0"/>
              </a:rPr>
              <a:t>code: 0 +HTTP 200</a:t>
            </a:r>
            <a:r>
              <a:rPr lang="en-US" altLang="zh-CN">
                <a:latin typeface="Cambria" panose="02040503050406030204" charset="0"/>
                <a:cs typeface="Cambria" panose="02040503050406030204" charset="0"/>
              </a:rPr>
              <a:t> :</a:t>
            </a:r>
            <a:br>
              <a:rPr lang="en-US" altLang="zh-CN" sz="2000">
                <a:latin typeface="Cambria" panose="02040503050406030204" charset="0"/>
                <a:cs typeface="Cambria" panose="02040503050406030204" charset="0"/>
              </a:rPr>
            </a:br>
            <a:r>
              <a:rPr lang="en-US" altLang="zh-CN" sz="1400">
                <a:latin typeface="Cambria" panose="02040503050406030204" charset="0"/>
                <a:cs typeface="Cambria" panose="02040503050406030204" charset="0"/>
              </a:rPr>
              <a:t>VDBMS</a:t>
            </a:r>
            <a:r>
              <a:rPr lang="zh-CN" altLang="en-US" sz="1400">
                <a:latin typeface="Cambria" panose="02040503050406030204" charset="0"/>
                <a:cs typeface="Cambria" panose="02040503050406030204" charset="0"/>
              </a:rPr>
              <a:t>报告查询操作成功，</a:t>
            </a:r>
            <a:r>
              <a:rPr lang="en-US" altLang="zh-CN" sz="1400">
                <a:latin typeface="Cambria" panose="02040503050406030204" charset="0"/>
                <a:cs typeface="Cambria" panose="02040503050406030204" charset="0"/>
              </a:rPr>
              <a:t>nprobe=0 </a:t>
            </a:r>
            <a:r>
              <a:rPr lang="zh-CN" altLang="en-US" sz="1400">
                <a:latin typeface="Cambria" panose="02040503050406030204" charset="0"/>
                <a:cs typeface="Cambria" panose="02040503050406030204" charset="0"/>
              </a:rPr>
              <a:t>被静默接受,返回了"结果"。</a:t>
            </a:r>
            <a:endParaRPr lang="zh-CN" altLang="en-US" sz="1400">
              <a:latin typeface="Cambria" panose="02040503050406030204" charset="0"/>
              <a:cs typeface="Cambria" panose="02040503050406030204" charset="0"/>
            </a:endParaRPr>
          </a:p>
        </p:txBody>
      </p:sp>
      <p:cxnSp>
        <p:nvCxnSpPr>
          <p:cNvPr id="67" name="直接箭头连接符 66"/>
          <p:cNvCxnSpPr>
            <a:endCxn id="70" idx="1"/>
          </p:cNvCxnSpPr>
          <p:nvPr>
            <p:custDataLst>
              <p:tags r:id="rId25"/>
            </p:custDataLst>
          </p:nvPr>
        </p:nvCxnSpPr>
        <p:spPr>
          <a:xfrm>
            <a:off x="2962910" y="4679315"/>
            <a:ext cx="491490" cy="1257935"/>
          </a:xfrm>
          <a:prstGeom prst="straightConnector1">
            <a:avLst/>
          </a:prstGeom>
          <a:ln w="25400">
            <a:solidFill>
              <a:schemeClr val="accent1"/>
            </a:solidFill>
            <a:tailEnd type="arrow"/>
          </a:ln>
        </p:spPr>
        <p:style>
          <a:lnRef idx="2">
            <a:schemeClr val="accent1"/>
          </a:lnRef>
          <a:fillRef idx="0">
            <a:srgbClr val="FFFFFF"/>
          </a:fillRef>
          <a:effectRef idx="0">
            <a:srgbClr val="FFFFFF"/>
          </a:effectRef>
          <a:fontRef idx="minor">
            <a:schemeClr val="tx1"/>
          </a:fontRef>
        </p:style>
      </p:cxnSp>
      <p:sp>
        <p:nvSpPr>
          <p:cNvPr id="69" name="圆角矩形 68"/>
          <p:cNvSpPr/>
          <p:nvPr/>
        </p:nvSpPr>
        <p:spPr>
          <a:xfrm>
            <a:off x="3454400" y="5592445"/>
            <a:ext cx="2580640" cy="702945"/>
          </a:xfrm>
          <a:prstGeom prst="roundRect">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0" name="文本框 69"/>
          <p:cNvSpPr txBox="1"/>
          <p:nvPr/>
        </p:nvSpPr>
        <p:spPr>
          <a:xfrm>
            <a:off x="3454400" y="5753100"/>
            <a:ext cx="2578100" cy="367665"/>
          </a:xfrm>
          <a:prstGeom prst="rect">
            <a:avLst/>
          </a:prstGeom>
          <a:noFill/>
        </p:spPr>
        <p:txBody>
          <a:bodyPr wrap="square" rtlCol="0">
            <a:noAutofit/>
          </a:bodyPr>
          <a:p>
            <a:r>
              <a:rPr lang="zh-CN" altLang="en-US" sz="1600">
                <a:latin typeface="Cambria" panose="02040503050406030204" charset="0"/>
                <a:cs typeface="Cambria" panose="02040503050406030204" charset="0"/>
              </a:rPr>
              <a:t>尝试进行</a:t>
            </a:r>
            <a:r>
              <a:rPr lang="en-US" altLang="zh-CN" sz="1600">
                <a:latin typeface="Cambria" panose="02040503050406030204" charset="0"/>
                <a:cs typeface="Cambria" panose="02040503050406030204" charset="0"/>
              </a:rPr>
              <a:t>nprobe=0</a:t>
            </a:r>
            <a:r>
              <a:rPr lang="zh-CN" altLang="en-US" sz="1600">
                <a:latin typeface="Cambria" panose="02040503050406030204" charset="0"/>
                <a:cs typeface="Cambria" panose="02040503050406030204" charset="0"/>
              </a:rPr>
              <a:t>的查询</a:t>
            </a:r>
            <a:endParaRPr lang="zh-CN" altLang="en-US" sz="1600">
              <a:latin typeface="Cambria" panose="02040503050406030204" charset="0"/>
              <a:cs typeface="Cambria" panose="02040503050406030204" charset="0"/>
            </a:endParaRPr>
          </a:p>
        </p:txBody>
      </p:sp>
      <p:pic>
        <p:nvPicPr>
          <p:cNvPr id="71" name="图片 70" descr="BUG问题修复"/>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5949950" y="4116070"/>
            <a:ext cx="520065" cy="532130"/>
          </a:xfrm>
          <a:prstGeom prst="rect">
            <a:avLst/>
          </a:prstGeom>
        </p:spPr>
      </p:pic>
      <p:sp>
        <p:nvSpPr>
          <p:cNvPr id="72" name="圆角矩形 71"/>
          <p:cNvSpPr/>
          <p:nvPr/>
        </p:nvSpPr>
        <p:spPr>
          <a:xfrm>
            <a:off x="3859530" y="1935480"/>
            <a:ext cx="1906905" cy="2164715"/>
          </a:xfrm>
          <a:prstGeom prst="roundRect">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3" name="文本框 72"/>
          <p:cNvSpPr txBox="1"/>
          <p:nvPr/>
        </p:nvSpPr>
        <p:spPr>
          <a:xfrm>
            <a:off x="3855720" y="1983740"/>
            <a:ext cx="1962785" cy="1511935"/>
          </a:xfrm>
          <a:prstGeom prst="rect">
            <a:avLst/>
          </a:prstGeom>
          <a:noFill/>
        </p:spPr>
        <p:txBody>
          <a:bodyPr wrap="square" rtlCol="0">
            <a:noAutofit/>
          </a:bodyPr>
          <a:p>
            <a:r>
              <a:rPr sz="1400" b="1">
                <a:effectLst/>
                <a:latin typeface="Cambria" panose="02040503050406030204" charset="0"/>
                <a:cs typeface="Cambria" panose="02040503050406030204" charset="0"/>
                <a:sym typeface="+mn-ea"/>
              </a:rPr>
              <a:t>nprobe=</a:t>
            </a:r>
            <a:r>
              <a:rPr lang="en-US" sz="1400" b="1">
                <a:effectLst/>
                <a:latin typeface="Cambria" panose="02040503050406030204" charset="0"/>
                <a:cs typeface="Cambria" panose="02040503050406030204" charset="0"/>
                <a:sym typeface="+mn-ea"/>
              </a:rPr>
              <a:t>0</a:t>
            </a:r>
            <a:r>
              <a:rPr lang="zh-CN" altLang="en-US" sz="1400" b="1">
                <a:solidFill>
                  <a:srgbClr val="0A4A94"/>
                </a:solidFill>
                <a:latin typeface="Cambria" panose="02040503050406030204" charset="0"/>
                <a:cs typeface="Cambria" panose="02040503050406030204" charset="0"/>
                <a:sym typeface="+mn-ea"/>
              </a:rPr>
              <a:t>时，</a:t>
            </a:r>
            <a:br>
              <a:rPr lang="zh-CN" altLang="en-US" sz="1400" b="1">
                <a:latin typeface="Cambria" panose="02040503050406030204" charset="0"/>
                <a:cs typeface="Cambria" panose="02040503050406030204" charset="0"/>
              </a:rPr>
            </a:br>
            <a:r>
              <a:rPr lang="zh-CN" altLang="en-US" sz="1400" b="1">
                <a:latin typeface="Cambria" panose="02040503050406030204" charset="0"/>
                <a:cs typeface="Cambria" panose="02040503050406030204" charset="0"/>
              </a:rPr>
              <a:t>预期正确行为</a:t>
            </a:r>
            <a:r>
              <a:rPr lang="zh-CN" altLang="en-US" sz="1400">
                <a:latin typeface="Cambria" panose="02040503050406030204" charset="0"/>
                <a:cs typeface="Cambria" panose="02040503050406030204" charset="0"/>
              </a:rPr>
              <a:t>：</a:t>
            </a:r>
            <a:endParaRPr lang="zh-CN" altLang="en-US" sz="1400">
              <a:latin typeface="Cambria" panose="02040503050406030204" charset="0"/>
              <a:cs typeface="Cambria" panose="02040503050406030204" charset="0"/>
            </a:endParaRPr>
          </a:p>
          <a:p>
            <a:br>
              <a:rPr lang="en-US" altLang="zh-CN" sz="1200">
                <a:latin typeface="Cambria" panose="02040503050406030204" charset="0"/>
                <a:cs typeface="Cambria" panose="02040503050406030204" charset="0"/>
              </a:rPr>
            </a:br>
            <a:r>
              <a:rPr lang="en-US" altLang="zh-CN" sz="1200">
                <a:latin typeface="Cambria" panose="02040503050406030204" charset="0"/>
                <a:cs typeface="Cambria" panose="02040503050406030204" charset="0"/>
              </a:rPr>
              <a:t>HTTP/1.1 </a:t>
            </a:r>
            <a:r>
              <a:rPr lang="en-US" altLang="zh-CN" sz="1200">
                <a:solidFill>
                  <a:schemeClr val="accent6">
                    <a:lumMod val="75000"/>
                  </a:schemeClr>
                </a:solidFill>
                <a:highlight>
                  <a:srgbClr val="FFFF00"/>
                </a:highlight>
                <a:latin typeface="Cambria" panose="02040503050406030204" charset="0"/>
                <a:cs typeface="Cambria" panose="02040503050406030204" charset="0"/>
              </a:rPr>
              <a:t>400 Bad Request</a:t>
            </a:r>
            <a:endParaRPr lang="en-US" altLang="zh-CN" sz="1200">
              <a:solidFill>
                <a:schemeClr val="accent6">
                  <a:lumMod val="75000"/>
                </a:schemeClr>
              </a:solidFill>
              <a:highlight>
                <a:srgbClr val="FFFF00"/>
              </a:highlight>
              <a:latin typeface="Cambria" panose="02040503050406030204" charset="0"/>
              <a:cs typeface="Cambria" panose="02040503050406030204" charset="0"/>
            </a:endParaRPr>
          </a:p>
          <a:p>
            <a:endParaRPr lang="en-US" altLang="zh-CN" sz="1200">
              <a:solidFill>
                <a:schemeClr val="accent6">
                  <a:lumMod val="75000"/>
                </a:schemeClr>
              </a:solidFill>
              <a:highlight>
                <a:srgbClr val="FFFF00"/>
              </a:highlight>
              <a:latin typeface="Cambria" panose="02040503050406030204" charset="0"/>
              <a:cs typeface="Cambria" panose="02040503050406030204" charset="0"/>
            </a:endParaRPr>
          </a:p>
          <a:p>
            <a:r>
              <a:rPr lang="en-US" altLang="zh-CN" sz="1200">
                <a:latin typeface="Cambria" panose="02040503050406030204" charset="0"/>
                <a:cs typeface="Cambria" panose="02040503050406030204" charset="0"/>
              </a:rPr>
              <a:t>{</a:t>
            </a:r>
            <a:endParaRPr lang="en-US" altLang="zh-CN" sz="1200">
              <a:latin typeface="Cambria" panose="02040503050406030204" charset="0"/>
              <a:cs typeface="Cambria" panose="02040503050406030204" charset="0"/>
            </a:endParaRPr>
          </a:p>
          <a:p>
            <a:r>
              <a:rPr lang="en-US" altLang="zh-CN" sz="1200">
                <a:latin typeface="Cambria" panose="02040503050406030204" charset="0"/>
                <a:cs typeface="Cambria" panose="02040503050406030204" charset="0"/>
              </a:rPr>
              <a:t>  "code": 1100,</a:t>
            </a:r>
            <a:endParaRPr lang="en-US" altLang="zh-CN" sz="1200">
              <a:latin typeface="Cambria" panose="02040503050406030204" charset="0"/>
              <a:cs typeface="Cambria" panose="02040503050406030204" charset="0"/>
            </a:endParaRPr>
          </a:p>
          <a:p>
            <a:r>
              <a:rPr lang="en-US" altLang="zh-CN" sz="1200">
                <a:latin typeface="Cambria" panose="02040503050406030204" charset="0"/>
                <a:cs typeface="Cambria" panose="02040503050406030204" charset="0"/>
              </a:rPr>
              <a:t>  </a:t>
            </a:r>
            <a:r>
              <a:rPr lang="en-US" altLang="zh-CN" sz="1200">
                <a:solidFill>
                  <a:schemeClr val="accent6">
                    <a:lumMod val="75000"/>
                  </a:schemeClr>
                </a:solidFill>
                <a:highlight>
                  <a:srgbClr val="FFFF00"/>
                </a:highlight>
                <a:latin typeface="Cambria" panose="02040503050406030204" charset="0"/>
                <a:cs typeface="Cambria" panose="02040503050406030204" charset="0"/>
              </a:rPr>
              <a:t>"message": "nprobe must be in [1, 16384]; got 0"</a:t>
            </a:r>
            <a:endParaRPr lang="en-US" altLang="zh-CN" sz="1200">
              <a:solidFill>
                <a:schemeClr val="accent6">
                  <a:lumMod val="75000"/>
                </a:schemeClr>
              </a:solidFill>
              <a:highlight>
                <a:srgbClr val="FFFF00"/>
              </a:highlight>
              <a:latin typeface="Cambria" panose="02040503050406030204" charset="0"/>
              <a:cs typeface="Cambria" panose="02040503050406030204" charset="0"/>
            </a:endParaRPr>
          </a:p>
          <a:p>
            <a:r>
              <a:rPr lang="en-US" altLang="zh-CN" sz="1200">
                <a:latin typeface="Cambria" panose="02040503050406030204" charset="0"/>
                <a:cs typeface="Cambria" panose="02040503050406030204" charset="0"/>
              </a:rPr>
              <a:t>}</a:t>
            </a:r>
            <a:endParaRPr lang="en-US" altLang="zh-CN" sz="1200">
              <a:latin typeface="Cambria" panose="02040503050406030204" charset="0"/>
              <a:cs typeface="Cambria" panose="02040503050406030204" charset="0"/>
            </a:endParaRPr>
          </a:p>
        </p:txBody>
      </p:sp>
      <p:cxnSp>
        <p:nvCxnSpPr>
          <p:cNvPr id="66" name="直接箭头连接符 65"/>
          <p:cNvCxnSpPr>
            <a:endCxn id="70" idx="1"/>
          </p:cNvCxnSpPr>
          <p:nvPr>
            <p:custDataLst>
              <p:tags r:id="rId29"/>
            </p:custDataLst>
          </p:nvPr>
        </p:nvCxnSpPr>
        <p:spPr>
          <a:xfrm>
            <a:off x="2719070" y="5769610"/>
            <a:ext cx="735330" cy="167640"/>
          </a:xfrm>
          <a:prstGeom prst="straightConnector1">
            <a:avLst/>
          </a:prstGeom>
          <a:ln w="25400">
            <a:solidFill>
              <a:schemeClr val="accent1"/>
            </a:solidFill>
            <a:tailEnd type="arrow"/>
          </a:ln>
        </p:spPr>
        <p:style>
          <a:lnRef idx="2">
            <a:schemeClr val="accent1"/>
          </a:lnRef>
          <a:fillRef idx="0">
            <a:srgbClr val="FFFFFF"/>
          </a:fillRef>
          <a:effectRef idx="0">
            <a:srgbClr val="FFFFFF"/>
          </a:effectRef>
          <a:fontRef idx="minor">
            <a:schemeClr val="tx1"/>
          </a:fontRef>
        </p:style>
      </p:cxnSp>
      <p:sp>
        <p:nvSpPr>
          <p:cNvPr id="5" name="右箭头 4"/>
          <p:cNvSpPr/>
          <p:nvPr>
            <p:custDataLst>
              <p:tags r:id="rId30"/>
            </p:custDataLst>
          </p:nvPr>
        </p:nvSpPr>
        <p:spPr>
          <a:xfrm>
            <a:off x="3356610" y="2771140"/>
            <a:ext cx="499745" cy="347345"/>
          </a:xfrm>
          <a:prstGeom prst="righ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 name="直接箭头连接符 8"/>
          <p:cNvCxnSpPr/>
          <p:nvPr>
            <p:custDataLst>
              <p:tags r:id="rId31"/>
            </p:custDataLst>
          </p:nvPr>
        </p:nvCxnSpPr>
        <p:spPr>
          <a:xfrm flipH="1" flipV="1">
            <a:off x="8497570" y="3016250"/>
            <a:ext cx="429260" cy="36195"/>
          </a:xfrm>
          <a:prstGeom prst="straightConnector1">
            <a:avLst/>
          </a:prstGeom>
          <a:ln w="25400">
            <a:solidFill>
              <a:schemeClr val="accent1"/>
            </a:soli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endCxn id="63" idx="3"/>
          </p:cNvCxnSpPr>
          <p:nvPr>
            <p:custDataLst>
              <p:tags r:id="rId32"/>
            </p:custDataLst>
          </p:nvPr>
        </p:nvCxnSpPr>
        <p:spPr>
          <a:xfrm flipH="1" flipV="1">
            <a:off x="8489950" y="3013075"/>
            <a:ext cx="499110" cy="912495"/>
          </a:xfrm>
          <a:prstGeom prst="straightConnector1">
            <a:avLst/>
          </a:prstGeom>
          <a:ln w="25400">
            <a:solidFill>
              <a:schemeClr val="accent1"/>
            </a:solidFill>
            <a:tailEnd type="arrow"/>
          </a:ln>
        </p:spPr>
        <p:style>
          <a:lnRef idx="2">
            <a:schemeClr val="accent1"/>
          </a:lnRef>
          <a:fillRef idx="0">
            <a:srgbClr val="FFFFFF"/>
          </a:fillRef>
          <a:effectRef idx="0">
            <a:srgbClr val="FFFFFF"/>
          </a:effectRef>
          <a:fontRef idx="minor">
            <a:schemeClr val="tx1"/>
          </a:fontRef>
        </p:style>
      </p:cxnSp>
      <p:pic>
        <p:nvPicPr>
          <p:cNvPr id="20" name="图片 19" descr="不等于"/>
          <p:cNvPicPr>
            <a:picLocks noChangeAspect="1"/>
          </p:cNvPicPr>
          <p:nvPr>
            <p:custDataLst>
              <p:tags r:id="rId33"/>
            </p:custDataLst>
          </p:nvPr>
        </p:nvPicPr>
        <p:blipFill>
          <a:blip r:embed="rId34">
            <a:extLst>
              <a:ext uri="{96DAC541-7B7A-43D3-8B79-37D633B846F1}">
                <asvg:svgBlip xmlns:asvg="http://schemas.microsoft.com/office/drawing/2016/SVG/main" r:embed="rId35"/>
              </a:ext>
            </a:extLst>
          </a:blip>
          <a:stretch>
            <a:fillRect/>
          </a:stretch>
        </p:blipFill>
        <p:spPr>
          <a:xfrm>
            <a:off x="5911850" y="2738120"/>
            <a:ext cx="558165" cy="558165"/>
          </a:xfrm>
          <a:prstGeom prst="rect">
            <a:avLst/>
          </a:prstGeom>
        </p:spPr>
      </p:pic>
      <p:sp>
        <p:nvSpPr>
          <p:cNvPr id="22" name="下箭头 21"/>
          <p:cNvSpPr/>
          <p:nvPr/>
        </p:nvSpPr>
        <p:spPr>
          <a:xfrm>
            <a:off x="6014720" y="3311525"/>
            <a:ext cx="391160" cy="763270"/>
          </a:xfrm>
          <a:prstGeom prst="down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5434965" y="5123815"/>
            <a:ext cx="129667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Execution</a:t>
            </a:r>
            <a:endParaRPr lang="en-US" altLang="zh-CN">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ldLvl="0" animBg="1"/>
      <p:bldP spid="73" grpId="0"/>
      <p:bldP spid="5" grpId="0" bldLvl="0" animBg="1"/>
      <p:bldP spid="69" grpId="0" bldLvl="0" animBg="1"/>
      <p:bldP spid="70" grpId="0"/>
      <p:bldP spid="54" grpId="0" bldLvl="0" animBg="1"/>
      <p:bldP spid="23" grpId="0"/>
      <p:bldP spid="31" grpId="0" bldLvl="0" animBg="1"/>
      <p:bldP spid="37" grpId="0" bldLvl="0" animBg="1"/>
      <p:bldP spid="38" grpId="0"/>
      <p:bldP spid="43" grpId="0"/>
      <p:bldP spid="63" grpId="0" bldLvl="0" animBg="1"/>
      <p:bldP spid="64" grpId="0"/>
      <p:bldP spid="22"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058545"/>
            <a:ext cx="10852150" cy="553529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We </a:t>
            </a:r>
            <a:r>
              <a:rPr lang="en-US" altLang="zh-CN" sz="2400" b="1" dirty="0">
                <a:solidFill>
                  <a:schemeClr val="tx1"/>
                </a:solidFill>
                <a:latin typeface="Cambria" panose="02040503050406030204" charset="0"/>
                <a:cs typeface="Cambria" panose="02040503050406030204" charset="0"/>
                <a:sym typeface="+mn-ea"/>
              </a:rPr>
              <a:t>propose </a:t>
            </a:r>
            <a:r>
              <a:rPr lang="en-US" altLang="zh-CN" sz="2400" b="1" dirty="0" err="1">
                <a:solidFill>
                  <a:schemeClr val="tx1"/>
                </a:solidFill>
                <a:latin typeface="Cambria" panose="02040503050406030204" charset="0"/>
                <a:cs typeface="Cambria" panose="02040503050406030204" charset="0"/>
                <a:sym typeface="+mn-ea"/>
              </a:rPr>
              <a:t>TestVDB</a:t>
            </a:r>
            <a:r>
              <a:rPr lang="en-US" altLang="zh-CN" sz="2400" b="1" dirty="0">
                <a:solidFill>
                  <a:schemeClr val="tx1"/>
                </a:solidFill>
                <a:latin typeface="Cambria" panose="02040503050406030204" charset="0"/>
                <a:cs typeface="Cambria" panose="02040503050406030204" charset="0"/>
                <a:sym typeface="+mn-ea"/>
              </a:rPr>
              <a:t> to detect </a:t>
            </a:r>
            <a:r>
              <a:rPr sz="2400" b="1">
                <a:solidFill>
                  <a:srgbClr val="0A4A94"/>
                </a:solidFill>
                <a:latin typeface="Cambria" panose="02040503050406030204" charset="0"/>
                <a:cs typeface="Cambria" panose="02040503050406030204" charset="0"/>
                <a:sym typeface="+mn-ea"/>
              </a:rPr>
              <a:t>Doc-implementation</a:t>
            </a:r>
            <a:r>
              <a:rPr lang="en-US" altLang="zh-CN" sz="2400" b="1">
                <a:solidFill>
                  <a:srgbClr val="0A4A94"/>
                </a:solidFill>
                <a:latin typeface="Cambria" panose="02040503050406030204" charset="0"/>
                <a:cs typeface="Cambria" panose="02040503050406030204" charset="0"/>
                <a:sym typeface="+mn-ea"/>
              </a:rPr>
              <a:t> inconsistency</a:t>
            </a:r>
            <a:r>
              <a:rPr lang="en-US" altLang="zh-CN" sz="2400" b="1" dirty="0">
                <a:solidFill>
                  <a:schemeClr val="tx1"/>
                </a:solidFill>
                <a:latin typeface="Cambria" panose="02040503050406030204" charset="0"/>
                <a:cs typeface="Cambria" panose="02040503050406030204" charset="0"/>
                <a:sym typeface="+mn-ea"/>
              </a:rPr>
              <a:t> logic bugs in VDBMSs</a:t>
            </a:r>
            <a:endPar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Approach</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pic>
        <p:nvPicPr>
          <p:cNvPr id="2" name="图片 1" descr="文档"/>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32280" y="2252345"/>
            <a:ext cx="713105" cy="713105"/>
          </a:xfrm>
          <a:prstGeom prst="rect">
            <a:avLst/>
          </a:prstGeom>
        </p:spPr>
      </p:pic>
      <p:sp>
        <p:nvSpPr>
          <p:cNvPr id="3" name="文本框 2"/>
          <p:cNvSpPr txBox="1"/>
          <p:nvPr/>
        </p:nvSpPr>
        <p:spPr>
          <a:xfrm>
            <a:off x="233045" y="3429000"/>
            <a:ext cx="2389505" cy="64516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rPr>
              <a:t>① Behavioral_claims Extraction</a:t>
            </a:r>
            <a:endParaRPr lang="en-US" altLang="zh-CN">
              <a:latin typeface="Comic Sans MS" panose="030F0702030302020204" charset="0"/>
              <a:cs typeface="Comic Sans MS" panose="030F0702030302020204" charset="0"/>
            </a:endParaRPr>
          </a:p>
        </p:txBody>
      </p:sp>
      <p:pic>
        <p:nvPicPr>
          <p:cNvPr id="5" name="图片 4" descr="箭头-直角-向右"/>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1381760" y="2400300"/>
            <a:ext cx="415925" cy="415925"/>
          </a:xfrm>
          <a:prstGeom prst="rect">
            <a:avLst/>
          </a:prstGeom>
        </p:spPr>
      </p:pic>
      <p:pic>
        <p:nvPicPr>
          <p:cNvPr id="6" name="图片 5" descr="书本"/>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702310" y="2255520"/>
            <a:ext cx="668655" cy="712470"/>
          </a:xfrm>
          <a:prstGeom prst="rect">
            <a:avLst/>
          </a:prstGeom>
        </p:spPr>
      </p:pic>
      <p:sp>
        <p:nvSpPr>
          <p:cNvPr id="8" name="圆角矩形 7"/>
          <p:cNvSpPr/>
          <p:nvPr/>
        </p:nvSpPr>
        <p:spPr>
          <a:xfrm>
            <a:off x="553085" y="2161540"/>
            <a:ext cx="1892300" cy="1148715"/>
          </a:xfrm>
          <a:prstGeom prst="roundRect">
            <a:avLst/>
          </a:prstGeom>
          <a:noFill/>
          <a:ln w="34925" cmpd="sng">
            <a:solidFill>
              <a:srgbClr val="00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 name="直接箭头连接符 8"/>
          <p:cNvCxnSpPr>
            <a:stCxn id="8" idx="3"/>
            <a:endCxn id="16" idx="1"/>
          </p:cNvCxnSpPr>
          <p:nvPr/>
        </p:nvCxnSpPr>
        <p:spPr>
          <a:xfrm>
            <a:off x="2445599" y="2736338"/>
            <a:ext cx="812165" cy="3175"/>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3185160" y="3432175"/>
            <a:ext cx="1945640" cy="64516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②</a:t>
            </a:r>
            <a:r>
              <a:rPr lang="en-US" altLang="zh-CN">
                <a:latin typeface="Comic Sans MS" panose="030F0702030302020204" charset="0"/>
                <a:cs typeface="Comic Sans MS" panose="030F0702030302020204" charset="0"/>
              </a:rPr>
              <a:t> Test S</a:t>
            </a:r>
            <a:r>
              <a:rPr lang="en-US" altLang="zh-CN">
                <a:latin typeface="Comic Sans MS" panose="030F0702030302020204" charset="0"/>
                <a:cs typeface="Comic Sans MS" panose="030F0702030302020204" charset="0"/>
                <a:sym typeface="+mn-ea"/>
              </a:rPr>
              <a:t>cript </a:t>
            </a:r>
            <a:endParaRPr lang="en-US" altLang="zh-CN">
              <a:latin typeface="Comic Sans MS" panose="030F0702030302020204" charset="0"/>
              <a:cs typeface="Comic Sans MS" panose="030F0702030302020204" charset="0"/>
              <a:sym typeface="+mn-ea"/>
            </a:endParaRPr>
          </a:p>
          <a:p>
            <a:pPr algn="ctr"/>
            <a:r>
              <a:rPr lang="en-US" altLang="zh-CN">
                <a:latin typeface="Comic Sans MS" panose="030F0702030302020204" charset="0"/>
                <a:cs typeface="Comic Sans MS" panose="030F0702030302020204" charset="0"/>
                <a:sym typeface="+mn-ea"/>
              </a:rPr>
              <a:t>    G</a:t>
            </a:r>
            <a:r>
              <a:rPr lang="en-US" altLang="zh-CN" dirty="0" err="1">
                <a:latin typeface="Comic Sans MS" panose="030F0702030302020204" charset="0"/>
                <a:ea typeface="Microsoft YaHei" panose="020B0503020204020204" charset="-122"/>
                <a:cs typeface="Comic Sans MS" panose="030F0702030302020204" charset="0"/>
                <a:sym typeface="+mn-ea"/>
              </a:rPr>
              <a:t>eneration</a:t>
            </a:r>
            <a:endParaRPr lang="en-US" altLang="zh-CN">
              <a:latin typeface="Comic Sans MS" panose="030F0702030302020204" charset="0"/>
              <a:cs typeface="Comic Sans MS" panose="030F0702030302020204" charset="0"/>
            </a:endParaRPr>
          </a:p>
        </p:txBody>
      </p:sp>
      <p:pic>
        <p:nvPicPr>
          <p:cNvPr id="13" name="图片 12" descr="文档"/>
          <p:cNvPicPr>
            <a:picLocks noChangeAspect="1"/>
          </p:cNvPicPr>
          <p:nvPr>
            <p:custDataLst>
              <p:tags r:id="rId12"/>
            </p:custDataLst>
          </p:nvPr>
        </p:nvPicPr>
        <p:blipFill>
          <a:blip r:embed="rId4">
            <a:extLst>
              <a:ext uri="{96DAC541-7B7A-43D3-8B79-37D633B846F1}">
                <asvg:svgBlip xmlns:asvg="http://schemas.microsoft.com/office/drawing/2016/SVG/main" r:embed="rId5"/>
              </a:ext>
            </a:extLst>
          </a:blip>
          <a:stretch>
            <a:fillRect/>
          </a:stretch>
        </p:blipFill>
        <p:spPr>
          <a:xfrm>
            <a:off x="3325495" y="2254885"/>
            <a:ext cx="713105" cy="713105"/>
          </a:xfrm>
          <a:prstGeom prst="rect">
            <a:avLst/>
          </a:prstGeom>
        </p:spPr>
      </p:pic>
      <p:pic>
        <p:nvPicPr>
          <p:cNvPr id="14" name="图片 13" descr="箭头-直角-向右"/>
          <p:cNvPicPr>
            <a:picLocks noChangeAspect="1"/>
          </p:cNvPicPr>
          <p:nvPr>
            <p:custDataLst>
              <p:tags r:id="rId13"/>
            </p:custDataLst>
          </p:nvPr>
        </p:nvPicPr>
        <p:blipFill>
          <a:blip r:embed="rId7">
            <a:extLst>
              <a:ext uri="{96DAC541-7B7A-43D3-8B79-37D633B846F1}">
                <asvg:svgBlip xmlns:asvg="http://schemas.microsoft.com/office/drawing/2016/SVG/main" r:embed="rId8"/>
              </a:ext>
            </a:extLst>
          </a:blip>
          <a:stretch>
            <a:fillRect/>
          </a:stretch>
        </p:blipFill>
        <p:spPr>
          <a:xfrm>
            <a:off x="3950335" y="2403475"/>
            <a:ext cx="415925" cy="415925"/>
          </a:xfrm>
          <a:prstGeom prst="rect">
            <a:avLst/>
          </a:prstGeom>
        </p:spPr>
      </p:pic>
      <p:sp>
        <p:nvSpPr>
          <p:cNvPr id="16" name="圆角矩形 15"/>
          <p:cNvSpPr/>
          <p:nvPr/>
        </p:nvSpPr>
        <p:spPr>
          <a:xfrm>
            <a:off x="3257550" y="2164715"/>
            <a:ext cx="1892300" cy="1148715"/>
          </a:xfrm>
          <a:prstGeom prst="roundRect">
            <a:avLst/>
          </a:prstGeom>
          <a:noFill/>
          <a:ln w="34925" cmpd="sng">
            <a:solidFill>
              <a:srgbClr val="00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 name="图片 16" descr="程序代码编程"/>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4417695" y="2254250"/>
            <a:ext cx="648335" cy="713740"/>
          </a:xfrm>
          <a:prstGeom prst="rect">
            <a:avLst/>
          </a:prstGeom>
        </p:spPr>
      </p:pic>
      <p:grpSp>
        <p:nvGrpSpPr>
          <p:cNvPr id="53" name="组合 52"/>
          <p:cNvGrpSpPr/>
          <p:nvPr/>
        </p:nvGrpSpPr>
        <p:grpSpPr>
          <a:xfrm>
            <a:off x="7557770" y="2209165"/>
            <a:ext cx="694055" cy="714375"/>
            <a:chOff x="10768037" y="2587551"/>
            <a:chExt cx="694233" cy="769441"/>
          </a:xfrm>
        </p:grpSpPr>
        <p:sp>
          <p:nvSpPr>
            <p:cNvPr id="54" name="圆柱体 53"/>
            <p:cNvSpPr/>
            <p:nvPr/>
          </p:nvSpPr>
          <p:spPr bwMode="auto">
            <a:xfrm>
              <a:off x="10768037" y="2649006"/>
              <a:ext cx="693836" cy="707986"/>
            </a:xfrm>
            <a:prstGeom prst="can">
              <a:avLst>
                <a:gd name="adj" fmla="val 44670"/>
              </a:avLst>
            </a:prstGeom>
            <a:solidFill>
              <a:schemeClr val="bg1"/>
            </a:solidFill>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ctr" anchorCtr="0" compatLnSpc="1">
              <a:noAutofit/>
            </a:bodyPr>
            <a:lstStyle/>
            <a:p>
              <a:pPr algn="ctr" fontAlgn="base">
                <a:spcBef>
                  <a:spcPct val="20000"/>
                </a:spcBef>
                <a:spcAft>
                  <a:spcPct val="0"/>
                </a:spcAft>
                <a:buClr>
                  <a:srgbClr val="FF3300"/>
                </a:buClr>
                <a:buSzPct val="75000"/>
              </a:pPr>
              <a:r>
                <a:rPr lang="en-US" altLang="zh-CN" sz="2800" dirty="0">
                  <a:latin typeface="Times New Roman" panose="02020603050405020304" charset="0"/>
                  <a:ea typeface="Linux Libertine O" panose="02000503000000000000" pitchFamily="50" charset="0"/>
                  <a:cs typeface="Times New Roman" panose="02020603050405020304" charset="0"/>
                </a:rPr>
                <a:t>      </a:t>
              </a:r>
              <a:endParaRPr lang="zh-CN" altLang="en-US" sz="2800" dirty="0" err="1">
                <a:latin typeface="Times New Roman" panose="02020603050405020304" charset="0"/>
                <a:ea typeface="Linux Libertine O" panose="02000503000000000000" pitchFamily="50" charset="0"/>
                <a:cs typeface="Times New Roman" panose="02020603050405020304" charset="0"/>
              </a:endParaRPr>
            </a:p>
          </p:txBody>
        </p:sp>
        <p:sp>
          <p:nvSpPr>
            <p:cNvPr id="57" name="文本框 56"/>
            <p:cNvSpPr txBox="1"/>
            <p:nvPr/>
          </p:nvSpPr>
          <p:spPr>
            <a:xfrm>
              <a:off x="10768433" y="2587551"/>
              <a:ext cx="693837" cy="429519"/>
            </a:xfrm>
            <a:prstGeom prst="rect">
              <a:avLst/>
            </a:prstGeom>
            <a:noFill/>
          </p:spPr>
          <p:txBody>
            <a:bodyPr wrap="square" rtlCol="0">
              <a:spAutoFit/>
            </a:bodyPr>
            <a:lstStyle/>
            <a:p>
              <a:pPr algn="ctr"/>
              <a:r>
                <a:rPr lang="en-US" altLang="zh-CN" sz="2000" b="1" dirty="0">
                  <a:latin typeface="Times New Roman" panose="02020603050405020304" charset="0"/>
                </a:rPr>
                <a:t>vdb</a:t>
              </a:r>
              <a:endParaRPr lang="en-US" altLang="zh-CN" sz="2000" b="1" dirty="0">
                <a:latin typeface="Times New Roman" panose="02020603050405020304" charset="0"/>
              </a:endParaRPr>
            </a:p>
          </p:txBody>
        </p:sp>
      </p:grpSp>
      <p:cxnSp>
        <p:nvCxnSpPr>
          <p:cNvPr id="18" name="直接箭头连接符 17"/>
          <p:cNvCxnSpPr>
            <a:stCxn id="16" idx="3"/>
            <a:endCxn id="22" idx="1"/>
          </p:cNvCxnSpPr>
          <p:nvPr/>
        </p:nvCxnSpPr>
        <p:spPr>
          <a:xfrm flipV="1">
            <a:off x="5150064" y="2736338"/>
            <a:ext cx="1050925" cy="3175"/>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pic>
        <p:nvPicPr>
          <p:cNvPr id="21" name="图片 20" descr="箭头-直角-向右"/>
          <p:cNvPicPr>
            <a:picLocks noChangeAspect="1"/>
          </p:cNvPicPr>
          <p:nvPr>
            <p:custDataLst>
              <p:tags r:id="rId17"/>
            </p:custDataLst>
          </p:nvPr>
        </p:nvPicPr>
        <p:blipFill>
          <a:blip r:embed="rId7">
            <a:extLst>
              <a:ext uri="{96DAC541-7B7A-43D3-8B79-37D633B846F1}">
                <asvg:svgBlip xmlns:asvg="http://schemas.microsoft.com/office/drawing/2016/SVG/main" r:embed="rId8"/>
              </a:ext>
            </a:extLst>
          </a:blip>
          <a:stretch>
            <a:fillRect/>
          </a:stretch>
        </p:blipFill>
        <p:spPr>
          <a:xfrm>
            <a:off x="7066280" y="2435225"/>
            <a:ext cx="415925" cy="415925"/>
          </a:xfrm>
          <a:prstGeom prst="rect">
            <a:avLst/>
          </a:prstGeom>
        </p:spPr>
      </p:pic>
      <p:sp>
        <p:nvSpPr>
          <p:cNvPr id="22" name="圆角矩形 21"/>
          <p:cNvSpPr/>
          <p:nvPr/>
        </p:nvSpPr>
        <p:spPr>
          <a:xfrm>
            <a:off x="6200775" y="2161540"/>
            <a:ext cx="5353685" cy="1148715"/>
          </a:xfrm>
          <a:prstGeom prst="roundRect">
            <a:avLst/>
          </a:prstGeom>
          <a:noFill/>
          <a:ln w="34925" cmpd="sng">
            <a:solidFill>
              <a:srgbClr val="00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3" name="图片 22" descr="程序代码编程"/>
          <p:cNvPicPr>
            <a:picLocks noChangeAspect="1"/>
          </p:cNvPicPr>
          <p:nvPr>
            <p:custDataLst>
              <p:tags r:id="rId18"/>
            </p:custDataLst>
          </p:nvPr>
        </p:nvPicPr>
        <p:blipFill>
          <a:blip r:embed="rId15">
            <a:extLst>
              <a:ext uri="{96DAC541-7B7A-43D3-8B79-37D633B846F1}">
                <asvg:svgBlip xmlns:asvg="http://schemas.microsoft.com/office/drawing/2016/SVG/main" r:embed="rId16"/>
              </a:ext>
            </a:extLst>
          </a:blip>
          <a:stretch>
            <a:fillRect/>
          </a:stretch>
        </p:blipFill>
        <p:spPr>
          <a:xfrm>
            <a:off x="6341110" y="2255520"/>
            <a:ext cx="648335" cy="713740"/>
          </a:xfrm>
          <a:prstGeom prst="rect">
            <a:avLst/>
          </a:prstGeom>
        </p:spPr>
      </p:pic>
      <p:pic>
        <p:nvPicPr>
          <p:cNvPr id="24" name="图片 23" descr="箭头-直角-向右"/>
          <p:cNvPicPr>
            <a:picLocks noChangeAspect="1"/>
          </p:cNvPicPr>
          <p:nvPr>
            <p:custDataLst>
              <p:tags r:id="rId19"/>
            </p:custDataLst>
          </p:nvPr>
        </p:nvPicPr>
        <p:blipFill>
          <a:blip r:embed="rId7">
            <a:extLst>
              <a:ext uri="{96DAC541-7B7A-43D3-8B79-37D633B846F1}">
                <asvg:svgBlip xmlns:asvg="http://schemas.microsoft.com/office/drawing/2016/SVG/main" r:embed="rId8"/>
              </a:ext>
            </a:extLst>
          </a:blip>
          <a:stretch>
            <a:fillRect/>
          </a:stretch>
        </p:blipFill>
        <p:spPr>
          <a:xfrm>
            <a:off x="8328025" y="2435225"/>
            <a:ext cx="415925" cy="415925"/>
          </a:xfrm>
          <a:prstGeom prst="rect">
            <a:avLst/>
          </a:prstGeom>
        </p:spPr>
      </p:pic>
      <p:sp>
        <p:nvSpPr>
          <p:cNvPr id="25" name="文本框 24"/>
          <p:cNvSpPr txBox="1"/>
          <p:nvPr/>
        </p:nvSpPr>
        <p:spPr>
          <a:xfrm>
            <a:off x="7602855" y="3387725"/>
            <a:ext cx="2007235" cy="64516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③</a:t>
            </a:r>
            <a:r>
              <a:rPr lang="en-US" altLang="zh-CN">
                <a:latin typeface="Comic Sans MS" panose="030F0702030302020204" charset="0"/>
                <a:cs typeface="Comic Sans MS" panose="030F0702030302020204" charset="0"/>
              </a:rPr>
              <a:t> Test S</a:t>
            </a:r>
            <a:r>
              <a:rPr lang="en-US" altLang="zh-CN">
                <a:latin typeface="Comic Sans MS" panose="030F0702030302020204" charset="0"/>
                <a:cs typeface="Comic Sans MS" panose="030F0702030302020204" charset="0"/>
                <a:sym typeface="+mn-ea"/>
              </a:rPr>
              <a:t>cript </a:t>
            </a:r>
            <a:endParaRPr lang="en-US" altLang="zh-CN">
              <a:latin typeface="Comic Sans MS" panose="030F0702030302020204" charset="0"/>
              <a:cs typeface="Comic Sans MS" panose="030F0702030302020204" charset="0"/>
              <a:sym typeface="+mn-ea"/>
            </a:endParaRPr>
          </a:p>
          <a:p>
            <a:pPr algn="ctr"/>
            <a:r>
              <a:rPr lang="en-US" altLang="zh-CN">
                <a:latin typeface="Comic Sans MS" panose="030F0702030302020204" charset="0"/>
                <a:cs typeface="Comic Sans MS" panose="030F0702030302020204" charset="0"/>
                <a:sym typeface="+mn-ea"/>
              </a:rPr>
              <a:t>    E</a:t>
            </a:r>
            <a:r>
              <a:rPr lang="en-US" altLang="zh-CN" dirty="0" err="1">
                <a:latin typeface="Comic Sans MS" panose="030F0702030302020204" charset="0"/>
                <a:ea typeface="Microsoft YaHei" panose="020B0503020204020204" charset="-122"/>
                <a:cs typeface="Comic Sans MS" panose="030F0702030302020204" charset="0"/>
                <a:sym typeface="+mn-ea"/>
              </a:rPr>
              <a:t>xecution</a:t>
            </a:r>
            <a:endParaRPr lang="en-US" altLang="zh-CN" dirty="0" err="1">
              <a:latin typeface="Comic Sans MS" panose="030F0702030302020204" charset="0"/>
              <a:ea typeface="Microsoft YaHei" panose="020B0503020204020204" charset="-122"/>
              <a:cs typeface="Comic Sans MS" panose="030F0702030302020204" charset="0"/>
              <a:sym typeface="+mn-ea"/>
            </a:endParaRPr>
          </a:p>
        </p:txBody>
      </p:sp>
      <p:pic>
        <p:nvPicPr>
          <p:cNvPr id="29" name="图片 28" descr="文件"/>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9699625" y="2255520"/>
            <a:ext cx="693420" cy="692785"/>
          </a:xfrm>
          <a:prstGeom prst="rect">
            <a:avLst/>
          </a:prstGeom>
        </p:spPr>
      </p:pic>
      <p:pic>
        <p:nvPicPr>
          <p:cNvPr id="31" name="图片 30" descr="文件"/>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8790940" y="2235200"/>
            <a:ext cx="693420" cy="713105"/>
          </a:xfrm>
          <a:prstGeom prst="rect">
            <a:avLst/>
          </a:prstGeom>
        </p:spPr>
      </p:pic>
      <p:pic>
        <p:nvPicPr>
          <p:cNvPr id="32" name="图片 31" descr="加号"/>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9441180" y="2462530"/>
            <a:ext cx="356870" cy="356870"/>
          </a:xfrm>
          <a:prstGeom prst="rect">
            <a:avLst/>
          </a:prstGeom>
        </p:spPr>
      </p:pic>
      <p:sp>
        <p:nvSpPr>
          <p:cNvPr id="35" name="文本框 34"/>
          <p:cNvSpPr txBox="1"/>
          <p:nvPr/>
        </p:nvSpPr>
        <p:spPr>
          <a:xfrm>
            <a:off x="466725" y="2861945"/>
            <a:ext cx="1106805" cy="24511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rPr>
              <a:t>Documentation</a:t>
            </a:r>
            <a:endParaRPr lang="en-US" altLang="zh-CN" sz="1000" b="1">
              <a:latin typeface="Comic Sans MS" panose="030F0702030302020204" charset="0"/>
              <a:cs typeface="Comic Sans MS" panose="030F0702030302020204" charset="0"/>
            </a:endParaRPr>
          </a:p>
        </p:txBody>
      </p:sp>
      <p:sp>
        <p:nvSpPr>
          <p:cNvPr id="36" name="文本框 35"/>
          <p:cNvSpPr txBox="1"/>
          <p:nvPr/>
        </p:nvSpPr>
        <p:spPr>
          <a:xfrm>
            <a:off x="1670050" y="2883535"/>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Behavioral</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sym typeface="+mn-ea"/>
              </a:rPr>
              <a:t>claims</a:t>
            </a:r>
            <a:endParaRPr lang="en-US" altLang="zh-CN" sz="1000" b="1">
              <a:latin typeface="Comic Sans MS" panose="030F0702030302020204" charset="0"/>
              <a:cs typeface="Comic Sans MS" panose="030F0702030302020204" charset="0"/>
            </a:endParaRPr>
          </a:p>
        </p:txBody>
      </p:sp>
      <p:sp>
        <p:nvSpPr>
          <p:cNvPr id="37" name="文本框 36"/>
          <p:cNvSpPr txBox="1"/>
          <p:nvPr/>
        </p:nvSpPr>
        <p:spPr>
          <a:xfrm>
            <a:off x="3257550" y="2886710"/>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Behavioral</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sym typeface="+mn-ea"/>
              </a:rPr>
              <a:t>claims</a:t>
            </a:r>
            <a:endParaRPr lang="en-US" altLang="zh-CN" sz="1000" b="1">
              <a:latin typeface="Comic Sans MS" panose="030F0702030302020204" charset="0"/>
              <a:cs typeface="Comic Sans MS" panose="030F0702030302020204" charset="0"/>
            </a:endParaRPr>
          </a:p>
        </p:txBody>
      </p:sp>
      <p:sp>
        <p:nvSpPr>
          <p:cNvPr id="38" name="文本框 37"/>
          <p:cNvSpPr txBox="1"/>
          <p:nvPr/>
        </p:nvSpPr>
        <p:spPr>
          <a:xfrm>
            <a:off x="4312920" y="2886710"/>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Test</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rPr>
              <a:t>scripts</a:t>
            </a:r>
            <a:endParaRPr lang="en-US" altLang="zh-CN" sz="1000" b="1">
              <a:latin typeface="Comic Sans MS" panose="030F0702030302020204" charset="0"/>
              <a:cs typeface="Comic Sans MS" panose="030F0702030302020204" charset="0"/>
            </a:endParaRPr>
          </a:p>
        </p:txBody>
      </p:sp>
      <p:sp>
        <p:nvSpPr>
          <p:cNvPr id="39" name="文本框 38"/>
          <p:cNvSpPr txBox="1"/>
          <p:nvPr/>
        </p:nvSpPr>
        <p:spPr>
          <a:xfrm>
            <a:off x="6247130" y="2884805"/>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Test</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rPr>
              <a:t>scripts</a:t>
            </a:r>
            <a:endParaRPr lang="en-US" altLang="zh-CN" sz="1000" b="1">
              <a:latin typeface="Comic Sans MS" panose="030F0702030302020204" charset="0"/>
              <a:cs typeface="Comic Sans MS" panose="030F0702030302020204" charset="0"/>
            </a:endParaRPr>
          </a:p>
        </p:txBody>
      </p:sp>
      <p:sp>
        <p:nvSpPr>
          <p:cNvPr id="40" name="文本框 39"/>
          <p:cNvSpPr txBox="1"/>
          <p:nvPr/>
        </p:nvSpPr>
        <p:spPr>
          <a:xfrm>
            <a:off x="7482205" y="2923540"/>
            <a:ext cx="836930" cy="24511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VDBMS</a:t>
            </a:r>
            <a:endParaRPr lang="en-US" altLang="zh-CN" sz="1000" b="1">
              <a:latin typeface="Comic Sans MS" panose="030F0702030302020204" charset="0"/>
              <a:cs typeface="Comic Sans MS" panose="030F0702030302020204" charset="0"/>
            </a:endParaRPr>
          </a:p>
        </p:txBody>
      </p:sp>
      <p:sp>
        <p:nvSpPr>
          <p:cNvPr id="42" name="文本框 41"/>
          <p:cNvSpPr txBox="1"/>
          <p:nvPr/>
        </p:nvSpPr>
        <p:spPr>
          <a:xfrm>
            <a:off x="8750935" y="2909570"/>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VDBMS response</a:t>
            </a:r>
            <a:endParaRPr lang="en-US" altLang="zh-CN" sz="1000" b="1">
              <a:latin typeface="Comic Sans MS" panose="030F0702030302020204" charset="0"/>
              <a:cs typeface="Comic Sans MS" panose="030F0702030302020204" charset="0"/>
            </a:endParaRPr>
          </a:p>
        </p:txBody>
      </p:sp>
      <p:sp>
        <p:nvSpPr>
          <p:cNvPr id="43" name="文本框 42"/>
          <p:cNvSpPr txBox="1"/>
          <p:nvPr/>
        </p:nvSpPr>
        <p:spPr>
          <a:xfrm>
            <a:off x="9627870" y="2909570"/>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VDBMS logs</a:t>
            </a:r>
            <a:endParaRPr lang="en-US" altLang="zh-CN" sz="1000" b="1">
              <a:latin typeface="Comic Sans MS" panose="030F0702030302020204" charset="0"/>
              <a:cs typeface="Comic Sans MS" panose="030F0702030302020204" charset="0"/>
            </a:endParaRPr>
          </a:p>
        </p:txBody>
      </p:sp>
      <p:sp>
        <p:nvSpPr>
          <p:cNvPr id="44" name="圆角矩形 43"/>
          <p:cNvSpPr/>
          <p:nvPr/>
        </p:nvSpPr>
        <p:spPr>
          <a:xfrm>
            <a:off x="8751570" y="2009140"/>
            <a:ext cx="2849880"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圆角矩形 44"/>
          <p:cNvSpPr/>
          <p:nvPr/>
        </p:nvSpPr>
        <p:spPr>
          <a:xfrm>
            <a:off x="1601470" y="2009775"/>
            <a:ext cx="1022985"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圆角矩形 46"/>
          <p:cNvSpPr/>
          <p:nvPr/>
        </p:nvSpPr>
        <p:spPr>
          <a:xfrm>
            <a:off x="7134860" y="4171950"/>
            <a:ext cx="2762250"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8" name="图片 47" descr="文档"/>
          <p:cNvPicPr>
            <a:picLocks noChangeAspect="1"/>
          </p:cNvPicPr>
          <p:nvPr>
            <p:custDataLst>
              <p:tags r:id="rId29"/>
            </p:custDataLst>
          </p:nvPr>
        </p:nvPicPr>
        <p:blipFill>
          <a:blip r:embed="rId4">
            <a:extLst>
              <a:ext uri="{96DAC541-7B7A-43D3-8B79-37D633B846F1}">
                <asvg:svgBlip xmlns:asvg="http://schemas.microsoft.com/office/drawing/2016/SVG/main" r:embed="rId5"/>
              </a:ext>
            </a:extLst>
          </a:blip>
          <a:stretch>
            <a:fillRect/>
          </a:stretch>
        </p:blipFill>
        <p:spPr>
          <a:xfrm>
            <a:off x="3237230" y="4259580"/>
            <a:ext cx="713105" cy="713105"/>
          </a:xfrm>
          <a:prstGeom prst="rect">
            <a:avLst/>
          </a:prstGeom>
        </p:spPr>
      </p:pic>
      <p:pic>
        <p:nvPicPr>
          <p:cNvPr id="49" name="图片 48" descr="文件"/>
          <p:cNvPicPr>
            <a:picLocks noChangeAspect="1"/>
          </p:cNvPicPr>
          <p:nvPr>
            <p:custDataLst>
              <p:tags r:id="rId30"/>
            </p:custDataLst>
          </p:nvPr>
        </p:nvPicPr>
        <p:blipFill>
          <a:blip r:embed="rId21">
            <a:extLst>
              <a:ext uri="{96DAC541-7B7A-43D3-8B79-37D633B846F1}">
                <asvg:svgBlip xmlns:asvg="http://schemas.microsoft.com/office/drawing/2016/SVG/main" r:embed="rId22"/>
              </a:ext>
            </a:extLst>
          </a:blip>
          <a:stretch>
            <a:fillRect/>
          </a:stretch>
        </p:blipFill>
        <p:spPr>
          <a:xfrm>
            <a:off x="8099425" y="4406265"/>
            <a:ext cx="693420" cy="692785"/>
          </a:xfrm>
          <a:prstGeom prst="rect">
            <a:avLst/>
          </a:prstGeom>
        </p:spPr>
      </p:pic>
      <p:pic>
        <p:nvPicPr>
          <p:cNvPr id="50" name="图片 49" descr="文件"/>
          <p:cNvPicPr>
            <a:picLocks noChangeAspect="1"/>
          </p:cNvPicPr>
          <p:nvPr>
            <p:custDataLst>
              <p:tags r:id="rId31"/>
            </p:custDataLst>
          </p:nvPr>
        </p:nvPicPr>
        <p:blipFill>
          <a:blip r:embed="rId24">
            <a:extLst>
              <a:ext uri="{96DAC541-7B7A-43D3-8B79-37D633B846F1}">
                <asvg:svgBlip xmlns:asvg="http://schemas.microsoft.com/office/drawing/2016/SVG/main" r:embed="rId25"/>
              </a:ext>
            </a:extLst>
          </a:blip>
          <a:stretch>
            <a:fillRect/>
          </a:stretch>
        </p:blipFill>
        <p:spPr>
          <a:xfrm>
            <a:off x="7172960" y="4385945"/>
            <a:ext cx="693420" cy="713105"/>
          </a:xfrm>
          <a:prstGeom prst="rect">
            <a:avLst/>
          </a:prstGeom>
        </p:spPr>
      </p:pic>
      <p:pic>
        <p:nvPicPr>
          <p:cNvPr id="51" name="图片 50" descr="加号"/>
          <p:cNvPicPr>
            <a:picLocks noChangeAspect="1"/>
          </p:cNvPicPr>
          <p:nvPr>
            <p:custDataLst>
              <p:tags r:id="rId32"/>
            </p:custDataLst>
          </p:nvPr>
        </p:nvPicPr>
        <p:blipFill>
          <a:blip r:embed="rId27">
            <a:extLst>
              <a:ext uri="{96DAC541-7B7A-43D3-8B79-37D633B846F1}">
                <asvg:svgBlip xmlns:asvg="http://schemas.microsoft.com/office/drawing/2016/SVG/main" r:embed="rId28"/>
              </a:ext>
            </a:extLst>
          </a:blip>
          <a:stretch>
            <a:fillRect/>
          </a:stretch>
        </p:blipFill>
        <p:spPr>
          <a:xfrm>
            <a:off x="7816850" y="4636135"/>
            <a:ext cx="356870" cy="356870"/>
          </a:xfrm>
          <a:prstGeom prst="rect">
            <a:avLst/>
          </a:prstGeom>
        </p:spPr>
      </p:pic>
      <p:sp>
        <p:nvSpPr>
          <p:cNvPr id="52" name="文本框 51"/>
          <p:cNvSpPr txBox="1"/>
          <p:nvPr/>
        </p:nvSpPr>
        <p:spPr>
          <a:xfrm>
            <a:off x="7754620" y="5099050"/>
            <a:ext cx="1503680" cy="378460"/>
          </a:xfrm>
          <a:prstGeom prst="rect">
            <a:avLst/>
          </a:prstGeom>
          <a:noFill/>
        </p:spPr>
        <p:txBody>
          <a:bodyPr wrap="square" rtlCol="0">
            <a:noAutofit/>
          </a:bodyPr>
          <a:p>
            <a:pPr algn="ctr"/>
            <a:r>
              <a:rPr lang="en-US" altLang="zh-CN" sz="1200" b="1">
                <a:latin typeface="Comic Sans MS" panose="030F0702030302020204" charset="0"/>
                <a:cs typeface="Comic Sans MS" panose="030F0702030302020204" charset="0"/>
                <a:sym typeface="+mn-ea"/>
              </a:rPr>
              <a:t>VDBMS’s</a:t>
            </a:r>
            <a:endParaRPr lang="en-US" altLang="zh-CN" sz="1200" b="1">
              <a:latin typeface="Comic Sans MS" panose="030F0702030302020204" charset="0"/>
              <a:cs typeface="Comic Sans MS" panose="030F0702030302020204" charset="0"/>
              <a:sym typeface="+mn-ea"/>
            </a:endParaRPr>
          </a:p>
          <a:p>
            <a:pPr algn="ctr"/>
            <a:r>
              <a:rPr lang="en-US" altLang="zh-CN" sz="1200" b="1">
                <a:latin typeface="Comic Sans MS" panose="030F0702030302020204" charset="0"/>
                <a:cs typeface="Comic Sans MS" panose="030F0702030302020204" charset="0"/>
              </a:rPr>
              <a:t>Actual Behaviour</a:t>
            </a:r>
            <a:endParaRPr lang="en-US" altLang="zh-CN" sz="1200" b="1">
              <a:latin typeface="Comic Sans MS" panose="030F0702030302020204" charset="0"/>
              <a:cs typeface="Comic Sans MS" panose="030F0702030302020204" charset="0"/>
            </a:endParaRPr>
          </a:p>
        </p:txBody>
      </p:sp>
      <p:sp>
        <p:nvSpPr>
          <p:cNvPr id="55" name="圆角矩形 54"/>
          <p:cNvSpPr/>
          <p:nvPr/>
        </p:nvSpPr>
        <p:spPr>
          <a:xfrm>
            <a:off x="2842260" y="4171950"/>
            <a:ext cx="1503045"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文本框 57"/>
          <p:cNvSpPr txBox="1"/>
          <p:nvPr/>
        </p:nvSpPr>
        <p:spPr>
          <a:xfrm>
            <a:off x="2841625" y="4972685"/>
            <a:ext cx="1503680" cy="378460"/>
          </a:xfrm>
          <a:prstGeom prst="rect">
            <a:avLst/>
          </a:prstGeom>
          <a:noFill/>
        </p:spPr>
        <p:txBody>
          <a:bodyPr wrap="square" rtlCol="0">
            <a:noAutofit/>
          </a:bodyPr>
          <a:p>
            <a:pPr algn="ctr"/>
            <a:r>
              <a:rPr lang="en-US" altLang="zh-CN" sz="1200" b="1">
                <a:latin typeface="Comic Sans MS" panose="030F0702030302020204" charset="0"/>
                <a:cs typeface="Comic Sans MS" panose="030F0702030302020204" charset="0"/>
              </a:rPr>
              <a:t>Expected VDBMS Behavior in Documentation</a:t>
            </a:r>
            <a:endParaRPr lang="en-US" altLang="zh-CN" sz="1200" b="1">
              <a:latin typeface="Comic Sans MS" panose="030F0702030302020204" charset="0"/>
              <a:cs typeface="Comic Sans MS" panose="030F0702030302020204" charset="0"/>
            </a:endParaRPr>
          </a:p>
        </p:txBody>
      </p:sp>
      <p:cxnSp>
        <p:nvCxnSpPr>
          <p:cNvPr id="59" name="曲线连接符 58"/>
          <p:cNvCxnSpPr/>
          <p:nvPr/>
        </p:nvCxnSpPr>
        <p:spPr>
          <a:xfrm rot="5400000">
            <a:off x="9634220" y="3710940"/>
            <a:ext cx="1452880" cy="927100"/>
          </a:xfrm>
          <a:prstGeom prst="curvedConnector2">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60" name="曲线连接符 59"/>
          <p:cNvCxnSpPr>
            <a:stCxn id="45" idx="2"/>
            <a:endCxn id="55" idx="1"/>
          </p:cNvCxnSpPr>
          <p:nvPr/>
        </p:nvCxnSpPr>
        <p:spPr>
          <a:xfrm rot="5400000" flipV="1">
            <a:off x="1756093" y="3805238"/>
            <a:ext cx="1443355" cy="728980"/>
          </a:xfrm>
          <a:prstGeom prst="curvedConnector2">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65" name="椭圆 64"/>
          <p:cNvSpPr/>
          <p:nvPr/>
        </p:nvSpPr>
        <p:spPr>
          <a:xfrm>
            <a:off x="5327650" y="4491355"/>
            <a:ext cx="834390" cy="800100"/>
          </a:xfrm>
          <a:prstGeom prst="ellipse">
            <a:avLst/>
          </a:prstGeom>
          <a:noFill/>
          <a:ln w="34925">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7" name="图片 66" descr="不等于"/>
          <p:cNvPicPr>
            <a:picLocks noChangeAspect="1"/>
          </p:cNvPicPr>
          <p:nvPr>
            <p:custDataLst>
              <p:tags r:id="rId33"/>
            </p:custDataLst>
          </p:nvPr>
        </p:nvPicPr>
        <p:blipFill>
          <a:blip r:embed="rId34">
            <a:extLst>
              <a:ext uri="{96DAC541-7B7A-43D3-8B79-37D633B846F1}">
                <asvg:svgBlip xmlns:asvg="http://schemas.microsoft.com/office/drawing/2016/SVG/main" r:embed="rId35"/>
              </a:ext>
            </a:extLst>
          </a:blip>
          <a:stretch>
            <a:fillRect/>
          </a:stretch>
        </p:blipFill>
        <p:spPr>
          <a:xfrm>
            <a:off x="5776595" y="4722495"/>
            <a:ext cx="336550" cy="336550"/>
          </a:xfrm>
          <a:prstGeom prst="rect">
            <a:avLst/>
          </a:prstGeom>
        </p:spPr>
      </p:pic>
      <p:cxnSp>
        <p:nvCxnSpPr>
          <p:cNvPr id="68" name="直接箭头连接符 67"/>
          <p:cNvCxnSpPr>
            <a:stCxn id="55" idx="3"/>
            <a:endCxn id="65" idx="2"/>
          </p:cNvCxnSpPr>
          <p:nvPr/>
        </p:nvCxnSpPr>
        <p:spPr>
          <a:xfrm>
            <a:off x="4345305" y="4891405"/>
            <a:ext cx="982345" cy="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69" name="直接箭头连接符 68"/>
          <p:cNvCxnSpPr>
            <a:endCxn id="65" idx="6"/>
          </p:cNvCxnSpPr>
          <p:nvPr/>
        </p:nvCxnSpPr>
        <p:spPr>
          <a:xfrm flipH="1">
            <a:off x="6162040" y="4891405"/>
            <a:ext cx="972820" cy="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70" name="直接箭头连接符 69"/>
          <p:cNvCxnSpPr>
            <a:stCxn id="65" idx="5"/>
          </p:cNvCxnSpPr>
          <p:nvPr/>
        </p:nvCxnSpPr>
        <p:spPr>
          <a:xfrm>
            <a:off x="6040120" y="5173980"/>
            <a:ext cx="349250" cy="64579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71" name="图片 70" descr="BUG问题修复"/>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tretch>
            <a:fillRect/>
          </a:stretch>
        </p:blipFill>
        <p:spPr>
          <a:xfrm>
            <a:off x="6075680" y="5876290"/>
            <a:ext cx="648970" cy="664210"/>
          </a:xfrm>
          <a:prstGeom prst="rect">
            <a:avLst/>
          </a:prstGeom>
        </p:spPr>
      </p:pic>
      <p:sp>
        <p:nvSpPr>
          <p:cNvPr id="72" name="文本框 71"/>
          <p:cNvSpPr txBox="1"/>
          <p:nvPr/>
        </p:nvSpPr>
        <p:spPr>
          <a:xfrm>
            <a:off x="4345305" y="4123055"/>
            <a:ext cx="2746375" cy="36830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④</a:t>
            </a:r>
            <a:r>
              <a:rPr lang="en-US" altLang="zh-CN">
                <a:latin typeface="Comic Sans MS" panose="030F0702030302020204" charset="0"/>
                <a:cs typeface="Comic Sans MS" panose="030F0702030302020204" charset="0"/>
              </a:rPr>
              <a:t> Defect Confirmation</a:t>
            </a:r>
            <a:endParaRPr lang="en-US" altLang="zh-CN">
              <a:latin typeface="Comic Sans MS" panose="030F0702030302020204" charset="0"/>
              <a:cs typeface="Comic Sans MS" panose="030F0702030302020204" charset="0"/>
            </a:endParaRPr>
          </a:p>
        </p:txBody>
      </p:sp>
      <p:sp>
        <p:nvSpPr>
          <p:cNvPr id="73" name="文本框 72"/>
          <p:cNvSpPr txBox="1"/>
          <p:nvPr/>
        </p:nvSpPr>
        <p:spPr>
          <a:xfrm>
            <a:off x="6995160" y="6024245"/>
            <a:ext cx="124841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Bug found</a:t>
            </a:r>
            <a:r>
              <a:rPr lang="zh-CN" altLang="en-US">
                <a:latin typeface="Comic Sans MS" panose="030F0702030302020204" charset="0"/>
                <a:cs typeface="Comic Sans MS" panose="030F0702030302020204" charset="0"/>
              </a:rPr>
              <a:t>！</a:t>
            </a:r>
            <a:endParaRPr lang="zh-CN" altLang="en-US">
              <a:latin typeface="Comic Sans MS" panose="030F0702030302020204" charset="0"/>
              <a:cs typeface="Comic Sans MS" panose="030F0702030302020204" charset="0"/>
            </a:endParaRPr>
          </a:p>
        </p:txBody>
      </p:sp>
      <p:cxnSp>
        <p:nvCxnSpPr>
          <p:cNvPr id="74" name="直接连接符 73"/>
          <p:cNvCxnSpPr>
            <a:endCxn id="65" idx="4"/>
          </p:cNvCxnSpPr>
          <p:nvPr/>
        </p:nvCxnSpPr>
        <p:spPr>
          <a:xfrm>
            <a:off x="5728970" y="4511675"/>
            <a:ext cx="15875" cy="779780"/>
          </a:xfrm>
          <a:prstGeom prst="line">
            <a:avLst/>
          </a:prstGeom>
          <a:ln w="22225">
            <a:solidFill>
              <a:srgbClr val="000000"/>
            </a:solidFill>
          </a:ln>
        </p:spPr>
        <p:style>
          <a:lnRef idx="2">
            <a:schemeClr val="accent1"/>
          </a:lnRef>
          <a:fillRef idx="0">
            <a:srgbClr val="FFFFFF"/>
          </a:fillRef>
          <a:effectRef idx="0">
            <a:srgbClr val="FFFFFF"/>
          </a:effectRef>
          <a:fontRef idx="minor">
            <a:schemeClr val="tx1"/>
          </a:fontRef>
        </p:style>
      </p:cxnSp>
      <p:pic>
        <p:nvPicPr>
          <p:cNvPr id="75" name="图片 74" descr="等于号"/>
          <p:cNvPicPr>
            <a:picLocks noChangeAspect="1"/>
          </p:cNvPicPr>
          <p:nvPr>
            <p:custDataLst>
              <p:tags r:id="rId39"/>
            </p:custDataLst>
          </p:nvPr>
        </p:nvPicPr>
        <p:blipFill>
          <a:blip r:embed="rId40">
            <a:extLst>
              <a:ext uri="{96DAC541-7B7A-43D3-8B79-37D633B846F1}">
                <asvg:svgBlip xmlns:asvg="http://schemas.microsoft.com/office/drawing/2016/SVG/main" r:embed="rId41"/>
              </a:ext>
            </a:extLst>
          </a:blip>
          <a:stretch>
            <a:fillRect/>
          </a:stretch>
        </p:blipFill>
        <p:spPr>
          <a:xfrm>
            <a:off x="5392420" y="4723130"/>
            <a:ext cx="317500" cy="335915"/>
          </a:xfrm>
          <a:prstGeom prst="rect">
            <a:avLst/>
          </a:prstGeom>
        </p:spPr>
      </p:pic>
      <p:cxnSp>
        <p:nvCxnSpPr>
          <p:cNvPr id="77" name="直接箭头连接符 76"/>
          <p:cNvCxnSpPr>
            <a:stCxn id="65" idx="3"/>
          </p:cNvCxnSpPr>
          <p:nvPr/>
        </p:nvCxnSpPr>
        <p:spPr>
          <a:xfrm flipH="1">
            <a:off x="5132070" y="5173980"/>
            <a:ext cx="317500" cy="65849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78" name="图片 77" descr="对"/>
          <p:cNvPicPr>
            <a:picLocks noChangeAspect="1"/>
          </p:cNvPicPr>
          <p:nvPr>
            <p:custDataLst>
              <p:tags r:id="rId42"/>
            </p:custDataLst>
          </p:nvPr>
        </p:nvPicPr>
        <p:blipFill>
          <a:blip r:embed="rId43">
            <a:extLst>
              <a:ext uri="{96DAC541-7B7A-43D3-8B79-37D633B846F1}">
                <asvg:svgBlip xmlns:asvg="http://schemas.microsoft.com/office/drawing/2016/SVG/main" r:embed="rId44"/>
              </a:ext>
            </a:extLst>
          </a:blip>
          <a:stretch>
            <a:fillRect/>
          </a:stretch>
        </p:blipFill>
        <p:spPr>
          <a:xfrm>
            <a:off x="4789805" y="5876290"/>
            <a:ext cx="537845" cy="537845"/>
          </a:xfrm>
          <a:prstGeom prst="rect">
            <a:avLst/>
          </a:prstGeom>
        </p:spPr>
      </p:pic>
      <p:sp>
        <p:nvSpPr>
          <p:cNvPr id="79" name="文本框 78"/>
          <p:cNvSpPr txBox="1"/>
          <p:nvPr/>
        </p:nvSpPr>
        <p:spPr>
          <a:xfrm>
            <a:off x="3827145" y="6096000"/>
            <a:ext cx="96266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No Bug. </a:t>
            </a:r>
            <a:endParaRPr lang="zh-CN" altLang="en-US">
              <a:latin typeface="Comic Sans MS" panose="030F0702030302020204" charset="0"/>
              <a:cs typeface="Comic Sans MS" panose="030F0702030302020204" charset="0"/>
            </a:endParaRPr>
          </a:p>
        </p:txBody>
      </p:sp>
      <p:pic>
        <p:nvPicPr>
          <p:cNvPr id="7" name="图片 6" descr="数据库"/>
          <p:cNvPicPr>
            <a:picLocks noChangeAspect="1"/>
          </p:cNvPicPr>
          <p:nvPr>
            <p:custDataLst>
              <p:tags r:id="rId45"/>
            </p:custDataLst>
          </p:nvPr>
        </p:nvPicPr>
        <p:blipFill>
          <a:blip r:embed="rId46">
            <a:extLst>
              <a:ext uri="{96DAC541-7B7A-43D3-8B79-37D633B846F1}">
                <asvg:svgBlip xmlns:asvg="http://schemas.microsoft.com/office/drawing/2016/SVG/main" r:embed="rId47"/>
              </a:ext>
            </a:extLst>
          </a:blip>
          <a:stretch>
            <a:fillRect/>
          </a:stretch>
        </p:blipFill>
        <p:spPr>
          <a:xfrm>
            <a:off x="10722610" y="2209165"/>
            <a:ext cx="758825" cy="758825"/>
          </a:xfrm>
          <a:prstGeom prst="rect">
            <a:avLst/>
          </a:prstGeom>
        </p:spPr>
      </p:pic>
      <p:pic>
        <p:nvPicPr>
          <p:cNvPr id="15" name="图片 14" descr="加号"/>
          <p:cNvPicPr>
            <a:picLocks noChangeAspect="1"/>
          </p:cNvPicPr>
          <p:nvPr>
            <p:custDataLst>
              <p:tags r:id="rId48"/>
            </p:custDataLst>
          </p:nvPr>
        </p:nvPicPr>
        <p:blipFill>
          <a:blip r:embed="rId27">
            <a:extLst>
              <a:ext uri="{96DAC541-7B7A-43D3-8B79-37D633B846F1}">
                <asvg:svgBlip xmlns:asvg="http://schemas.microsoft.com/office/drawing/2016/SVG/main" r:embed="rId28"/>
              </a:ext>
            </a:extLst>
          </a:blip>
          <a:stretch>
            <a:fillRect/>
          </a:stretch>
        </p:blipFill>
        <p:spPr>
          <a:xfrm>
            <a:off x="10342880" y="2459355"/>
            <a:ext cx="356870" cy="356870"/>
          </a:xfrm>
          <a:prstGeom prst="rect">
            <a:avLst/>
          </a:prstGeom>
        </p:spPr>
      </p:pic>
      <p:sp>
        <p:nvSpPr>
          <p:cNvPr id="20" name="文本框 19"/>
          <p:cNvSpPr txBox="1"/>
          <p:nvPr/>
        </p:nvSpPr>
        <p:spPr>
          <a:xfrm>
            <a:off x="10615295" y="2909570"/>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VDBMS </a:t>
            </a:r>
            <a:r>
              <a:rPr lang="en-US" altLang="zh-CN" sz="1000" b="1">
                <a:latin typeface="Comic Sans MS" panose="030F0702030302020204" charset="0"/>
                <a:cs typeface="Comic Sans MS" panose="030F0702030302020204" charset="0"/>
                <a:sym typeface="+mn-ea"/>
              </a:rPr>
              <a:t>state</a:t>
            </a:r>
            <a:endParaRPr lang="en-US" altLang="zh-CN" sz="1000" b="1">
              <a:latin typeface="Comic Sans MS" panose="030F0702030302020204" charset="0"/>
              <a:cs typeface="Comic Sans MS" panose="030F0702030302020204" charset="0"/>
              <a:sym typeface="+mn-ea"/>
            </a:endParaRPr>
          </a:p>
        </p:txBody>
      </p:sp>
      <p:pic>
        <p:nvPicPr>
          <p:cNvPr id="28" name="图片 27" descr="数据库"/>
          <p:cNvPicPr>
            <a:picLocks noChangeAspect="1"/>
          </p:cNvPicPr>
          <p:nvPr>
            <p:custDataLst>
              <p:tags r:id="rId49"/>
            </p:custDataLst>
          </p:nvPr>
        </p:nvPicPr>
        <p:blipFill>
          <a:blip r:embed="rId46">
            <a:extLst>
              <a:ext uri="{96DAC541-7B7A-43D3-8B79-37D633B846F1}">
                <asvg:svgBlip xmlns:asvg="http://schemas.microsoft.com/office/drawing/2016/SVG/main" r:embed="rId47"/>
              </a:ext>
            </a:extLst>
          </a:blip>
          <a:stretch>
            <a:fillRect/>
          </a:stretch>
        </p:blipFill>
        <p:spPr>
          <a:xfrm>
            <a:off x="9072245" y="4385945"/>
            <a:ext cx="758825" cy="758825"/>
          </a:xfrm>
          <a:prstGeom prst="rect">
            <a:avLst/>
          </a:prstGeom>
        </p:spPr>
      </p:pic>
      <p:pic>
        <p:nvPicPr>
          <p:cNvPr id="34" name="图片 33" descr="加号"/>
          <p:cNvPicPr>
            <a:picLocks noChangeAspect="1"/>
          </p:cNvPicPr>
          <p:nvPr>
            <p:custDataLst>
              <p:tags r:id="rId50"/>
            </p:custDataLst>
          </p:nvPr>
        </p:nvPicPr>
        <p:blipFill>
          <a:blip r:embed="rId27">
            <a:extLst>
              <a:ext uri="{96DAC541-7B7A-43D3-8B79-37D633B846F1}">
                <asvg:svgBlip xmlns:asvg="http://schemas.microsoft.com/office/drawing/2016/SVG/main" r:embed="rId28"/>
              </a:ext>
            </a:extLst>
          </a:blip>
          <a:stretch>
            <a:fillRect/>
          </a:stretch>
        </p:blipFill>
        <p:spPr>
          <a:xfrm>
            <a:off x="8732520" y="4636135"/>
            <a:ext cx="356870" cy="35687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ldLvl="0" animBg="1"/>
      <p:bldP spid="55" grpId="0" bldLvl="0" animBg="1"/>
      <p:bldP spid="58" grpId="0"/>
      <p:bldP spid="44" grpId="0" bldLvl="0" animBg="1"/>
      <p:bldP spid="47" grpId="0" bldLvl="0" animBg="1"/>
      <p:bldP spid="52" grpId="0"/>
      <p:bldP spid="65" grpId="0" bldLvl="0" animBg="1"/>
      <p:bldP spid="72" grpId="0"/>
      <p:bldP spid="73" grpId="0"/>
      <p:bldP spid="7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85545"/>
            <a:ext cx="10852150" cy="491299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Step 1: We extract structured behavioral claims from na</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tur</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al- language documentation </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332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Behavioral claims extraction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sp>
        <p:nvSpPr>
          <p:cNvPr id="188" name="圆角矩形 187"/>
          <p:cNvSpPr/>
          <p:nvPr>
            <p:custDataLst>
              <p:tags r:id="rId3"/>
            </p:custDataLst>
          </p:nvPr>
        </p:nvSpPr>
        <p:spPr>
          <a:xfrm>
            <a:off x="455930" y="2687955"/>
            <a:ext cx="4914265" cy="358457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189" name="图片 188" descr="书-翻开"/>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756285" y="2756535"/>
            <a:ext cx="603885" cy="603885"/>
          </a:xfrm>
          <a:prstGeom prst="rect">
            <a:avLst/>
          </a:prstGeom>
        </p:spPr>
      </p:pic>
      <p:sp>
        <p:nvSpPr>
          <p:cNvPr id="190" name="文本框 189"/>
          <p:cNvSpPr txBox="1"/>
          <p:nvPr>
            <p:custDataLst>
              <p:tags r:id="rId7"/>
            </p:custDataLst>
          </p:nvPr>
        </p:nvSpPr>
        <p:spPr>
          <a:xfrm>
            <a:off x="2019935" y="2873375"/>
            <a:ext cx="178562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documentation</a:t>
            </a:r>
            <a:endParaRPr lang="en-US" altLang="zh-CN" b="1">
              <a:latin typeface="Comic Sans MS" panose="030F0702030302020204" charset="0"/>
              <a:cs typeface="Comic Sans MS" panose="030F0702030302020204" charset="0"/>
            </a:endParaRPr>
          </a:p>
        </p:txBody>
      </p:sp>
      <p:sp>
        <p:nvSpPr>
          <p:cNvPr id="191" name="圆角矩形 190"/>
          <p:cNvSpPr/>
          <p:nvPr>
            <p:custDataLst>
              <p:tags r:id="rId8"/>
            </p:custDataLst>
          </p:nvPr>
        </p:nvSpPr>
        <p:spPr>
          <a:xfrm>
            <a:off x="6471920" y="2688590"/>
            <a:ext cx="4469130" cy="358394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2" name="文本框 191"/>
          <p:cNvSpPr txBox="1"/>
          <p:nvPr>
            <p:custDataLst>
              <p:tags r:id="rId9"/>
            </p:custDataLst>
          </p:nvPr>
        </p:nvSpPr>
        <p:spPr>
          <a:xfrm>
            <a:off x="7722235" y="2876550"/>
            <a:ext cx="252666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193" name="图片 192"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6830060" y="2798445"/>
            <a:ext cx="699770" cy="603885"/>
          </a:xfrm>
          <a:prstGeom prst="rect">
            <a:avLst/>
          </a:prstGeom>
        </p:spPr>
      </p:pic>
      <p:pic>
        <p:nvPicPr>
          <p:cNvPr id="209" name="图片 208"/>
          <p:cNvPicPr>
            <a:picLocks noChangeAspect="1"/>
          </p:cNvPicPr>
          <p:nvPr/>
        </p:nvPicPr>
        <p:blipFill>
          <a:blip r:embed="rId13"/>
          <a:srcRect r="26800" b="26871"/>
          <a:stretch>
            <a:fillRect/>
          </a:stretch>
        </p:blipFill>
        <p:spPr>
          <a:xfrm>
            <a:off x="680085" y="3572510"/>
            <a:ext cx="4527550" cy="2378710"/>
          </a:xfrm>
          <a:prstGeom prst="rect">
            <a:avLst/>
          </a:prstGeom>
          <a:ln w="25400" cmpd="thickThin">
            <a:solidFill>
              <a:srgbClr val="000000"/>
            </a:solidFill>
            <a:prstDash val="solid"/>
          </a:ln>
        </p:spPr>
      </p:pic>
      <p:cxnSp>
        <p:nvCxnSpPr>
          <p:cNvPr id="210" name="直接箭头连接符 209"/>
          <p:cNvCxnSpPr>
            <a:stCxn id="188" idx="3"/>
            <a:endCxn id="191" idx="1"/>
          </p:cNvCxnSpPr>
          <p:nvPr/>
        </p:nvCxnSpPr>
        <p:spPr>
          <a:xfrm>
            <a:off x="5370195" y="4480560"/>
            <a:ext cx="1101725" cy="0"/>
          </a:xfrm>
          <a:prstGeom prst="straightConnector1">
            <a:avLst/>
          </a:prstGeom>
          <a:ln w="28575" cmpd="sng">
            <a:solidFill>
              <a:schemeClr val="tx1"/>
            </a:solidFill>
            <a:prstDash val="solid"/>
            <a:tailEnd type="arrow"/>
          </a:ln>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6524625" y="3573145"/>
            <a:ext cx="4415790" cy="2461260"/>
          </a:xfrm>
          <a:prstGeom prst="rect">
            <a:avLst/>
          </a:prstGeom>
          <a:noFill/>
        </p:spPr>
        <p:txBody>
          <a:bodyPr wrap="square" rtlCol="0" anchor="t">
            <a:spAutoFit/>
          </a:bodyPr>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"constraint_id": "xxxx_001",</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"endpoint": "entities+search",</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"description": "nprobe must be an integer in [1,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"assertion": "nprobe &gt;= 1 &amp;&amp; nprobe &lt;=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"type": "range_constraint",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"confidence": 1.0,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"evidence_tier": "explicit",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"source_url": "xxxx",</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"source_verified": true</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sym typeface="+mn-ea"/>
            </a:endParaRP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en-US" altLang="zh-CN"/>
              <a:t>behaviral claim</a:t>
            </a:r>
            <a:r>
              <a:rPr lang="zh-CN" altLang="en-US"/>
              <a:t>统一改为</a:t>
            </a:r>
            <a:r>
              <a:rPr lang="en-US" altLang="zh-CN">
                <a:sym typeface="+mn-ea"/>
              </a:rPr>
              <a:t>behaviral specification</a:t>
            </a:r>
            <a:r>
              <a:rPr lang="zh-CN" altLang="en-US">
                <a:sym typeface="+mn-ea"/>
              </a:rPr>
              <a:t>（</a:t>
            </a:r>
            <a:r>
              <a:rPr lang="zh-CN" altLang="en-US">
                <a:sym typeface="+mn-ea"/>
              </a:rPr>
              <a:t>规约）</a:t>
            </a:r>
            <a:endParaRPr lang="zh-CN" altLang="en-US">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44905"/>
            <a:ext cx="10852150" cy="85153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Step 1: We extract structured behavioral claims from na</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tur</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al- language documentation </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332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Behavioral claims extraction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733915" y="6467475"/>
            <a:ext cx="1934845" cy="265430"/>
          </a:xfrm>
        </p:spPr>
        <p:txBody>
          <a:bodyPr/>
          <a:lstStyle/>
          <a:p>
            <a:fld id="{E09368C2-8BE5-4C19-86FB-98954A39BC6E}" type="slidenum">
              <a:rPr lang="zh-CN" altLang="en-US" smtClean="0"/>
            </a:fld>
            <a:endParaRPr lang="zh-CN" altLang="en-US"/>
          </a:p>
        </p:txBody>
      </p:sp>
      <p:sp>
        <p:nvSpPr>
          <p:cNvPr id="3" name="圆角矩形 2"/>
          <p:cNvSpPr/>
          <p:nvPr>
            <p:custDataLst>
              <p:tags r:id="rId3"/>
            </p:custDataLst>
          </p:nvPr>
        </p:nvSpPr>
        <p:spPr>
          <a:xfrm>
            <a:off x="293370" y="2017395"/>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5" name="图片 4" descr="书-翻开"/>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411480" y="2017395"/>
            <a:ext cx="603885" cy="603885"/>
          </a:xfrm>
          <a:prstGeom prst="rect">
            <a:avLst/>
          </a:prstGeom>
        </p:spPr>
      </p:pic>
      <p:sp>
        <p:nvSpPr>
          <p:cNvPr id="6" name="文本框 5"/>
          <p:cNvSpPr txBox="1"/>
          <p:nvPr>
            <p:custDataLst>
              <p:tags r:id="rId7"/>
            </p:custDataLst>
          </p:nvPr>
        </p:nvSpPr>
        <p:spPr>
          <a:xfrm>
            <a:off x="1113790" y="2110105"/>
            <a:ext cx="178562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documentation</a:t>
            </a:r>
            <a:endParaRPr lang="en-US" altLang="zh-CN" b="1">
              <a:latin typeface="Comic Sans MS" panose="030F0702030302020204" charset="0"/>
              <a:cs typeface="Comic Sans MS" panose="030F0702030302020204" charset="0"/>
            </a:endParaRPr>
          </a:p>
        </p:txBody>
      </p:sp>
      <p:sp>
        <p:nvSpPr>
          <p:cNvPr id="13" name="圆角矩形 12"/>
          <p:cNvSpPr/>
          <p:nvPr>
            <p:custDataLst>
              <p:tags r:id="rId8"/>
            </p:custDataLst>
          </p:nvPr>
        </p:nvSpPr>
        <p:spPr>
          <a:xfrm>
            <a:off x="335915" y="566420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5" name="文本框 14"/>
          <p:cNvSpPr txBox="1"/>
          <p:nvPr>
            <p:custDataLst>
              <p:tags r:id="rId9"/>
            </p:custDataLst>
          </p:nvPr>
        </p:nvSpPr>
        <p:spPr>
          <a:xfrm>
            <a:off x="979170" y="5757545"/>
            <a:ext cx="2096135" cy="45466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a:latin typeface="Comic Sans MS" panose="030F0702030302020204" charset="0"/>
              <a:cs typeface="Comic Sans MS" panose="030F0702030302020204" charset="0"/>
            </a:endParaRPr>
          </a:p>
        </p:txBody>
      </p:sp>
      <p:pic>
        <p:nvPicPr>
          <p:cNvPr id="10" name="图片 9"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405765" y="5682615"/>
            <a:ext cx="699770" cy="603885"/>
          </a:xfrm>
          <a:prstGeom prst="rect">
            <a:avLst/>
          </a:prstGeom>
        </p:spPr>
      </p:pic>
      <p:sp>
        <p:nvSpPr>
          <p:cNvPr id="16" name="圆角矩形 15"/>
          <p:cNvSpPr/>
          <p:nvPr>
            <p:custDataLst>
              <p:tags r:id="rId13"/>
            </p:custDataLst>
          </p:nvPr>
        </p:nvSpPr>
        <p:spPr>
          <a:xfrm>
            <a:off x="335915" y="3189605"/>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8" name="文本框 17"/>
          <p:cNvSpPr txBox="1"/>
          <p:nvPr>
            <p:custDataLst>
              <p:tags r:id="rId14"/>
            </p:custDataLst>
          </p:nvPr>
        </p:nvSpPr>
        <p:spPr>
          <a:xfrm>
            <a:off x="1200785" y="3340100"/>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knowledge e</a:t>
            </a:r>
            <a:r>
              <a:rPr lang="en-US" altLang="zh-CN" b="1">
                <a:latin typeface="Comic Sans MS" panose="030F0702030302020204" charset="0"/>
                <a:cs typeface="Comic Sans MS" panose="030F0702030302020204" charset="0"/>
              </a:rPr>
              <a:t>xtractor </a:t>
            </a:r>
            <a:endParaRPr lang="en-US" altLang="zh-CN" b="1">
              <a:latin typeface="Comic Sans MS" panose="030F0702030302020204" charset="0"/>
              <a:cs typeface="Comic Sans MS" panose="030F0702030302020204" charset="0"/>
            </a:endParaRPr>
          </a:p>
        </p:txBody>
      </p:sp>
      <p:pic>
        <p:nvPicPr>
          <p:cNvPr id="80" name="图片 79" descr="机器人"/>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405765" y="3213735"/>
            <a:ext cx="708025" cy="592455"/>
          </a:xfrm>
          <a:prstGeom prst="rect">
            <a:avLst/>
          </a:prstGeom>
        </p:spPr>
      </p:pic>
      <p:sp>
        <p:nvSpPr>
          <p:cNvPr id="21" name="圆角矩形 20"/>
          <p:cNvSpPr/>
          <p:nvPr>
            <p:custDataLst>
              <p:tags r:id="rId18"/>
            </p:custDataLst>
          </p:nvPr>
        </p:nvSpPr>
        <p:spPr>
          <a:xfrm>
            <a:off x="335915" y="4514215"/>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22" name="文本框 21"/>
          <p:cNvSpPr txBox="1"/>
          <p:nvPr>
            <p:custDataLst>
              <p:tags r:id="rId19"/>
            </p:custDataLst>
          </p:nvPr>
        </p:nvSpPr>
        <p:spPr>
          <a:xfrm>
            <a:off x="1200785" y="4664710"/>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claim formalizer</a:t>
            </a:r>
            <a:endParaRPr lang="en-US" altLang="zh-CN" b="1">
              <a:latin typeface="Comic Sans MS" panose="030F0702030302020204" charset="0"/>
              <a:cs typeface="Comic Sans MS" panose="030F0702030302020204" charset="0"/>
            </a:endParaRPr>
          </a:p>
        </p:txBody>
      </p:sp>
      <p:pic>
        <p:nvPicPr>
          <p:cNvPr id="23" name="图片 22" descr="机器人"/>
          <p:cNvPicPr>
            <a:picLocks noChangeAspect="1"/>
          </p:cNvPicPr>
          <p:nvPr>
            <p:custDataLst>
              <p:tags r:id="rId20"/>
            </p:custDataLst>
          </p:nvPr>
        </p:nvPicPr>
        <p:blipFill>
          <a:blip r:embed="rId16">
            <a:extLst>
              <a:ext uri="{96DAC541-7B7A-43D3-8B79-37D633B846F1}">
                <asvg:svgBlip xmlns:asvg="http://schemas.microsoft.com/office/drawing/2016/SVG/main" r:embed="rId17"/>
              </a:ext>
            </a:extLst>
          </a:blip>
          <a:stretch>
            <a:fillRect/>
          </a:stretch>
        </p:blipFill>
        <p:spPr>
          <a:xfrm>
            <a:off x="405765" y="4538345"/>
            <a:ext cx="708025" cy="592455"/>
          </a:xfrm>
          <a:prstGeom prst="rect">
            <a:avLst/>
          </a:prstGeom>
        </p:spPr>
      </p:pic>
      <p:sp>
        <p:nvSpPr>
          <p:cNvPr id="34" name="下箭头 33"/>
          <p:cNvSpPr/>
          <p:nvPr>
            <p:custDataLst>
              <p:tags r:id="rId21"/>
            </p:custDataLst>
          </p:nvPr>
        </p:nvSpPr>
        <p:spPr>
          <a:xfrm>
            <a:off x="1374140" y="3867150"/>
            <a:ext cx="379095" cy="61341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custDataLst>
              <p:tags r:id="rId22"/>
            </p:custDataLst>
          </p:nvPr>
        </p:nvSpPr>
        <p:spPr>
          <a:xfrm>
            <a:off x="1374140" y="5187950"/>
            <a:ext cx="378460" cy="44577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流程图: 过程 35"/>
          <p:cNvSpPr/>
          <p:nvPr/>
        </p:nvSpPr>
        <p:spPr>
          <a:xfrm>
            <a:off x="4114165" y="2017395"/>
            <a:ext cx="4436745" cy="3322320"/>
          </a:xfrm>
          <a:prstGeom prst="flowChartProcess">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7" name="图片 36" descr="ai_picture_gb_1786506268724_hteockqc_0"/>
          <p:cNvPicPr>
            <a:picLocks noChangeAspect="1"/>
          </p:cNvPicPr>
          <p:nvPr>
            <p:custDataLst>
              <p:tags r:id="rId23"/>
            </p:custDataLst>
          </p:nvPr>
        </p:nvPicPr>
        <p:blipFill>
          <a:blip r:embed="rId24"/>
          <a:srcRect l="29593" t="21757" r="29843" b="21520"/>
          <a:stretch>
            <a:fillRect/>
          </a:stretch>
        </p:blipFill>
        <p:spPr>
          <a:xfrm>
            <a:off x="4208780" y="2095500"/>
            <a:ext cx="718820" cy="794385"/>
          </a:xfrm>
          <a:prstGeom prst="rect">
            <a:avLst/>
          </a:prstGeom>
          <a:ln w="19050">
            <a:noFill/>
          </a:ln>
        </p:spPr>
      </p:pic>
      <p:sp>
        <p:nvSpPr>
          <p:cNvPr id="38" name="矩形 37"/>
          <p:cNvSpPr/>
          <p:nvPr/>
        </p:nvSpPr>
        <p:spPr>
          <a:xfrm>
            <a:off x="5039360" y="2999740"/>
            <a:ext cx="3215005" cy="39116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Comic Sans MS" panose="030F0702030302020204" charset="0"/>
                <a:cs typeface="Comic Sans MS" panose="030F0702030302020204" charset="0"/>
              </a:rPr>
              <a:t>2.extract information</a:t>
            </a:r>
            <a:endParaRPr lang="en-US" altLang="zh-CN">
              <a:solidFill>
                <a:schemeClr val="tx1"/>
              </a:solidFill>
              <a:latin typeface="Comic Sans MS" panose="030F0702030302020204" charset="0"/>
              <a:cs typeface="Comic Sans MS" panose="030F0702030302020204" charset="0"/>
            </a:endParaRPr>
          </a:p>
        </p:txBody>
      </p:sp>
      <p:sp>
        <p:nvSpPr>
          <p:cNvPr id="39" name="矩形 38"/>
          <p:cNvSpPr/>
          <p:nvPr/>
        </p:nvSpPr>
        <p:spPr>
          <a:xfrm>
            <a:off x="5046980" y="3770630"/>
            <a:ext cx="3215005" cy="37719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Comic Sans MS" panose="030F0702030302020204" charset="0"/>
                <a:cs typeface="Comic Sans MS" panose="030F0702030302020204" charset="0"/>
              </a:rPr>
              <a:t>3.write raw_knowledge.md</a:t>
            </a:r>
            <a:endParaRPr lang="en-US" altLang="zh-CN">
              <a:solidFill>
                <a:schemeClr val="tx1"/>
              </a:solidFill>
              <a:latin typeface="Comic Sans MS" panose="030F0702030302020204" charset="0"/>
              <a:cs typeface="Comic Sans MS" panose="030F0702030302020204" charset="0"/>
            </a:endParaRPr>
          </a:p>
        </p:txBody>
      </p:sp>
      <p:sp>
        <p:nvSpPr>
          <p:cNvPr id="40" name="矩形 39"/>
          <p:cNvSpPr/>
          <p:nvPr/>
        </p:nvSpPr>
        <p:spPr>
          <a:xfrm>
            <a:off x="9881870" y="1790700"/>
            <a:ext cx="2112010" cy="1399540"/>
          </a:xfrm>
          <a:prstGeom prst="rect">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a:p>
            <a:pPr algn="ctr">
              <a:lnSpc>
                <a:spcPct val="150000"/>
              </a:lnSpc>
            </a:pPr>
            <a:endParaRPr lang="en-US" altLang="zh-CN">
              <a:solidFill>
                <a:schemeClr val="tx1"/>
              </a:solidFill>
              <a:latin typeface="Comic Sans MS" panose="030F0702030302020204" charset="0"/>
              <a:cs typeface="Comic Sans MS" panose="030F0702030302020204" charset="0"/>
              <a:sym typeface="+mn-ea"/>
            </a:endParaRPr>
          </a:p>
          <a:p>
            <a:pPr algn="ctr">
              <a:lnSpc>
                <a:spcPct val="150000"/>
              </a:lnSpc>
            </a:pPr>
            <a:endParaRPr lang="en-US" altLang="zh-CN">
              <a:solidFill>
                <a:schemeClr val="tx1"/>
              </a:solidFill>
              <a:latin typeface="Comic Sans MS" panose="030F0702030302020204" charset="0"/>
              <a:cs typeface="Comic Sans MS" panose="030F0702030302020204" charset="0"/>
              <a:sym typeface="+mn-ea"/>
            </a:endParaRPr>
          </a:p>
          <a:p>
            <a:pPr algn="ctr">
              <a:lnSpc>
                <a:spcPct val="150000"/>
              </a:lnSpc>
            </a:pPr>
            <a:r>
              <a:rPr lang="en-US" altLang="zh-CN">
                <a:solidFill>
                  <a:schemeClr val="tx1"/>
                </a:solidFill>
                <a:latin typeface="Comic Sans MS" panose="030F0702030302020204" charset="0"/>
                <a:cs typeface="Comic Sans MS" panose="030F0702030302020204" charset="0"/>
                <a:sym typeface="+mn-ea"/>
              </a:rPr>
              <a:t>Crawl4AI </a:t>
            </a:r>
            <a:endParaRPr lang="en-US" altLang="zh-CN">
              <a:solidFill>
                <a:schemeClr val="tx1"/>
              </a:solidFill>
              <a:latin typeface="Comic Sans MS" panose="030F0702030302020204" charset="0"/>
              <a:cs typeface="Comic Sans MS" panose="030F0702030302020204" charset="0"/>
            </a:endParaRPr>
          </a:p>
          <a:p>
            <a:pPr algn="ctr">
              <a:lnSpc>
                <a:spcPct val="150000"/>
              </a:lnSpc>
            </a:pPr>
            <a:r>
              <a:rPr lang="en-US" altLang="zh-CN">
                <a:solidFill>
                  <a:schemeClr val="tx1"/>
                </a:solidFill>
                <a:latin typeface="Comic Sans MS" panose="030F0702030302020204" charset="0"/>
                <a:cs typeface="Comic Sans MS" panose="030F0702030302020204" charset="0"/>
                <a:sym typeface="+mn-ea"/>
              </a:rPr>
              <a:t>Docker </a:t>
            </a:r>
            <a:r>
              <a:rPr lang="en-US" altLang="zh-CN">
                <a:solidFill>
                  <a:schemeClr val="tx1"/>
                </a:solidFill>
                <a:latin typeface="Comic Sans MS" panose="030F0702030302020204" charset="0"/>
                <a:cs typeface="Comic Sans MS" panose="030F0702030302020204" charset="0"/>
                <a:sym typeface="+mn-ea"/>
              </a:rPr>
              <a:t>Container</a:t>
            </a:r>
            <a:endParaRPr lang="en-US" altLang="zh-CN">
              <a:solidFill>
                <a:schemeClr val="tx1"/>
              </a:solidFill>
              <a:latin typeface="Comic Sans MS" panose="030F0702030302020204" charset="0"/>
              <a:cs typeface="Comic Sans MS" panose="030F0702030302020204" charset="0"/>
            </a:endParaRPr>
          </a:p>
          <a:p>
            <a:pPr algn="ctr"/>
            <a:endParaRPr lang="en-US" altLang="zh-CN">
              <a:solidFill>
                <a:schemeClr val="tx1"/>
              </a:solidFill>
              <a:latin typeface="Comic Sans MS" panose="030F0702030302020204" charset="0"/>
              <a:cs typeface="Comic Sans MS" panose="030F0702030302020204" charset="0"/>
            </a:endParaRPr>
          </a:p>
          <a:p>
            <a:pPr algn="ctr">
              <a:lnSpc>
                <a:spcPct val="150000"/>
              </a:lnSpc>
            </a:pPr>
            <a:endParaRPr lang="en-US" altLang="zh-CN">
              <a:solidFill>
                <a:schemeClr val="tx1"/>
              </a:solidFill>
              <a:latin typeface="Comic Sans MS" panose="030F0702030302020204" charset="0"/>
              <a:cs typeface="Comic Sans MS" panose="030F0702030302020204" charset="0"/>
            </a:endParaRPr>
          </a:p>
        </p:txBody>
      </p:sp>
      <p:sp>
        <p:nvSpPr>
          <p:cNvPr id="42" name="文本框 41"/>
          <p:cNvSpPr txBox="1"/>
          <p:nvPr/>
        </p:nvSpPr>
        <p:spPr>
          <a:xfrm>
            <a:off x="1753235" y="3941445"/>
            <a:ext cx="1958340"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raw_knowledge.</a:t>
            </a:r>
            <a:r>
              <a:rPr lang="en-US" altLang="zh-CN" sz="1400">
                <a:latin typeface="Comic Sans MS" panose="030F0702030302020204" charset="0"/>
                <a:cs typeface="Comic Sans MS" panose="030F0702030302020204" charset="0"/>
                <a:sym typeface="+mn-ea"/>
              </a:rPr>
              <a:t>json</a:t>
            </a:r>
            <a:endParaRPr lang="en-US" altLang="zh-CN" sz="1400">
              <a:latin typeface="Comic Sans MS" panose="030F0702030302020204" charset="0"/>
              <a:cs typeface="Comic Sans MS" panose="030F0702030302020204" charset="0"/>
              <a:sym typeface="+mn-ea"/>
            </a:endParaRPr>
          </a:p>
        </p:txBody>
      </p:sp>
      <p:sp>
        <p:nvSpPr>
          <p:cNvPr id="44" name="下箭头 43"/>
          <p:cNvSpPr/>
          <p:nvPr>
            <p:custDataLst>
              <p:tags r:id="rId25"/>
            </p:custDataLst>
          </p:nvPr>
        </p:nvSpPr>
        <p:spPr>
          <a:xfrm>
            <a:off x="6450965" y="1769110"/>
            <a:ext cx="378460" cy="40068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文本框 45"/>
          <p:cNvSpPr txBox="1"/>
          <p:nvPr/>
        </p:nvSpPr>
        <p:spPr>
          <a:xfrm>
            <a:off x="6408420" y="1715770"/>
            <a:ext cx="2051050" cy="322580"/>
          </a:xfrm>
          <a:prstGeom prst="rect">
            <a:avLst/>
          </a:prstGeom>
          <a:noFill/>
        </p:spPr>
        <p:txBody>
          <a:bodyPr wrap="square" rtlCol="0" anchor="t">
            <a:noAutofit/>
          </a:bodyPr>
          <a:p>
            <a:pPr algn="ctr"/>
            <a:r>
              <a:rPr lang="en-US" altLang="zh-CN" sz="1400" dirty="0" err="1">
                <a:latin typeface="Comic Sans MS" panose="030F0702030302020204" charset="0"/>
                <a:ea typeface="Microsoft YaHei" panose="020B0503020204020204" charset="-122"/>
                <a:cs typeface="Comic Sans MS" panose="030F0702030302020204" charset="0"/>
                <a:sym typeface="+mn-ea"/>
              </a:rPr>
              <a:t>target + version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cxnSp>
        <p:nvCxnSpPr>
          <p:cNvPr id="48" name="直接箭头连接符 47"/>
          <p:cNvCxnSpPr>
            <a:stCxn id="38" idx="2"/>
            <a:endCxn id="39" idx="0"/>
          </p:cNvCxnSpPr>
          <p:nvPr/>
        </p:nvCxnSpPr>
        <p:spPr>
          <a:xfrm>
            <a:off x="6647180" y="3390900"/>
            <a:ext cx="7620" cy="379730"/>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cxnSp>
        <p:nvCxnSpPr>
          <p:cNvPr id="49" name="直接箭头连接符 48"/>
          <p:cNvCxnSpPr/>
          <p:nvPr/>
        </p:nvCxnSpPr>
        <p:spPr>
          <a:xfrm>
            <a:off x="8300720" y="2241550"/>
            <a:ext cx="1533525" cy="635"/>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cxnSp>
        <p:nvCxnSpPr>
          <p:cNvPr id="50" name="直接箭头连接符 49"/>
          <p:cNvCxnSpPr/>
          <p:nvPr/>
        </p:nvCxnSpPr>
        <p:spPr>
          <a:xfrm flipH="1" flipV="1">
            <a:off x="8312785" y="2472690"/>
            <a:ext cx="1483360" cy="6350"/>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sp>
        <p:nvSpPr>
          <p:cNvPr id="51" name="文本框 50"/>
          <p:cNvSpPr txBox="1"/>
          <p:nvPr/>
        </p:nvSpPr>
        <p:spPr>
          <a:xfrm>
            <a:off x="4051300" y="2863850"/>
            <a:ext cx="1057910" cy="65087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knowledge extractor </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cxnSp>
        <p:nvCxnSpPr>
          <p:cNvPr id="64" name="直接连接符 63"/>
          <p:cNvCxnSpPr>
            <a:stCxn id="18" idx="3"/>
            <a:endCxn id="36" idx="1"/>
          </p:cNvCxnSpPr>
          <p:nvPr/>
        </p:nvCxnSpPr>
        <p:spPr>
          <a:xfrm>
            <a:off x="3711575" y="3567430"/>
            <a:ext cx="402590" cy="111125"/>
          </a:xfrm>
          <a:prstGeom prst="line">
            <a:avLst/>
          </a:prstGeom>
        </p:spPr>
        <p:style>
          <a:lnRef idx="2">
            <a:schemeClr val="accent1"/>
          </a:lnRef>
          <a:fillRef idx="0">
            <a:srgbClr val="FFFFFF"/>
          </a:fillRef>
          <a:effectRef idx="0">
            <a:srgbClr val="FFFFFF"/>
          </a:effectRef>
          <a:fontRef idx="minor">
            <a:schemeClr val="tx1"/>
          </a:fontRef>
        </p:style>
      </p:cxnSp>
      <p:sp>
        <p:nvSpPr>
          <p:cNvPr id="67" name="文本框 66"/>
          <p:cNvSpPr txBox="1"/>
          <p:nvPr/>
        </p:nvSpPr>
        <p:spPr>
          <a:xfrm>
            <a:off x="1689100" y="5262245"/>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a:latin typeface="Comic Sans MS" panose="030F0702030302020204" charset="0"/>
              <a:cs typeface="Comic Sans MS" panose="030F0702030302020204" charset="0"/>
              <a:sym typeface="+mn-ea"/>
            </a:endParaRPr>
          </a:p>
        </p:txBody>
      </p:sp>
      <p:sp>
        <p:nvSpPr>
          <p:cNvPr id="2" name="文本框 1"/>
          <p:cNvSpPr txBox="1"/>
          <p:nvPr/>
        </p:nvSpPr>
        <p:spPr>
          <a:xfrm>
            <a:off x="6615430" y="5407025"/>
            <a:ext cx="2051050" cy="30162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raw_knowledge.</a:t>
            </a:r>
            <a:r>
              <a:rPr lang="en-US" altLang="zh-CN" sz="1400">
                <a:latin typeface="Comic Sans MS" panose="030F0702030302020204" charset="0"/>
                <a:cs typeface="Comic Sans MS" panose="030F0702030302020204" charset="0"/>
                <a:sym typeface="+mn-ea"/>
              </a:rPr>
              <a:t>json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7" name="下箭头 6"/>
          <p:cNvSpPr/>
          <p:nvPr>
            <p:custDataLst>
              <p:tags r:id="rId26"/>
            </p:custDataLst>
          </p:nvPr>
        </p:nvSpPr>
        <p:spPr>
          <a:xfrm>
            <a:off x="6455410" y="5052060"/>
            <a:ext cx="379095" cy="64198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562100" y="2767965"/>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Web pages crawling</a:t>
            </a:r>
            <a:endParaRPr lang="en-US" altLang="zh-CN" sz="1400">
              <a:latin typeface="Comic Sans MS" panose="030F0702030302020204" charset="0"/>
              <a:cs typeface="Comic Sans MS" panose="030F0702030302020204" charset="0"/>
              <a:sym typeface="+mn-ea"/>
            </a:endParaRPr>
          </a:p>
        </p:txBody>
      </p:sp>
      <p:sp>
        <p:nvSpPr>
          <p:cNvPr id="14" name="下箭头 13"/>
          <p:cNvSpPr/>
          <p:nvPr>
            <p:custDataLst>
              <p:tags r:id="rId27"/>
            </p:custDataLst>
          </p:nvPr>
        </p:nvSpPr>
        <p:spPr>
          <a:xfrm>
            <a:off x="1374140" y="2711450"/>
            <a:ext cx="379095" cy="44069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nvSpPr>
        <p:spPr>
          <a:xfrm>
            <a:off x="5046980" y="2190750"/>
            <a:ext cx="3215005" cy="391160"/>
          </a:xfrm>
          <a:prstGeom prst="rect">
            <a:avLst/>
          </a:prstGeom>
          <a:ln>
            <a:solidFill>
              <a:srgbClr val="DB380E"/>
            </a:solidFill>
          </a:ln>
        </p:spPr>
        <p:style>
          <a:lnRef idx="2">
            <a:schemeClr val="accent1"/>
          </a:lnRef>
          <a:fillRef idx="0">
            <a:srgbClr val="FFFFFF"/>
          </a:fillRef>
          <a:effectRef idx="0">
            <a:srgbClr val="FFFFFF"/>
          </a:effectRef>
          <a:fontRef idx="minor">
            <a:schemeClr val="tx1"/>
          </a:fontRef>
        </p:style>
        <p:txBody>
          <a:bodyPr rtlCol="0" anchor="ctr"/>
          <a:p>
            <a:pPr algn="ctr"/>
            <a:r>
              <a:rPr lang="en-US" altLang="zh-CN">
                <a:solidFill>
                  <a:schemeClr val="tx1"/>
                </a:solidFill>
                <a:latin typeface="Comic Sans MS" panose="030F0702030302020204" charset="0"/>
                <a:cs typeface="Comic Sans MS" panose="030F0702030302020204" charset="0"/>
              </a:rPr>
              <a:t>1.</a:t>
            </a:r>
            <a:r>
              <a:rPr lang="en-US" altLang="zh-CN">
                <a:latin typeface="Comic Sans MS" panose="030F0702030302020204" charset="0"/>
                <a:cs typeface="Comic Sans MS" panose="030F0702030302020204" charset="0"/>
                <a:sym typeface="+mn-ea"/>
              </a:rPr>
              <a:t>Web pages crawling</a:t>
            </a:r>
            <a:endParaRPr lang="en-US" altLang="zh-CN">
              <a:solidFill>
                <a:schemeClr val="tx1"/>
              </a:solidFill>
              <a:latin typeface="Comic Sans MS" panose="030F0702030302020204" charset="0"/>
              <a:cs typeface="Comic Sans MS" panose="030F0702030302020204" charset="0"/>
            </a:endParaRPr>
          </a:p>
        </p:txBody>
      </p:sp>
      <p:pic>
        <p:nvPicPr>
          <p:cNvPr id="8" name="图片 7"/>
          <p:cNvPicPr>
            <a:picLocks noChangeAspect="1"/>
          </p:cNvPicPr>
          <p:nvPr/>
        </p:nvPicPr>
        <p:blipFill>
          <a:blip r:embed="rId28"/>
          <a:stretch>
            <a:fillRect/>
          </a:stretch>
        </p:blipFill>
        <p:spPr>
          <a:xfrm>
            <a:off x="9881870" y="1790700"/>
            <a:ext cx="549910" cy="496570"/>
          </a:xfrm>
          <a:prstGeom prst="rect">
            <a:avLst/>
          </a:prstGeom>
        </p:spPr>
      </p:pic>
      <p:sp>
        <p:nvSpPr>
          <p:cNvPr id="11" name="文本框 10"/>
          <p:cNvSpPr txBox="1"/>
          <p:nvPr/>
        </p:nvSpPr>
        <p:spPr>
          <a:xfrm>
            <a:off x="8550910" y="1978660"/>
            <a:ext cx="1163320" cy="223520"/>
          </a:xfrm>
          <a:prstGeom prst="rect">
            <a:avLst/>
          </a:prstGeom>
          <a:noFill/>
        </p:spPr>
        <p:txBody>
          <a:bodyPr wrap="square" rtlCol="0">
            <a:noAutofit/>
          </a:bodyPr>
          <a:p>
            <a:r>
              <a:rPr lang="en-US" altLang="zh-CN" sz="1200" b="1">
                <a:solidFill>
                  <a:schemeClr val="tx2"/>
                </a:solidFill>
                <a:latin typeface="Comic Sans MS" panose="030F0702030302020204" charset="0"/>
                <a:cs typeface="Comic Sans MS" panose="030F0702030302020204" charset="0"/>
                <a:sym typeface="+mn-ea"/>
              </a:rPr>
              <a:t>webpage url</a:t>
            </a:r>
            <a:endParaRPr lang="en-US" altLang="zh-CN" sz="1200" b="1">
              <a:solidFill>
                <a:schemeClr val="tx2"/>
              </a:solidFill>
              <a:latin typeface="Comic Sans MS" panose="030F0702030302020204" charset="0"/>
              <a:cs typeface="Comic Sans MS" panose="030F0702030302020204" charset="0"/>
              <a:sym typeface="+mn-ea"/>
            </a:endParaRPr>
          </a:p>
        </p:txBody>
      </p:sp>
      <p:sp>
        <p:nvSpPr>
          <p:cNvPr id="17" name="文本框 16"/>
          <p:cNvSpPr txBox="1"/>
          <p:nvPr/>
        </p:nvSpPr>
        <p:spPr>
          <a:xfrm>
            <a:off x="8516620" y="2435860"/>
            <a:ext cx="1279525" cy="275590"/>
          </a:xfrm>
          <a:prstGeom prst="rect">
            <a:avLst/>
          </a:prstGeom>
          <a:noFill/>
        </p:spPr>
        <p:txBody>
          <a:bodyPr wrap="square" rtlCol="0">
            <a:spAutoFit/>
          </a:bodyPr>
          <a:p>
            <a:r>
              <a:rPr lang="en-US" altLang="zh-CN" sz="1200" b="1">
                <a:solidFill>
                  <a:schemeClr val="tx2"/>
                </a:solidFill>
                <a:latin typeface="Comic Sans MS" panose="030F0702030302020204" charset="0"/>
                <a:cs typeface="Comic Sans MS" panose="030F0702030302020204" charset="0"/>
                <a:sym typeface="+mn-ea"/>
              </a:rPr>
              <a:t>documentation</a:t>
            </a:r>
            <a:endParaRPr lang="en-US" altLang="zh-CN" sz="1200" b="1">
              <a:solidFill>
                <a:schemeClr val="tx2"/>
              </a:solidFill>
              <a:latin typeface="Comic Sans MS" panose="030F0702030302020204" charset="0"/>
              <a:cs typeface="Comic Sans MS" panose="030F0702030302020204" charset="0"/>
              <a:sym typeface="+mn-ea"/>
            </a:endParaRPr>
          </a:p>
        </p:txBody>
      </p:sp>
      <p:cxnSp>
        <p:nvCxnSpPr>
          <p:cNvPr id="20" name="直接箭头连接符 19"/>
          <p:cNvCxnSpPr>
            <a:stCxn id="25" idx="2"/>
          </p:cNvCxnSpPr>
          <p:nvPr/>
        </p:nvCxnSpPr>
        <p:spPr>
          <a:xfrm>
            <a:off x="6654800" y="2581910"/>
            <a:ext cx="2540" cy="417830"/>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6706870" y="2614295"/>
            <a:ext cx="1279525" cy="275590"/>
          </a:xfrm>
          <a:prstGeom prst="rect">
            <a:avLst/>
          </a:prstGeom>
          <a:noFill/>
        </p:spPr>
        <p:txBody>
          <a:bodyPr wrap="square" rtlCol="0">
            <a:spAutoFit/>
          </a:bodyPr>
          <a:p>
            <a:r>
              <a:rPr lang="en-US" altLang="zh-CN" sz="1200" b="1">
                <a:solidFill>
                  <a:schemeClr val="tx2"/>
                </a:solidFill>
                <a:latin typeface="Comic Sans MS" panose="030F0702030302020204" charset="0"/>
                <a:cs typeface="Comic Sans MS" panose="030F0702030302020204" charset="0"/>
                <a:sym typeface="+mn-ea"/>
              </a:rPr>
              <a:t>documentation</a:t>
            </a:r>
            <a:endParaRPr lang="en-US" altLang="zh-CN" sz="1200" b="1">
              <a:solidFill>
                <a:schemeClr val="tx2"/>
              </a:solidFill>
              <a:latin typeface="Comic Sans MS" panose="030F0702030302020204" charset="0"/>
              <a:cs typeface="Comic Sans MS" panose="030F0702030302020204" charset="0"/>
              <a:sym typeface="+mn-ea"/>
            </a:endParaRPr>
          </a:p>
        </p:txBody>
      </p:sp>
      <p:sp>
        <p:nvSpPr>
          <p:cNvPr id="28" name="矩形 27"/>
          <p:cNvSpPr/>
          <p:nvPr/>
        </p:nvSpPr>
        <p:spPr>
          <a:xfrm>
            <a:off x="5038725" y="4478655"/>
            <a:ext cx="3223260" cy="57340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a:p>
            <a:pPr algn="ctr"/>
            <a:r>
              <a:rPr lang="en-US" altLang="zh-CN">
                <a:solidFill>
                  <a:schemeClr val="tx1"/>
                </a:solidFill>
                <a:latin typeface="Comic Sans MS" panose="030F0702030302020204" charset="0"/>
                <a:cs typeface="Comic Sans MS" panose="030F0702030302020204" charset="0"/>
              </a:rPr>
              <a:t>4.</a:t>
            </a:r>
            <a:r>
              <a:rPr lang="en-US" altLang="zh-CN">
                <a:solidFill>
                  <a:schemeClr val="tx1"/>
                </a:solidFill>
                <a:latin typeface="Comic Sans MS" panose="030F0702030302020204" charset="0"/>
                <a:cs typeface="Comic Sans MS" panose="030F0702030302020204" charset="0"/>
                <a:sym typeface="+mn-ea"/>
              </a:rPr>
              <a:t>endpoint coverage </a:t>
            </a:r>
            <a:endParaRPr lang="en-US" altLang="zh-CN">
              <a:solidFill>
                <a:schemeClr val="tx1"/>
              </a:solidFill>
              <a:latin typeface="Comic Sans MS" panose="030F0702030302020204" charset="0"/>
              <a:cs typeface="Comic Sans MS" panose="030F0702030302020204" charset="0"/>
              <a:sym typeface="+mn-ea"/>
            </a:endParaRPr>
          </a:p>
          <a:p>
            <a:pPr algn="ctr"/>
            <a:r>
              <a:rPr lang="en-US" altLang="zh-CN">
                <a:solidFill>
                  <a:schemeClr val="tx1"/>
                </a:solidFill>
                <a:latin typeface="Comic Sans MS" panose="030F0702030302020204" charset="0"/>
                <a:cs typeface="Comic Sans MS" panose="030F0702030302020204" charset="0"/>
                <a:sym typeface="+mn-ea"/>
              </a:rPr>
              <a:t>self-check</a:t>
            </a:r>
            <a:endParaRPr lang="en-US" altLang="zh-CN">
              <a:solidFill>
                <a:schemeClr val="tx1"/>
              </a:solidFill>
              <a:latin typeface="Comic Sans MS" panose="030F0702030302020204" charset="0"/>
              <a:cs typeface="Comic Sans MS" panose="030F0702030302020204" charset="0"/>
            </a:endParaRPr>
          </a:p>
          <a:p>
            <a:pPr algn="ctr"/>
            <a:endParaRPr lang="en-US" altLang="zh-CN">
              <a:solidFill>
                <a:schemeClr val="tx1"/>
              </a:solidFill>
              <a:latin typeface="Comic Sans MS" panose="030F0702030302020204" charset="0"/>
              <a:cs typeface="Comic Sans MS" panose="030F0702030302020204" charset="0"/>
            </a:endParaRPr>
          </a:p>
        </p:txBody>
      </p:sp>
      <p:cxnSp>
        <p:nvCxnSpPr>
          <p:cNvPr id="29" name="直接箭头连接符 28"/>
          <p:cNvCxnSpPr>
            <a:stCxn id="39" idx="2"/>
            <a:endCxn id="28" idx="0"/>
          </p:cNvCxnSpPr>
          <p:nvPr/>
        </p:nvCxnSpPr>
        <p:spPr>
          <a:xfrm flipH="1">
            <a:off x="6650355" y="4147820"/>
            <a:ext cx="4445" cy="330835"/>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flipH="1">
            <a:off x="6642735" y="5052060"/>
            <a:ext cx="4445" cy="330835"/>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6615430" y="5024755"/>
            <a:ext cx="666115" cy="25844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pass</a:t>
            </a:r>
            <a:endParaRPr lang="en-US" altLang="zh-CN" sz="1400">
              <a:latin typeface="Comic Sans MS" panose="030F0702030302020204" charset="0"/>
              <a:cs typeface="Comic Sans MS" panose="030F0702030302020204" charset="0"/>
              <a:sym typeface="+mn-ea"/>
            </a:endParaRPr>
          </a:p>
        </p:txBody>
      </p:sp>
      <p:cxnSp>
        <p:nvCxnSpPr>
          <p:cNvPr id="41" name="肘形连接符 40"/>
          <p:cNvCxnSpPr>
            <a:stCxn id="28" idx="3"/>
            <a:endCxn id="38" idx="3"/>
          </p:cNvCxnSpPr>
          <p:nvPr/>
        </p:nvCxnSpPr>
        <p:spPr>
          <a:xfrm flipH="1" flipV="1">
            <a:off x="8254365" y="3195320"/>
            <a:ext cx="7620" cy="1570355"/>
          </a:xfrm>
          <a:prstGeom prst="bentConnector3">
            <a:avLst>
              <a:gd name="adj1" fmla="val -5925000"/>
            </a:avLst>
          </a:prstGeom>
          <a:ln w="25400">
            <a:solidFill>
              <a:schemeClr val="tx2"/>
            </a:solidFill>
            <a:tailEnd type="arrow"/>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8634095" y="3736975"/>
            <a:ext cx="666115" cy="48704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not pass</a:t>
            </a:r>
            <a:endParaRPr lang="en-US" altLang="zh-CN" sz="1400">
              <a:latin typeface="Comic Sans MS" panose="030F0702030302020204" charset="0"/>
              <a:cs typeface="Comic Sans MS" panose="030F0702030302020204" charset="0"/>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51" grpId="0"/>
      <p:bldP spid="40" grpId="0" animBg="1"/>
      <p:bldP spid="44" grpId="0" animBg="1"/>
      <p:bldP spid="46" grpId="0"/>
      <p:bldP spid="25" grpId="0" animBg="1"/>
      <p:bldP spid="11" grpId="0"/>
      <p:bldP spid="17" grpId="0"/>
      <p:bldP spid="24" grpId="0"/>
      <p:bldP spid="38" grpId="0" animBg="1"/>
      <p:bldP spid="39" grpId="0" animBg="1"/>
      <p:bldP spid="2" grpId="0"/>
      <p:bldP spid="7" grpId="0" animBg="1"/>
      <p:bldP spid="28" grpId="0" animBg="1"/>
      <p:bldP spid="32" grpId="0"/>
      <p:bldP spid="4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pPr algn="l"/>
            <a:r>
              <a:rPr lang="en-US" altLang="zh-CN" b="1">
                <a:latin typeface="Comic Sans MS" panose="030F0702030302020204" charset="0"/>
                <a:cs typeface="Comic Sans MS" panose="030F0702030302020204" charset="0"/>
                <a:sym typeface="+mn-ea"/>
              </a:rPr>
              <a:t>claim formalizer</a:t>
            </a:r>
            <a:r>
              <a:rPr lang="zh-CN" altLang="en-US" b="1">
                <a:latin typeface="Comic Sans MS" panose="030F0702030302020204" charset="0"/>
                <a:cs typeface="Comic Sans MS" panose="030F0702030302020204" charset="0"/>
                <a:sym typeface="+mn-ea"/>
              </a:rPr>
              <a:t>改名</a:t>
            </a:r>
            <a:r>
              <a:rPr lang="en-US" altLang="zh-CN">
                <a:sym typeface="+mn-ea"/>
              </a:rPr>
              <a:t>behaviral specification </a:t>
            </a:r>
            <a:r>
              <a:rPr lang="en-US" altLang="zh-CN">
                <a:sym typeface="+mn-ea"/>
              </a:rPr>
              <a:t>extractor</a:t>
            </a:r>
            <a:endParaRPr lang="en-US" altLang="zh-CN">
              <a:sym typeface="+mn-ea"/>
            </a:endParaRPr>
          </a:p>
          <a:p>
            <a:pPr algn="l"/>
            <a:r>
              <a:rPr lang="en-US" altLang="zh-CN">
                <a:sym typeface="+mn-ea"/>
              </a:rPr>
              <a:t>raw knowledge</a:t>
            </a:r>
            <a:r>
              <a:rPr lang="zh-CN" altLang="en-US">
                <a:sym typeface="+mn-ea"/>
              </a:rPr>
              <a:t>直接叫</a:t>
            </a:r>
            <a:r>
              <a:rPr lang="en-US" altLang="zh-CN">
                <a:sym typeface="+mn-ea"/>
              </a:rPr>
              <a:t>knowledge</a:t>
            </a:r>
            <a:endParaRPr lang="en-US" altLang="zh-CN">
              <a:sym typeface="+mn-ea"/>
            </a:endParaRPr>
          </a:p>
          <a:p>
            <a:pPr algn="l"/>
            <a:r>
              <a:rPr lang="zh-CN" altLang="en-US">
                <a:sym typeface="+mn-ea"/>
              </a:rPr>
              <a:t>实现上，直接舍弃</a:t>
            </a:r>
            <a:r>
              <a:rPr lang="en-US" altLang="zh-CN">
                <a:latin typeface="Comic Sans MS" panose="030F0702030302020204" charset="0"/>
                <a:cs typeface="Comic Sans MS" panose="030F0702030302020204" charset="0"/>
                <a:sym typeface="+mn-ea"/>
              </a:rPr>
              <a:t>raw_knowledge.md</a:t>
            </a:r>
            <a:r>
              <a:rPr lang="zh-CN" altLang="en-US">
                <a:latin typeface="Comic Sans MS" panose="030F0702030302020204" charset="0"/>
                <a:cs typeface="Comic Sans MS" panose="030F0702030302020204" charset="0"/>
                <a:sym typeface="+mn-ea"/>
              </a:rPr>
              <a:t>，改为</a:t>
            </a:r>
            <a:r>
              <a:rPr lang="en-US" altLang="zh-CN">
                <a:latin typeface="Comic Sans MS" panose="030F0702030302020204" charset="0"/>
                <a:cs typeface="Comic Sans MS" panose="030F0702030302020204" charset="0"/>
                <a:sym typeface="+mn-ea"/>
              </a:rPr>
              <a:t>raw_knowledge.json</a:t>
            </a:r>
            <a:endParaRPr lang="en-US" altLang="zh-CN">
              <a:latin typeface="Comic Sans MS" panose="030F0702030302020204" charset="0"/>
              <a:cs typeface="Comic Sans MS" panose="030F0702030302020204" charset="0"/>
              <a:sym typeface="+mn-ea"/>
            </a:endParaRPr>
          </a:p>
          <a:p>
            <a:pPr algn="l"/>
            <a:endParaRPr lang="en-US" altLang="zh-CN">
              <a:latin typeface="Comic Sans MS" panose="030F0702030302020204" charset="0"/>
              <a:cs typeface="Comic Sans MS" panose="030F0702030302020204" charset="0"/>
              <a:sym typeface="+mn-ea"/>
            </a:endParaRPr>
          </a:p>
          <a:p>
            <a:pPr algn="l"/>
            <a:endParaRPr lang="zh-CN" altLang="en-US">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77991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174625"/>
            <a:ext cx="651256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Raw knowledge </a:t>
            </a:r>
            <a:r>
              <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rPr>
              <a:t>template</a:t>
            </a:r>
            <a:endPar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1349355" y="6354445"/>
            <a:ext cx="440690" cy="353695"/>
          </a:xfrm>
        </p:spPr>
        <p:txBody>
          <a:bodyPr/>
          <a:lstStyle/>
          <a:p>
            <a:fld id="{E09368C2-8BE5-4C19-86FB-98954A39BC6E}" type="slidenum">
              <a:rPr lang="zh-CN" altLang="en-US" smtClean="0"/>
            </a:fld>
            <a:endParaRPr lang="zh-CN" altLang="en-US"/>
          </a:p>
        </p:txBody>
      </p:sp>
      <p:sp>
        <p:nvSpPr>
          <p:cNvPr id="191" name="圆角矩形 190"/>
          <p:cNvSpPr/>
          <p:nvPr>
            <p:custDataLst>
              <p:tags r:id="rId3"/>
            </p:custDataLst>
          </p:nvPr>
        </p:nvSpPr>
        <p:spPr>
          <a:xfrm>
            <a:off x="362585" y="934085"/>
            <a:ext cx="11282680" cy="564769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718185" y="1039495"/>
            <a:ext cx="5303520" cy="5443220"/>
          </a:xfrm>
          <a:prstGeom prst="rect">
            <a:avLst/>
          </a:prstGeom>
          <a:noFill/>
        </p:spPr>
        <p:txBody>
          <a:bodyPr wrap="square" rtlCol="0" anchor="t">
            <a:noAutofit/>
          </a:bodyPr>
          <a:p>
            <a:r>
              <a:rPr lang="en-US" altLang="zh-CN" sz="1600" b="1">
                <a:latin typeface="Cambria" panose="02040503050406030204" charset="0"/>
                <a:cs typeface="Cambria" panose="02040503050406030204" charset="0"/>
                <a:sym typeface="+mn-ea"/>
              </a:rPr>
              <a:t> </a:t>
            </a:r>
            <a:r>
              <a:rPr lang="zh-CN" altLang="en-US" b="1">
                <a:latin typeface="Cambria" panose="02040503050406030204" charset="0"/>
                <a:cs typeface="Cambria" panose="02040503050406030204" charset="0"/>
                <a:sym typeface="+mn-ea"/>
              </a:rPr>
              <a:t>文件命名：</a:t>
            </a:r>
            <a:r>
              <a:rPr lang="en-US" altLang="zh-CN" b="1">
                <a:latin typeface="Cambria" panose="02040503050406030204" charset="0"/>
                <a:cs typeface="Cambria" panose="02040503050406030204" charset="0"/>
                <a:sym typeface="+mn-ea"/>
              </a:rPr>
              <a:t>{target} v{version} API Knowledge</a:t>
            </a:r>
            <a:endParaRPr lang="en-US" altLang="zh-CN" sz="1600"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Document Metadata</a:t>
            </a:r>
            <a:endParaRPr lang="en-US" altLang="zh-CN" sz="1400" b="1">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doc_version: {actual_document_version}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target_version: {target_version}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version_match: {major.minor </a:t>
            </a:r>
            <a:r>
              <a:rPr lang="zh-CN" altLang="en-US" sz="1400">
                <a:latin typeface="Cambria" panose="02040503050406030204" charset="0"/>
                <a:cs typeface="Cambria" panose="02040503050406030204" charset="0"/>
                <a:sym typeface="+mn-ea"/>
              </a:rPr>
              <a:t>匹配结果: </a:t>
            </a:r>
            <a:r>
              <a:rPr lang="en-US" altLang="zh-CN" sz="1400">
                <a:latin typeface="Cambria" panose="02040503050406030204" charset="0"/>
                <a:cs typeface="Cambria" panose="02040503050406030204" charset="0"/>
                <a:sym typeface="+mn-ea"/>
              </a:rPr>
              <a:t>matched | mismatched}</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source_url: {</a:t>
            </a:r>
            <a:r>
              <a:rPr lang="zh-CN" altLang="en-US" sz="1400">
                <a:latin typeface="Cambria" panose="02040503050406030204" charset="0"/>
                <a:cs typeface="Cambria" panose="02040503050406030204" charset="0"/>
                <a:sym typeface="+mn-ea"/>
              </a:rPr>
              <a:t>文档首页 </a:t>
            </a:r>
            <a:r>
              <a:rPr lang="en-US" altLang="zh-CN" sz="1400">
                <a:latin typeface="Cambria" panose="02040503050406030204" charset="0"/>
                <a:cs typeface="Cambria" panose="02040503050406030204" charset="0"/>
                <a:sym typeface="+mn-ea"/>
              </a:rPr>
              <a:t>URL}</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fetched_at: {ISO 8601 timestamp}</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400" b="1">
                <a:solidFill>
                  <a:schemeClr val="tx2"/>
                </a:solidFill>
                <a:latin typeface="Cambria" panose="02040503050406030204" charset="0"/>
                <a:cs typeface="Cambria" panose="02040503050406030204" charset="0"/>
                <a:sym typeface="+mn-ea"/>
              </a:rPr>
              <a:t> </a:t>
            </a:r>
            <a:r>
              <a:rPr lang="en-US" altLang="zh-CN" sz="1600" b="1">
                <a:solidFill>
                  <a:schemeClr val="tx2"/>
                </a:solidFill>
                <a:latin typeface="Cambria" panose="02040503050406030204" charset="0"/>
                <a:cs typeface="Cambria" panose="02040503050406030204" charset="0"/>
                <a:sym typeface="+mn-ea"/>
              </a:rPr>
              <a:t>Document Sources</a:t>
            </a:r>
            <a:endParaRPr lang="en-US" altLang="zh-CN" sz="1400" b="1">
              <a:solidFill>
                <a:schemeClr val="tx2"/>
              </a:solidFill>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 URL | Doc Version | Fetched At | Version Match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1 | {url_1} | {version_1} | {timestamp_1} | matched/mismatched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2 | {url_2} | {version_2} | {timestamp_2} | matched/mismatched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SDK Information</a:t>
            </a:r>
            <a:endParaRPr lang="en-US" altLang="zh-CN" sz="1400" b="1">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Package: {package_name}</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Version: {sdk.version}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Install: {install_command}</a:t>
            </a:r>
            <a:endParaRPr lang="en-US" altLang="zh-CN" sz="1400">
              <a:latin typeface="Cambria" panose="02040503050406030204" charset="0"/>
              <a:cs typeface="Cambria" panose="02040503050406030204" charset="0"/>
              <a:sym typeface="+mn-ea"/>
            </a:endParaRPr>
          </a:p>
          <a:p>
            <a:br>
              <a:rPr lang="en-US" altLang="zh-CN" sz="1400">
                <a:latin typeface="Cambria" panose="02040503050406030204" charset="0"/>
                <a:cs typeface="Cambria" panose="02040503050406030204" charset="0"/>
                <a:sym typeface="+mn-ea"/>
              </a:rPr>
            </a:br>
            <a:r>
              <a:rPr lang="en-US" altLang="zh-CN" sz="1600" b="1">
                <a:latin typeface="Cambria" panose="02040503050406030204" charset="0"/>
                <a:cs typeface="Cambria" panose="02040503050406030204" charset="0"/>
                <a:sym typeface="+mn-ea"/>
              </a:rPr>
              <a:t>Docker Images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Available tags: [{tags}]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Recommended: {recommended_tag}</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p:txBody>
      </p:sp>
      <p:sp>
        <p:nvSpPr>
          <p:cNvPr id="8" name="文本框 7"/>
          <p:cNvSpPr txBox="1"/>
          <p:nvPr/>
        </p:nvSpPr>
        <p:spPr>
          <a:xfrm>
            <a:off x="6457315" y="1039495"/>
            <a:ext cx="4939030" cy="5239385"/>
          </a:xfrm>
          <a:prstGeom prst="rect">
            <a:avLst/>
          </a:prstGeom>
          <a:noFill/>
        </p:spPr>
        <p:txBody>
          <a:bodyPr wrap="square" rtlCol="0">
            <a:noAutofit/>
          </a:bodyPr>
          <a:p>
            <a:r>
              <a:rPr lang="en-US" altLang="zh-CN" sz="1600" b="1">
                <a:latin typeface="Cambria" panose="02040503050406030204" charset="0"/>
                <a:cs typeface="Cambria" panose="02040503050406030204" charset="0"/>
                <a:sym typeface="+mn-ea"/>
              </a:rPr>
              <a:t>API Endpoints / SQL Operations</a:t>
            </a:r>
            <a:endParaRPr lang="en-US" altLang="zh-CN" sz="1600"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{category_name}</a:t>
            </a:r>
            <a:endParaRPr lang="en-US" altLang="zh-CN" sz="1400"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400" b="1">
                <a:latin typeface="Cambria" panose="02040503050406030204" charset="0"/>
                <a:cs typeface="Cambria" panose="02040503050406030204" charset="0"/>
                <a:sym typeface="+mn-ea"/>
              </a:rPr>
              <a:t>{endpoint_name}</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Method: {HTTP_METHOD}</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Path: {path}</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Source URL: {</a:t>
            </a:r>
            <a:r>
              <a:rPr lang="zh-CN" altLang="en-US" sz="1400">
                <a:latin typeface="Cambria" panose="02040503050406030204" charset="0"/>
                <a:cs typeface="Cambria" panose="02040503050406030204" charset="0"/>
                <a:sym typeface="+mn-ea"/>
              </a:rPr>
              <a:t>该端点文档的具体 </a:t>
            </a:r>
            <a:r>
              <a:rPr lang="en-US" altLang="zh-CN" sz="1400">
                <a:latin typeface="Cambria" panose="02040503050406030204" charset="0"/>
                <a:cs typeface="Cambria" panose="02040503050406030204" charset="0"/>
                <a:sym typeface="+mn-ea"/>
              </a:rPr>
              <a:t>URL}</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Doc Version: {</a:t>
            </a:r>
            <a:r>
              <a:rPr lang="zh-CN" altLang="en-US" sz="1400">
                <a:latin typeface="Cambria" panose="02040503050406030204" charset="0"/>
                <a:cs typeface="Cambria" panose="02040503050406030204" charset="0"/>
                <a:sym typeface="+mn-ea"/>
              </a:rPr>
              <a:t>该页面的文档版本}</a:t>
            </a:r>
            <a:endParaRPr lang="zh-CN" altLang="en-US"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Parameters: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{param_name} ({type}, required={true/false}):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Constraints: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type: {type_constraint}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range: {range_constraint}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state: {state_constraint}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behavioral: {behavioral_contract}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Expected Responses: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- 200: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- 400: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- 404: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Data Types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{type_name}: {description}</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p:txBody>
      </p:sp>
      <p:cxnSp>
        <p:nvCxnSpPr>
          <p:cNvPr id="9" name="直接连接符 8"/>
          <p:cNvCxnSpPr/>
          <p:nvPr/>
        </p:nvCxnSpPr>
        <p:spPr>
          <a:xfrm>
            <a:off x="6005830" y="1033780"/>
            <a:ext cx="9525" cy="5440045"/>
          </a:xfrm>
          <a:prstGeom prst="line">
            <a:avLst/>
          </a:prstGeom>
          <a:ln w="28575">
            <a:solidFill>
              <a:schemeClr val="tx1">
                <a:lumMod val="50000"/>
                <a:lumOff val="50000"/>
              </a:schemeClr>
            </a:solidFill>
            <a:headEnd type="oval"/>
            <a:tailEnd type="oval"/>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77991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4" name="灯片编号占位符 3"/>
          <p:cNvSpPr>
            <a:spLocks noGrp="1"/>
          </p:cNvSpPr>
          <p:nvPr>
            <p:ph type="sldNum" sz="quarter" idx="12"/>
            <p:custDataLst>
              <p:tags r:id="rId1"/>
            </p:custDataLst>
          </p:nvPr>
        </p:nvSpPr>
        <p:spPr>
          <a:xfrm>
            <a:off x="11349355" y="6354445"/>
            <a:ext cx="440690" cy="353695"/>
          </a:xfrm>
        </p:spPr>
        <p:txBody>
          <a:bodyPr/>
          <a:lstStyle/>
          <a:p>
            <a:fld id="{E09368C2-8BE5-4C19-86FB-98954A39BC6E}" type="slidenum">
              <a:rPr lang="zh-CN" altLang="en-US" smtClean="0"/>
            </a:fld>
            <a:endParaRPr lang="zh-CN" altLang="en-US"/>
          </a:p>
        </p:txBody>
      </p:sp>
      <p:sp>
        <p:nvSpPr>
          <p:cNvPr id="191" name="圆角矩形 190"/>
          <p:cNvSpPr/>
          <p:nvPr>
            <p:custDataLst>
              <p:tags r:id="rId2"/>
            </p:custDataLst>
          </p:nvPr>
        </p:nvSpPr>
        <p:spPr>
          <a:xfrm>
            <a:off x="362585" y="934085"/>
            <a:ext cx="11477625" cy="564769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718185" y="1039495"/>
            <a:ext cx="5437505" cy="5443220"/>
          </a:xfrm>
          <a:prstGeom prst="rect">
            <a:avLst/>
          </a:prstGeom>
          <a:noFill/>
        </p:spPr>
        <p:txBody>
          <a:bodyPr wrap="square" rtlCol="0" anchor="t">
            <a:noAutofit/>
          </a:bodyPr>
          <a:p>
            <a:r>
              <a:rPr lang="en-US" altLang="zh-CN" sz="1600" b="1">
                <a:latin typeface="Cambria" panose="02040503050406030204" charset="0"/>
                <a:cs typeface="Cambria" panose="02040503050406030204" charset="0"/>
                <a:sym typeface="+mn-ea"/>
              </a:rPr>
              <a:t> </a:t>
            </a:r>
            <a:r>
              <a:rPr lang="zh-CN" altLang="en-US" b="1">
                <a:latin typeface="Cambria" panose="02040503050406030204" charset="0"/>
                <a:cs typeface="Cambria" panose="02040503050406030204" charset="0"/>
                <a:sym typeface="+mn-ea"/>
              </a:rPr>
              <a:t>文件命名：</a:t>
            </a:r>
            <a:r>
              <a:rPr lang="en-US" altLang="zh-CN" sz="2000" b="1">
                <a:latin typeface="Cambria" panose="02040503050406030204" charset="0"/>
                <a:cs typeface="Cambria" panose="02040503050406030204" charset="0"/>
                <a:sym typeface="+mn-ea"/>
              </a:rPr>
              <a:t>{target} v{version} API Knowledge</a:t>
            </a:r>
            <a:endParaRPr lang="en-US" altLang="zh-CN" b="1">
              <a:latin typeface="Cambria" panose="02040503050406030204" charset="0"/>
              <a:cs typeface="Cambria" panose="02040503050406030204" charset="0"/>
              <a:sym typeface="+mn-ea"/>
            </a:endParaRPr>
          </a:p>
          <a:p>
            <a:endParaRPr lang="en-US" altLang="zh-CN" sz="16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Document Metadata</a:t>
            </a:r>
            <a:endParaRPr lang="en-US" altLang="zh-CN" sz="1400" b="1">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doc_version: {actual_document_version}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target_version: {target_version}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version_match: {major.minor </a:t>
            </a:r>
            <a:r>
              <a:rPr lang="zh-CN" altLang="en-US" sz="1400">
                <a:latin typeface="Cambria" panose="02040503050406030204" charset="0"/>
                <a:cs typeface="Cambria" panose="02040503050406030204" charset="0"/>
                <a:sym typeface="+mn-ea"/>
              </a:rPr>
              <a:t>匹配结果: </a:t>
            </a:r>
            <a:r>
              <a:rPr lang="en-US" altLang="zh-CN" sz="1400">
                <a:latin typeface="Cambria" panose="02040503050406030204" charset="0"/>
                <a:cs typeface="Cambria" panose="02040503050406030204" charset="0"/>
                <a:sym typeface="+mn-ea"/>
              </a:rPr>
              <a:t>matched | mismatched}</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source_url: {</a:t>
            </a:r>
            <a:r>
              <a:rPr lang="zh-CN" altLang="en-US" sz="1400">
                <a:latin typeface="Cambria" panose="02040503050406030204" charset="0"/>
                <a:cs typeface="Cambria" panose="02040503050406030204" charset="0"/>
                <a:sym typeface="+mn-ea"/>
              </a:rPr>
              <a:t>文档首页 </a:t>
            </a:r>
            <a:r>
              <a:rPr lang="en-US" altLang="zh-CN" sz="1400">
                <a:latin typeface="Cambria" panose="02040503050406030204" charset="0"/>
                <a:cs typeface="Cambria" panose="02040503050406030204" charset="0"/>
                <a:sym typeface="+mn-ea"/>
              </a:rPr>
              <a:t>URL}</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fetched_at: {ISO 8601 timestamp}</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400" b="1">
                <a:solidFill>
                  <a:schemeClr val="tx2"/>
                </a:solidFill>
                <a:latin typeface="Cambria" panose="02040503050406030204" charset="0"/>
                <a:cs typeface="Cambria" panose="02040503050406030204" charset="0"/>
                <a:sym typeface="+mn-ea"/>
              </a:rPr>
              <a:t> </a:t>
            </a:r>
            <a:r>
              <a:rPr lang="en-US" altLang="zh-CN" sz="1600" b="1">
                <a:solidFill>
                  <a:schemeClr val="tx2"/>
                </a:solidFill>
                <a:latin typeface="Cambria" panose="02040503050406030204" charset="0"/>
                <a:cs typeface="Cambria" panose="02040503050406030204" charset="0"/>
                <a:sym typeface="+mn-ea"/>
              </a:rPr>
              <a:t>Document Sources</a:t>
            </a:r>
            <a:endParaRPr lang="en-US" altLang="zh-CN" sz="1400" b="1">
              <a:solidFill>
                <a:schemeClr val="tx2"/>
              </a:solidFill>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 URL | Doc Version | Fetched At | Version Match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1 | {url_1} | {version_1} | {timestamp_1} | matched/mismatched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2 | {url_2} | {version_2} | {timestamp_2} | matched/mismatched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SDK Information</a:t>
            </a:r>
            <a:endParaRPr lang="en-US" altLang="zh-CN" sz="1400" b="1">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Package: {package_name}</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Version: {sdk.version}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Install: {install_command}</a:t>
            </a:r>
            <a:endParaRPr lang="en-US" altLang="zh-CN" sz="1400">
              <a:latin typeface="Cambria" panose="02040503050406030204" charset="0"/>
              <a:cs typeface="Cambria" panose="02040503050406030204" charset="0"/>
              <a:sym typeface="+mn-ea"/>
            </a:endParaRPr>
          </a:p>
          <a:p>
            <a:br>
              <a:rPr lang="en-US" altLang="zh-CN" sz="1400">
                <a:latin typeface="Cambria" panose="02040503050406030204" charset="0"/>
                <a:cs typeface="Cambria" panose="02040503050406030204" charset="0"/>
                <a:sym typeface="+mn-ea"/>
              </a:rPr>
            </a:br>
            <a:r>
              <a:rPr lang="en-US" altLang="zh-CN" sz="1600" b="1">
                <a:latin typeface="Cambria" panose="02040503050406030204" charset="0"/>
                <a:cs typeface="Cambria" panose="02040503050406030204" charset="0"/>
                <a:sym typeface="+mn-ea"/>
              </a:rPr>
              <a:t>Docker Images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Available tags: [{tags}]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Recommended: {recommended_tag}</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p:txBody>
      </p:sp>
      <p:cxnSp>
        <p:nvCxnSpPr>
          <p:cNvPr id="5" name="直接连接符 4"/>
          <p:cNvCxnSpPr>
            <a:stCxn id="6" idx="3"/>
            <a:endCxn id="7" idx="1"/>
          </p:cNvCxnSpPr>
          <p:nvPr/>
        </p:nvCxnSpPr>
        <p:spPr>
          <a:xfrm>
            <a:off x="2756535" y="1739265"/>
            <a:ext cx="3734435" cy="651510"/>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6" name="矩形 5"/>
          <p:cNvSpPr/>
          <p:nvPr/>
        </p:nvSpPr>
        <p:spPr>
          <a:xfrm>
            <a:off x="718185" y="1580515"/>
            <a:ext cx="2038350" cy="31750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6490970" y="1276350"/>
            <a:ext cx="4991735" cy="2228215"/>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2000" b="1">
                <a:solidFill>
                  <a:schemeClr val="tx2"/>
                </a:solidFill>
              </a:rPr>
              <a:t>1. Check</a:t>
            </a:r>
            <a:r>
              <a:rPr lang="en-US" altLang="zh-CN" sz="2000">
                <a:solidFill>
                  <a:schemeClr val="tx2"/>
                </a:solidFill>
              </a:rPr>
              <a:t> whether the </a:t>
            </a:r>
            <a:r>
              <a:rPr lang="en-US" altLang="zh-CN" sz="2000" b="1">
                <a:solidFill>
                  <a:schemeClr val="tx2"/>
                </a:solidFill>
              </a:rPr>
              <a:t>document version</a:t>
            </a:r>
            <a:r>
              <a:rPr lang="en-US" altLang="zh-CN" sz="2000">
                <a:solidFill>
                  <a:schemeClr val="tx2"/>
                </a:solidFill>
              </a:rPr>
              <a:t> aligns with our </a:t>
            </a:r>
            <a:r>
              <a:rPr lang="en-US" altLang="zh-CN" sz="2000" b="1">
                <a:solidFill>
                  <a:schemeClr val="tx2"/>
                </a:solidFill>
              </a:rPr>
              <a:t>target version</a:t>
            </a:r>
            <a:r>
              <a:rPr lang="en-US" altLang="zh-CN" sz="2000">
                <a:solidFill>
                  <a:schemeClr val="tx2"/>
                </a:solidFill>
              </a:rPr>
              <a:t>, which is the </a:t>
            </a:r>
            <a:r>
              <a:rPr lang="en-US" altLang="zh-CN" sz="2000" b="1">
                <a:solidFill>
                  <a:schemeClr val="tx2"/>
                </a:solidFill>
              </a:rPr>
              <a:t>precondition</a:t>
            </a:r>
            <a:r>
              <a:rPr lang="en-US" altLang="zh-CN" sz="2000">
                <a:solidFill>
                  <a:schemeClr val="tx2"/>
                </a:solidFill>
              </a:rPr>
              <a:t> for the behavioral claims to be effectively used to test the target VDBMS.</a:t>
            </a:r>
            <a:endParaRPr lang="en-US" altLang="zh-CN" sz="2000">
              <a:solidFill>
                <a:schemeClr val="tx2"/>
              </a:solidFill>
            </a:endParaRPr>
          </a:p>
        </p:txBody>
      </p:sp>
      <p:sp>
        <p:nvSpPr>
          <p:cNvPr id="10" name="MH_Others_1"/>
          <p:cNvSpPr txBox="1"/>
          <p:nvPr>
            <p:custDataLst>
              <p:tags r:id="rId3"/>
            </p:custDataLst>
          </p:nvPr>
        </p:nvSpPr>
        <p:spPr>
          <a:xfrm>
            <a:off x="718185" y="174625"/>
            <a:ext cx="651256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Raw knowledge </a:t>
            </a:r>
            <a:r>
              <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rPr>
              <a:t>template</a:t>
            </a:r>
            <a:endPar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endParaRPr>
          </a:p>
        </p:txBody>
      </p:sp>
      <p:cxnSp>
        <p:nvCxnSpPr>
          <p:cNvPr id="11" name="直接连接符 10"/>
          <p:cNvCxnSpPr>
            <a:stCxn id="13" idx="3"/>
            <a:endCxn id="7" idx="1"/>
          </p:cNvCxnSpPr>
          <p:nvPr/>
        </p:nvCxnSpPr>
        <p:spPr>
          <a:xfrm flipV="1">
            <a:off x="2756535" y="2390775"/>
            <a:ext cx="3734435" cy="87947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13" name="矩形 12"/>
          <p:cNvSpPr/>
          <p:nvPr/>
        </p:nvSpPr>
        <p:spPr>
          <a:xfrm>
            <a:off x="718185" y="3111500"/>
            <a:ext cx="2038350" cy="31750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6490970" y="4109085"/>
            <a:ext cx="4991735" cy="2177415"/>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2000" b="1">
                <a:solidFill>
                  <a:schemeClr val="tx2"/>
                </a:solidFill>
              </a:rPr>
              <a:t>2. Record </a:t>
            </a:r>
            <a:r>
              <a:rPr lang="en-US" altLang="zh-CN" sz="2000">
                <a:solidFill>
                  <a:schemeClr val="tx2"/>
                </a:solidFill>
              </a:rPr>
              <a:t>the</a:t>
            </a:r>
            <a:r>
              <a:rPr lang="en-US" altLang="zh-CN" sz="2000" b="1">
                <a:solidFill>
                  <a:schemeClr val="tx2"/>
                </a:solidFill>
              </a:rPr>
              <a:t> SDK version </a:t>
            </a:r>
            <a:r>
              <a:rPr lang="en-US" altLang="zh-CN" sz="2000">
                <a:solidFill>
                  <a:schemeClr val="tx2"/>
                </a:solidFill>
              </a:rPr>
              <a:t>and the</a:t>
            </a:r>
            <a:r>
              <a:rPr lang="en-US" altLang="zh-CN" sz="2000" b="1">
                <a:solidFill>
                  <a:schemeClr val="tx2"/>
                </a:solidFill>
              </a:rPr>
              <a:t> </a:t>
            </a:r>
            <a:r>
              <a:rPr lang="en-US" altLang="zh-CN" sz="2000">
                <a:solidFill>
                  <a:schemeClr val="tx2"/>
                </a:solidFill>
              </a:rPr>
              <a:t>recommended</a:t>
            </a:r>
            <a:r>
              <a:rPr lang="en-US" altLang="zh-CN" sz="2000" b="1">
                <a:solidFill>
                  <a:schemeClr val="tx2"/>
                </a:solidFill>
              </a:rPr>
              <a:t> Docker image tag </a:t>
            </a:r>
            <a:r>
              <a:rPr lang="en-US" altLang="zh-CN" sz="2000">
                <a:solidFill>
                  <a:schemeClr val="tx2"/>
                </a:solidFill>
              </a:rPr>
              <a:t>of</a:t>
            </a:r>
            <a:r>
              <a:rPr lang="en-US" altLang="zh-CN" sz="2000" b="1">
                <a:solidFill>
                  <a:schemeClr val="tx2"/>
                </a:solidFill>
              </a:rPr>
              <a:t> </a:t>
            </a:r>
            <a:r>
              <a:rPr lang="en-US" altLang="zh-CN" sz="2000">
                <a:solidFill>
                  <a:schemeClr val="tx2"/>
                </a:solidFill>
              </a:rPr>
              <a:t>target database under this version, so that we can</a:t>
            </a:r>
            <a:r>
              <a:rPr lang="en-US" altLang="zh-CN" sz="2000" b="1">
                <a:solidFill>
                  <a:schemeClr val="tx2"/>
                </a:solidFill>
              </a:rPr>
              <a:t> setup the test execution environment conveniently </a:t>
            </a:r>
            <a:r>
              <a:rPr lang="en-US" altLang="zh-CN" sz="2000">
                <a:solidFill>
                  <a:schemeClr val="tx2"/>
                </a:solidFill>
              </a:rPr>
              <a:t>later.</a:t>
            </a:r>
            <a:endParaRPr lang="en-US" altLang="zh-CN" sz="2000">
              <a:solidFill>
                <a:schemeClr val="tx2"/>
              </a:solidFill>
            </a:endParaRPr>
          </a:p>
        </p:txBody>
      </p:sp>
      <p:cxnSp>
        <p:nvCxnSpPr>
          <p:cNvPr id="16" name="直接连接符 15"/>
          <p:cNvCxnSpPr>
            <a:stCxn id="17" idx="3"/>
            <a:endCxn id="14" idx="1"/>
          </p:cNvCxnSpPr>
          <p:nvPr/>
        </p:nvCxnSpPr>
        <p:spPr>
          <a:xfrm>
            <a:off x="2576830" y="4829175"/>
            <a:ext cx="3914140" cy="36893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17" name="矩形 16"/>
          <p:cNvSpPr/>
          <p:nvPr/>
        </p:nvSpPr>
        <p:spPr>
          <a:xfrm>
            <a:off x="538480" y="4670425"/>
            <a:ext cx="2038350" cy="31750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8" name="直接连接符 17"/>
          <p:cNvCxnSpPr>
            <a:stCxn id="20" idx="3"/>
            <a:endCxn id="14" idx="1"/>
          </p:cNvCxnSpPr>
          <p:nvPr/>
        </p:nvCxnSpPr>
        <p:spPr>
          <a:xfrm flipV="1">
            <a:off x="2756535" y="5198110"/>
            <a:ext cx="3734435" cy="71564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20" name="矩形 19"/>
          <p:cNvSpPr/>
          <p:nvPr/>
        </p:nvSpPr>
        <p:spPr>
          <a:xfrm>
            <a:off x="718185" y="5755005"/>
            <a:ext cx="2038350" cy="31750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 name="直接连接符 8"/>
          <p:cNvCxnSpPr/>
          <p:nvPr/>
        </p:nvCxnSpPr>
        <p:spPr>
          <a:xfrm>
            <a:off x="6005830" y="1033780"/>
            <a:ext cx="9525" cy="5440045"/>
          </a:xfrm>
          <a:prstGeom prst="line">
            <a:avLst/>
          </a:prstGeom>
          <a:ln w="28575">
            <a:solidFill>
              <a:schemeClr val="tx1">
                <a:lumMod val="50000"/>
                <a:lumOff val="50000"/>
              </a:schemeClr>
            </a:solidFill>
            <a:headEnd type="oval"/>
            <a:tailEnd type="oval"/>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3" grpId="0" animBg="1"/>
      <p:bldP spid="14" grpId="0" animBg="1"/>
      <p:bldP spid="17" grpId="0" bldLvl="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en-US" altLang="zh-CN" b="1">
                <a:latin typeface="Cambria" panose="02040503050406030204" charset="0"/>
                <a:cs typeface="Cambria" panose="02040503050406030204" charset="0"/>
                <a:sym typeface="+mn-ea"/>
              </a:rPr>
              <a:t>SDK Information</a:t>
            </a:r>
            <a:r>
              <a:rPr lang="zh-CN" altLang="en-US" b="1">
                <a:latin typeface="Cambria" panose="02040503050406030204" charset="0"/>
                <a:cs typeface="Cambria" panose="02040503050406030204" charset="0"/>
                <a:sym typeface="+mn-ea"/>
              </a:rPr>
              <a:t>、</a:t>
            </a:r>
            <a:r>
              <a:rPr lang="en-US" altLang="zh-CN" b="1">
                <a:latin typeface="Cambria" panose="02040503050406030204" charset="0"/>
                <a:cs typeface="Cambria" panose="02040503050406030204" charset="0"/>
                <a:sym typeface="+mn-ea"/>
              </a:rPr>
              <a:t>Docker Images</a:t>
            </a:r>
            <a:r>
              <a:rPr lang="zh-CN" altLang="en-US" b="1">
                <a:latin typeface="Cambria" panose="02040503050406030204" charset="0"/>
                <a:cs typeface="Cambria" panose="02040503050406030204" charset="0"/>
                <a:sym typeface="+mn-ea"/>
              </a:rPr>
              <a:t>没必要写到</a:t>
            </a:r>
            <a:r>
              <a:rPr lang="en-US" altLang="zh-CN" b="1">
                <a:latin typeface="Cambria" panose="02040503050406030204" charset="0"/>
                <a:cs typeface="Cambria" panose="02040503050406030204" charset="0"/>
                <a:sym typeface="+mn-ea"/>
              </a:rPr>
              <a:t>knowledge</a:t>
            </a:r>
            <a:r>
              <a:rPr lang="zh-CN" altLang="en-US" b="1">
                <a:latin typeface="Cambria" panose="02040503050406030204" charset="0"/>
                <a:cs typeface="Cambria" panose="02040503050406030204" charset="0"/>
                <a:sym typeface="+mn-ea"/>
              </a:rPr>
              <a:t>的内容中，信息是有用的，但没必要写在这里。</a:t>
            </a:r>
            <a:endParaRPr lang="en-US" altLang="zh-CN" b="1">
              <a:latin typeface="Cambria" panose="02040503050406030204" charset="0"/>
              <a:cs typeface="Cambria" panose="02040503050406030204" charset="0"/>
              <a:sym typeface="+mn-ea"/>
            </a:endParaRPr>
          </a:p>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77991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4" name="灯片编号占位符 3"/>
          <p:cNvSpPr>
            <a:spLocks noGrp="1"/>
          </p:cNvSpPr>
          <p:nvPr>
            <p:ph type="sldNum" sz="quarter" idx="12"/>
            <p:custDataLst>
              <p:tags r:id="rId1"/>
            </p:custDataLst>
          </p:nvPr>
        </p:nvSpPr>
        <p:spPr>
          <a:xfrm>
            <a:off x="11349355" y="6354445"/>
            <a:ext cx="440690" cy="353695"/>
          </a:xfrm>
        </p:spPr>
        <p:txBody>
          <a:bodyPr/>
          <a:lstStyle/>
          <a:p>
            <a:fld id="{E09368C2-8BE5-4C19-86FB-98954A39BC6E}" type="slidenum">
              <a:rPr lang="zh-CN" altLang="en-US" smtClean="0"/>
            </a:fld>
            <a:endParaRPr lang="zh-CN" altLang="en-US"/>
          </a:p>
        </p:txBody>
      </p:sp>
      <p:sp>
        <p:nvSpPr>
          <p:cNvPr id="191" name="圆角矩形 190"/>
          <p:cNvSpPr/>
          <p:nvPr>
            <p:custDataLst>
              <p:tags r:id="rId2"/>
            </p:custDataLst>
          </p:nvPr>
        </p:nvSpPr>
        <p:spPr>
          <a:xfrm>
            <a:off x="121920" y="934085"/>
            <a:ext cx="11605260" cy="576135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457315" y="1039495"/>
            <a:ext cx="4939030" cy="5239385"/>
          </a:xfrm>
          <a:prstGeom prst="rect">
            <a:avLst/>
          </a:prstGeom>
          <a:noFill/>
        </p:spPr>
        <p:txBody>
          <a:bodyPr wrap="square" rtlCol="0">
            <a:noAutofit/>
          </a:bodyPr>
          <a:p>
            <a:r>
              <a:rPr lang="en-US" altLang="zh-CN" b="1">
                <a:latin typeface="Cambria" panose="02040503050406030204" charset="0"/>
                <a:cs typeface="Cambria" panose="02040503050406030204" charset="0"/>
                <a:sym typeface="+mn-ea"/>
              </a:rPr>
              <a:t>API Endpoints / SQL Operations</a:t>
            </a:r>
            <a:endParaRPr lang="en-US" altLang="zh-CN"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{category_name}</a:t>
            </a:r>
            <a:endParaRPr lang="en-US" altLang="zh-CN" sz="1400"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400" b="1">
                <a:latin typeface="Cambria" panose="02040503050406030204" charset="0"/>
                <a:cs typeface="Cambria" panose="02040503050406030204" charset="0"/>
                <a:sym typeface="+mn-ea"/>
              </a:rPr>
              <a:t>{endpoint_name}</a:t>
            </a:r>
            <a:endParaRPr lang="en-US" altLang="zh-CN" sz="1400"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Method: {HTTP_METHOD}</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Path: {path}</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Source URL: {</a:t>
            </a:r>
            <a:r>
              <a:rPr lang="zh-CN" altLang="en-US" sz="1400">
                <a:latin typeface="Cambria" panose="02040503050406030204" charset="0"/>
                <a:cs typeface="Cambria" panose="02040503050406030204" charset="0"/>
                <a:sym typeface="+mn-ea"/>
              </a:rPr>
              <a:t>该端点文档的具体 </a:t>
            </a:r>
            <a:r>
              <a:rPr lang="en-US" altLang="zh-CN" sz="1400">
                <a:latin typeface="Cambria" panose="02040503050406030204" charset="0"/>
                <a:cs typeface="Cambria" panose="02040503050406030204" charset="0"/>
                <a:sym typeface="+mn-ea"/>
              </a:rPr>
              <a:t>URL}</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Doc Version: {</a:t>
            </a:r>
            <a:r>
              <a:rPr lang="zh-CN" altLang="en-US" sz="1400">
                <a:latin typeface="Cambria" panose="02040503050406030204" charset="0"/>
                <a:cs typeface="Cambria" panose="02040503050406030204" charset="0"/>
                <a:sym typeface="+mn-ea"/>
              </a:rPr>
              <a:t>该页面的文档版本}</a:t>
            </a:r>
            <a:endParaRPr lang="zh-CN" altLang="en-US"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Parameters: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{param_name} ({type}, required={true/false}):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Constraints: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type: {type_constraint}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range: {range_constraint}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state: {state_constraint}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behavioral: {behavioral_contract}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Expected Responses: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- 200: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- 404: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b="1">
                <a:latin typeface="Cambria" panose="02040503050406030204" charset="0"/>
                <a:cs typeface="Cambria" panose="02040503050406030204" charset="0"/>
                <a:sym typeface="+mn-ea"/>
              </a:rPr>
              <a:t>Data Types</a:t>
            </a:r>
            <a:endParaRPr lang="en-US" altLang="zh-CN" sz="16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{type_name}: {description}</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p:txBody>
      </p:sp>
      <p:sp>
        <p:nvSpPr>
          <p:cNvPr id="3" name="MH_Others_1"/>
          <p:cNvSpPr txBox="1"/>
          <p:nvPr>
            <p:custDataLst>
              <p:tags r:id="rId3"/>
            </p:custDataLst>
          </p:nvPr>
        </p:nvSpPr>
        <p:spPr>
          <a:xfrm>
            <a:off x="718185" y="174625"/>
            <a:ext cx="651256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Raw knowledge </a:t>
            </a:r>
            <a:r>
              <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rPr>
              <a:t>template</a:t>
            </a:r>
            <a:endPar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7" name="矩形 6"/>
          <p:cNvSpPr/>
          <p:nvPr/>
        </p:nvSpPr>
        <p:spPr>
          <a:xfrm>
            <a:off x="591820" y="1130300"/>
            <a:ext cx="4897120" cy="1086485"/>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en-US" altLang="zh-CN" sz="2000" b="1">
              <a:solidFill>
                <a:schemeClr val="tx2"/>
              </a:solidFill>
            </a:endParaRPr>
          </a:p>
          <a:p>
            <a:pPr algn="l"/>
            <a:r>
              <a:rPr lang="en-US" altLang="zh-CN" b="1">
                <a:solidFill>
                  <a:schemeClr val="tx2"/>
                </a:solidFill>
              </a:rPr>
              <a:t>1.</a:t>
            </a:r>
            <a:r>
              <a:rPr lang="en-US" altLang="zh-CN">
                <a:solidFill>
                  <a:schemeClr val="tx2"/>
                </a:solidFill>
              </a:rPr>
              <a:t>group by the way the</a:t>
            </a:r>
            <a:r>
              <a:rPr lang="en-US" altLang="zh-CN" b="1">
                <a:solidFill>
                  <a:schemeClr val="tx2"/>
                </a:solidFill>
              </a:rPr>
              <a:t> official documentation organizes document information.</a:t>
            </a:r>
            <a:endParaRPr lang="en-US" altLang="zh-CN" b="1">
              <a:solidFill>
                <a:schemeClr val="tx2"/>
              </a:solidFill>
            </a:endParaRPr>
          </a:p>
          <a:p>
            <a:pPr algn="l"/>
            <a:endParaRPr lang="en-US" altLang="zh-CN" b="1">
              <a:solidFill>
                <a:schemeClr val="tx2"/>
              </a:solidFill>
            </a:endParaRPr>
          </a:p>
        </p:txBody>
      </p:sp>
      <p:sp>
        <p:nvSpPr>
          <p:cNvPr id="6" name="矩形 5"/>
          <p:cNvSpPr/>
          <p:nvPr/>
        </p:nvSpPr>
        <p:spPr>
          <a:xfrm>
            <a:off x="6457315" y="1547495"/>
            <a:ext cx="2038350" cy="31750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8" name="直接连接符 7"/>
          <p:cNvCxnSpPr>
            <a:stCxn id="6" idx="1"/>
            <a:endCxn id="7" idx="3"/>
          </p:cNvCxnSpPr>
          <p:nvPr/>
        </p:nvCxnSpPr>
        <p:spPr>
          <a:xfrm flipH="1" flipV="1">
            <a:off x="5488940" y="1673860"/>
            <a:ext cx="968375" cy="3238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9" name="矩形 8"/>
          <p:cNvSpPr/>
          <p:nvPr/>
        </p:nvSpPr>
        <p:spPr>
          <a:xfrm>
            <a:off x="6457315" y="2025015"/>
            <a:ext cx="2038350" cy="24765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584835" y="2307590"/>
            <a:ext cx="4904105" cy="585470"/>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b="1">
                <a:solidFill>
                  <a:schemeClr val="tx2"/>
                </a:solidFill>
              </a:rPr>
              <a:t>2.</a:t>
            </a:r>
            <a:r>
              <a:rPr lang="en-US" altLang="zh-CN">
                <a:solidFill>
                  <a:schemeClr val="tx2"/>
                </a:solidFill>
              </a:rPr>
              <a:t>group by </a:t>
            </a:r>
            <a:r>
              <a:rPr lang="en-US" altLang="zh-CN" b="1">
                <a:solidFill>
                  <a:schemeClr val="tx2"/>
                </a:solidFill>
              </a:rPr>
              <a:t>API endpoint.</a:t>
            </a:r>
            <a:endParaRPr lang="en-US" altLang="zh-CN" b="1">
              <a:solidFill>
                <a:schemeClr val="tx2"/>
              </a:solidFill>
            </a:endParaRPr>
          </a:p>
        </p:txBody>
      </p:sp>
      <p:cxnSp>
        <p:nvCxnSpPr>
          <p:cNvPr id="11" name="直接连接符 10"/>
          <p:cNvCxnSpPr>
            <a:stCxn id="9" idx="1"/>
            <a:endCxn id="10" idx="3"/>
          </p:cNvCxnSpPr>
          <p:nvPr/>
        </p:nvCxnSpPr>
        <p:spPr>
          <a:xfrm flipH="1">
            <a:off x="5488940" y="2148840"/>
            <a:ext cx="968375" cy="45148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13" name="矩形 12"/>
          <p:cNvSpPr/>
          <p:nvPr/>
        </p:nvSpPr>
        <p:spPr>
          <a:xfrm>
            <a:off x="6457315" y="2399665"/>
            <a:ext cx="5016500" cy="3364865"/>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4" name="直接连接符 13"/>
          <p:cNvCxnSpPr>
            <a:endCxn id="15" idx="3"/>
          </p:cNvCxnSpPr>
          <p:nvPr/>
        </p:nvCxnSpPr>
        <p:spPr>
          <a:xfrm flipH="1">
            <a:off x="5488940" y="3655060"/>
            <a:ext cx="968375" cy="415290"/>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15" name="矩形 14"/>
          <p:cNvSpPr/>
          <p:nvPr/>
        </p:nvSpPr>
        <p:spPr>
          <a:xfrm>
            <a:off x="586105" y="2988945"/>
            <a:ext cx="4902835" cy="2162810"/>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b="1">
                <a:solidFill>
                  <a:schemeClr val="tx2"/>
                </a:solidFill>
              </a:rPr>
              <a:t>3.</a:t>
            </a:r>
            <a:r>
              <a:rPr lang="en-US" altLang="zh-CN">
                <a:solidFill>
                  <a:schemeClr val="tx2"/>
                </a:solidFill>
              </a:rPr>
              <a:t>Record:</a:t>
            </a:r>
            <a:br>
              <a:rPr lang="en-US" altLang="zh-CN">
                <a:solidFill>
                  <a:schemeClr val="tx2"/>
                </a:solidFill>
              </a:rPr>
            </a:br>
            <a:r>
              <a:rPr lang="en-US" altLang="zh-CN">
                <a:solidFill>
                  <a:schemeClr val="tx2"/>
                </a:solidFill>
              </a:rPr>
              <a:t> </a:t>
            </a:r>
            <a:r>
              <a:rPr lang="zh-CN" altLang="en-US">
                <a:solidFill>
                  <a:schemeClr val="tx2"/>
                </a:solidFill>
              </a:rPr>
              <a:t>①</a:t>
            </a:r>
            <a:r>
              <a:rPr lang="en-US" altLang="zh-CN" b="1">
                <a:solidFill>
                  <a:schemeClr val="tx2"/>
                </a:solidFill>
              </a:rPr>
              <a:t>parameter requirements</a:t>
            </a:r>
            <a:r>
              <a:rPr lang="zh-CN" altLang="en-US">
                <a:solidFill>
                  <a:schemeClr val="tx2"/>
                </a:solidFill>
              </a:rPr>
              <a:t>；</a:t>
            </a:r>
            <a:r>
              <a:rPr lang="en-US" altLang="zh-CN">
                <a:solidFill>
                  <a:schemeClr val="tx2"/>
                </a:solidFill>
              </a:rPr>
              <a:t> </a:t>
            </a:r>
            <a:endParaRPr lang="en-US" altLang="zh-CN">
              <a:solidFill>
                <a:schemeClr val="tx2"/>
              </a:solidFill>
            </a:endParaRPr>
          </a:p>
          <a:p>
            <a:pPr algn="l"/>
            <a:r>
              <a:rPr lang="en-US" altLang="zh-CN">
                <a:solidFill>
                  <a:schemeClr val="tx2"/>
                </a:solidFill>
              </a:rPr>
              <a:t> </a:t>
            </a:r>
            <a:r>
              <a:rPr lang="zh-CN" altLang="en-US">
                <a:solidFill>
                  <a:schemeClr val="tx2"/>
                </a:solidFill>
              </a:rPr>
              <a:t>②</a:t>
            </a:r>
            <a:r>
              <a:rPr lang="en-US" altLang="zh-CN" b="1">
                <a:solidFill>
                  <a:schemeClr val="tx2"/>
                </a:solidFill>
              </a:rPr>
              <a:t>constraint information</a:t>
            </a:r>
            <a:r>
              <a:rPr lang="en-US" altLang="zh-CN">
                <a:solidFill>
                  <a:schemeClr val="tx2"/>
                </a:solidFill>
              </a:rPr>
              <a:t> (categorized by type, range, state, and behavioral)</a:t>
            </a:r>
            <a:r>
              <a:rPr lang="zh-CN" altLang="en-US">
                <a:solidFill>
                  <a:schemeClr val="tx2"/>
                </a:solidFill>
              </a:rPr>
              <a:t>；</a:t>
            </a:r>
            <a:endParaRPr lang="en-US" altLang="zh-CN">
              <a:solidFill>
                <a:schemeClr val="tx2"/>
              </a:solidFill>
            </a:endParaRPr>
          </a:p>
          <a:p>
            <a:pPr algn="l"/>
            <a:r>
              <a:rPr lang="en-US" altLang="zh-CN">
                <a:solidFill>
                  <a:schemeClr val="tx2"/>
                </a:solidFill>
              </a:rPr>
              <a:t> </a:t>
            </a:r>
            <a:r>
              <a:rPr lang="zh-CN" altLang="en-US">
                <a:solidFill>
                  <a:schemeClr val="tx2"/>
                </a:solidFill>
              </a:rPr>
              <a:t>③</a:t>
            </a:r>
            <a:r>
              <a:rPr lang="en-US" altLang="zh-CN" b="1">
                <a:solidFill>
                  <a:schemeClr val="tx2"/>
                </a:solidFill>
              </a:rPr>
              <a:t>response code conventions</a:t>
            </a:r>
            <a:r>
              <a:rPr lang="zh-CN" altLang="en-US">
                <a:solidFill>
                  <a:schemeClr val="tx2"/>
                </a:solidFill>
              </a:rPr>
              <a:t>；</a:t>
            </a:r>
            <a:endParaRPr lang="en-US" altLang="zh-CN">
              <a:solidFill>
                <a:schemeClr val="tx2"/>
              </a:solidFill>
            </a:endParaRPr>
          </a:p>
          <a:p>
            <a:pPr algn="l"/>
            <a:r>
              <a:rPr lang="en-US" altLang="zh-CN">
                <a:solidFill>
                  <a:schemeClr val="tx2"/>
                </a:solidFill>
              </a:rPr>
              <a:t>and bind this information to the </a:t>
            </a:r>
            <a:r>
              <a:rPr lang="en-US" altLang="zh-CN" b="1">
                <a:solidFill>
                  <a:schemeClr val="tx2"/>
                </a:solidFill>
              </a:rPr>
              <a:t>source webpage link</a:t>
            </a:r>
            <a:r>
              <a:rPr lang="en-US" altLang="zh-CN">
                <a:solidFill>
                  <a:schemeClr val="tx2"/>
                </a:solidFill>
              </a:rPr>
              <a:t>.</a:t>
            </a:r>
            <a:endParaRPr lang="en-US" altLang="zh-CN">
              <a:solidFill>
                <a:schemeClr val="tx2"/>
              </a:solidFill>
            </a:endParaRPr>
          </a:p>
        </p:txBody>
      </p:sp>
      <p:sp>
        <p:nvSpPr>
          <p:cNvPr id="16" name="矩形 15"/>
          <p:cNvSpPr/>
          <p:nvPr/>
        </p:nvSpPr>
        <p:spPr>
          <a:xfrm>
            <a:off x="591820" y="5247640"/>
            <a:ext cx="4902835" cy="1230630"/>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b="1">
                <a:solidFill>
                  <a:schemeClr val="tx2"/>
                </a:solidFill>
              </a:rPr>
              <a:t>4.</a:t>
            </a:r>
            <a:r>
              <a:rPr lang="en-US" altLang="zh-CN">
                <a:solidFill>
                  <a:schemeClr val="tx2"/>
                </a:solidFill>
              </a:rPr>
              <a:t>Record the </a:t>
            </a:r>
            <a:r>
              <a:rPr lang="en-US" altLang="zh-CN" b="1">
                <a:solidFill>
                  <a:schemeClr val="tx2"/>
                </a:solidFill>
              </a:rPr>
              <a:t>definitions</a:t>
            </a:r>
            <a:r>
              <a:rPr lang="en-US" altLang="zh-CN">
                <a:solidFill>
                  <a:schemeClr val="tx2"/>
                </a:solidFill>
              </a:rPr>
              <a:t> of the database's </a:t>
            </a:r>
            <a:r>
              <a:rPr lang="en-US" altLang="zh-CN" b="1">
                <a:solidFill>
                  <a:schemeClr val="tx2"/>
                </a:solidFill>
              </a:rPr>
              <a:t>custom or specific types</a:t>
            </a:r>
            <a:r>
              <a:rPr lang="en-US" altLang="zh-CN">
                <a:solidFill>
                  <a:schemeClr val="tx2"/>
                </a:solidFill>
              </a:rPr>
              <a:t>, which can be used as a reference for organizing “</a:t>
            </a:r>
            <a:r>
              <a:rPr lang="en-US" altLang="zh-CN" b="1">
                <a:solidFill>
                  <a:schemeClr val="tx2"/>
                </a:solidFill>
              </a:rPr>
              <a:t>type boundary attacks</a:t>
            </a:r>
            <a:r>
              <a:rPr lang="en-US" altLang="zh-CN">
                <a:solidFill>
                  <a:schemeClr val="tx2"/>
                </a:solidFill>
              </a:rPr>
              <a:t>”.</a:t>
            </a:r>
            <a:endParaRPr lang="en-US" altLang="zh-CN">
              <a:solidFill>
                <a:schemeClr val="tx2"/>
              </a:solidFill>
            </a:endParaRPr>
          </a:p>
        </p:txBody>
      </p:sp>
      <p:cxnSp>
        <p:nvCxnSpPr>
          <p:cNvPr id="17" name="直接连接符 16"/>
          <p:cNvCxnSpPr>
            <a:stCxn id="18" idx="1"/>
            <a:endCxn id="16" idx="3"/>
          </p:cNvCxnSpPr>
          <p:nvPr/>
        </p:nvCxnSpPr>
        <p:spPr>
          <a:xfrm flipH="1" flipV="1">
            <a:off x="5494655" y="5862955"/>
            <a:ext cx="962660" cy="16573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18" name="矩形 17"/>
          <p:cNvSpPr/>
          <p:nvPr/>
        </p:nvSpPr>
        <p:spPr>
          <a:xfrm>
            <a:off x="6457315" y="5891530"/>
            <a:ext cx="2038350" cy="273685"/>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 name="直接连接符 1"/>
          <p:cNvCxnSpPr/>
          <p:nvPr/>
        </p:nvCxnSpPr>
        <p:spPr>
          <a:xfrm>
            <a:off x="6005830" y="1033780"/>
            <a:ext cx="9525" cy="5440045"/>
          </a:xfrm>
          <a:prstGeom prst="line">
            <a:avLst/>
          </a:prstGeom>
          <a:ln w="28575">
            <a:solidFill>
              <a:schemeClr val="tx1">
                <a:lumMod val="50000"/>
                <a:lumOff val="50000"/>
              </a:schemeClr>
            </a:solidFill>
            <a:headEnd type="oval"/>
            <a:tailEnd type="oval"/>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10" grpId="0" animBg="1"/>
      <p:bldP spid="9" grpId="0" animBg="1"/>
      <p:bldP spid="13" grpId="0" animBg="1"/>
      <p:bldP spid="15" grpId="0" animBg="1"/>
      <p:bldP spid="16"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en-US" altLang="zh-CN"/>
              <a:t>constrant </a:t>
            </a:r>
            <a:r>
              <a:rPr lang="zh-CN" altLang="en-US"/>
              <a:t>分级：</a:t>
            </a:r>
            <a:r>
              <a:rPr lang="en-US" altLang="zh-CN"/>
              <a:t>API</a:t>
            </a:r>
            <a:r>
              <a:rPr lang="zh-CN" altLang="en-US"/>
              <a:t>端点级（类型、范围等，仅于当前端点相关）、系统级（原行为、状态级别，</a:t>
            </a:r>
            <a:r>
              <a:rPr lang="zh-CN" altLang="en-US"/>
              <a:t>涉及多个</a:t>
            </a:r>
            <a:r>
              <a:rPr lang="zh-CN" altLang="en-US"/>
              <a:t>端点）</a:t>
            </a:r>
            <a:endParaRPr lang="zh-CN" altLang="en-US"/>
          </a:p>
          <a:p>
            <a:r>
              <a:rPr lang="zh-CN" altLang="en-US"/>
              <a:t>另外，也提及文档包含的约束可能不只</a:t>
            </a:r>
            <a:r>
              <a:rPr lang="zh-CN" altLang="en-US">
                <a:sym typeface="+mn-ea"/>
              </a:rPr>
              <a:t>类型、范围、行为、状态四型，看能不能得到一些别的类，并尝试在（</a:t>
            </a:r>
            <a:r>
              <a:rPr lang="en-US" altLang="zh-CN">
                <a:sym typeface="+mn-ea"/>
              </a:rPr>
              <a:t>API</a:t>
            </a:r>
            <a:r>
              <a:rPr lang="zh-CN" altLang="en-US">
                <a:sym typeface="+mn-ea"/>
              </a:rPr>
              <a:t>端点级</a:t>
            </a:r>
            <a:r>
              <a:rPr lang="en-US" altLang="zh-CN">
                <a:sym typeface="+mn-ea"/>
              </a:rPr>
              <a:t>or</a:t>
            </a:r>
            <a:r>
              <a:rPr lang="zh-CN" altLang="en-US">
                <a:sym typeface="+mn-ea"/>
              </a:rPr>
              <a:t>系统级）</a:t>
            </a:r>
            <a:r>
              <a:rPr lang="zh-CN" altLang="en-US">
                <a:sym typeface="+mn-ea"/>
              </a:rPr>
              <a:t>层面归类</a:t>
            </a:r>
            <a:endParaRPr lang="zh-CN" altLang="en-US">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62685"/>
            <a:ext cx="10852150" cy="85153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Step 1: We extract structured behavioral claims from na</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tur</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al- language documentation </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332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Behavioral claims extraction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11341100" y="6467475"/>
            <a:ext cx="327660" cy="307975"/>
          </a:xfrm>
        </p:spPr>
        <p:txBody>
          <a:bodyPr>
            <a:normAutofit/>
          </a:bodyPr>
          <a:lstStyle/>
          <a:p>
            <a:fld id="{E09368C2-8BE5-4C19-86FB-98954A39BC6E}" type="slidenum">
              <a:rPr lang="zh-CN" altLang="en-US" smtClean="0"/>
            </a:fld>
            <a:endParaRPr lang="zh-CN" altLang="en-US"/>
          </a:p>
        </p:txBody>
      </p:sp>
      <p:sp>
        <p:nvSpPr>
          <p:cNvPr id="3" name="圆角矩形 2"/>
          <p:cNvSpPr/>
          <p:nvPr>
            <p:custDataLst>
              <p:tags r:id="rId3"/>
            </p:custDataLst>
          </p:nvPr>
        </p:nvSpPr>
        <p:spPr>
          <a:xfrm>
            <a:off x="192405" y="218567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5" name="图片 4" descr="书-翻开"/>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310515" y="2185670"/>
            <a:ext cx="603885" cy="603885"/>
          </a:xfrm>
          <a:prstGeom prst="rect">
            <a:avLst/>
          </a:prstGeom>
        </p:spPr>
      </p:pic>
      <p:sp>
        <p:nvSpPr>
          <p:cNvPr id="6" name="文本框 5"/>
          <p:cNvSpPr txBox="1"/>
          <p:nvPr>
            <p:custDataLst>
              <p:tags r:id="rId7"/>
            </p:custDataLst>
          </p:nvPr>
        </p:nvSpPr>
        <p:spPr>
          <a:xfrm>
            <a:off x="1012825" y="2278380"/>
            <a:ext cx="178562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documentation</a:t>
            </a:r>
            <a:endParaRPr lang="en-US" altLang="zh-CN" b="1">
              <a:latin typeface="Comic Sans MS" panose="030F0702030302020204" charset="0"/>
              <a:cs typeface="Comic Sans MS" panose="030F0702030302020204" charset="0"/>
            </a:endParaRPr>
          </a:p>
        </p:txBody>
      </p:sp>
      <p:sp>
        <p:nvSpPr>
          <p:cNvPr id="13" name="圆角矩形 12"/>
          <p:cNvSpPr/>
          <p:nvPr>
            <p:custDataLst>
              <p:tags r:id="rId8"/>
            </p:custDataLst>
          </p:nvPr>
        </p:nvSpPr>
        <p:spPr>
          <a:xfrm>
            <a:off x="192405" y="5638165"/>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5" name="文本框 14"/>
          <p:cNvSpPr txBox="1"/>
          <p:nvPr>
            <p:custDataLst>
              <p:tags r:id="rId9"/>
            </p:custDataLst>
          </p:nvPr>
        </p:nvSpPr>
        <p:spPr>
          <a:xfrm>
            <a:off x="835660" y="5731510"/>
            <a:ext cx="2096135" cy="45466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a:latin typeface="Comic Sans MS" panose="030F0702030302020204" charset="0"/>
              <a:cs typeface="Comic Sans MS" panose="030F0702030302020204" charset="0"/>
            </a:endParaRPr>
          </a:p>
        </p:txBody>
      </p:sp>
      <p:pic>
        <p:nvPicPr>
          <p:cNvPr id="10" name="图片 9"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262255" y="5656580"/>
            <a:ext cx="699770" cy="603885"/>
          </a:xfrm>
          <a:prstGeom prst="rect">
            <a:avLst/>
          </a:prstGeom>
        </p:spPr>
      </p:pic>
      <p:sp>
        <p:nvSpPr>
          <p:cNvPr id="16" name="圆角矩形 15"/>
          <p:cNvSpPr/>
          <p:nvPr>
            <p:custDataLst>
              <p:tags r:id="rId13"/>
            </p:custDataLst>
          </p:nvPr>
        </p:nvSpPr>
        <p:spPr>
          <a:xfrm>
            <a:off x="192405" y="3163570"/>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8" name="文本框 17"/>
          <p:cNvSpPr txBox="1"/>
          <p:nvPr>
            <p:custDataLst>
              <p:tags r:id="rId14"/>
            </p:custDataLst>
          </p:nvPr>
        </p:nvSpPr>
        <p:spPr>
          <a:xfrm>
            <a:off x="1057275" y="3314065"/>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knowledge e</a:t>
            </a:r>
            <a:r>
              <a:rPr lang="en-US" altLang="zh-CN" b="1">
                <a:latin typeface="Comic Sans MS" panose="030F0702030302020204" charset="0"/>
                <a:cs typeface="Comic Sans MS" panose="030F0702030302020204" charset="0"/>
              </a:rPr>
              <a:t>xtractor </a:t>
            </a:r>
            <a:endParaRPr lang="en-US" altLang="zh-CN" b="1">
              <a:latin typeface="Comic Sans MS" panose="030F0702030302020204" charset="0"/>
              <a:cs typeface="Comic Sans MS" panose="030F0702030302020204" charset="0"/>
            </a:endParaRPr>
          </a:p>
        </p:txBody>
      </p:sp>
      <p:pic>
        <p:nvPicPr>
          <p:cNvPr id="80" name="图片 79" descr="机器人"/>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262255" y="3187700"/>
            <a:ext cx="708025" cy="592455"/>
          </a:xfrm>
          <a:prstGeom prst="rect">
            <a:avLst/>
          </a:prstGeom>
        </p:spPr>
      </p:pic>
      <p:sp>
        <p:nvSpPr>
          <p:cNvPr id="21" name="圆角矩形 20"/>
          <p:cNvSpPr/>
          <p:nvPr>
            <p:custDataLst>
              <p:tags r:id="rId18"/>
            </p:custDataLst>
          </p:nvPr>
        </p:nvSpPr>
        <p:spPr>
          <a:xfrm>
            <a:off x="192405" y="4488180"/>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22" name="文本框 21"/>
          <p:cNvSpPr txBox="1"/>
          <p:nvPr>
            <p:custDataLst>
              <p:tags r:id="rId19"/>
            </p:custDataLst>
          </p:nvPr>
        </p:nvSpPr>
        <p:spPr>
          <a:xfrm>
            <a:off x="1057275" y="4638675"/>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claim formalizer</a:t>
            </a:r>
            <a:endParaRPr lang="en-US" altLang="zh-CN" b="1">
              <a:latin typeface="Comic Sans MS" panose="030F0702030302020204" charset="0"/>
              <a:cs typeface="Comic Sans MS" panose="030F0702030302020204" charset="0"/>
            </a:endParaRPr>
          </a:p>
        </p:txBody>
      </p:sp>
      <p:pic>
        <p:nvPicPr>
          <p:cNvPr id="23" name="图片 22" descr="机器人"/>
          <p:cNvPicPr>
            <a:picLocks noChangeAspect="1"/>
          </p:cNvPicPr>
          <p:nvPr>
            <p:custDataLst>
              <p:tags r:id="rId20"/>
            </p:custDataLst>
          </p:nvPr>
        </p:nvPicPr>
        <p:blipFill>
          <a:blip r:embed="rId16">
            <a:extLst>
              <a:ext uri="{96DAC541-7B7A-43D3-8B79-37D633B846F1}">
                <asvg:svgBlip xmlns:asvg="http://schemas.microsoft.com/office/drawing/2016/SVG/main" r:embed="rId17"/>
              </a:ext>
            </a:extLst>
          </a:blip>
          <a:stretch>
            <a:fillRect/>
          </a:stretch>
        </p:blipFill>
        <p:spPr>
          <a:xfrm>
            <a:off x="262255" y="4512310"/>
            <a:ext cx="708025" cy="592455"/>
          </a:xfrm>
          <a:prstGeom prst="rect">
            <a:avLst/>
          </a:prstGeom>
        </p:spPr>
      </p:pic>
      <p:sp>
        <p:nvSpPr>
          <p:cNvPr id="32" name="下箭头 31"/>
          <p:cNvSpPr/>
          <p:nvPr>
            <p:custDataLst>
              <p:tags r:id="rId21"/>
            </p:custDataLst>
          </p:nvPr>
        </p:nvSpPr>
        <p:spPr>
          <a:xfrm>
            <a:off x="1230630" y="2860040"/>
            <a:ext cx="378460" cy="28384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下箭头 33"/>
          <p:cNvSpPr/>
          <p:nvPr>
            <p:custDataLst>
              <p:tags r:id="rId22"/>
            </p:custDataLst>
          </p:nvPr>
        </p:nvSpPr>
        <p:spPr>
          <a:xfrm>
            <a:off x="1230630" y="3841115"/>
            <a:ext cx="379095" cy="61341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custDataLst>
              <p:tags r:id="rId23"/>
            </p:custDataLst>
          </p:nvPr>
        </p:nvSpPr>
        <p:spPr>
          <a:xfrm>
            <a:off x="1230630" y="5161915"/>
            <a:ext cx="378460" cy="44577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文本框 41"/>
          <p:cNvSpPr txBox="1"/>
          <p:nvPr/>
        </p:nvSpPr>
        <p:spPr>
          <a:xfrm>
            <a:off x="1344930" y="3915410"/>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raw_knowledge.</a:t>
            </a:r>
            <a:r>
              <a:rPr lang="en-US" altLang="zh-CN" sz="1400">
                <a:latin typeface="Comic Sans MS" panose="030F0702030302020204" charset="0"/>
                <a:cs typeface="Comic Sans MS" panose="030F0702030302020204" charset="0"/>
                <a:sym typeface="+mn-ea"/>
              </a:rPr>
              <a:t>json</a:t>
            </a:r>
            <a:endParaRPr lang="en-US" altLang="zh-CN" sz="1400">
              <a:latin typeface="Comic Sans MS" panose="030F0702030302020204" charset="0"/>
              <a:cs typeface="Comic Sans MS" panose="030F0702030302020204" charset="0"/>
              <a:sym typeface="+mn-ea"/>
            </a:endParaRPr>
          </a:p>
        </p:txBody>
      </p:sp>
      <p:sp>
        <p:nvSpPr>
          <p:cNvPr id="47" name="文本框 46"/>
          <p:cNvSpPr txBox="1"/>
          <p:nvPr/>
        </p:nvSpPr>
        <p:spPr>
          <a:xfrm>
            <a:off x="6479540" y="1685925"/>
            <a:ext cx="1933575" cy="32829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raw_knowledge.</a:t>
            </a:r>
            <a:r>
              <a:rPr lang="en-US" altLang="zh-CN" sz="1400">
                <a:latin typeface="Comic Sans MS" panose="030F0702030302020204" charset="0"/>
                <a:cs typeface="Comic Sans MS" panose="030F0702030302020204" charset="0"/>
                <a:sym typeface="+mn-ea"/>
              </a:rPr>
              <a:t>json</a:t>
            </a:r>
            <a:endParaRPr lang="en-US" altLang="zh-CN" sz="1400">
              <a:latin typeface="Comic Sans MS" panose="030F0702030302020204" charset="0"/>
              <a:cs typeface="Comic Sans MS" panose="030F0702030302020204" charset="0"/>
              <a:sym typeface="+mn-ea"/>
            </a:endParaRPr>
          </a:p>
        </p:txBody>
      </p:sp>
      <p:sp>
        <p:nvSpPr>
          <p:cNvPr id="52" name="流程图: 过程 51"/>
          <p:cNvSpPr/>
          <p:nvPr/>
        </p:nvSpPr>
        <p:spPr>
          <a:xfrm>
            <a:off x="3893820" y="2031365"/>
            <a:ext cx="3672205" cy="4246880"/>
          </a:xfrm>
          <a:prstGeom prst="flowChartProcess">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3" name="图片 52" descr="ai_picture_gb_1786506268724_hteockqc_0"/>
          <p:cNvPicPr>
            <a:picLocks noChangeAspect="1"/>
          </p:cNvPicPr>
          <p:nvPr>
            <p:custDataLst>
              <p:tags r:id="rId24"/>
            </p:custDataLst>
          </p:nvPr>
        </p:nvPicPr>
        <p:blipFill>
          <a:blip r:embed="rId25"/>
          <a:srcRect l="29593" t="21757" r="29843" b="21520"/>
          <a:stretch>
            <a:fillRect/>
          </a:stretch>
        </p:blipFill>
        <p:spPr>
          <a:xfrm>
            <a:off x="4133850" y="2092325"/>
            <a:ext cx="718820" cy="794385"/>
          </a:xfrm>
          <a:prstGeom prst="rect">
            <a:avLst/>
          </a:prstGeom>
          <a:ln w="19050">
            <a:noFill/>
          </a:ln>
        </p:spPr>
      </p:pic>
      <p:sp>
        <p:nvSpPr>
          <p:cNvPr id="55" name="矩形 54"/>
          <p:cNvSpPr/>
          <p:nvPr/>
        </p:nvSpPr>
        <p:spPr>
          <a:xfrm>
            <a:off x="5266055" y="2204720"/>
            <a:ext cx="2052955" cy="63881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Comic Sans MS" panose="030F0702030302020204" charset="0"/>
                <a:cs typeface="Comic Sans MS" panose="030F0702030302020204" charset="0"/>
              </a:rPr>
              <a:t>1.</a:t>
            </a:r>
            <a:r>
              <a:rPr lang="en-US" altLang="zh-CN">
                <a:solidFill>
                  <a:schemeClr val="tx1"/>
                </a:solidFill>
                <a:latin typeface="Comic Sans MS" panose="030F0702030302020204" charset="0"/>
                <a:cs typeface="Comic Sans MS" panose="030F0702030302020204" charset="0"/>
                <a:sym typeface="+mn-ea"/>
              </a:rPr>
              <a:t>constraints</a:t>
            </a:r>
            <a:endParaRPr lang="en-US" altLang="zh-CN">
              <a:solidFill>
                <a:schemeClr val="tx1"/>
              </a:solidFill>
              <a:latin typeface="Comic Sans MS" panose="030F0702030302020204" charset="0"/>
              <a:cs typeface="Comic Sans MS" panose="030F0702030302020204" charset="0"/>
              <a:sym typeface="+mn-ea"/>
            </a:endParaRPr>
          </a:p>
          <a:p>
            <a:pPr algn="ctr"/>
            <a:r>
              <a:rPr lang="en-US" altLang="zh-CN">
                <a:solidFill>
                  <a:schemeClr val="tx1"/>
                </a:solidFill>
                <a:latin typeface="Comic Sans MS" panose="030F0702030302020204" charset="0"/>
                <a:cs typeface="Comic Sans MS" panose="030F0702030302020204" charset="0"/>
              </a:rPr>
              <a:t>categor</a:t>
            </a:r>
            <a:r>
              <a:rPr lang="en-US" altLang="zh-CN">
                <a:solidFill>
                  <a:schemeClr val="tx1"/>
                </a:solidFill>
                <a:latin typeface="Comic Sans MS" panose="030F0702030302020204" charset="0"/>
                <a:cs typeface="Comic Sans MS" panose="030F0702030302020204" charset="0"/>
              </a:rPr>
              <a:t>ization  </a:t>
            </a:r>
            <a:endParaRPr lang="en-US" altLang="zh-CN">
              <a:solidFill>
                <a:schemeClr val="tx1"/>
              </a:solidFill>
              <a:latin typeface="Comic Sans MS" panose="030F0702030302020204" charset="0"/>
              <a:cs typeface="Comic Sans MS" panose="030F0702030302020204" charset="0"/>
            </a:endParaRPr>
          </a:p>
        </p:txBody>
      </p:sp>
      <p:sp>
        <p:nvSpPr>
          <p:cNvPr id="56" name="矩形 55"/>
          <p:cNvSpPr/>
          <p:nvPr/>
        </p:nvSpPr>
        <p:spPr>
          <a:xfrm>
            <a:off x="5266055" y="4843780"/>
            <a:ext cx="2052955" cy="79438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Comic Sans MS" panose="030F0702030302020204" charset="0"/>
                <a:cs typeface="Comic Sans MS" panose="030F0702030302020204" charset="0"/>
              </a:rPr>
              <a:t>3.Source verification check</a:t>
            </a:r>
            <a:endParaRPr lang="en-US" altLang="zh-CN">
              <a:solidFill>
                <a:schemeClr val="tx1"/>
              </a:solidFill>
              <a:latin typeface="Comic Sans MS" panose="030F0702030302020204" charset="0"/>
              <a:cs typeface="Comic Sans MS" panose="030F0702030302020204" charset="0"/>
            </a:endParaRPr>
          </a:p>
        </p:txBody>
      </p:sp>
      <p:sp>
        <p:nvSpPr>
          <p:cNvPr id="63" name="文本框 62"/>
          <p:cNvSpPr txBox="1"/>
          <p:nvPr/>
        </p:nvSpPr>
        <p:spPr>
          <a:xfrm>
            <a:off x="3893820" y="2860675"/>
            <a:ext cx="1174750" cy="65087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claim formalizer</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cxnSp>
        <p:nvCxnSpPr>
          <p:cNvPr id="65" name="直接连接符 64"/>
          <p:cNvCxnSpPr>
            <a:stCxn id="22" idx="3"/>
            <a:endCxn id="52" idx="1"/>
          </p:cNvCxnSpPr>
          <p:nvPr/>
        </p:nvCxnSpPr>
        <p:spPr>
          <a:xfrm flipV="1">
            <a:off x="3568065" y="4154805"/>
            <a:ext cx="325755" cy="711200"/>
          </a:xfrm>
          <a:prstGeom prst="line">
            <a:avLst/>
          </a:prstGeom>
        </p:spPr>
        <p:style>
          <a:lnRef idx="2">
            <a:schemeClr val="accent1"/>
          </a:lnRef>
          <a:fillRef idx="0">
            <a:srgbClr val="FFFFFF"/>
          </a:fillRef>
          <a:effectRef idx="0">
            <a:srgbClr val="FFFFFF"/>
          </a:effectRef>
          <a:fontRef idx="minor">
            <a:schemeClr val="tx1"/>
          </a:fontRef>
        </p:style>
      </p:cxnSp>
      <p:sp>
        <p:nvSpPr>
          <p:cNvPr id="45" name="下箭头 44"/>
          <p:cNvSpPr/>
          <p:nvPr>
            <p:custDataLst>
              <p:tags r:id="rId26"/>
            </p:custDataLst>
          </p:nvPr>
        </p:nvSpPr>
        <p:spPr>
          <a:xfrm>
            <a:off x="6099810" y="1779270"/>
            <a:ext cx="379095" cy="37655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 name="矩形 65"/>
          <p:cNvSpPr/>
          <p:nvPr/>
        </p:nvSpPr>
        <p:spPr>
          <a:xfrm>
            <a:off x="5266055" y="3511550"/>
            <a:ext cx="2052955" cy="73469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Comic Sans MS" panose="030F0702030302020204" charset="0"/>
                <a:cs typeface="Comic Sans MS" panose="030F0702030302020204" charset="0"/>
              </a:rPr>
              <a:t>2.evidence level</a:t>
            </a:r>
            <a:r>
              <a:rPr lang="en-US" altLang="zh-CN">
                <a:solidFill>
                  <a:schemeClr val="tx1"/>
                </a:solidFill>
                <a:latin typeface="Comic Sans MS" panose="030F0702030302020204" charset="0"/>
                <a:cs typeface="Comic Sans MS" panose="030F0702030302020204" charset="0"/>
              </a:rPr>
              <a:t>ing + filter</a:t>
            </a:r>
            <a:endParaRPr lang="en-US" altLang="zh-CN">
              <a:solidFill>
                <a:schemeClr val="tx1"/>
              </a:solidFill>
              <a:latin typeface="Comic Sans MS" panose="030F0702030302020204" charset="0"/>
              <a:cs typeface="Comic Sans MS" panose="030F0702030302020204" charset="0"/>
            </a:endParaRPr>
          </a:p>
        </p:txBody>
      </p:sp>
      <p:sp>
        <p:nvSpPr>
          <p:cNvPr id="67" name="文本框 66"/>
          <p:cNvSpPr txBox="1"/>
          <p:nvPr/>
        </p:nvSpPr>
        <p:spPr>
          <a:xfrm>
            <a:off x="1446530" y="5128260"/>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a:latin typeface="Comic Sans MS" panose="030F0702030302020204" charset="0"/>
              <a:cs typeface="Comic Sans MS" panose="030F0702030302020204" charset="0"/>
              <a:sym typeface="+mn-ea"/>
            </a:endParaRPr>
          </a:p>
        </p:txBody>
      </p:sp>
      <p:cxnSp>
        <p:nvCxnSpPr>
          <p:cNvPr id="69" name="直接箭头连接符 68"/>
          <p:cNvCxnSpPr>
            <a:stCxn id="66" idx="2"/>
            <a:endCxn id="56" idx="0"/>
          </p:cNvCxnSpPr>
          <p:nvPr/>
        </p:nvCxnSpPr>
        <p:spPr>
          <a:xfrm>
            <a:off x="6292850" y="4246245"/>
            <a:ext cx="0" cy="597535"/>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cxnSp>
        <p:nvCxnSpPr>
          <p:cNvPr id="72" name="直接箭头连接符 71"/>
          <p:cNvCxnSpPr>
            <a:stCxn id="55" idx="2"/>
            <a:endCxn id="66" idx="0"/>
          </p:cNvCxnSpPr>
          <p:nvPr/>
        </p:nvCxnSpPr>
        <p:spPr>
          <a:xfrm>
            <a:off x="6292850" y="2843530"/>
            <a:ext cx="0" cy="668020"/>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sp>
        <p:nvSpPr>
          <p:cNvPr id="11" name="下箭头 10"/>
          <p:cNvSpPr/>
          <p:nvPr>
            <p:custDataLst>
              <p:tags r:id="rId27"/>
            </p:custDataLst>
          </p:nvPr>
        </p:nvSpPr>
        <p:spPr>
          <a:xfrm>
            <a:off x="6099810" y="6272530"/>
            <a:ext cx="379730" cy="37655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6479540" y="6346190"/>
            <a:ext cx="2271395" cy="30226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25" name="流程图: 过程 24"/>
          <p:cNvSpPr/>
          <p:nvPr/>
        </p:nvSpPr>
        <p:spPr>
          <a:xfrm>
            <a:off x="9088755" y="2094865"/>
            <a:ext cx="2037080" cy="997585"/>
          </a:xfrm>
          <a:prstGeom prst="flowChartProcess">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矩形 27"/>
          <p:cNvSpPr/>
          <p:nvPr/>
        </p:nvSpPr>
        <p:spPr>
          <a:xfrm>
            <a:off x="9131300" y="2250440"/>
            <a:ext cx="1956435" cy="689610"/>
          </a:xfrm>
          <a:prstGeom prst="rect">
            <a:avLst/>
          </a:prstGeom>
          <a:solidFill>
            <a:schemeClr val="accent1">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olidFill>
                  <a:schemeClr val="tx1"/>
                </a:solidFill>
                <a:latin typeface="Comic Sans MS" panose="030F0702030302020204" charset="0"/>
                <a:cs typeface="Comic Sans MS" panose="030F0702030302020204" charset="0"/>
              </a:rPr>
              <a:t>constraints:</a:t>
            </a:r>
            <a:endParaRPr lang="en-US" altLang="zh-CN" sz="1400">
              <a:solidFill>
                <a:schemeClr val="tx1"/>
              </a:solidFill>
              <a:latin typeface="Comic Sans MS" panose="030F0702030302020204" charset="0"/>
              <a:cs typeface="Comic Sans MS" panose="030F0702030302020204" charset="0"/>
            </a:endParaRPr>
          </a:p>
          <a:p>
            <a:pPr algn="ctr"/>
            <a:r>
              <a:rPr lang="en-US" altLang="zh-CN" sz="1400">
                <a:solidFill>
                  <a:schemeClr val="tx1"/>
                </a:solidFill>
                <a:latin typeface="Comic Sans MS" panose="030F0702030302020204" charset="0"/>
                <a:cs typeface="Comic Sans MS" panose="030F0702030302020204" charset="0"/>
              </a:rPr>
              <a:t>(type/range/</a:t>
            </a:r>
            <a:endParaRPr lang="en-US" altLang="zh-CN" sz="1400">
              <a:solidFill>
                <a:schemeClr val="tx1"/>
              </a:solidFill>
              <a:latin typeface="Comic Sans MS" panose="030F0702030302020204" charset="0"/>
              <a:cs typeface="Comic Sans MS" panose="030F0702030302020204" charset="0"/>
            </a:endParaRPr>
          </a:p>
          <a:p>
            <a:pPr algn="ctr"/>
            <a:r>
              <a:rPr lang="en-US" altLang="zh-CN" sz="1400">
                <a:solidFill>
                  <a:schemeClr val="tx1"/>
                </a:solidFill>
                <a:latin typeface="Comic Sans MS" panose="030F0702030302020204" charset="0"/>
                <a:cs typeface="Comic Sans MS" panose="030F0702030302020204" charset="0"/>
              </a:rPr>
              <a:t>state/behavior)</a:t>
            </a:r>
            <a:endParaRPr lang="en-US" altLang="zh-CN" sz="1400">
              <a:solidFill>
                <a:schemeClr val="tx1"/>
              </a:solidFill>
              <a:latin typeface="Comic Sans MS" panose="030F0702030302020204" charset="0"/>
              <a:cs typeface="Comic Sans MS" panose="030F0702030302020204" charset="0"/>
            </a:endParaRPr>
          </a:p>
        </p:txBody>
      </p:sp>
      <p:sp>
        <p:nvSpPr>
          <p:cNvPr id="29" name="流程图: 过程 28"/>
          <p:cNvSpPr/>
          <p:nvPr/>
        </p:nvSpPr>
        <p:spPr>
          <a:xfrm>
            <a:off x="9070340" y="3228975"/>
            <a:ext cx="2477135" cy="1386205"/>
          </a:xfrm>
          <a:prstGeom prst="flowChartProcess">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矩形 30"/>
          <p:cNvSpPr/>
          <p:nvPr/>
        </p:nvSpPr>
        <p:spPr>
          <a:xfrm>
            <a:off x="9146540" y="3314065"/>
            <a:ext cx="2324735" cy="1213485"/>
          </a:xfrm>
          <a:prstGeom prst="rect">
            <a:avLst/>
          </a:prstGeom>
          <a:solidFill>
            <a:schemeClr val="accent1">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400">
                <a:solidFill>
                  <a:schemeClr val="tx1"/>
                </a:solidFill>
                <a:latin typeface="Comic Sans MS" panose="030F0702030302020204" charset="0"/>
                <a:cs typeface="Comic Sans MS" panose="030F0702030302020204" charset="0"/>
              </a:rPr>
              <a:t>evidence_</a:t>
            </a:r>
            <a:r>
              <a:rPr lang="en-US" altLang="zh-CN" sz="1400">
                <a:solidFill>
                  <a:schemeClr val="tx1"/>
                </a:solidFill>
                <a:latin typeface="Comic Sans MS" panose="030F0702030302020204" charset="0"/>
                <a:cs typeface="Comic Sans MS" panose="030F0702030302020204" charset="0"/>
              </a:rPr>
              <a:t>labels:</a:t>
            </a:r>
            <a:endParaRPr lang="en-US" altLang="zh-CN" sz="1400">
              <a:solidFill>
                <a:schemeClr val="tx1"/>
              </a:solidFill>
              <a:latin typeface="Comic Sans MS" panose="030F0702030302020204" charset="0"/>
              <a:cs typeface="Comic Sans MS" panose="030F0702030302020204" charset="0"/>
            </a:endParaRPr>
          </a:p>
          <a:p>
            <a:pPr algn="l"/>
            <a:r>
              <a:rPr lang="en-US" altLang="zh-CN" sz="1400">
                <a:solidFill>
                  <a:schemeClr val="tx1"/>
                </a:solidFill>
                <a:latin typeface="Comic Sans MS" panose="030F0702030302020204" charset="0"/>
                <a:cs typeface="Comic Sans MS" panose="030F0702030302020204" charset="0"/>
              </a:rPr>
              <a:t>(  explicit/</a:t>
            </a:r>
            <a:endParaRPr lang="en-US" altLang="zh-CN" sz="1400">
              <a:solidFill>
                <a:schemeClr val="tx1"/>
              </a:solidFill>
              <a:latin typeface="Comic Sans MS" panose="030F0702030302020204" charset="0"/>
              <a:cs typeface="Comic Sans MS" panose="030F0702030302020204" charset="0"/>
            </a:endParaRPr>
          </a:p>
          <a:p>
            <a:pPr algn="l"/>
            <a:r>
              <a:rPr lang="en-US" altLang="zh-CN" sz="1400">
                <a:solidFill>
                  <a:schemeClr val="tx1"/>
                </a:solidFill>
                <a:latin typeface="Comic Sans MS" panose="030F0702030302020204" charset="0"/>
                <a:cs typeface="Comic Sans MS" panose="030F0702030302020204" charset="0"/>
              </a:rPr>
              <a:t>inferred_from_example/</a:t>
            </a:r>
            <a:endParaRPr lang="en-US" altLang="zh-CN" sz="1400">
              <a:solidFill>
                <a:schemeClr val="tx1"/>
              </a:solidFill>
              <a:latin typeface="Comic Sans MS" panose="030F0702030302020204" charset="0"/>
              <a:cs typeface="Comic Sans MS" panose="030F0702030302020204" charset="0"/>
            </a:endParaRPr>
          </a:p>
          <a:p>
            <a:pPr algn="l"/>
            <a:r>
              <a:rPr lang="en-US" altLang="zh-CN" sz="1400">
                <a:solidFill>
                  <a:schemeClr val="tx1"/>
                </a:solidFill>
                <a:latin typeface="Comic Sans MS" panose="030F0702030302020204" charset="0"/>
                <a:cs typeface="Comic Sans MS" panose="030F0702030302020204" charset="0"/>
              </a:rPr>
              <a:t>inferred_from_behavior/convention  ) </a:t>
            </a:r>
            <a:endParaRPr lang="en-US" altLang="zh-CN" sz="1400">
              <a:solidFill>
                <a:schemeClr val="tx1"/>
              </a:solidFill>
              <a:latin typeface="Comic Sans MS" panose="030F0702030302020204" charset="0"/>
              <a:cs typeface="Comic Sans MS" panose="030F0702030302020204" charset="0"/>
            </a:endParaRPr>
          </a:p>
        </p:txBody>
      </p:sp>
      <p:sp>
        <p:nvSpPr>
          <p:cNvPr id="38" name="流程图: 过程 37"/>
          <p:cNvSpPr/>
          <p:nvPr/>
        </p:nvSpPr>
        <p:spPr>
          <a:xfrm>
            <a:off x="9070340" y="4762500"/>
            <a:ext cx="2477135" cy="1367790"/>
          </a:xfrm>
          <a:prstGeom prst="flowChartProcess">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矩形 38"/>
          <p:cNvSpPr/>
          <p:nvPr/>
        </p:nvSpPr>
        <p:spPr>
          <a:xfrm>
            <a:off x="9146540" y="4847590"/>
            <a:ext cx="2324735" cy="1119505"/>
          </a:xfrm>
          <a:prstGeom prst="rect">
            <a:avLst/>
          </a:prstGeom>
          <a:solidFill>
            <a:schemeClr val="accent1">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400">
                <a:solidFill>
                  <a:schemeClr val="tx1"/>
                </a:solidFill>
                <a:latin typeface="Comic Sans MS" panose="030F0702030302020204" charset="0"/>
                <a:cs typeface="Comic Sans MS" panose="030F0702030302020204" charset="0"/>
              </a:rPr>
              <a:t>For each constraint: fetch source_url + verify genuine containment of the assertion</a:t>
            </a:r>
            <a:endParaRPr lang="en-US" altLang="zh-CN" sz="1400">
              <a:solidFill>
                <a:schemeClr val="tx1"/>
              </a:solidFill>
              <a:latin typeface="Comic Sans MS" panose="030F0702030302020204" charset="0"/>
              <a:cs typeface="Comic Sans MS" panose="030F0702030302020204" charset="0"/>
            </a:endParaRPr>
          </a:p>
        </p:txBody>
      </p:sp>
      <p:cxnSp>
        <p:nvCxnSpPr>
          <p:cNvPr id="40" name="直接箭头连接符 39"/>
          <p:cNvCxnSpPr>
            <a:endCxn id="11" idx="0"/>
          </p:cNvCxnSpPr>
          <p:nvPr/>
        </p:nvCxnSpPr>
        <p:spPr>
          <a:xfrm flipH="1">
            <a:off x="6289675" y="5638165"/>
            <a:ext cx="3175" cy="634365"/>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cxnSp>
        <p:nvCxnSpPr>
          <p:cNvPr id="46" name="肘形连接符 45"/>
          <p:cNvCxnSpPr>
            <a:stCxn id="56" idx="3"/>
            <a:endCxn id="55" idx="3"/>
          </p:cNvCxnSpPr>
          <p:nvPr/>
        </p:nvCxnSpPr>
        <p:spPr>
          <a:xfrm flipV="1">
            <a:off x="7319010" y="2524125"/>
            <a:ext cx="3175" cy="2717165"/>
          </a:xfrm>
          <a:prstGeom prst="bentConnector3">
            <a:avLst>
              <a:gd name="adj1" fmla="val 16560000"/>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48" name="文本框 47"/>
          <p:cNvSpPr txBox="1"/>
          <p:nvPr/>
        </p:nvSpPr>
        <p:spPr>
          <a:xfrm>
            <a:off x="6289675" y="5826125"/>
            <a:ext cx="666115" cy="25844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pass</a:t>
            </a:r>
            <a:endParaRPr lang="en-US" altLang="zh-CN" sz="1400">
              <a:latin typeface="Comic Sans MS" panose="030F0702030302020204" charset="0"/>
              <a:cs typeface="Comic Sans MS" panose="030F0702030302020204" charset="0"/>
              <a:sym typeface="+mn-ea"/>
            </a:endParaRPr>
          </a:p>
        </p:txBody>
      </p:sp>
      <p:sp>
        <p:nvSpPr>
          <p:cNvPr id="49" name="文本框 48"/>
          <p:cNvSpPr txBox="1"/>
          <p:nvPr/>
        </p:nvSpPr>
        <p:spPr>
          <a:xfrm>
            <a:off x="7747000" y="3635375"/>
            <a:ext cx="666115" cy="48704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not pass</a:t>
            </a:r>
            <a:endParaRPr lang="en-US" altLang="zh-CN" sz="1400">
              <a:latin typeface="Comic Sans MS" panose="030F0702030302020204" charset="0"/>
              <a:cs typeface="Comic Sans MS" panose="030F0702030302020204" charset="0"/>
              <a:sym typeface="+mn-ea"/>
            </a:endParaRPr>
          </a:p>
        </p:txBody>
      </p:sp>
      <p:cxnSp>
        <p:nvCxnSpPr>
          <p:cNvPr id="50" name="直接连接符 49"/>
          <p:cNvCxnSpPr>
            <a:stCxn id="55" idx="3"/>
            <a:endCxn id="25" idx="1"/>
          </p:cNvCxnSpPr>
          <p:nvPr/>
        </p:nvCxnSpPr>
        <p:spPr>
          <a:xfrm>
            <a:off x="7319010" y="2524125"/>
            <a:ext cx="1769745" cy="69850"/>
          </a:xfrm>
          <a:prstGeom prst="line">
            <a:avLst/>
          </a:prstGeom>
        </p:spPr>
        <p:style>
          <a:lnRef idx="2">
            <a:schemeClr val="accent1"/>
          </a:lnRef>
          <a:fillRef idx="0">
            <a:srgbClr val="FFFFFF"/>
          </a:fillRef>
          <a:effectRef idx="0">
            <a:srgbClr val="FFFFFF"/>
          </a:effectRef>
          <a:fontRef idx="minor">
            <a:schemeClr val="tx1"/>
          </a:fontRef>
        </p:style>
      </p:cxnSp>
      <p:cxnSp>
        <p:nvCxnSpPr>
          <p:cNvPr id="51" name="直接连接符 50"/>
          <p:cNvCxnSpPr>
            <a:stCxn id="66" idx="3"/>
            <a:endCxn id="29" idx="1"/>
          </p:cNvCxnSpPr>
          <p:nvPr/>
        </p:nvCxnSpPr>
        <p:spPr>
          <a:xfrm>
            <a:off x="7319010" y="3879215"/>
            <a:ext cx="1751330" cy="43180"/>
          </a:xfrm>
          <a:prstGeom prst="line">
            <a:avLst/>
          </a:prstGeom>
        </p:spPr>
        <p:style>
          <a:lnRef idx="2">
            <a:schemeClr val="accent1"/>
          </a:lnRef>
          <a:fillRef idx="0">
            <a:srgbClr val="FFFFFF"/>
          </a:fillRef>
          <a:effectRef idx="0">
            <a:srgbClr val="FFFFFF"/>
          </a:effectRef>
          <a:fontRef idx="minor">
            <a:schemeClr val="tx1"/>
          </a:fontRef>
        </p:style>
      </p:cxnSp>
      <p:cxnSp>
        <p:nvCxnSpPr>
          <p:cNvPr id="54" name="直接连接符 53"/>
          <p:cNvCxnSpPr>
            <a:stCxn id="56" idx="3"/>
            <a:endCxn id="38" idx="1"/>
          </p:cNvCxnSpPr>
          <p:nvPr/>
        </p:nvCxnSpPr>
        <p:spPr>
          <a:xfrm>
            <a:off x="7319010" y="5241290"/>
            <a:ext cx="1751330" cy="205105"/>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2" grpId="0" animBg="1"/>
      <p:bldP spid="55" grpId="0" animBg="1"/>
      <p:bldP spid="56" grpId="0" animBg="1"/>
      <p:bldP spid="63" grpId="0"/>
      <p:bldP spid="45" grpId="0" animBg="1"/>
      <p:bldP spid="66" grpId="0" animBg="1"/>
      <p:bldP spid="11" grpId="0" animBg="1"/>
      <p:bldP spid="20" grpId="0"/>
      <p:bldP spid="48" grpId="0"/>
      <p:bldP spid="49" grpId="0"/>
      <p:bldP spid="25" grpId="0" animBg="1"/>
      <p:bldP spid="28" grpId="0" animBg="1"/>
      <p:bldP spid="29" grpId="0" animBg="1"/>
      <p:bldP spid="31" grpId="0" animBg="1"/>
      <p:bldP spid="49" grpId="1"/>
      <p:bldP spid="38" grpId="0" animBg="1"/>
      <p:bldP spid="3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62685"/>
            <a:ext cx="10852150" cy="85153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Step 1: We extract structured behavioral claims from na</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tur</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al- language documentation </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332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Behavioral claims extraction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11341100" y="6467475"/>
            <a:ext cx="327660" cy="307975"/>
          </a:xfrm>
        </p:spPr>
        <p:txBody>
          <a:bodyPr>
            <a:normAutofit/>
          </a:bodyPr>
          <a:lstStyle/>
          <a:p>
            <a:fld id="{E09368C2-8BE5-4C19-86FB-98954A39BC6E}" type="slidenum">
              <a:rPr lang="zh-CN" altLang="en-US" smtClean="0"/>
            </a:fld>
            <a:endParaRPr lang="zh-CN" altLang="en-US"/>
          </a:p>
        </p:txBody>
      </p:sp>
      <p:sp>
        <p:nvSpPr>
          <p:cNvPr id="3" name="圆角矩形 2"/>
          <p:cNvSpPr/>
          <p:nvPr>
            <p:custDataLst>
              <p:tags r:id="rId3"/>
            </p:custDataLst>
          </p:nvPr>
        </p:nvSpPr>
        <p:spPr>
          <a:xfrm>
            <a:off x="192405" y="218567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5" name="图片 4" descr="书-翻开"/>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310515" y="2185670"/>
            <a:ext cx="603885" cy="603885"/>
          </a:xfrm>
          <a:prstGeom prst="rect">
            <a:avLst/>
          </a:prstGeom>
        </p:spPr>
      </p:pic>
      <p:sp>
        <p:nvSpPr>
          <p:cNvPr id="6" name="文本框 5"/>
          <p:cNvSpPr txBox="1"/>
          <p:nvPr>
            <p:custDataLst>
              <p:tags r:id="rId7"/>
            </p:custDataLst>
          </p:nvPr>
        </p:nvSpPr>
        <p:spPr>
          <a:xfrm>
            <a:off x="1012825" y="2278380"/>
            <a:ext cx="178562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documentation</a:t>
            </a:r>
            <a:endParaRPr lang="en-US" altLang="zh-CN" b="1">
              <a:latin typeface="Comic Sans MS" panose="030F0702030302020204" charset="0"/>
              <a:cs typeface="Comic Sans MS" panose="030F0702030302020204" charset="0"/>
            </a:endParaRPr>
          </a:p>
        </p:txBody>
      </p:sp>
      <p:sp>
        <p:nvSpPr>
          <p:cNvPr id="13" name="圆角矩形 12"/>
          <p:cNvSpPr/>
          <p:nvPr>
            <p:custDataLst>
              <p:tags r:id="rId8"/>
            </p:custDataLst>
          </p:nvPr>
        </p:nvSpPr>
        <p:spPr>
          <a:xfrm>
            <a:off x="192405" y="5638165"/>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5" name="文本框 14"/>
          <p:cNvSpPr txBox="1"/>
          <p:nvPr>
            <p:custDataLst>
              <p:tags r:id="rId9"/>
            </p:custDataLst>
          </p:nvPr>
        </p:nvSpPr>
        <p:spPr>
          <a:xfrm>
            <a:off x="835660" y="5731510"/>
            <a:ext cx="2096135" cy="45466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a:latin typeface="Comic Sans MS" panose="030F0702030302020204" charset="0"/>
              <a:cs typeface="Comic Sans MS" panose="030F0702030302020204" charset="0"/>
            </a:endParaRPr>
          </a:p>
        </p:txBody>
      </p:sp>
      <p:pic>
        <p:nvPicPr>
          <p:cNvPr id="10" name="图片 9"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262255" y="5656580"/>
            <a:ext cx="699770" cy="603885"/>
          </a:xfrm>
          <a:prstGeom prst="rect">
            <a:avLst/>
          </a:prstGeom>
        </p:spPr>
      </p:pic>
      <p:sp>
        <p:nvSpPr>
          <p:cNvPr id="16" name="圆角矩形 15"/>
          <p:cNvSpPr/>
          <p:nvPr>
            <p:custDataLst>
              <p:tags r:id="rId13"/>
            </p:custDataLst>
          </p:nvPr>
        </p:nvSpPr>
        <p:spPr>
          <a:xfrm>
            <a:off x="192405" y="3163570"/>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8" name="文本框 17"/>
          <p:cNvSpPr txBox="1"/>
          <p:nvPr>
            <p:custDataLst>
              <p:tags r:id="rId14"/>
            </p:custDataLst>
          </p:nvPr>
        </p:nvSpPr>
        <p:spPr>
          <a:xfrm>
            <a:off x="970280" y="3270885"/>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knowledge e</a:t>
            </a:r>
            <a:r>
              <a:rPr lang="en-US" altLang="zh-CN" b="1">
                <a:latin typeface="Comic Sans MS" panose="030F0702030302020204" charset="0"/>
                <a:cs typeface="Comic Sans MS" panose="030F0702030302020204" charset="0"/>
              </a:rPr>
              <a:t>xtractor </a:t>
            </a:r>
            <a:endParaRPr lang="en-US" altLang="zh-CN" b="1">
              <a:latin typeface="Comic Sans MS" panose="030F0702030302020204" charset="0"/>
              <a:cs typeface="Comic Sans MS" panose="030F0702030302020204" charset="0"/>
            </a:endParaRPr>
          </a:p>
        </p:txBody>
      </p:sp>
      <p:pic>
        <p:nvPicPr>
          <p:cNvPr id="80" name="图片 79" descr="机器人"/>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262255" y="3187700"/>
            <a:ext cx="708025" cy="592455"/>
          </a:xfrm>
          <a:prstGeom prst="rect">
            <a:avLst/>
          </a:prstGeom>
        </p:spPr>
      </p:pic>
      <p:sp>
        <p:nvSpPr>
          <p:cNvPr id="21" name="圆角矩形 20"/>
          <p:cNvSpPr/>
          <p:nvPr>
            <p:custDataLst>
              <p:tags r:id="rId18"/>
            </p:custDataLst>
          </p:nvPr>
        </p:nvSpPr>
        <p:spPr>
          <a:xfrm>
            <a:off x="192405" y="4488180"/>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22" name="文本框 21"/>
          <p:cNvSpPr txBox="1"/>
          <p:nvPr>
            <p:custDataLst>
              <p:tags r:id="rId19"/>
            </p:custDataLst>
          </p:nvPr>
        </p:nvSpPr>
        <p:spPr>
          <a:xfrm>
            <a:off x="970280" y="4589145"/>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claim formalizer</a:t>
            </a:r>
            <a:endParaRPr lang="en-US" altLang="zh-CN" b="1">
              <a:latin typeface="Comic Sans MS" panose="030F0702030302020204" charset="0"/>
              <a:cs typeface="Comic Sans MS" panose="030F0702030302020204" charset="0"/>
            </a:endParaRPr>
          </a:p>
        </p:txBody>
      </p:sp>
      <p:pic>
        <p:nvPicPr>
          <p:cNvPr id="23" name="图片 22" descr="机器人"/>
          <p:cNvPicPr>
            <a:picLocks noChangeAspect="1"/>
          </p:cNvPicPr>
          <p:nvPr>
            <p:custDataLst>
              <p:tags r:id="rId20"/>
            </p:custDataLst>
          </p:nvPr>
        </p:nvPicPr>
        <p:blipFill>
          <a:blip r:embed="rId16">
            <a:extLst>
              <a:ext uri="{96DAC541-7B7A-43D3-8B79-37D633B846F1}">
                <asvg:svgBlip xmlns:asvg="http://schemas.microsoft.com/office/drawing/2016/SVG/main" r:embed="rId17"/>
              </a:ext>
            </a:extLst>
          </a:blip>
          <a:stretch>
            <a:fillRect/>
          </a:stretch>
        </p:blipFill>
        <p:spPr>
          <a:xfrm>
            <a:off x="262255" y="4512310"/>
            <a:ext cx="708025" cy="592455"/>
          </a:xfrm>
          <a:prstGeom prst="rect">
            <a:avLst/>
          </a:prstGeom>
        </p:spPr>
      </p:pic>
      <p:sp>
        <p:nvSpPr>
          <p:cNvPr id="32" name="下箭头 31"/>
          <p:cNvSpPr/>
          <p:nvPr>
            <p:custDataLst>
              <p:tags r:id="rId21"/>
            </p:custDataLst>
          </p:nvPr>
        </p:nvSpPr>
        <p:spPr>
          <a:xfrm>
            <a:off x="1230630" y="2860040"/>
            <a:ext cx="378460" cy="28384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下箭头 33"/>
          <p:cNvSpPr/>
          <p:nvPr>
            <p:custDataLst>
              <p:tags r:id="rId22"/>
            </p:custDataLst>
          </p:nvPr>
        </p:nvSpPr>
        <p:spPr>
          <a:xfrm>
            <a:off x="1230630" y="3841115"/>
            <a:ext cx="379095" cy="61341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custDataLst>
              <p:tags r:id="rId23"/>
            </p:custDataLst>
          </p:nvPr>
        </p:nvSpPr>
        <p:spPr>
          <a:xfrm>
            <a:off x="1230630" y="5161915"/>
            <a:ext cx="378460" cy="44577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文本框 41"/>
          <p:cNvSpPr txBox="1"/>
          <p:nvPr/>
        </p:nvSpPr>
        <p:spPr>
          <a:xfrm>
            <a:off x="1344930" y="3926840"/>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raw_knowledge.</a:t>
            </a:r>
            <a:r>
              <a:rPr lang="en-US" altLang="zh-CN" sz="1400">
                <a:latin typeface="Comic Sans MS" panose="030F0702030302020204" charset="0"/>
                <a:cs typeface="Comic Sans MS" panose="030F0702030302020204" charset="0"/>
                <a:sym typeface="+mn-ea"/>
              </a:rPr>
              <a:t>json</a:t>
            </a:r>
            <a:endParaRPr lang="en-US" altLang="zh-CN" sz="1400">
              <a:latin typeface="Comic Sans MS" panose="030F0702030302020204" charset="0"/>
              <a:cs typeface="Comic Sans MS" panose="030F0702030302020204" charset="0"/>
              <a:sym typeface="+mn-ea"/>
            </a:endParaRPr>
          </a:p>
        </p:txBody>
      </p:sp>
      <p:sp>
        <p:nvSpPr>
          <p:cNvPr id="67" name="文本框 66"/>
          <p:cNvSpPr txBox="1"/>
          <p:nvPr/>
        </p:nvSpPr>
        <p:spPr>
          <a:xfrm>
            <a:off x="1446530" y="5128260"/>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a:latin typeface="Comic Sans MS" panose="030F0702030302020204" charset="0"/>
              <a:cs typeface="Comic Sans MS" panose="030F0702030302020204" charset="0"/>
              <a:sym typeface="+mn-ea"/>
            </a:endParaRPr>
          </a:p>
        </p:txBody>
      </p:sp>
      <p:cxnSp>
        <p:nvCxnSpPr>
          <p:cNvPr id="8" name="直接连接符 7"/>
          <p:cNvCxnSpPr>
            <a:stCxn id="16" idx="3"/>
            <a:endCxn id="20" idx="1"/>
          </p:cNvCxnSpPr>
          <p:nvPr/>
        </p:nvCxnSpPr>
        <p:spPr>
          <a:xfrm>
            <a:off x="3568065" y="3483610"/>
            <a:ext cx="1100455" cy="825500"/>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11" name="直接连接符 10"/>
          <p:cNvCxnSpPr>
            <a:stCxn id="21" idx="3"/>
            <a:endCxn id="20" idx="1"/>
          </p:cNvCxnSpPr>
          <p:nvPr/>
        </p:nvCxnSpPr>
        <p:spPr>
          <a:xfrm flipV="1">
            <a:off x="3568065" y="4309110"/>
            <a:ext cx="1100455" cy="499110"/>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20" name="流程图: 过程 19"/>
          <p:cNvSpPr/>
          <p:nvPr/>
        </p:nvSpPr>
        <p:spPr>
          <a:xfrm>
            <a:off x="4668520" y="2174875"/>
            <a:ext cx="6435090" cy="4268470"/>
          </a:xfrm>
          <a:prstGeom prst="flowChartProcess">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矩形 27"/>
          <p:cNvSpPr/>
          <p:nvPr/>
        </p:nvSpPr>
        <p:spPr>
          <a:xfrm>
            <a:off x="4820920" y="2278380"/>
            <a:ext cx="4902835" cy="624205"/>
          </a:xfrm>
          <a:prstGeom prst="rect">
            <a:avLst/>
          </a:prstGeom>
          <a:solidFill>
            <a:schemeClr val="accent1">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tx1"/>
                </a:solidFill>
                <a:latin typeface="Comic Sans MS" panose="030F0702030302020204" charset="0"/>
                <a:cs typeface="Comic Sans MS" panose="030F0702030302020204" charset="0"/>
              </a:rPr>
              <a:t>Why </a:t>
            </a:r>
            <a:r>
              <a:rPr lang="en-US" altLang="zh-CN" b="1">
                <a:solidFill>
                  <a:schemeClr val="tx1"/>
                </a:solidFill>
                <a:latin typeface="Comic Sans MS" panose="030F0702030302020204" charset="0"/>
                <a:cs typeface="Comic Sans MS" panose="030F0702030302020204" charset="0"/>
              </a:rPr>
              <a:t>not merging</a:t>
            </a:r>
            <a:r>
              <a:rPr lang="en-US" altLang="zh-CN">
                <a:solidFill>
                  <a:schemeClr val="tx1"/>
                </a:solidFill>
                <a:latin typeface="Comic Sans MS" panose="030F0702030302020204" charset="0"/>
                <a:cs typeface="Comic Sans MS" panose="030F0702030302020204" charset="0"/>
              </a:rPr>
              <a:t> knowledge extractor and claim formalizer ?</a:t>
            </a:r>
            <a:endParaRPr lang="en-US" altLang="zh-CN">
              <a:solidFill>
                <a:schemeClr val="tx1"/>
              </a:solidFill>
              <a:latin typeface="Comic Sans MS" panose="030F0702030302020204" charset="0"/>
              <a:cs typeface="Comic Sans MS" panose="030F0702030302020204" charset="0"/>
            </a:endParaRPr>
          </a:p>
        </p:txBody>
      </p:sp>
      <p:sp>
        <p:nvSpPr>
          <p:cNvPr id="31" name="矩形 30"/>
          <p:cNvSpPr/>
          <p:nvPr/>
        </p:nvSpPr>
        <p:spPr>
          <a:xfrm>
            <a:off x="4820920" y="3006725"/>
            <a:ext cx="6097270" cy="3271520"/>
          </a:xfrm>
          <a:prstGeom prst="rect">
            <a:avLst/>
          </a:prstGeom>
          <a:solidFill>
            <a:schemeClr val="accent1">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a:solidFill>
                  <a:schemeClr val="tx1"/>
                </a:solidFill>
                <a:latin typeface="Comic Sans MS" panose="030F0702030302020204" charset="0"/>
                <a:cs typeface="Comic Sans MS" panose="030F0702030302020204" charset="0"/>
              </a:rPr>
              <a:t>1.</a:t>
            </a:r>
            <a:r>
              <a:rPr lang="en-US" altLang="zh-CN" sz="1600" b="1">
                <a:solidFill>
                  <a:schemeClr val="tx1"/>
                </a:solidFill>
                <a:latin typeface="Comic Sans MS" panose="030F0702030302020204" charset="0"/>
                <a:cs typeface="Comic Sans MS" panose="030F0702030302020204" charset="0"/>
                <a:sym typeface="+mn-ea"/>
              </a:rPr>
              <a:t>Auditability</a:t>
            </a:r>
            <a:r>
              <a:rPr lang="en-US" altLang="zh-CN" sz="1600">
                <a:solidFill>
                  <a:schemeClr val="tx1"/>
                </a:solidFill>
                <a:latin typeface="Comic Sans MS" panose="030F0702030302020204" charset="0"/>
                <a:cs typeface="Comic Sans MS" panose="030F0702030302020204" charset="0"/>
              </a:rPr>
              <a:t> </a:t>
            </a:r>
            <a:r>
              <a:rPr lang="zh-CN" altLang="en-US" sz="1600">
                <a:solidFill>
                  <a:schemeClr val="tx1"/>
                </a:solidFill>
                <a:latin typeface="Comic Sans MS" panose="030F0702030302020204" charset="0"/>
                <a:cs typeface="Comic Sans MS" panose="030F0702030302020204" charset="0"/>
              </a:rPr>
              <a:t>：</a:t>
            </a:r>
            <a:r>
              <a:rPr lang="en-US" altLang="zh-CN" sz="1600">
                <a:solidFill>
                  <a:schemeClr val="tx1"/>
                </a:solidFill>
                <a:latin typeface="Comic Sans MS" panose="030F0702030302020204" charset="0"/>
                <a:cs typeface="Comic Sans MS" panose="030F0702030302020204" charset="0"/>
              </a:rPr>
              <a:t> Network access is granted only to the extractor, making it easier to determine whether a problem originates in document crawling or the formalization process.</a:t>
            </a:r>
            <a:endParaRPr lang="en-US" altLang="zh-CN" sz="1600">
              <a:solidFill>
                <a:schemeClr val="tx1"/>
              </a:solidFill>
              <a:latin typeface="Comic Sans MS" panose="030F0702030302020204" charset="0"/>
              <a:cs typeface="Comic Sans MS" panose="030F0702030302020204" charset="0"/>
            </a:endParaRPr>
          </a:p>
          <a:p>
            <a:pPr algn="l"/>
            <a:endParaRPr lang="en-US" altLang="zh-CN" sz="1600">
              <a:solidFill>
                <a:schemeClr val="tx1"/>
              </a:solidFill>
              <a:latin typeface="Comic Sans MS" panose="030F0702030302020204" charset="0"/>
              <a:cs typeface="Comic Sans MS" panose="030F0702030302020204" charset="0"/>
            </a:endParaRPr>
          </a:p>
          <a:p>
            <a:pPr algn="l"/>
            <a:r>
              <a:rPr lang="en-US" altLang="zh-CN" sz="1600">
                <a:solidFill>
                  <a:schemeClr val="tx1"/>
                </a:solidFill>
                <a:latin typeface="Comic Sans MS" panose="030F0702030302020204" charset="0"/>
                <a:cs typeface="Comic Sans MS" panose="030F0702030302020204" charset="0"/>
              </a:rPr>
              <a:t>2.</a:t>
            </a:r>
            <a:r>
              <a:rPr lang="en-US" altLang="zh-CN" sz="1600" b="1">
                <a:solidFill>
                  <a:schemeClr val="tx1"/>
                </a:solidFill>
                <a:latin typeface="Comic Sans MS" panose="030F0702030302020204" charset="0"/>
                <a:cs typeface="Comic Sans MS" panose="030F0702030302020204" charset="0"/>
                <a:sym typeface="+mn-ea"/>
              </a:rPr>
              <a:t>Raw_knowledge as </a:t>
            </a:r>
            <a:r>
              <a:rPr lang="en-US" altLang="zh-CN" sz="1600" b="1">
                <a:solidFill>
                  <a:schemeClr val="tx1"/>
                </a:solidFill>
                <a:latin typeface="Comic Sans MS" panose="030F0702030302020204" charset="0"/>
                <a:cs typeface="Comic Sans MS" panose="030F0702030302020204" charset="0"/>
              </a:rPr>
              <a:t>Cache</a:t>
            </a:r>
            <a:r>
              <a:rPr lang="en-US" altLang="zh-CN" sz="1600">
                <a:solidFill>
                  <a:schemeClr val="tx1"/>
                </a:solidFill>
                <a:latin typeface="Comic Sans MS" panose="030F0702030302020204" charset="0"/>
                <a:cs typeface="Comic Sans MS" panose="030F0702030302020204" charset="0"/>
              </a:rPr>
              <a:t> </a:t>
            </a:r>
            <a:r>
              <a:rPr lang="zh-CN" altLang="en-US" sz="1600">
                <a:solidFill>
                  <a:schemeClr val="tx1"/>
                </a:solidFill>
                <a:latin typeface="Comic Sans MS" panose="030F0702030302020204" charset="0"/>
                <a:cs typeface="Comic Sans MS" panose="030F0702030302020204" charset="0"/>
              </a:rPr>
              <a:t>：</a:t>
            </a:r>
            <a:r>
              <a:rPr lang="en-US" altLang="zh-CN" sz="1600">
                <a:solidFill>
                  <a:schemeClr val="tx1"/>
                </a:solidFill>
                <a:latin typeface="Comic Sans MS" panose="030F0702030302020204" charset="0"/>
                <a:cs typeface="Comic Sans MS" panose="030F0702030302020204" charset="0"/>
              </a:rPr>
              <a:t> Raw_knowledge.md is a cross-session cache; changes to formalization rules only require rerunning the formalizer, without needing to re-crawl the documentation.</a:t>
            </a:r>
            <a:endParaRPr lang="en-US" altLang="zh-CN" sz="1600">
              <a:solidFill>
                <a:schemeClr val="tx1"/>
              </a:solidFill>
              <a:latin typeface="Comic Sans MS" panose="030F0702030302020204" charset="0"/>
              <a:cs typeface="Comic Sans MS" panose="030F0702030302020204" charset="0"/>
            </a:endParaRPr>
          </a:p>
          <a:p>
            <a:pPr algn="l"/>
            <a:endParaRPr lang="en-US" altLang="zh-CN" sz="1600">
              <a:solidFill>
                <a:schemeClr val="tx1"/>
              </a:solidFill>
              <a:latin typeface="Comic Sans MS" panose="030F0702030302020204" charset="0"/>
              <a:cs typeface="Comic Sans MS" panose="030F0702030302020204" charset="0"/>
            </a:endParaRPr>
          </a:p>
          <a:p>
            <a:pPr algn="l"/>
            <a:r>
              <a:rPr lang="en-US" altLang="zh-CN" sz="1600">
                <a:solidFill>
                  <a:schemeClr val="tx1"/>
                </a:solidFill>
                <a:latin typeface="Comic Sans MS" panose="030F0702030302020204" charset="0"/>
                <a:cs typeface="Comic Sans MS" panose="030F0702030302020204" charset="0"/>
              </a:rPr>
              <a:t>3.</a:t>
            </a:r>
            <a:r>
              <a:rPr lang="en-US" altLang="zh-CN" sz="1600" b="1">
                <a:solidFill>
                  <a:schemeClr val="tx1"/>
                </a:solidFill>
                <a:latin typeface="Comic Sans MS" panose="030F0702030302020204" charset="0"/>
                <a:cs typeface="Comic Sans MS" panose="030F0702030302020204" charset="0"/>
              </a:rPr>
              <a:t>Context budget</a:t>
            </a:r>
            <a:r>
              <a:rPr lang="en-US" altLang="zh-CN" sz="1600">
                <a:solidFill>
                  <a:schemeClr val="tx1"/>
                </a:solidFill>
                <a:latin typeface="Comic Sans MS" panose="030F0702030302020204" charset="0"/>
                <a:cs typeface="Comic Sans MS" panose="030F0702030302020204" charset="0"/>
              </a:rPr>
              <a:t> </a:t>
            </a:r>
            <a:r>
              <a:rPr lang="zh-CN" altLang="en-US" sz="1600">
                <a:solidFill>
                  <a:schemeClr val="tx1"/>
                </a:solidFill>
                <a:latin typeface="Comic Sans MS" panose="030F0702030302020204" charset="0"/>
                <a:cs typeface="Comic Sans MS" panose="030F0702030302020204" charset="0"/>
              </a:rPr>
              <a:t>：</a:t>
            </a:r>
            <a:r>
              <a:rPr lang="en-US" altLang="zh-CN" sz="1600">
                <a:solidFill>
                  <a:schemeClr val="tx1"/>
                </a:solidFill>
                <a:latin typeface="Comic Sans MS" panose="030F0702030302020204" charset="0"/>
                <a:cs typeface="Comic Sans MS" panose="030F0702030302020204" charset="0"/>
              </a:rPr>
              <a:t> hundreds of pages of crawled content and hundreds of lines of schema specifications will compete for context; divide and </a:t>
            </a:r>
            <a:r>
              <a:rPr lang="en-US" altLang="zh-CN" sz="1600">
                <a:solidFill>
                  <a:schemeClr val="tx1"/>
                </a:solidFill>
                <a:latin typeface="Comic Sans MS" panose="030F0702030302020204" charset="0"/>
                <a:cs typeface="Comic Sans MS" panose="030F0702030302020204" charset="0"/>
              </a:rPr>
              <a:t>conquer so that both can be done well.</a:t>
            </a:r>
            <a:endParaRPr lang="en-US" altLang="zh-CN" sz="1600">
              <a:solidFill>
                <a:schemeClr val="tx1"/>
              </a:solidFill>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8" grpId="0" bldLvl="0" animBg="1"/>
      <p:bldP spid="3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80465"/>
            <a:ext cx="10852150" cy="491299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2:</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We generate executable test scripts from the structured contract</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Test Script Generation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cxnSp>
        <p:nvCxnSpPr>
          <p:cNvPr id="210" name="直接箭头连接符 209"/>
          <p:cNvCxnSpPr/>
          <p:nvPr/>
        </p:nvCxnSpPr>
        <p:spPr>
          <a:xfrm flipV="1">
            <a:off x="5518150" y="4175125"/>
            <a:ext cx="1225550" cy="19050"/>
          </a:xfrm>
          <a:prstGeom prst="straightConnector1">
            <a:avLst/>
          </a:prstGeom>
          <a:ln w="28575" cmpd="sng">
            <a:solidFill>
              <a:schemeClr val="tx1"/>
            </a:solidFill>
            <a:prstDash val="solid"/>
            <a:tailEnd type="arrow"/>
          </a:ln>
        </p:spPr>
        <p:style>
          <a:lnRef idx="2">
            <a:schemeClr val="accent1"/>
          </a:lnRef>
          <a:fillRef idx="0">
            <a:srgbClr val="FFFFFF"/>
          </a:fillRef>
          <a:effectRef idx="0">
            <a:srgbClr val="FFFFFF"/>
          </a:effectRef>
          <a:fontRef idx="minor">
            <a:schemeClr val="tx1"/>
          </a:fontRef>
        </p:style>
      </p:cxnSp>
      <p:sp>
        <p:nvSpPr>
          <p:cNvPr id="5" name="圆角矩形 4"/>
          <p:cNvSpPr/>
          <p:nvPr>
            <p:custDataLst>
              <p:tags r:id="rId3"/>
            </p:custDataLst>
          </p:nvPr>
        </p:nvSpPr>
        <p:spPr>
          <a:xfrm>
            <a:off x="6751955" y="2407285"/>
            <a:ext cx="3840480" cy="358394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4"/>
            </p:custDataLst>
          </p:nvPr>
        </p:nvSpPr>
        <p:spPr>
          <a:xfrm>
            <a:off x="8002270" y="2595245"/>
            <a:ext cx="252666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test scripts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8" name="文本框 7"/>
          <p:cNvSpPr txBox="1"/>
          <p:nvPr/>
        </p:nvSpPr>
        <p:spPr>
          <a:xfrm>
            <a:off x="6867525" y="3291840"/>
            <a:ext cx="3724910" cy="2346960"/>
          </a:xfrm>
          <a:prstGeom prst="rect">
            <a:avLst/>
          </a:prstGeom>
          <a:noFill/>
        </p:spPr>
        <p:txBody>
          <a:bodyPr wrap="square" rtlCol="0" anchor="t">
            <a:noAutofit/>
          </a:bodyPr>
          <a:p>
            <a:pPr>
              <a:defRPr sz="1300" b="0">
                <a:solidFill>
                  <a:srgbClr val="333333"/>
                </a:solidFill>
                <a:latin typeface="Microsoft YaHei" panose="020B0503020204020204" charset="-122"/>
              </a:defRPr>
            </a:pPr>
            <a:r>
              <a:rPr lang="en-US" altLang="zh-CN" sz="1600" b="1">
                <a:solidFill>
                  <a:schemeClr val="tx1"/>
                </a:solidFill>
                <a:effectLst/>
                <a:latin typeface="Cambria" panose="02040503050406030204" charset="0"/>
                <a:cs typeface="Cambria" panose="02040503050406030204" charset="0"/>
                <a:sym typeface="+mn-ea"/>
              </a:rPr>
              <a:t>POST</a:t>
            </a:r>
            <a:r>
              <a:rPr lang="en-US" altLang="zh-CN" sz="1600">
                <a:solidFill>
                  <a:schemeClr val="tx1"/>
                </a:solidFill>
                <a:effectLst/>
                <a:latin typeface="Cambria" panose="02040503050406030204" charset="0"/>
                <a:cs typeface="Cambria" panose="02040503050406030204" charset="0"/>
                <a:sym typeface="+mn-ea"/>
              </a:rPr>
              <a:t> /v2/vectordb/entities/search</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b="1">
                <a:solidFill>
                  <a:schemeClr val="tx1"/>
                </a:solidFill>
                <a:effectLst/>
                <a:latin typeface="Cambria" panose="02040503050406030204" charset="0"/>
                <a:cs typeface="Cambria" panose="02040503050406030204" charset="0"/>
                <a:sym typeface="+mn-ea"/>
              </a:rPr>
              <a:t>Host:</a:t>
            </a:r>
            <a:r>
              <a:rPr lang="en-US" altLang="zh-CN" sz="1600">
                <a:solidFill>
                  <a:schemeClr val="tx1"/>
                </a:solidFill>
                <a:effectLst/>
                <a:latin typeface="Cambria" panose="02040503050406030204" charset="0"/>
                <a:cs typeface="Cambria" panose="02040503050406030204" charset="0"/>
                <a:sym typeface="+mn-ea"/>
              </a:rPr>
              <a:t> localhost:19530</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"collectionName": "demo",</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"data": [[0.1, 0.2, 0.3, ..., 0.512]],</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"searchParams":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"params": { "nprobe": 0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a:t>
            </a:r>
            <a:endParaRPr lang="en-US" altLang="zh-CN" sz="1600">
              <a:solidFill>
                <a:schemeClr val="tx1"/>
              </a:solidFill>
              <a:effectLst/>
              <a:latin typeface="Cambria" panose="02040503050406030204" charset="0"/>
              <a:cs typeface="Cambria" panose="02040503050406030204" charset="0"/>
              <a:sym typeface="+mn-ea"/>
            </a:endParaRPr>
          </a:p>
        </p:txBody>
      </p:sp>
      <p:pic>
        <p:nvPicPr>
          <p:cNvPr id="29" name="图片 28" descr="软件"/>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7167880" y="2475865"/>
            <a:ext cx="652780" cy="603885"/>
          </a:xfrm>
          <a:prstGeom prst="rect">
            <a:avLst/>
          </a:prstGeom>
        </p:spPr>
      </p:pic>
      <p:sp>
        <p:nvSpPr>
          <p:cNvPr id="9" name="圆角矩形 8"/>
          <p:cNvSpPr/>
          <p:nvPr>
            <p:custDataLst>
              <p:tags r:id="rId8"/>
            </p:custDataLst>
          </p:nvPr>
        </p:nvSpPr>
        <p:spPr>
          <a:xfrm>
            <a:off x="1061720" y="2407285"/>
            <a:ext cx="4469130" cy="358394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custDataLst>
              <p:tags r:id="rId9"/>
            </p:custDataLst>
          </p:nvPr>
        </p:nvSpPr>
        <p:spPr>
          <a:xfrm>
            <a:off x="2312035" y="2595245"/>
            <a:ext cx="252666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11" name="图片 10"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419860" y="2475865"/>
            <a:ext cx="699770" cy="603885"/>
          </a:xfrm>
          <a:prstGeom prst="rect">
            <a:avLst/>
          </a:prstGeom>
        </p:spPr>
      </p:pic>
      <p:sp>
        <p:nvSpPr>
          <p:cNvPr id="13" name="文本框 12"/>
          <p:cNvSpPr txBox="1"/>
          <p:nvPr/>
        </p:nvSpPr>
        <p:spPr>
          <a:xfrm>
            <a:off x="1114425" y="3291840"/>
            <a:ext cx="4415790" cy="2461260"/>
          </a:xfrm>
          <a:prstGeom prst="rect">
            <a:avLst/>
          </a:prstGeom>
          <a:noFill/>
        </p:spPr>
        <p:txBody>
          <a:bodyPr wrap="square" rtlCol="0" anchor="t">
            <a:spAutoFit/>
          </a:bodyPr>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"constraint_id": "xxxx_001",</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"endpoint": "entities+search",</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"description": "nprobe must be an integer in [1,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"assertion": "nprobe &gt;= 1 &amp;&amp; nprobe &lt;=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"type": "range_constraint",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"confidence": 1.0,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"evidence_tier": "explicit",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"source_url": "xxxx",</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"source_verified": true</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sym typeface="+mn-ea"/>
            </a:endParaRPr>
          </a:p>
        </p:txBody>
      </p:sp>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80465"/>
            <a:ext cx="10852150" cy="764540"/>
          </a:xfrm>
        </p:spPr>
        <p:txBody>
          <a:bodyPr>
            <a:normAutofit lnSpcReduction="20000"/>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2:</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We generate executable test scripts from the structured contract</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Test Script Generation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sp>
        <p:nvSpPr>
          <p:cNvPr id="52" name="流程图: 过程 51"/>
          <p:cNvSpPr/>
          <p:nvPr/>
        </p:nvSpPr>
        <p:spPr>
          <a:xfrm>
            <a:off x="1480185" y="3034665"/>
            <a:ext cx="9898380" cy="2233930"/>
          </a:xfrm>
          <a:prstGeom prst="flowChartProcess">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文本框 58"/>
          <p:cNvSpPr txBox="1"/>
          <p:nvPr/>
        </p:nvSpPr>
        <p:spPr>
          <a:xfrm>
            <a:off x="2967355" y="2700020"/>
            <a:ext cx="2159000" cy="30162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14" name="圆角矩形 13"/>
          <p:cNvSpPr/>
          <p:nvPr>
            <p:custDataLst>
              <p:tags r:id="rId3"/>
            </p:custDataLst>
          </p:nvPr>
        </p:nvSpPr>
        <p:spPr>
          <a:xfrm>
            <a:off x="1591310" y="203073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5" name="文本框 14"/>
          <p:cNvSpPr txBox="1"/>
          <p:nvPr>
            <p:custDataLst>
              <p:tags r:id="rId4"/>
            </p:custDataLst>
          </p:nvPr>
        </p:nvSpPr>
        <p:spPr>
          <a:xfrm>
            <a:off x="2234565" y="2124075"/>
            <a:ext cx="2096135" cy="45466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a:latin typeface="Comic Sans MS" panose="030F0702030302020204" charset="0"/>
              <a:cs typeface="Comic Sans MS" panose="030F0702030302020204" charset="0"/>
            </a:endParaRPr>
          </a:p>
        </p:txBody>
      </p:sp>
      <p:pic>
        <p:nvPicPr>
          <p:cNvPr id="16" name="图片 15" descr="代码文件"/>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1661160" y="2049145"/>
            <a:ext cx="699770" cy="603885"/>
          </a:xfrm>
          <a:prstGeom prst="rect">
            <a:avLst/>
          </a:prstGeom>
        </p:spPr>
      </p:pic>
      <p:sp>
        <p:nvSpPr>
          <p:cNvPr id="17" name="圆角矩形 16"/>
          <p:cNvSpPr/>
          <p:nvPr>
            <p:custDataLst>
              <p:tags r:id="rId8"/>
            </p:custDataLst>
          </p:nvPr>
        </p:nvSpPr>
        <p:spPr>
          <a:xfrm>
            <a:off x="1591310" y="3131185"/>
            <a:ext cx="2954655"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8" name="文本框 17"/>
          <p:cNvSpPr txBox="1"/>
          <p:nvPr>
            <p:custDataLst>
              <p:tags r:id="rId9"/>
            </p:custDataLst>
          </p:nvPr>
        </p:nvSpPr>
        <p:spPr>
          <a:xfrm>
            <a:off x="2456180" y="3281680"/>
            <a:ext cx="2074545"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attack-boundary</a:t>
            </a:r>
            <a:endParaRPr lang="en-US" altLang="zh-CN" b="1">
              <a:latin typeface="Comic Sans MS" panose="030F0702030302020204" charset="0"/>
              <a:cs typeface="Comic Sans MS" panose="030F0702030302020204" charset="0"/>
            </a:endParaRPr>
          </a:p>
        </p:txBody>
      </p:sp>
      <p:pic>
        <p:nvPicPr>
          <p:cNvPr id="80" name="图片 79" descr="机器人"/>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661160" y="3155315"/>
            <a:ext cx="708025" cy="592455"/>
          </a:xfrm>
          <a:prstGeom prst="rect">
            <a:avLst/>
          </a:prstGeom>
        </p:spPr>
      </p:pic>
      <p:sp>
        <p:nvSpPr>
          <p:cNvPr id="21" name="圆角矩形 20"/>
          <p:cNvSpPr/>
          <p:nvPr>
            <p:custDataLst>
              <p:tags r:id="rId13"/>
            </p:custDataLst>
          </p:nvPr>
        </p:nvSpPr>
        <p:spPr>
          <a:xfrm>
            <a:off x="1591310" y="4494530"/>
            <a:ext cx="295529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22" name="文本框 21"/>
          <p:cNvSpPr txBox="1"/>
          <p:nvPr>
            <p:custDataLst>
              <p:tags r:id="rId14"/>
            </p:custDataLst>
          </p:nvPr>
        </p:nvSpPr>
        <p:spPr>
          <a:xfrm>
            <a:off x="2456180" y="4645025"/>
            <a:ext cx="2074545"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sym typeface="+mn-ea"/>
              </a:rPr>
              <a:t>attack-</a:t>
            </a:r>
            <a:r>
              <a:rPr lang="en-US" altLang="zh-CN" b="1">
                <a:latin typeface="Comic Sans MS" panose="030F0702030302020204" charset="0"/>
                <a:cs typeface="Comic Sans MS" panose="030F0702030302020204" charset="0"/>
              </a:rPr>
              <a:t>semantic</a:t>
            </a:r>
            <a:endParaRPr lang="en-US" altLang="zh-CN" b="1">
              <a:latin typeface="Comic Sans MS" panose="030F0702030302020204" charset="0"/>
              <a:cs typeface="Comic Sans MS" panose="030F0702030302020204" charset="0"/>
            </a:endParaRPr>
          </a:p>
        </p:txBody>
      </p:sp>
      <p:pic>
        <p:nvPicPr>
          <p:cNvPr id="23" name="图片 22" descr="机器人"/>
          <p:cNvPicPr>
            <a:picLocks noChangeAspect="1"/>
          </p:cNvPicPr>
          <p:nvPr>
            <p:custDataLst>
              <p:tags r:id="rId15"/>
            </p:custDataLst>
          </p:nvPr>
        </p:nvPicPr>
        <p:blipFill>
          <a:blip r:embed="rId11">
            <a:extLst>
              <a:ext uri="{96DAC541-7B7A-43D3-8B79-37D633B846F1}">
                <asvg:svgBlip xmlns:asvg="http://schemas.microsoft.com/office/drawing/2016/SVG/main" r:embed="rId12"/>
              </a:ext>
            </a:extLst>
          </a:blip>
          <a:stretch>
            <a:fillRect/>
          </a:stretch>
        </p:blipFill>
        <p:spPr>
          <a:xfrm>
            <a:off x="1661160" y="4518660"/>
            <a:ext cx="708025" cy="592455"/>
          </a:xfrm>
          <a:prstGeom prst="rect">
            <a:avLst/>
          </a:prstGeom>
        </p:spPr>
      </p:pic>
      <p:sp>
        <p:nvSpPr>
          <p:cNvPr id="32" name="下箭头 31"/>
          <p:cNvSpPr/>
          <p:nvPr>
            <p:custDataLst>
              <p:tags r:id="rId16"/>
            </p:custDataLst>
          </p:nvPr>
        </p:nvSpPr>
        <p:spPr>
          <a:xfrm>
            <a:off x="2629535" y="2712720"/>
            <a:ext cx="378460" cy="28384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custDataLst>
              <p:tags r:id="rId17"/>
            </p:custDataLst>
          </p:nvPr>
        </p:nvSpPr>
        <p:spPr>
          <a:xfrm>
            <a:off x="2629535" y="5324475"/>
            <a:ext cx="378460" cy="44577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圆角矩形 27"/>
          <p:cNvSpPr/>
          <p:nvPr>
            <p:custDataLst>
              <p:tags r:id="rId18"/>
            </p:custDataLst>
          </p:nvPr>
        </p:nvSpPr>
        <p:spPr>
          <a:xfrm>
            <a:off x="1591310" y="577723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31" name="圆角矩形 30"/>
          <p:cNvSpPr/>
          <p:nvPr>
            <p:custDataLst>
              <p:tags r:id="rId19"/>
            </p:custDataLst>
          </p:nvPr>
        </p:nvSpPr>
        <p:spPr>
          <a:xfrm>
            <a:off x="1591310" y="3809365"/>
            <a:ext cx="2954655"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36" name="文本框 35"/>
          <p:cNvSpPr txBox="1"/>
          <p:nvPr>
            <p:custDataLst>
              <p:tags r:id="rId20"/>
            </p:custDataLst>
          </p:nvPr>
        </p:nvSpPr>
        <p:spPr>
          <a:xfrm>
            <a:off x="2456180" y="3971925"/>
            <a:ext cx="2074545"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sym typeface="+mn-ea"/>
              </a:rPr>
              <a:t>attack-</a:t>
            </a:r>
            <a:r>
              <a:rPr lang="en-US" altLang="zh-CN" b="1">
                <a:latin typeface="Comic Sans MS" panose="030F0702030302020204" charset="0"/>
                <a:cs typeface="Comic Sans MS" panose="030F0702030302020204" charset="0"/>
              </a:rPr>
              <a:t>state</a:t>
            </a:r>
            <a:endParaRPr lang="en-US" altLang="zh-CN" b="1">
              <a:latin typeface="Comic Sans MS" panose="030F0702030302020204" charset="0"/>
              <a:cs typeface="Comic Sans MS" panose="030F0702030302020204" charset="0"/>
            </a:endParaRPr>
          </a:p>
        </p:txBody>
      </p:sp>
      <p:pic>
        <p:nvPicPr>
          <p:cNvPr id="37" name="图片 36" descr="机器人"/>
          <p:cNvPicPr>
            <a:picLocks noChangeAspect="1"/>
          </p:cNvPicPr>
          <p:nvPr>
            <p:custDataLst>
              <p:tags r:id="rId21"/>
            </p:custDataLst>
          </p:nvPr>
        </p:nvPicPr>
        <p:blipFill>
          <a:blip r:embed="rId11">
            <a:extLst>
              <a:ext uri="{96DAC541-7B7A-43D3-8B79-37D633B846F1}">
                <asvg:svgBlip xmlns:asvg="http://schemas.microsoft.com/office/drawing/2016/SVG/main" r:embed="rId12"/>
              </a:ext>
            </a:extLst>
          </a:blip>
          <a:stretch>
            <a:fillRect/>
          </a:stretch>
        </p:blipFill>
        <p:spPr>
          <a:xfrm>
            <a:off x="1661160" y="3845560"/>
            <a:ext cx="708025" cy="592455"/>
          </a:xfrm>
          <a:prstGeom prst="rect">
            <a:avLst/>
          </a:prstGeom>
        </p:spPr>
      </p:pic>
      <p:pic>
        <p:nvPicPr>
          <p:cNvPr id="25" name="图片 24" descr="软件"/>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1661160" y="5813425"/>
            <a:ext cx="652780" cy="603885"/>
          </a:xfrm>
          <a:prstGeom prst="rect">
            <a:avLst/>
          </a:prstGeom>
        </p:spPr>
      </p:pic>
      <p:sp>
        <p:nvSpPr>
          <p:cNvPr id="24" name="文本框 23"/>
          <p:cNvSpPr txBox="1"/>
          <p:nvPr>
            <p:custDataLst>
              <p:tags r:id="rId25"/>
            </p:custDataLst>
          </p:nvPr>
        </p:nvSpPr>
        <p:spPr>
          <a:xfrm>
            <a:off x="2369185" y="5915660"/>
            <a:ext cx="187769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test scripts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38" name="文本框 37"/>
          <p:cNvSpPr txBox="1"/>
          <p:nvPr/>
        </p:nvSpPr>
        <p:spPr>
          <a:xfrm>
            <a:off x="2967355" y="5267325"/>
            <a:ext cx="1078230" cy="301625"/>
          </a:xfrm>
          <a:prstGeom prst="rect">
            <a:avLst/>
          </a:prstGeom>
          <a:noFill/>
        </p:spPr>
        <p:txBody>
          <a:bodyPr wrap="square" rtlCol="0" anchor="t">
            <a:noAutofit/>
          </a:bodyPr>
          <a:p>
            <a:pPr algn="l"/>
            <a:r>
              <a:rPr lang="en-US" altLang="zh-CN" sz="1400" dirty="0" err="1">
                <a:latin typeface="Comic Sans MS" panose="030F0702030302020204" charset="0"/>
                <a:ea typeface="Microsoft YaHei" panose="020B0503020204020204" charset="-122"/>
                <a:cs typeface="Comic Sans MS" panose="030F0702030302020204" charset="0"/>
                <a:sym typeface="+mn-ea"/>
              </a:rPr>
              <a:t>{.....}.py *</a:t>
            </a:r>
            <a:r>
              <a:rPr lang="en-US" altLang="zh-CN" sz="1400" dirty="0" err="1">
                <a:latin typeface="Comic Sans MS" panose="030F0702030302020204" charset="0"/>
                <a:ea typeface="Microsoft YaHei" panose="020B0503020204020204" charset="-122"/>
                <a:cs typeface="Comic Sans MS" panose="030F0702030302020204" charset="0"/>
                <a:sym typeface="+mn-ea"/>
              </a:rPr>
              <a:t>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78" name="圆角矩形 77"/>
          <p:cNvSpPr/>
          <p:nvPr>
            <p:custDataLst>
              <p:tags r:id="rId26"/>
            </p:custDataLst>
          </p:nvPr>
        </p:nvSpPr>
        <p:spPr>
          <a:xfrm>
            <a:off x="4724400" y="3088640"/>
            <a:ext cx="1889760" cy="2129155"/>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r>
              <a:rPr lang="en-US" altLang="zh-CN" sz="1400">
                <a:solidFill>
                  <a:schemeClr val="tx2"/>
                </a:solidFill>
                <a:latin typeface="Comic Sans MS" panose="030F0702030302020204" charset="0"/>
                <a:cs typeface="Comic Sans MS" panose="030F0702030302020204" charset="0"/>
              </a:rPr>
            </a:br>
            <a:endParaRPr lang="en-US" altLang="zh-CN" sz="1400">
              <a:solidFill>
                <a:schemeClr val="tx2"/>
              </a:solidFill>
              <a:latin typeface="Comic Sans MS" panose="030F0702030302020204" charset="0"/>
              <a:cs typeface="Comic Sans MS" panose="030F0702030302020204" charset="0"/>
            </a:endParaRPr>
          </a:p>
        </p:txBody>
      </p:sp>
      <p:pic>
        <p:nvPicPr>
          <p:cNvPr id="39" name="图片 38" descr="ai_picture_gb_1786506268724_hteockqc_0"/>
          <p:cNvPicPr>
            <a:picLocks noChangeAspect="1"/>
          </p:cNvPicPr>
          <p:nvPr>
            <p:custDataLst>
              <p:tags r:id="rId27"/>
            </p:custDataLst>
          </p:nvPr>
        </p:nvPicPr>
        <p:blipFill>
          <a:blip r:embed="rId28"/>
          <a:srcRect l="29593" t="21757" r="29843" b="21520"/>
          <a:stretch>
            <a:fillRect/>
          </a:stretch>
        </p:blipFill>
        <p:spPr>
          <a:xfrm>
            <a:off x="4831080" y="3190875"/>
            <a:ext cx="470535" cy="520065"/>
          </a:xfrm>
          <a:prstGeom prst="rect">
            <a:avLst/>
          </a:prstGeom>
          <a:ln w="19050">
            <a:noFill/>
          </a:ln>
        </p:spPr>
      </p:pic>
      <p:cxnSp>
        <p:nvCxnSpPr>
          <p:cNvPr id="43" name="直接箭头连接符 42"/>
          <p:cNvCxnSpPr>
            <a:stCxn id="17" idx="3"/>
            <a:endCxn id="39" idx="1"/>
          </p:cNvCxnSpPr>
          <p:nvPr/>
        </p:nvCxnSpPr>
        <p:spPr>
          <a:xfrm>
            <a:off x="4545965" y="3451225"/>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pic>
        <p:nvPicPr>
          <p:cNvPr id="44" name="图片 43" descr="ai_picture_gb_1786506268724_hteockqc_0"/>
          <p:cNvPicPr>
            <a:picLocks noChangeAspect="1"/>
          </p:cNvPicPr>
          <p:nvPr>
            <p:custDataLst>
              <p:tags r:id="rId29"/>
            </p:custDataLst>
          </p:nvPr>
        </p:nvPicPr>
        <p:blipFill>
          <a:blip r:embed="rId28"/>
          <a:srcRect l="29593" t="21757" r="29843" b="21520"/>
          <a:stretch>
            <a:fillRect/>
          </a:stretch>
        </p:blipFill>
        <p:spPr>
          <a:xfrm>
            <a:off x="4831080" y="3869690"/>
            <a:ext cx="470535" cy="520065"/>
          </a:xfrm>
          <a:prstGeom prst="rect">
            <a:avLst/>
          </a:prstGeom>
          <a:ln w="19050">
            <a:noFill/>
          </a:ln>
        </p:spPr>
      </p:pic>
      <p:cxnSp>
        <p:nvCxnSpPr>
          <p:cNvPr id="46" name="直接箭头连接符 45"/>
          <p:cNvCxnSpPr>
            <a:endCxn id="44" idx="1"/>
          </p:cNvCxnSpPr>
          <p:nvPr/>
        </p:nvCxnSpPr>
        <p:spPr>
          <a:xfrm>
            <a:off x="4545965" y="4130040"/>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pic>
        <p:nvPicPr>
          <p:cNvPr id="47" name="图片 46" descr="ai_picture_gb_1786506268724_hteockqc_0"/>
          <p:cNvPicPr>
            <a:picLocks noChangeAspect="1"/>
          </p:cNvPicPr>
          <p:nvPr>
            <p:custDataLst>
              <p:tags r:id="rId30"/>
            </p:custDataLst>
          </p:nvPr>
        </p:nvPicPr>
        <p:blipFill>
          <a:blip r:embed="rId28"/>
          <a:srcRect l="29593" t="21757" r="29843" b="21520"/>
          <a:stretch>
            <a:fillRect/>
          </a:stretch>
        </p:blipFill>
        <p:spPr>
          <a:xfrm>
            <a:off x="4831080" y="4556125"/>
            <a:ext cx="470535" cy="520065"/>
          </a:xfrm>
          <a:prstGeom prst="rect">
            <a:avLst/>
          </a:prstGeom>
          <a:ln w="19050">
            <a:noFill/>
          </a:ln>
        </p:spPr>
      </p:pic>
      <p:cxnSp>
        <p:nvCxnSpPr>
          <p:cNvPr id="48" name="直接箭头连接符 47"/>
          <p:cNvCxnSpPr>
            <a:endCxn id="47" idx="1"/>
          </p:cNvCxnSpPr>
          <p:nvPr/>
        </p:nvCxnSpPr>
        <p:spPr>
          <a:xfrm>
            <a:off x="4545965" y="4816475"/>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49" name="直接箭头连接符 48"/>
          <p:cNvCxnSpPr/>
          <p:nvPr/>
        </p:nvCxnSpPr>
        <p:spPr>
          <a:xfrm>
            <a:off x="5301615" y="3451225"/>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50" name="直接箭头连接符 49"/>
          <p:cNvCxnSpPr/>
          <p:nvPr/>
        </p:nvCxnSpPr>
        <p:spPr>
          <a:xfrm>
            <a:off x="5301615" y="4130040"/>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51" name="直接箭头连接符 50"/>
          <p:cNvCxnSpPr/>
          <p:nvPr/>
        </p:nvCxnSpPr>
        <p:spPr>
          <a:xfrm>
            <a:off x="5301615" y="4808220"/>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57" name="圆角矩形 56"/>
          <p:cNvSpPr/>
          <p:nvPr>
            <p:custDataLst>
              <p:tags r:id="rId31"/>
            </p:custDataLst>
          </p:nvPr>
        </p:nvSpPr>
        <p:spPr>
          <a:xfrm>
            <a:off x="5586730" y="3131185"/>
            <a:ext cx="907415"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olidFill>
                  <a:schemeClr val="tx2"/>
                </a:solidFill>
                <a:latin typeface="Comic Sans MS" panose="030F0702030302020204" charset="0"/>
                <a:cs typeface="Comic Sans MS" panose="030F0702030302020204" charset="0"/>
              </a:rPr>
              <a:t> scripts</a:t>
            </a:r>
            <a:endParaRPr lang="en-US" altLang="zh-CN" sz="1400">
              <a:solidFill>
                <a:schemeClr val="tx2"/>
              </a:solidFill>
              <a:latin typeface="Comic Sans MS" panose="030F0702030302020204" charset="0"/>
              <a:cs typeface="Comic Sans MS" panose="030F0702030302020204" charset="0"/>
            </a:endParaRPr>
          </a:p>
        </p:txBody>
      </p:sp>
      <p:sp>
        <p:nvSpPr>
          <p:cNvPr id="60" name="圆角矩形 59"/>
          <p:cNvSpPr/>
          <p:nvPr>
            <p:custDataLst>
              <p:tags r:id="rId32"/>
            </p:custDataLst>
          </p:nvPr>
        </p:nvSpPr>
        <p:spPr>
          <a:xfrm>
            <a:off x="5586730" y="3809365"/>
            <a:ext cx="904875"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400">
              <a:solidFill>
                <a:schemeClr val="tx2"/>
              </a:solidFill>
              <a:latin typeface="Comic Sans MS" panose="030F0702030302020204" charset="0"/>
              <a:cs typeface="Comic Sans MS" panose="030F0702030302020204" charset="0"/>
              <a:sym typeface="+mn-ea"/>
            </a:endParaRPr>
          </a:p>
          <a:p>
            <a:pPr algn="ctr"/>
            <a:r>
              <a:rPr lang="en-US" altLang="zh-CN" sz="1400">
                <a:solidFill>
                  <a:schemeClr val="tx2"/>
                </a:solidFill>
                <a:latin typeface="Comic Sans MS" panose="030F0702030302020204" charset="0"/>
                <a:cs typeface="Comic Sans MS" panose="030F0702030302020204" charset="0"/>
                <a:sym typeface="+mn-ea"/>
              </a:rPr>
              <a:t>scripts</a:t>
            </a:r>
            <a:endParaRPr lang="en-US" altLang="zh-CN" sz="1400">
              <a:solidFill>
                <a:schemeClr val="tx2"/>
              </a:solidFill>
              <a:latin typeface="Comic Sans MS" panose="030F0702030302020204" charset="0"/>
              <a:cs typeface="Comic Sans MS" panose="030F0702030302020204" charset="0"/>
            </a:endParaRPr>
          </a:p>
          <a:p>
            <a:pPr algn="ctr"/>
            <a:endParaRPr lang="en-US" altLang="zh-CN" sz="1400">
              <a:solidFill>
                <a:schemeClr val="tx2"/>
              </a:solidFill>
              <a:latin typeface="Comic Sans MS" panose="030F0702030302020204" charset="0"/>
              <a:cs typeface="Comic Sans MS" panose="030F0702030302020204" charset="0"/>
            </a:endParaRPr>
          </a:p>
        </p:txBody>
      </p:sp>
      <p:sp>
        <p:nvSpPr>
          <p:cNvPr id="61" name="圆角矩形 60"/>
          <p:cNvSpPr/>
          <p:nvPr>
            <p:custDataLst>
              <p:tags r:id="rId33"/>
            </p:custDataLst>
          </p:nvPr>
        </p:nvSpPr>
        <p:spPr>
          <a:xfrm>
            <a:off x="5586095" y="4495165"/>
            <a:ext cx="904875"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400">
              <a:solidFill>
                <a:schemeClr val="tx2"/>
              </a:solidFill>
              <a:latin typeface="Comic Sans MS" panose="030F0702030302020204" charset="0"/>
              <a:cs typeface="Comic Sans MS" panose="030F0702030302020204" charset="0"/>
              <a:sym typeface="+mn-ea"/>
            </a:endParaRPr>
          </a:p>
          <a:p>
            <a:pPr algn="ctr"/>
            <a:r>
              <a:rPr lang="en-US" altLang="zh-CN" sz="1400">
                <a:solidFill>
                  <a:schemeClr val="tx2"/>
                </a:solidFill>
                <a:latin typeface="Comic Sans MS" panose="030F0702030302020204" charset="0"/>
                <a:cs typeface="Comic Sans MS" panose="030F0702030302020204" charset="0"/>
                <a:sym typeface="+mn-ea"/>
              </a:rPr>
              <a:t>scripts</a:t>
            </a:r>
            <a:endParaRPr lang="en-US" altLang="zh-CN" sz="1400">
              <a:solidFill>
                <a:schemeClr val="tx2"/>
              </a:solidFill>
              <a:latin typeface="Comic Sans MS" panose="030F0702030302020204" charset="0"/>
              <a:cs typeface="Comic Sans MS" panose="030F0702030302020204" charset="0"/>
            </a:endParaRPr>
          </a:p>
          <a:p>
            <a:pPr algn="ctr"/>
            <a:endParaRPr lang="en-US" altLang="zh-CN" sz="1400">
              <a:solidFill>
                <a:schemeClr val="tx2"/>
              </a:solidFill>
              <a:latin typeface="Comic Sans MS" panose="030F0702030302020204" charset="0"/>
              <a:cs typeface="Comic Sans MS" panose="030F0702030302020204" charset="0"/>
            </a:endParaRPr>
          </a:p>
        </p:txBody>
      </p:sp>
      <p:sp>
        <p:nvSpPr>
          <p:cNvPr id="62" name="右大括号 61"/>
          <p:cNvSpPr/>
          <p:nvPr/>
        </p:nvSpPr>
        <p:spPr>
          <a:xfrm>
            <a:off x="6523355" y="3223260"/>
            <a:ext cx="209550" cy="1814195"/>
          </a:xfrm>
          <a:prstGeom prst="rightBrace">
            <a:avLst>
              <a:gd name="adj1" fmla="val 28484"/>
              <a:gd name="adj2" fmla="val 50542"/>
            </a:avLst>
          </a:prstGeom>
          <a:ln>
            <a:solidFill>
              <a:srgbClr val="000000"/>
            </a:solidFill>
            <a:headEnd type="none"/>
            <a:tailEnd type="none"/>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75" name="直接箭头连接符 74"/>
          <p:cNvCxnSpPr>
            <a:stCxn id="62" idx="1"/>
            <a:endCxn id="76" idx="1"/>
          </p:cNvCxnSpPr>
          <p:nvPr/>
        </p:nvCxnSpPr>
        <p:spPr>
          <a:xfrm flipV="1">
            <a:off x="6732905" y="4130675"/>
            <a:ext cx="448310" cy="9525"/>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76" name="圆角矩形 75"/>
          <p:cNvSpPr/>
          <p:nvPr>
            <p:custDataLst>
              <p:tags r:id="rId34"/>
            </p:custDataLst>
          </p:nvPr>
        </p:nvSpPr>
        <p:spPr>
          <a:xfrm>
            <a:off x="7181215" y="3223260"/>
            <a:ext cx="4015740" cy="1814195"/>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400">
                <a:solidFill>
                  <a:schemeClr val="tx2"/>
                </a:solidFill>
                <a:latin typeface="Comic Sans MS" panose="030F0702030302020204" charset="0"/>
                <a:cs typeface="Comic Sans MS" panose="030F0702030302020204" charset="0"/>
              </a:rPr>
              <a:t>Run check scripts:</a:t>
            </a:r>
            <a:br>
              <a:rPr lang="en-US" altLang="zh-CN" sz="1400">
                <a:solidFill>
                  <a:schemeClr val="tx2"/>
                </a:solidFill>
                <a:latin typeface="Comic Sans MS" panose="030F0702030302020204" charset="0"/>
                <a:cs typeface="Comic Sans MS" panose="030F0702030302020204" charset="0"/>
              </a:rPr>
            </a:br>
            <a:r>
              <a:rPr lang="en-US" altLang="zh-CN" sz="1400">
                <a:solidFill>
                  <a:schemeClr val="tx2"/>
                </a:solidFill>
                <a:latin typeface="Comic Sans MS" panose="030F0702030302020204" charset="0"/>
                <a:cs typeface="Comic Sans MS" panose="030F0702030302020204" charset="0"/>
              </a:rPr>
              <a:t>1.</a:t>
            </a:r>
            <a:r>
              <a:rPr lang="en-US" altLang="zh-CN" sz="1400" b="1">
                <a:solidFill>
                  <a:schemeClr val="tx2"/>
                </a:solidFill>
                <a:latin typeface="Comic Sans MS" panose="030F0702030302020204" charset="0"/>
                <a:cs typeface="Comic Sans MS" panose="030F0702030302020204" charset="0"/>
              </a:rPr>
              <a:t>Check syntax</a:t>
            </a:r>
            <a:r>
              <a:rPr lang="en-US" altLang="zh-CN" sz="1400">
                <a:solidFill>
                  <a:schemeClr val="tx2"/>
                </a:solidFill>
                <a:latin typeface="Comic Sans MS" panose="030F0702030302020204" charset="0"/>
                <a:cs typeface="Comic Sans MS" panose="030F0702030302020204" charset="0"/>
              </a:rPr>
              <a:t> with py_compile;</a:t>
            </a:r>
            <a:endParaRPr lang="en-US" altLang="zh-CN" sz="1400">
              <a:solidFill>
                <a:schemeClr val="tx2"/>
              </a:solidFill>
              <a:latin typeface="Comic Sans MS" panose="030F0702030302020204" charset="0"/>
              <a:cs typeface="Comic Sans MS" panose="030F0702030302020204" charset="0"/>
            </a:endParaRPr>
          </a:p>
          <a:p>
            <a:pPr algn="l"/>
            <a:r>
              <a:rPr lang="en-US" altLang="zh-CN" sz="1400">
                <a:solidFill>
                  <a:schemeClr val="tx2"/>
                </a:solidFill>
                <a:latin typeface="Comic Sans MS" panose="030F0702030302020204" charset="0"/>
                <a:cs typeface="Comic Sans MS" panose="030F0702030302020204" charset="0"/>
              </a:rPr>
              <a:t>2.</a:t>
            </a:r>
            <a:r>
              <a:rPr lang="en-US" altLang="zh-CN" sz="1400" b="1">
                <a:solidFill>
                  <a:schemeClr val="tx2"/>
                </a:solidFill>
                <a:latin typeface="Comic Sans MS" panose="030F0702030302020204" charset="0"/>
                <a:cs typeface="Comic Sans MS" panose="030F0702030302020204" charset="0"/>
              </a:rPr>
              <a:t>Check constraint_id exists</a:t>
            </a:r>
            <a:r>
              <a:rPr lang="en-US" altLang="zh-CN" sz="1400">
                <a:solidFill>
                  <a:schemeClr val="tx2"/>
                </a:solidFill>
                <a:latin typeface="Comic Sans MS" panose="030F0702030302020204" charset="0"/>
                <a:cs typeface="Comic Sans MS" panose="030F0702030302020204" charset="0"/>
              </a:rPr>
              <a:t> in structured_contract.json;</a:t>
            </a:r>
            <a:endParaRPr lang="en-US" altLang="zh-CN" sz="1400">
              <a:solidFill>
                <a:schemeClr val="tx2"/>
              </a:solidFill>
              <a:latin typeface="Comic Sans MS" panose="030F0702030302020204" charset="0"/>
              <a:cs typeface="Comic Sans MS" panose="030F0702030302020204" charset="0"/>
            </a:endParaRPr>
          </a:p>
          <a:p>
            <a:pPr algn="l"/>
            <a:r>
              <a:rPr lang="en-US" altLang="zh-CN" sz="1400">
                <a:solidFill>
                  <a:schemeClr val="tx2"/>
                </a:solidFill>
                <a:latin typeface="Comic Sans MS" panose="030F0702030302020204" charset="0"/>
                <a:cs typeface="Comic Sans MS" panose="030F0702030302020204" charset="0"/>
              </a:rPr>
              <a:t>3.</a:t>
            </a:r>
            <a:r>
              <a:rPr lang="en-US" altLang="zh-CN" sz="1400" b="1">
                <a:solidFill>
                  <a:schemeClr val="tx2"/>
                </a:solidFill>
                <a:latin typeface="Comic Sans MS" panose="030F0702030302020204" charset="0"/>
                <a:cs typeface="Comic Sans MS" panose="030F0702030302020204" charset="0"/>
              </a:rPr>
              <a:t>Check for risky patterns</a:t>
            </a:r>
            <a:r>
              <a:rPr lang="en-US" altLang="zh-CN" sz="1400">
                <a:solidFill>
                  <a:schemeClr val="tx2"/>
                </a:solidFill>
                <a:latin typeface="Comic Sans MS" panose="030F0702030302020204" charset="0"/>
                <a:cs typeface="Comic Sans MS" panose="030F0702030302020204" charset="0"/>
              </a:rPr>
              <a:t> (like lacking safe_request or “try:”);</a:t>
            </a:r>
            <a:br>
              <a:rPr lang="en-US" altLang="zh-CN" sz="1400">
                <a:solidFill>
                  <a:schemeClr val="tx2"/>
                </a:solidFill>
                <a:latin typeface="Comic Sans MS" panose="030F0702030302020204" charset="0"/>
                <a:cs typeface="Comic Sans MS" panose="030F0702030302020204" charset="0"/>
              </a:rPr>
            </a:br>
            <a:r>
              <a:rPr lang="en-US" altLang="zh-CN" sz="1400">
                <a:solidFill>
                  <a:schemeClr val="tx2"/>
                </a:solidFill>
                <a:latin typeface="Comic Sans MS" panose="030F0702030302020204" charset="0"/>
                <a:cs typeface="Comic Sans MS" panose="030F0702030302020204" charset="0"/>
              </a:rPr>
              <a:t>4.</a:t>
            </a:r>
            <a:r>
              <a:rPr lang="en-US" altLang="zh-CN" sz="1400" b="1">
                <a:solidFill>
                  <a:schemeClr val="tx2"/>
                </a:solidFill>
                <a:latin typeface="Comic Sans MS" panose="030F0702030302020204" charset="0"/>
                <a:cs typeface="Comic Sans MS" panose="030F0702030302020204" charset="0"/>
              </a:rPr>
              <a:t>Check for cross-DB contamination</a:t>
            </a:r>
            <a:r>
              <a:rPr lang="en-US" altLang="zh-CN" sz="1400">
                <a:solidFill>
                  <a:schemeClr val="tx2"/>
                </a:solidFill>
                <a:latin typeface="Comic Sans MS" panose="030F0702030302020204" charset="0"/>
                <a:cs typeface="Comic Sans MS" panose="030F0702030302020204" charset="0"/>
              </a:rPr>
              <a:t> using a signature fingerprint table;</a:t>
            </a:r>
            <a:endParaRPr lang="en-US" altLang="zh-CN" sz="1400">
              <a:solidFill>
                <a:schemeClr val="tx2"/>
              </a:solidFill>
              <a:latin typeface="Comic Sans MS" panose="030F0702030302020204" charset="0"/>
              <a:cs typeface="Comic Sans MS" panose="030F0702030302020204" charset="0"/>
            </a:endParaRPr>
          </a:p>
        </p:txBody>
      </p:sp>
      <p:cxnSp>
        <p:nvCxnSpPr>
          <p:cNvPr id="79" name="肘形连接符 78"/>
          <p:cNvCxnSpPr>
            <a:stCxn id="76" idx="0"/>
            <a:endCxn id="78" idx="0"/>
          </p:cNvCxnSpPr>
          <p:nvPr/>
        </p:nvCxnSpPr>
        <p:spPr>
          <a:xfrm rot="16200000" flipV="1">
            <a:off x="7361873" y="1396048"/>
            <a:ext cx="134620" cy="3519805"/>
          </a:xfrm>
          <a:prstGeom prst="bentConnector3">
            <a:avLst>
              <a:gd name="adj1" fmla="val 277123"/>
            </a:avLst>
          </a:prstGeom>
          <a:ln w="3175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81" name="文本框 80"/>
          <p:cNvSpPr txBox="1"/>
          <p:nvPr/>
        </p:nvSpPr>
        <p:spPr>
          <a:xfrm>
            <a:off x="7001510" y="2337435"/>
            <a:ext cx="1878965" cy="333375"/>
          </a:xfrm>
          <a:prstGeom prst="rect">
            <a:avLst/>
          </a:prstGeom>
          <a:noFill/>
        </p:spPr>
        <p:txBody>
          <a:bodyPr wrap="square" rtlCol="0">
            <a:noAutofit/>
          </a:bodyPr>
          <a:p>
            <a:r>
              <a:rPr lang="en-US" altLang="zh-CN">
                <a:latin typeface="Comic Sans MS" panose="030F0702030302020204" charset="0"/>
                <a:cs typeface="Comic Sans MS" panose="030F0702030302020204" charset="0"/>
              </a:rPr>
              <a:t>fail:regenerate</a:t>
            </a:r>
            <a:endParaRPr lang="en-US" altLang="zh-CN">
              <a:latin typeface="Comic Sans MS" panose="030F0702030302020204" charset="0"/>
              <a:cs typeface="Comic Sans MS" panose="030F0702030302020204" charset="0"/>
            </a:endParaRPr>
          </a:p>
        </p:txBody>
      </p:sp>
      <p:cxnSp>
        <p:nvCxnSpPr>
          <p:cNvPr id="83" name="肘形连接符 82"/>
          <p:cNvCxnSpPr>
            <a:stCxn id="76" idx="2"/>
            <a:endCxn id="38" idx="3"/>
          </p:cNvCxnSpPr>
          <p:nvPr/>
        </p:nvCxnSpPr>
        <p:spPr>
          <a:xfrm rot="5400000">
            <a:off x="6426835" y="2656205"/>
            <a:ext cx="381000" cy="5143500"/>
          </a:xfrm>
          <a:prstGeom prst="bentConnector2">
            <a:avLst/>
          </a:prstGeom>
          <a:ln w="3175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84" name="文本框 83"/>
          <p:cNvSpPr txBox="1"/>
          <p:nvPr/>
        </p:nvSpPr>
        <p:spPr>
          <a:xfrm>
            <a:off x="7001510" y="5568950"/>
            <a:ext cx="1878965" cy="333375"/>
          </a:xfrm>
          <a:prstGeom prst="rect">
            <a:avLst/>
          </a:prstGeom>
          <a:noFill/>
        </p:spPr>
        <p:txBody>
          <a:bodyPr wrap="square" rtlCol="0">
            <a:noAutofit/>
          </a:bodyPr>
          <a:p>
            <a:r>
              <a:rPr lang="en-US" altLang="zh-CN">
                <a:latin typeface="Comic Sans MS" panose="030F0702030302020204" charset="0"/>
                <a:cs typeface="Comic Sans MS" panose="030F0702030302020204" charset="0"/>
              </a:rPr>
              <a:t>pass:output</a:t>
            </a:r>
            <a:endParaRPr lang="en-US" altLang="zh-CN">
              <a:latin typeface="Comic Sans MS" panose="030F0702030302020204" charset="0"/>
              <a:cs typeface="Comic Sans MS" panose="030F0702030302020204" charset="0"/>
            </a:endParaRPr>
          </a:p>
        </p:txBody>
      </p:sp>
      <p:pic>
        <p:nvPicPr>
          <p:cNvPr id="85" name="图片 84" descr="齿轮"/>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0527030" y="3360420"/>
            <a:ext cx="473710" cy="47371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bldLvl="0" animBg="1"/>
      <p:bldP spid="57" grpId="0" bldLvl="0" animBg="1"/>
      <p:bldP spid="60" grpId="0" bldLvl="0" animBg="1"/>
      <p:bldP spid="61" grpId="0" bldLvl="0" animBg="1"/>
      <p:bldP spid="62" grpId="0" bldLvl="0" animBg="1"/>
      <p:bldP spid="76" grpId="0" bldLvl="0" animBg="1"/>
      <p:bldP spid="81" grpId="0"/>
      <p:bldP spid="8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99515"/>
            <a:ext cx="10852150" cy="764540"/>
          </a:xfrm>
        </p:spPr>
        <p:txBody>
          <a:bodyPr>
            <a:normAutofit lnSpcReduction="20000"/>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2:</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We generate executable test scripts from the structured contract</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Test Script Generation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nvPr>
        </p:nvSpPr>
        <p:spPr>
          <a:xfrm>
            <a:off x="9546590" y="6198870"/>
            <a:ext cx="1934845" cy="265430"/>
          </a:xfrm>
        </p:spPr>
        <p:txBody>
          <a:bodyPr/>
          <a:lstStyle/>
          <a:p>
            <a:fld id="{E09368C2-8BE5-4C19-86FB-98954A39BC6E}" type="slidenum">
              <a:rPr lang="zh-CN" altLang="en-US" smtClean="0"/>
            </a:fld>
            <a:endParaRPr lang="zh-CN" altLang="en-US"/>
          </a:p>
        </p:txBody>
      </p:sp>
      <p:sp>
        <p:nvSpPr>
          <p:cNvPr id="52" name="流程图: 过程 51"/>
          <p:cNvSpPr/>
          <p:nvPr/>
        </p:nvSpPr>
        <p:spPr>
          <a:xfrm>
            <a:off x="3187700" y="2077085"/>
            <a:ext cx="8613140" cy="3308985"/>
          </a:xfrm>
          <a:prstGeom prst="flowChartProcess">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文本框 58"/>
          <p:cNvSpPr txBox="1"/>
          <p:nvPr/>
        </p:nvSpPr>
        <p:spPr>
          <a:xfrm>
            <a:off x="1137920" y="4022090"/>
            <a:ext cx="2159000" cy="30162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18" name="文本框 17"/>
          <p:cNvSpPr txBox="1"/>
          <p:nvPr>
            <p:custDataLst>
              <p:tags r:id="rId2"/>
            </p:custDataLst>
          </p:nvPr>
        </p:nvSpPr>
        <p:spPr>
          <a:xfrm>
            <a:off x="3630295" y="2621915"/>
            <a:ext cx="2381885" cy="47879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attack agents</a:t>
            </a:r>
            <a:r>
              <a:rPr lang="zh-CN" altLang="en-US" b="1">
                <a:latin typeface="Comic Sans MS" panose="030F0702030302020204" charset="0"/>
                <a:cs typeface="Comic Sans MS" panose="030F0702030302020204" charset="0"/>
              </a:rPr>
              <a:t>（</a:t>
            </a:r>
            <a:r>
              <a:rPr lang="en-US" altLang="zh-CN" b="1">
                <a:latin typeface="Comic Sans MS" panose="030F0702030302020204" charset="0"/>
                <a:cs typeface="Comic Sans MS" panose="030F0702030302020204" charset="0"/>
                <a:sym typeface="+mn-ea"/>
              </a:rPr>
              <a:t>boundary</a:t>
            </a:r>
            <a:r>
              <a:rPr lang="zh-CN" altLang="en-US" b="1">
                <a:latin typeface="Comic Sans MS" panose="030F0702030302020204" charset="0"/>
                <a:cs typeface="Comic Sans MS" panose="030F0702030302020204" charset="0"/>
                <a:sym typeface="+mn-ea"/>
              </a:rPr>
              <a:t>、</a:t>
            </a:r>
            <a:r>
              <a:rPr lang="en-US" altLang="zh-CN" b="1">
                <a:latin typeface="Comic Sans MS" panose="030F0702030302020204" charset="0"/>
                <a:cs typeface="Comic Sans MS" panose="030F0702030302020204" charset="0"/>
                <a:sym typeface="+mn-ea"/>
              </a:rPr>
              <a:t>state</a:t>
            </a:r>
            <a:r>
              <a:rPr lang="zh-CN" altLang="en-US" b="1">
                <a:latin typeface="Comic Sans MS" panose="030F0702030302020204" charset="0"/>
                <a:cs typeface="Comic Sans MS" panose="030F0702030302020204" charset="0"/>
                <a:sym typeface="+mn-ea"/>
              </a:rPr>
              <a:t>、</a:t>
            </a:r>
            <a:r>
              <a:rPr lang="en-US" altLang="zh-CN" b="1">
                <a:latin typeface="Comic Sans MS" panose="030F0702030302020204" charset="0"/>
                <a:cs typeface="Comic Sans MS" panose="030F0702030302020204" charset="0"/>
                <a:sym typeface="+mn-ea"/>
              </a:rPr>
              <a:t>semantic</a:t>
            </a:r>
            <a:r>
              <a:rPr lang="zh-CN" altLang="en-US" b="1">
                <a:latin typeface="Comic Sans MS" panose="030F0702030302020204" charset="0"/>
                <a:cs typeface="Comic Sans MS" panose="030F0702030302020204" charset="0"/>
              </a:rPr>
              <a:t>）</a:t>
            </a:r>
            <a:endParaRPr lang="zh-CN" altLang="en-US" b="1">
              <a:latin typeface="Comic Sans MS" panose="030F0702030302020204" charset="0"/>
              <a:cs typeface="Comic Sans MS" panose="030F0702030302020204" charset="0"/>
            </a:endParaRPr>
          </a:p>
        </p:txBody>
      </p:sp>
      <p:sp>
        <p:nvSpPr>
          <p:cNvPr id="35" name="下箭头 34"/>
          <p:cNvSpPr/>
          <p:nvPr>
            <p:custDataLst>
              <p:tags r:id="rId3"/>
            </p:custDataLst>
          </p:nvPr>
        </p:nvSpPr>
        <p:spPr>
          <a:xfrm>
            <a:off x="9398635" y="5386070"/>
            <a:ext cx="378460" cy="44577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圆角矩形 27"/>
          <p:cNvSpPr/>
          <p:nvPr>
            <p:custDataLst>
              <p:tags r:id="rId4"/>
            </p:custDataLst>
          </p:nvPr>
        </p:nvSpPr>
        <p:spPr>
          <a:xfrm>
            <a:off x="8360410" y="5838825"/>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25" name="图片 24" descr="软件"/>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430260" y="5875020"/>
            <a:ext cx="652780" cy="603885"/>
          </a:xfrm>
          <a:prstGeom prst="rect">
            <a:avLst/>
          </a:prstGeom>
        </p:spPr>
      </p:pic>
      <p:sp>
        <p:nvSpPr>
          <p:cNvPr id="24" name="文本框 23"/>
          <p:cNvSpPr txBox="1"/>
          <p:nvPr>
            <p:custDataLst>
              <p:tags r:id="rId8"/>
            </p:custDataLst>
          </p:nvPr>
        </p:nvSpPr>
        <p:spPr>
          <a:xfrm>
            <a:off x="9138285" y="5977255"/>
            <a:ext cx="187769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test scripts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2" name="图片 1" descr="ai_picture_gb_1786506268724_hteockqc_0"/>
          <p:cNvPicPr>
            <a:picLocks noChangeAspect="1"/>
          </p:cNvPicPr>
          <p:nvPr>
            <p:custDataLst>
              <p:tags r:id="rId9"/>
            </p:custDataLst>
          </p:nvPr>
        </p:nvPicPr>
        <p:blipFill>
          <a:blip r:embed="rId10"/>
          <a:srcRect l="29593" t="21757" r="29843" b="21520"/>
          <a:stretch>
            <a:fillRect/>
          </a:stretch>
        </p:blipFill>
        <p:spPr>
          <a:xfrm>
            <a:off x="3296920" y="2132330"/>
            <a:ext cx="654685" cy="723900"/>
          </a:xfrm>
          <a:prstGeom prst="rect">
            <a:avLst/>
          </a:prstGeom>
          <a:ln w="19050">
            <a:noFill/>
          </a:ln>
        </p:spPr>
      </p:pic>
      <p:sp>
        <p:nvSpPr>
          <p:cNvPr id="3" name="文本框 2"/>
          <p:cNvSpPr txBox="1"/>
          <p:nvPr/>
        </p:nvSpPr>
        <p:spPr>
          <a:xfrm>
            <a:off x="9818370" y="5433695"/>
            <a:ext cx="1078230" cy="301625"/>
          </a:xfrm>
          <a:prstGeom prst="rect">
            <a:avLst/>
          </a:prstGeom>
          <a:noFill/>
        </p:spPr>
        <p:txBody>
          <a:bodyPr wrap="square" rtlCol="0" anchor="t">
            <a:noAutofit/>
          </a:bodyPr>
          <a:p>
            <a:pPr algn="l"/>
            <a:r>
              <a:rPr lang="en-US" altLang="zh-CN" sz="1400" dirty="0" err="1">
                <a:latin typeface="Comic Sans MS" panose="030F0702030302020204" charset="0"/>
                <a:ea typeface="Microsoft YaHei" panose="020B0503020204020204" charset="-122"/>
                <a:cs typeface="Comic Sans MS" panose="030F0702030302020204" charset="0"/>
                <a:sym typeface="+mn-ea"/>
              </a:rPr>
              <a:t>{.....}.py *</a:t>
            </a:r>
            <a:r>
              <a:rPr lang="en-US" altLang="zh-CN" sz="1400" dirty="0" err="1">
                <a:latin typeface="Comic Sans MS" panose="030F0702030302020204" charset="0"/>
                <a:ea typeface="Microsoft YaHei" panose="020B0503020204020204" charset="-122"/>
                <a:cs typeface="Comic Sans MS" panose="030F0702030302020204" charset="0"/>
                <a:sym typeface="+mn-ea"/>
              </a:rPr>
              <a:t>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13" name="圆角矩形 12"/>
          <p:cNvSpPr/>
          <p:nvPr>
            <p:custDataLst>
              <p:tags r:id="rId11"/>
            </p:custDataLst>
          </p:nvPr>
        </p:nvSpPr>
        <p:spPr>
          <a:xfrm>
            <a:off x="140335" y="248666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6" name="文本框 5"/>
          <p:cNvSpPr txBox="1"/>
          <p:nvPr>
            <p:custDataLst>
              <p:tags r:id="rId12"/>
            </p:custDataLst>
          </p:nvPr>
        </p:nvSpPr>
        <p:spPr>
          <a:xfrm>
            <a:off x="783590" y="2580005"/>
            <a:ext cx="2096135" cy="45466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a:latin typeface="Comic Sans MS" panose="030F0702030302020204" charset="0"/>
              <a:cs typeface="Comic Sans MS" panose="030F0702030302020204" charset="0"/>
            </a:endParaRPr>
          </a:p>
        </p:txBody>
      </p:sp>
      <p:pic>
        <p:nvPicPr>
          <p:cNvPr id="10" name="图片 9" descr="代码文件"/>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210185" y="2505075"/>
            <a:ext cx="699770" cy="603885"/>
          </a:xfrm>
          <a:prstGeom prst="rect">
            <a:avLst/>
          </a:prstGeom>
        </p:spPr>
      </p:pic>
      <p:sp>
        <p:nvSpPr>
          <p:cNvPr id="7" name="直角上箭头 6"/>
          <p:cNvSpPr/>
          <p:nvPr/>
        </p:nvSpPr>
        <p:spPr>
          <a:xfrm rot="5400000">
            <a:off x="1566545" y="2472055"/>
            <a:ext cx="966470" cy="2277110"/>
          </a:xfrm>
          <a:prstGeom prst="bentUpArrow">
            <a:avLst>
              <a:gd name="adj1" fmla="val 31675"/>
              <a:gd name="adj2" fmla="val 25000"/>
              <a:gd name="adj3" fmla="val 25000"/>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下箭头 7"/>
          <p:cNvSpPr/>
          <p:nvPr>
            <p:custDataLst>
              <p:tags r:id="rId16"/>
            </p:custDataLst>
          </p:nvPr>
        </p:nvSpPr>
        <p:spPr>
          <a:xfrm rot="16200000">
            <a:off x="2483485" y="4463415"/>
            <a:ext cx="471805" cy="93789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2200275" y="5095240"/>
            <a:ext cx="1261745" cy="355600"/>
          </a:xfrm>
          <a:prstGeom prst="rect">
            <a:avLst/>
          </a:prstGeom>
        </p:spPr>
        <p:txBody>
          <a:bodyPr>
            <a:noAutofit/>
          </a:bodyPr>
          <a:p>
            <a:r>
              <a:rPr lang="en-US" altLang="zh-CN" sz="1600">
                <a:latin typeface="Comic Sans MS" panose="030F0702030302020204" charset="0"/>
                <a:cs typeface="Comic Sans MS" panose="030F0702030302020204" charset="0"/>
              </a:rPr>
              <a:t>chunk_id</a:t>
            </a:r>
            <a:endParaRPr lang="en-US" altLang="zh-CN" sz="1600">
              <a:latin typeface="Comic Sans MS" panose="030F0702030302020204" charset="0"/>
              <a:cs typeface="Comic Sans MS" panose="030F0702030302020204" charset="0"/>
            </a:endParaRPr>
          </a:p>
        </p:txBody>
      </p:sp>
      <p:sp>
        <p:nvSpPr>
          <p:cNvPr id="20" name="下箭头 19"/>
          <p:cNvSpPr/>
          <p:nvPr>
            <p:custDataLst>
              <p:tags r:id="rId17"/>
            </p:custDataLst>
          </p:nvPr>
        </p:nvSpPr>
        <p:spPr>
          <a:xfrm>
            <a:off x="766445" y="3126740"/>
            <a:ext cx="592455" cy="154432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圆角矩形 28"/>
          <p:cNvSpPr/>
          <p:nvPr>
            <p:custDataLst>
              <p:tags r:id="rId18"/>
            </p:custDataLst>
          </p:nvPr>
        </p:nvSpPr>
        <p:spPr>
          <a:xfrm>
            <a:off x="137795" y="4671060"/>
            <a:ext cx="211201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40" name="文本框 39"/>
          <p:cNvSpPr txBox="1"/>
          <p:nvPr>
            <p:custDataLst>
              <p:tags r:id="rId19"/>
            </p:custDataLst>
          </p:nvPr>
        </p:nvSpPr>
        <p:spPr>
          <a:xfrm>
            <a:off x="44450" y="4809490"/>
            <a:ext cx="2205990"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claims </a:t>
            </a:r>
            <a:r>
              <a:rPr lang="en-US" altLang="zh-CN" b="1" dirty="0" err="1">
                <a:latin typeface="Comic Sans MS" panose="030F0702030302020204" charset="0"/>
                <a:ea typeface="Microsoft YaHei" panose="020B0503020204020204" charset="-122"/>
                <a:cs typeface="Comic Sans MS" panose="030F0702030302020204" charset="0"/>
                <a:sym typeface="+mn-ea"/>
              </a:rPr>
              <a:t>chunking*</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41" name="图片 40" descr="齿轮"/>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980565" y="4472305"/>
            <a:ext cx="473710" cy="473710"/>
          </a:xfrm>
          <a:prstGeom prst="rect">
            <a:avLst/>
          </a:prstGeom>
        </p:spPr>
      </p:pic>
      <p:sp>
        <p:nvSpPr>
          <p:cNvPr id="42" name="圆角矩形 41"/>
          <p:cNvSpPr/>
          <p:nvPr>
            <p:custDataLst>
              <p:tags r:id="rId22"/>
            </p:custDataLst>
          </p:nvPr>
        </p:nvSpPr>
        <p:spPr>
          <a:xfrm>
            <a:off x="3272790" y="3723005"/>
            <a:ext cx="2613660" cy="1322705"/>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r>
              <a:rPr lang="en-US" altLang="zh-CN" sz="1400">
                <a:solidFill>
                  <a:schemeClr val="tx2"/>
                </a:solidFill>
                <a:latin typeface="Comic Sans MS" panose="030F0702030302020204" charset="0"/>
                <a:cs typeface="Comic Sans MS" panose="030F0702030302020204" charset="0"/>
              </a:rPr>
            </a:br>
            <a:endParaRPr lang="en-US" altLang="zh-CN" sz="1400">
              <a:solidFill>
                <a:schemeClr val="tx2"/>
              </a:solidFill>
              <a:latin typeface="Comic Sans MS" panose="030F0702030302020204" charset="0"/>
              <a:cs typeface="Comic Sans MS" panose="030F0702030302020204" charset="0"/>
            </a:endParaRPr>
          </a:p>
        </p:txBody>
      </p:sp>
      <p:sp>
        <p:nvSpPr>
          <p:cNvPr id="45" name="文本框 44"/>
          <p:cNvSpPr txBox="1"/>
          <p:nvPr/>
        </p:nvSpPr>
        <p:spPr>
          <a:xfrm>
            <a:off x="3272790" y="3878580"/>
            <a:ext cx="2654935" cy="1307465"/>
          </a:xfrm>
          <a:prstGeom prst="rect">
            <a:avLst/>
          </a:prstGeom>
          <a:noFill/>
        </p:spPr>
        <p:txBody>
          <a:bodyPr wrap="square" rtlCol="0">
            <a:noAutofit/>
          </a:bodyPr>
          <a:p>
            <a:pPr>
              <a:lnSpc>
                <a:spcPct val="100000"/>
              </a:lnSpc>
            </a:pPr>
            <a:r>
              <a:rPr lang="en-US" altLang="zh-CN" b="1">
                <a:solidFill>
                  <a:schemeClr val="tx2"/>
                </a:solidFill>
                <a:latin typeface="Comic Sans MS" panose="030F0702030302020204" charset="0"/>
                <a:cs typeface="Comic Sans MS" panose="030F0702030302020204" charset="0"/>
              </a:rPr>
              <a:t>1.Read</a:t>
            </a:r>
            <a:r>
              <a:rPr lang="en-US" altLang="zh-CN">
                <a:solidFill>
                  <a:schemeClr val="tx2"/>
                </a:solidFill>
                <a:latin typeface="Comic Sans MS" panose="030F0702030302020204" charset="0"/>
                <a:cs typeface="Comic Sans MS" panose="030F0702030302020204" charset="0"/>
              </a:rPr>
              <a:t> </a:t>
            </a:r>
            <a:r>
              <a:rPr lang="en-US" altLang="zh-CN">
                <a:solidFill>
                  <a:schemeClr val="tx2"/>
                </a:solidFill>
                <a:highlight>
                  <a:srgbClr val="C0C0C0"/>
                </a:highlight>
                <a:latin typeface="Comic Sans MS" panose="030F0702030302020204" charset="0"/>
                <a:cs typeface="Comic Sans MS" panose="030F0702030302020204" charset="0"/>
              </a:rPr>
              <a:t>structured_claims.json</a:t>
            </a:r>
            <a:r>
              <a:rPr lang="en-US" altLang="zh-CN">
                <a:solidFill>
                  <a:schemeClr val="tx2"/>
                </a:solidFill>
                <a:latin typeface="Comic Sans MS" panose="030F0702030302020204" charset="0"/>
                <a:cs typeface="Comic Sans MS" panose="030F0702030302020204" charset="0"/>
              </a:rPr>
              <a:t> by </a:t>
            </a:r>
            <a:r>
              <a:rPr lang="en-US" altLang="zh-CN">
                <a:solidFill>
                  <a:schemeClr val="tx2"/>
                </a:solidFill>
                <a:highlight>
                  <a:srgbClr val="C0C0C0"/>
                </a:highlight>
                <a:latin typeface="Comic Sans MS" panose="030F0702030302020204" charset="0"/>
                <a:cs typeface="Comic Sans MS" panose="030F0702030302020204" charset="0"/>
              </a:rPr>
              <a:t>chunk_id</a:t>
            </a:r>
            <a:endParaRPr lang="en-US" altLang="zh-CN">
              <a:solidFill>
                <a:schemeClr val="tx2"/>
              </a:solidFill>
              <a:highlight>
                <a:srgbClr val="C0C0C0"/>
              </a:highlight>
              <a:latin typeface="Comic Sans MS" panose="030F0702030302020204" charset="0"/>
              <a:cs typeface="Comic Sans MS" panose="030F0702030302020204" charset="0"/>
            </a:endParaRPr>
          </a:p>
        </p:txBody>
      </p:sp>
      <p:sp>
        <p:nvSpPr>
          <p:cNvPr id="53" name="文本框 52"/>
          <p:cNvSpPr txBox="1"/>
          <p:nvPr/>
        </p:nvSpPr>
        <p:spPr>
          <a:xfrm>
            <a:off x="137795" y="6381750"/>
            <a:ext cx="8157210" cy="337185"/>
          </a:xfrm>
          <a:prstGeom prst="rect">
            <a:avLst/>
          </a:prstGeom>
          <a:noFill/>
        </p:spPr>
        <p:txBody>
          <a:bodyPr wrap="square" rtlCol="0">
            <a:spAutoFit/>
          </a:bodyPr>
          <a:p>
            <a:r>
              <a:rPr lang="en-US" altLang="zh-CN" sz="1600">
                <a:latin typeface="Comic Sans MS" panose="030F0702030302020204" charset="0"/>
                <a:cs typeface="Comic Sans MS" panose="030F0702030302020204" charset="0"/>
              </a:rPr>
              <a:t>* </a:t>
            </a:r>
            <a:r>
              <a:rPr lang="zh-CN" altLang="en-US" sz="1600">
                <a:latin typeface="Comic Sans MS" panose="030F0702030302020204" charset="0"/>
                <a:cs typeface="Comic Sans MS" panose="030F0702030302020204" charset="0"/>
              </a:rPr>
              <a:t>：</a:t>
            </a:r>
            <a:r>
              <a:rPr lang="en-US" altLang="zh-CN" sz="1600">
                <a:latin typeface="Comic Sans MS" panose="030F0702030302020204" charset="0"/>
                <a:cs typeface="Comic Sans MS" panose="030F0702030302020204" charset="0"/>
              </a:rPr>
              <a:t>Chunking is based on API endpoints and is done by specialized scripts.</a:t>
            </a:r>
            <a:endParaRPr lang="en-US" altLang="zh-CN" sz="1600">
              <a:latin typeface="Comic Sans MS" panose="030F0702030302020204" charset="0"/>
              <a:cs typeface="Comic Sans MS" panose="030F0702030302020204" charset="0"/>
            </a:endParaRPr>
          </a:p>
        </p:txBody>
      </p:sp>
      <p:sp>
        <p:nvSpPr>
          <p:cNvPr id="55" name="圆角矩形 54"/>
          <p:cNvSpPr/>
          <p:nvPr>
            <p:custDataLst>
              <p:tags r:id="rId23"/>
            </p:custDataLst>
          </p:nvPr>
        </p:nvSpPr>
        <p:spPr>
          <a:xfrm>
            <a:off x="6110605" y="2136140"/>
            <a:ext cx="2607945" cy="290957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r>
              <a:rPr lang="en-US" altLang="zh-CN" sz="1400">
                <a:solidFill>
                  <a:schemeClr val="tx2"/>
                </a:solidFill>
                <a:latin typeface="Comic Sans MS" panose="030F0702030302020204" charset="0"/>
                <a:cs typeface="Comic Sans MS" panose="030F0702030302020204" charset="0"/>
              </a:rPr>
            </a:br>
            <a:endParaRPr lang="en-US" altLang="zh-CN" sz="1400">
              <a:solidFill>
                <a:schemeClr val="tx2"/>
              </a:solidFill>
              <a:latin typeface="Comic Sans MS" panose="030F0702030302020204" charset="0"/>
              <a:cs typeface="Comic Sans MS" panose="030F0702030302020204" charset="0"/>
            </a:endParaRPr>
          </a:p>
        </p:txBody>
      </p:sp>
      <p:sp>
        <p:nvSpPr>
          <p:cNvPr id="56" name="文本框 55"/>
          <p:cNvSpPr txBox="1"/>
          <p:nvPr/>
        </p:nvSpPr>
        <p:spPr>
          <a:xfrm>
            <a:off x="6188075" y="2164715"/>
            <a:ext cx="2453640" cy="2426970"/>
          </a:xfrm>
          <a:prstGeom prst="rect">
            <a:avLst/>
          </a:prstGeom>
          <a:noFill/>
        </p:spPr>
        <p:txBody>
          <a:bodyPr wrap="square" rtlCol="0">
            <a:noAutofit/>
          </a:bodyPr>
          <a:p>
            <a:pPr>
              <a:lnSpc>
                <a:spcPct val="100000"/>
              </a:lnSpc>
            </a:pPr>
            <a:r>
              <a:rPr lang="en-US" altLang="zh-CN" b="1">
                <a:solidFill>
                  <a:schemeClr val="tx2"/>
                </a:solidFill>
                <a:latin typeface="Comic Sans MS" panose="030F0702030302020204" charset="0"/>
                <a:cs typeface="Comic Sans MS" panose="030F0702030302020204" charset="0"/>
              </a:rPr>
              <a:t>2.</a:t>
            </a:r>
            <a:r>
              <a:rPr lang="en-US" altLang="zh-CN" b="1">
                <a:solidFill>
                  <a:schemeClr val="tx2"/>
                </a:solidFill>
                <a:latin typeface="Comic Sans MS" panose="030F0702030302020204" charset="0"/>
                <a:cs typeface="Comic Sans MS" panose="030F0702030302020204" charset="0"/>
              </a:rPr>
              <a:t>Determine coverage targets</a:t>
            </a:r>
            <a:endParaRPr lang="en-US" altLang="zh-CN">
              <a:solidFill>
                <a:schemeClr val="tx2"/>
              </a:solidFill>
              <a:latin typeface="Comic Sans MS" panose="030F0702030302020204" charset="0"/>
              <a:cs typeface="Comic Sans MS" panose="030F0702030302020204" charset="0"/>
            </a:endParaRPr>
          </a:p>
          <a:p>
            <a:pPr>
              <a:lnSpc>
                <a:spcPct val="100000"/>
              </a:lnSpc>
            </a:pPr>
            <a:endParaRPr lang="en-US" altLang="zh-CN">
              <a:solidFill>
                <a:schemeClr val="tx2"/>
              </a:solidFill>
              <a:latin typeface="Comic Sans MS" panose="030F0702030302020204" charset="0"/>
              <a:cs typeface="Comic Sans MS" panose="030F0702030302020204" charset="0"/>
            </a:endParaRPr>
          </a:p>
          <a:p>
            <a:pPr>
              <a:lnSpc>
                <a:spcPct val="100000"/>
              </a:lnSpc>
            </a:pPr>
            <a:r>
              <a:rPr lang="en-US" altLang="zh-CN">
                <a:solidFill>
                  <a:schemeClr val="tx2"/>
                </a:solidFill>
                <a:latin typeface="Comic Sans MS" panose="030F0702030302020204" charset="0"/>
                <a:cs typeface="Comic Sans MS" panose="030F0702030302020204" charset="0"/>
              </a:rPr>
              <a:t> For </a:t>
            </a:r>
            <a:r>
              <a:rPr lang="en-US" altLang="zh-CN">
                <a:solidFill>
                  <a:schemeClr val="tx2"/>
                </a:solidFill>
                <a:highlight>
                  <a:srgbClr val="C0C0C0"/>
                </a:highlight>
                <a:latin typeface="Comic Sans MS" panose="030F0702030302020204" charset="0"/>
                <a:cs typeface="Comic Sans MS" panose="030F0702030302020204" charset="0"/>
              </a:rPr>
              <a:t>every constraint</a:t>
            </a:r>
            <a:r>
              <a:rPr lang="en-US" altLang="zh-CN">
                <a:solidFill>
                  <a:schemeClr val="tx2"/>
                </a:solidFill>
                <a:latin typeface="Comic Sans MS" panose="030F0702030302020204" charset="0"/>
                <a:cs typeface="Comic Sans MS" panose="030F0702030302020204" charset="0"/>
              </a:rPr>
              <a:t> in the current chunk</a:t>
            </a:r>
            <a:r>
              <a:rPr lang="zh-CN" altLang="en-US">
                <a:solidFill>
                  <a:schemeClr val="tx2"/>
                </a:solidFill>
                <a:latin typeface="Comic Sans MS" panose="030F0702030302020204" charset="0"/>
                <a:cs typeface="Comic Sans MS" panose="030F0702030302020204" charset="0"/>
              </a:rPr>
              <a:t>：</a:t>
            </a:r>
            <a:r>
              <a:rPr lang="en-US" altLang="zh-CN">
                <a:solidFill>
                  <a:schemeClr val="tx2"/>
                </a:solidFill>
                <a:latin typeface="Comic Sans MS" panose="030F0702030302020204" charset="0"/>
                <a:cs typeface="Comic Sans MS" panose="030F0702030302020204" charset="0"/>
              </a:rPr>
              <a:t>   </a:t>
            </a:r>
            <a:endParaRPr lang="en-US" altLang="zh-CN">
              <a:solidFill>
                <a:schemeClr val="tx2"/>
              </a:solidFill>
              <a:latin typeface="Comic Sans MS" panose="030F0702030302020204" charset="0"/>
              <a:cs typeface="Comic Sans MS" panose="030F0702030302020204" charset="0"/>
            </a:endParaRPr>
          </a:p>
          <a:p>
            <a:pPr>
              <a:lnSpc>
                <a:spcPct val="100000"/>
              </a:lnSpc>
            </a:pPr>
            <a:r>
              <a:rPr lang="en-US" altLang="zh-CN">
                <a:solidFill>
                  <a:schemeClr val="tx2"/>
                </a:solidFill>
                <a:latin typeface="Comic Sans MS" panose="030F0702030302020204" charset="0"/>
                <a:cs typeface="Comic Sans MS" panose="030F0702030302020204" charset="0"/>
              </a:rPr>
              <a:t>    </a:t>
            </a:r>
            <a:r>
              <a:rPr lang="en-US" altLang="zh-CN">
                <a:solidFill>
                  <a:schemeClr val="tx2"/>
                </a:solidFill>
                <a:highlight>
                  <a:srgbClr val="C0C0C0"/>
                </a:highlight>
                <a:latin typeface="Comic Sans MS" panose="030F0702030302020204" charset="0"/>
                <a:cs typeface="Comic Sans MS" panose="030F0702030302020204" charset="0"/>
              </a:rPr>
              <a:t>enumerate all applicable </a:t>
            </a:r>
            <a:r>
              <a:rPr lang="en-US" altLang="zh-CN">
                <a:solidFill>
                  <a:schemeClr val="tx2"/>
                </a:solidFill>
                <a:highlight>
                  <a:srgbClr val="C0C0C0"/>
                </a:highlight>
                <a:latin typeface="Comic Sans MS" panose="030F0702030302020204" charset="0"/>
                <a:cs typeface="Comic Sans MS" panose="030F0702030302020204" charset="0"/>
                <a:sym typeface="+mn-ea"/>
              </a:rPr>
              <a:t>pairs</a:t>
            </a:r>
            <a:r>
              <a:rPr lang="en-US" altLang="zh-CN">
                <a:solidFill>
                  <a:schemeClr val="tx2"/>
                </a:solidFill>
                <a:latin typeface="Comic Sans MS" panose="030F0702030302020204" charset="0"/>
                <a:cs typeface="Comic Sans MS" panose="030F0702030302020204" charset="0"/>
              </a:rPr>
              <a:t> (strategy, constraint)  </a:t>
            </a:r>
            <a:endParaRPr lang="en-US" altLang="zh-CN">
              <a:solidFill>
                <a:schemeClr val="tx2"/>
              </a:solidFill>
              <a:latin typeface="Comic Sans MS" panose="030F0702030302020204" charset="0"/>
              <a:cs typeface="Comic Sans MS" panose="030F0702030302020204" charset="0"/>
            </a:endParaRPr>
          </a:p>
        </p:txBody>
      </p:sp>
      <p:cxnSp>
        <p:nvCxnSpPr>
          <p:cNvPr id="58" name="直接箭头连接符 57"/>
          <p:cNvCxnSpPr/>
          <p:nvPr/>
        </p:nvCxnSpPr>
        <p:spPr>
          <a:xfrm>
            <a:off x="5885815" y="4312285"/>
            <a:ext cx="210820" cy="11430"/>
          </a:xfrm>
          <a:prstGeom prst="straightConnector1">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63" name="直接箭头连接符 62"/>
          <p:cNvCxnSpPr/>
          <p:nvPr/>
        </p:nvCxnSpPr>
        <p:spPr>
          <a:xfrm>
            <a:off x="8732520" y="3034665"/>
            <a:ext cx="391795" cy="1270"/>
          </a:xfrm>
          <a:prstGeom prst="straightConnector1">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64" name="圆角矩形 63"/>
          <p:cNvSpPr/>
          <p:nvPr>
            <p:custDataLst>
              <p:tags r:id="rId24"/>
            </p:custDataLst>
          </p:nvPr>
        </p:nvSpPr>
        <p:spPr>
          <a:xfrm>
            <a:off x="9138285" y="2135505"/>
            <a:ext cx="2607945" cy="211201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r>
              <a:rPr lang="en-US" altLang="zh-CN" sz="1400">
                <a:solidFill>
                  <a:schemeClr val="tx2"/>
                </a:solidFill>
                <a:latin typeface="Comic Sans MS" panose="030F0702030302020204" charset="0"/>
                <a:cs typeface="Comic Sans MS" panose="030F0702030302020204" charset="0"/>
              </a:rPr>
            </a:br>
            <a:endParaRPr lang="en-US" altLang="zh-CN" sz="1400">
              <a:solidFill>
                <a:schemeClr val="tx2"/>
              </a:solidFill>
              <a:latin typeface="Comic Sans MS" panose="030F0702030302020204" charset="0"/>
              <a:cs typeface="Comic Sans MS" panose="030F0702030302020204" charset="0"/>
            </a:endParaRPr>
          </a:p>
        </p:txBody>
      </p:sp>
      <p:sp>
        <p:nvSpPr>
          <p:cNvPr id="65" name="文本框 64"/>
          <p:cNvSpPr txBox="1"/>
          <p:nvPr/>
        </p:nvSpPr>
        <p:spPr>
          <a:xfrm>
            <a:off x="9212580" y="2176145"/>
            <a:ext cx="2459355" cy="1966595"/>
          </a:xfrm>
          <a:prstGeom prst="rect">
            <a:avLst/>
          </a:prstGeom>
          <a:noFill/>
        </p:spPr>
        <p:txBody>
          <a:bodyPr wrap="square" rtlCol="0">
            <a:noAutofit/>
          </a:bodyPr>
          <a:p>
            <a:pPr>
              <a:lnSpc>
                <a:spcPct val="100000"/>
              </a:lnSpc>
            </a:pPr>
            <a:r>
              <a:rPr lang="en-US" altLang="zh-CN" b="1">
                <a:solidFill>
                  <a:schemeClr val="tx2"/>
                </a:solidFill>
                <a:latin typeface="Comic Sans MS" panose="030F0702030302020204" charset="0"/>
                <a:cs typeface="Comic Sans MS" panose="030F0702030302020204" charset="0"/>
              </a:rPr>
              <a:t>3.Generate scripts</a:t>
            </a:r>
            <a:endParaRPr lang="en-US" altLang="zh-CN">
              <a:solidFill>
                <a:schemeClr val="tx2"/>
              </a:solidFill>
              <a:latin typeface="Comic Sans MS" panose="030F0702030302020204" charset="0"/>
              <a:cs typeface="Comic Sans MS" panose="030F0702030302020204" charset="0"/>
            </a:endParaRPr>
          </a:p>
          <a:p>
            <a:pPr>
              <a:lnSpc>
                <a:spcPct val="100000"/>
              </a:lnSpc>
            </a:pPr>
            <a:endParaRPr lang="en-US" altLang="zh-CN">
              <a:solidFill>
                <a:schemeClr val="tx2"/>
              </a:solidFill>
              <a:latin typeface="Comic Sans MS" panose="030F0702030302020204" charset="0"/>
              <a:cs typeface="Comic Sans MS" panose="030F0702030302020204" charset="0"/>
            </a:endParaRPr>
          </a:p>
          <a:p>
            <a:pPr>
              <a:lnSpc>
                <a:spcPct val="100000"/>
              </a:lnSpc>
            </a:pPr>
            <a:r>
              <a:rPr lang="en-US" altLang="zh-CN">
                <a:solidFill>
                  <a:schemeClr val="tx2"/>
                </a:solidFill>
                <a:latin typeface="Comic Sans MS" panose="030F0702030302020204" charset="0"/>
                <a:cs typeface="Comic Sans MS" panose="030F0702030302020204" charset="0"/>
              </a:rPr>
              <a:t> For </a:t>
            </a:r>
            <a:r>
              <a:rPr lang="en-US" altLang="zh-CN">
                <a:solidFill>
                  <a:schemeClr val="tx2"/>
                </a:solidFill>
                <a:highlight>
                  <a:srgbClr val="C0C0C0"/>
                </a:highlight>
                <a:latin typeface="Comic Sans MS" panose="030F0702030302020204" charset="0"/>
                <a:cs typeface="Comic Sans MS" panose="030F0702030302020204" charset="0"/>
              </a:rPr>
              <a:t>every </a:t>
            </a:r>
            <a:r>
              <a:rPr lang="en-US" altLang="zh-CN">
                <a:solidFill>
                  <a:schemeClr val="tx2"/>
                </a:solidFill>
                <a:highlight>
                  <a:srgbClr val="C0C0C0"/>
                </a:highlight>
                <a:latin typeface="Comic Sans MS" panose="030F0702030302020204" charset="0"/>
                <a:cs typeface="Comic Sans MS" panose="030F0702030302020204" charset="0"/>
                <a:sym typeface="+mn-ea"/>
              </a:rPr>
              <a:t>applicable </a:t>
            </a:r>
            <a:r>
              <a:rPr lang="en-US" altLang="zh-CN">
                <a:solidFill>
                  <a:schemeClr val="tx2"/>
                </a:solidFill>
                <a:highlight>
                  <a:srgbClr val="C0C0C0"/>
                </a:highlight>
                <a:latin typeface="Comic Sans MS" panose="030F0702030302020204" charset="0"/>
                <a:cs typeface="Comic Sans MS" panose="030F0702030302020204" charset="0"/>
                <a:sym typeface="+mn-ea"/>
              </a:rPr>
              <a:t>pairs</a:t>
            </a:r>
            <a:r>
              <a:rPr lang="en-US" altLang="zh-CN">
                <a:solidFill>
                  <a:schemeClr val="tx2"/>
                </a:solidFill>
                <a:latin typeface="Comic Sans MS" panose="030F0702030302020204" charset="0"/>
                <a:cs typeface="Comic Sans MS" panose="030F0702030302020204" charset="0"/>
              </a:rPr>
              <a:t> </a:t>
            </a:r>
            <a:r>
              <a:rPr lang="zh-CN" altLang="en-US">
                <a:solidFill>
                  <a:schemeClr val="tx2"/>
                </a:solidFill>
                <a:latin typeface="Comic Sans MS" panose="030F0702030302020204" charset="0"/>
                <a:cs typeface="Comic Sans MS" panose="030F0702030302020204" charset="0"/>
              </a:rPr>
              <a:t>：</a:t>
            </a:r>
            <a:endParaRPr lang="zh-CN" altLang="en-US">
              <a:solidFill>
                <a:schemeClr val="tx2"/>
              </a:solidFill>
              <a:latin typeface="Comic Sans MS" panose="030F0702030302020204" charset="0"/>
              <a:cs typeface="Comic Sans MS" panose="030F0702030302020204" charset="0"/>
            </a:endParaRPr>
          </a:p>
          <a:p>
            <a:pPr indent="457200">
              <a:lnSpc>
                <a:spcPct val="100000"/>
              </a:lnSpc>
            </a:pPr>
            <a:r>
              <a:rPr lang="en-US" altLang="zh-CN">
                <a:solidFill>
                  <a:schemeClr val="tx2"/>
                </a:solidFill>
                <a:latin typeface="Comic Sans MS" panose="030F0702030302020204" charset="0"/>
                <a:cs typeface="Comic Sans MS" panose="030F0702030302020204" charset="0"/>
              </a:rPr>
              <a:t>Generate test scripts based on the strateg</a:t>
            </a:r>
            <a:r>
              <a:rPr lang="en-US" altLang="zh-CN">
                <a:solidFill>
                  <a:schemeClr val="tx2"/>
                </a:solidFill>
                <a:latin typeface="Comic Sans MS" panose="030F0702030302020204" charset="0"/>
                <a:cs typeface="Comic Sans MS" panose="030F0702030302020204" charset="0"/>
              </a:rPr>
              <a:t>y</a:t>
            </a:r>
            <a:endParaRPr lang="en-US" altLang="zh-CN">
              <a:solidFill>
                <a:schemeClr val="tx2"/>
              </a:solidFill>
              <a:latin typeface="Comic Sans MS" panose="030F0702030302020204" charset="0"/>
              <a:cs typeface="Comic Sans MS" panose="030F0702030302020204" charset="0"/>
            </a:endParaRPr>
          </a:p>
          <a:p>
            <a:pPr indent="457200">
              <a:lnSpc>
                <a:spcPct val="100000"/>
              </a:lnSpc>
            </a:pPr>
            <a:r>
              <a:rPr lang="en-US" altLang="zh-CN">
                <a:solidFill>
                  <a:schemeClr val="tx2"/>
                </a:solidFill>
                <a:latin typeface="Comic Sans MS" panose="030F0702030302020204" charset="0"/>
                <a:cs typeface="Comic Sans MS" panose="030F0702030302020204" charset="0"/>
              </a:rPr>
              <a:t> </a:t>
            </a:r>
            <a:endParaRPr lang="en-US" altLang="zh-CN">
              <a:solidFill>
                <a:schemeClr val="tx2"/>
              </a:solidFill>
              <a:latin typeface="Comic Sans MS" panose="030F0702030302020204" charset="0"/>
              <a:cs typeface="Comic Sans MS" panose="030F0702030302020204" charset="0"/>
            </a:endParaRPr>
          </a:p>
        </p:txBody>
      </p:sp>
      <p:sp>
        <p:nvSpPr>
          <p:cNvPr id="66" name="圆角矩形 65"/>
          <p:cNvSpPr/>
          <p:nvPr>
            <p:custDataLst>
              <p:tags r:id="rId25"/>
            </p:custDataLst>
          </p:nvPr>
        </p:nvSpPr>
        <p:spPr>
          <a:xfrm>
            <a:off x="9138285" y="4526915"/>
            <a:ext cx="2607945" cy="52324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tx2"/>
                </a:solidFill>
                <a:latin typeface="Comic Sans MS" panose="030F0702030302020204" charset="0"/>
                <a:cs typeface="Comic Sans MS" panose="030F0702030302020204" charset="0"/>
              </a:rPr>
              <a:t>Run check scripts</a:t>
            </a:r>
            <a:endParaRPr lang="en-US" altLang="zh-CN">
              <a:solidFill>
                <a:schemeClr val="tx2"/>
              </a:solidFill>
              <a:latin typeface="Comic Sans MS" panose="030F0702030302020204" charset="0"/>
              <a:cs typeface="Comic Sans MS" panose="030F0702030302020204" charset="0"/>
            </a:endParaRPr>
          </a:p>
        </p:txBody>
      </p:sp>
      <p:pic>
        <p:nvPicPr>
          <p:cNvPr id="67" name="图片 66" descr="齿轮"/>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1198225" y="4526915"/>
            <a:ext cx="473710" cy="473710"/>
          </a:xfrm>
          <a:prstGeom prst="rect">
            <a:avLst/>
          </a:prstGeom>
        </p:spPr>
      </p:pic>
      <p:cxnSp>
        <p:nvCxnSpPr>
          <p:cNvPr id="68" name="直接箭头连接符 67"/>
          <p:cNvCxnSpPr>
            <a:stCxn id="64" idx="2"/>
            <a:endCxn id="66" idx="0"/>
          </p:cNvCxnSpPr>
          <p:nvPr/>
        </p:nvCxnSpPr>
        <p:spPr>
          <a:xfrm>
            <a:off x="10442575" y="4247515"/>
            <a:ext cx="0" cy="279400"/>
          </a:xfrm>
          <a:prstGeom prst="straightConnector1">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69" name="肘形连接符 68"/>
          <p:cNvCxnSpPr>
            <a:stCxn id="66" idx="1"/>
            <a:endCxn id="64" idx="1"/>
          </p:cNvCxnSpPr>
          <p:nvPr/>
        </p:nvCxnSpPr>
        <p:spPr>
          <a:xfrm rot="10800000" flipH="1">
            <a:off x="9138285" y="3190875"/>
            <a:ext cx="3175" cy="1597025"/>
          </a:xfrm>
          <a:prstGeom prst="bentConnector3">
            <a:avLst>
              <a:gd name="adj1" fmla="val -7500000"/>
            </a:avLst>
          </a:prstGeom>
          <a:ln w="31750">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70" name="直接箭头连接符 69"/>
          <p:cNvCxnSpPr/>
          <p:nvPr/>
        </p:nvCxnSpPr>
        <p:spPr>
          <a:xfrm flipH="1">
            <a:off x="9577705" y="5067300"/>
            <a:ext cx="6350" cy="629285"/>
          </a:xfrm>
          <a:prstGeom prst="straightConnector1">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a:off x="9546590" y="5003165"/>
            <a:ext cx="749935" cy="383540"/>
          </a:xfrm>
          <a:prstGeom prst="rect">
            <a:avLst/>
          </a:prstGeom>
          <a:noFill/>
        </p:spPr>
        <p:txBody>
          <a:bodyPr wrap="square" rtlCol="0">
            <a:noAutofit/>
          </a:bodyPr>
          <a:p>
            <a:r>
              <a:rPr lang="en-US" altLang="zh-CN">
                <a:latin typeface="Comic Sans MS" panose="030F0702030302020204" charset="0"/>
                <a:cs typeface="Comic Sans MS" panose="030F0702030302020204" charset="0"/>
              </a:rPr>
              <a:t>pass</a:t>
            </a:r>
            <a:endParaRPr lang="en-US" altLang="zh-CN">
              <a:latin typeface="Comic Sans MS" panose="030F0702030302020204" charset="0"/>
              <a:cs typeface="Comic Sans MS" panose="030F0702030302020204" charset="0"/>
            </a:endParaRPr>
          </a:p>
        </p:txBody>
      </p:sp>
      <p:sp>
        <p:nvSpPr>
          <p:cNvPr id="72" name="文本框 71"/>
          <p:cNvSpPr txBox="1"/>
          <p:nvPr/>
        </p:nvSpPr>
        <p:spPr>
          <a:xfrm>
            <a:off x="8903970" y="4175760"/>
            <a:ext cx="642620" cy="351155"/>
          </a:xfrm>
          <a:prstGeom prst="rect">
            <a:avLst/>
          </a:prstGeom>
          <a:noFill/>
        </p:spPr>
        <p:txBody>
          <a:bodyPr wrap="square" rtlCol="0">
            <a:noAutofit/>
          </a:bodyPr>
          <a:p>
            <a:r>
              <a:rPr lang="en-US" altLang="zh-CN">
                <a:latin typeface="Comic Sans MS" panose="030F0702030302020204" charset="0"/>
                <a:cs typeface="Comic Sans MS" panose="030F0702030302020204" charset="0"/>
              </a:rPr>
              <a:t>fail</a:t>
            </a:r>
            <a:endParaRPr lang="en-US" altLang="zh-CN">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8" grpId="0" animBg="1"/>
      <p:bldP spid="9" grpId="0"/>
      <p:bldP spid="29" grpId="0" animBg="1"/>
      <p:bldP spid="40" grpId="0"/>
      <p:bldP spid="59" grpId="0"/>
      <p:bldP spid="7" grpId="0" animBg="1"/>
      <p:bldP spid="52" grpId="0" animBg="1"/>
      <p:bldP spid="18" grpId="0"/>
      <p:bldP spid="42" grpId="0" animBg="1"/>
      <p:bldP spid="45" grpId="0"/>
      <p:bldP spid="55" grpId="0" animBg="1"/>
      <p:bldP spid="56" grpId="0"/>
      <p:bldP spid="64" grpId="0" animBg="1"/>
      <p:bldP spid="65" grpId="0"/>
      <p:bldP spid="35" grpId="0" animBg="1"/>
      <p:bldP spid="28" grpId="0" animBg="1"/>
      <p:bldP spid="24" grpId="0"/>
      <p:bldP spid="3" grpId="0"/>
      <p:bldP spid="66" grpId="0" animBg="1"/>
      <p:bldP spid="71" grpId="0"/>
      <p:bldP spid="7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pPr algn="l"/>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Attack‑Boundary Built‑in Test Strategies</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351270"/>
            <a:ext cx="1934845" cy="265430"/>
          </a:xfrm>
        </p:spPr>
        <p:txBody>
          <a:bodyPr/>
          <a:lstStyle/>
          <a:p>
            <a:fld id="{E09368C2-8BE5-4C19-86FB-98954A39BC6E}" type="slidenum">
              <a:rPr lang="zh-CN" altLang="en-US" smtClean="0"/>
            </a:fld>
            <a:endParaRPr lang="zh-CN" altLang="en-US"/>
          </a:p>
        </p:txBody>
      </p:sp>
      <p:graphicFrame>
        <p:nvGraphicFramePr>
          <p:cNvPr id="2" name="表格 1"/>
          <p:cNvGraphicFramePr/>
          <p:nvPr>
            <p:custDataLst>
              <p:tags r:id="rId3"/>
            </p:custDataLst>
          </p:nvPr>
        </p:nvGraphicFramePr>
        <p:xfrm>
          <a:off x="254635" y="1422400"/>
          <a:ext cx="11635105" cy="4876800"/>
        </p:xfrm>
        <a:graphic>
          <a:graphicData uri="http://schemas.openxmlformats.org/drawingml/2006/table">
            <a:tbl>
              <a:tblPr firstRow="1" bandCol="1">
                <a:tableStyleId>{7BA7714E-D7FD-4C82-9671-EAE3478D38F4}</a:tableStyleId>
              </a:tblPr>
              <a:tblGrid>
                <a:gridCol w="2390140"/>
                <a:gridCol w="4410710"/>
                <a:gridCol w="4834255"/>
              </a:tblGrid>
              <a:tr h="381000">
                <a:tc>
                  <a:txBody>
                    <a:bodyPr/>
                    <a:p>
                      <a:pPr algn="ctr">
                        <a:buNone/>
                      </a:pPr>
                      <a:r>
                        <a:rPr lang="en-US" altLang="zh-CN">
                          <a:solidFill>
                            <a:schemeClr val="tx2"/>
                          </a:solidFill>
                        </a:rPr>
                        <a:t>Strategy</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Applicability (Trigger)</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Core Test Actions</a:t>
                      </a:r>
                      <a:endParaRPr lang="en-US" altLang="zh-CN">
                        <a:solidFill>
                          <a:schemeClr val="tx2"/>
                        </a:solidFill>
                      </a:endParaRPr>
                    </a:p>
                  </a:txBody>
                  <a:tcPr>
                    <a:lnB w="12700">
                      <a:solidFill>
                        <a:schemeClr val="tx1"/>
                      </a:solidFill>
                      <a:prstDash val="solid"/>
                    </a:lnB>
                  </a:tcPr>
                </a:tc>
              </a:tr>
              <a:tr h="381000">
                <a:tc>
                  <a:txBody>
                    <a:bodyPr/>
                    <a:p>
                      <a:pPr algn="ctr">
                        <a:buNone/>
                      </a:pPr>
                      <a:r>
                        <a:rPr lang="en-US" altLang="zh-CN"/>
                        <a:t>Boundary Value</a:t>
                      </a:r>
                      <a:endParaRPr lang="en-US" altLang="zh-CN"/>
                    </a:p>
                    <a:p>
                      <a:pPr algn="ctr">
                        <a:buNone/>
                      </a:pPr>
                      <a:r>
                        <a:rPr lang="zh-CN" altLang="en-US" sz="1400"/>
                        <a:t>（边界值）</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sz="1800">
                          <a:sym typeface="+mn-ea"/>
                        </a:rPr>
                        <a:t>Claims</a:t>
                      </a:r>
                      <a:r>
                        <a:rPr lang="en-US" altLang="zh-CN"/>
                        <a:t> contain range_constraints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Test min-1, max+1, 0, negative values</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Type Boundary</a:t>
                      </a:r>
                      <a:endParaRPr lang="en-US" altLang="zh-CN"/>
                    </a:p>
                    <a:p>
                      <a:pPr algn="ctr">
                        <a:buNone/>
                      </a:pPr>
                      <a:r>
                        <a:rPr lang="zh-CN" altLang="en-US" sz="1400"/>
                        <a:t>（类型边界）</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sz="1800">
                          <a:sym typeface="+mn-ea"/>
                        </a:rPr>
                        <a:t>Claims</a:t>
                      </a:r>
                      <a:r>
                        <a:rPr lang="en-US" altLang="zh-CN"/>
                        <a:t> contain type_constraints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Test null, [], type confusion, over-long strings</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Dimension Mismatch</a:t>
                      </a:r>
                      <a:endParaRPr lang="en-US" altLang="zh-CN"/>
                    </a:p>
                    <a:p>
                      <a:pPr algn="ctr">
                        <a:buNone/>
                      </a:pPr>
                      <a:r>
                        <a:rPr lang="zh-CN" altLang="en-US" sz="1400"/>
                        <a:t>（维度不匹配）</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involving vector dimensions (schema create / insert)</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Create with contract dimension, insert/search with wrong dimension</a:t>
                      </a:r>
                      <a:endParaRPr lang="en-US" altLang="zh-CN"/>
                    </a:p>
                  </a:txBody>
                  <a:tcPr>
                    <a:lnT w="12700">
                      <a:solidFill>
                        <a:schemeClr val="tx1"/>
                      </a:solidFill>
                      <a:prstDash val="solid"/>
                    </a:lnT>
                    <a:lnB w="12700">
                      <a:solidFill>
                        <a:schemeClr val="tx1"/>
                      </a:solidFill>
                      <a:prstDash val="solid"/>
                    </a:lnB>
                  </a:tcPr>
                </a:tc>
              </a:tr>
              <a:tr h="556260">
                <a:tc>
                  <a:txBody>
                    <a:bodyPr/>
                    <a:p>
                      <a:pPr algn="ctr">
                        <a:buNone/>
                      </a:pPr>
                      <a:r>
                        <a:rPr lang="en-US" altLang="zh-CN"/>
                        <a:t>Special Values</a:t>
                      </a:r>
                      <a:endParaRPr lang="en-US" altLang="zh-CN"/>
                    </a:p>
                    <a:p>
                      <a:pPr algn="ctr">
                        <a:buNone/>
                      </a:pPr>
                      <a:r>
                        <a:rPr lang="zh-CN" altLang="en-US" sz="1400"/>
                        <a:t>（特殊值）</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Universal (any endpoint accepting user input)</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Test extreme min/max, Unicode, SQL/JSON injection</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Error Message Quality</a:t>
                      </a:r>
                      <a:r>
                        <a:rPr lang="zh-CN" altLang="en-US" sz="1400"/>
                        <a:t>（错误消息质量）</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Subsidiary (any failing case expecting 4xx)</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Check error body explicitly names the violating param and correct range</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Resource Limit / DoS</a:t>
                      </a:r>
                      <a:endParaRPr lang="en-US" altLang="zh-CN"/>
                    </a:p>
                    <a:p>
                      <a:pPr algn="ctr">
                        <a:buNone/>
                      </a:pPr>
                      <a:r>
                        <a:rPr lang="zh-CN" altLang="en-US" sz="1400"/>
                        <a:t>（资源限制 / 拒绝服务攻击）</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Any endpoint with numeric parameters (limit/dim/group_size)</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Test 1e6, INT_MAX, combinatorial explosion; crash (5xx) is defect</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Malformed Input / Character Fuzzing</a:t>
                      </a:r>
                      <a:endParaRPr lang="en-US" altLang="zh-CN"/>
                    </a:p>
                    <a:p>
                      <a:pPr algn="ctr">
                        <a:buNone/>
                      </a:pPr>
                      <a:r>
                        <a:rPr lang="zh-CN" altLang="en-US" sz="1400"/>
                        <a:t>（畸形输入/字符模糊测试）</a:t>
                      </a:r>
                      <a:endParaRPr lang="zh-CN" altLang="en-US" sz="1400"/>
                    </a:p>
                  </a:txBody>
                  <a:tcPr>
                    <a:lnT w="12700">
                      <a:solidFill>
                        <a:schemeClr val="tx1"/>
                      </a:solidFill>
                      <a:prstDash val="solid"/>
                    </a:lnT>
                  </a:tcPr>
                </a:tc>
                <a:tc>
                  <a:txBody>
                    <a:bodyPr/>
                    <a:p>
                      <a:pPr algn="l">
                        <a:buNone/>
                      </a:pPr>
                      <a:r>
                        <a:rPr lang="en-US" altLang="zh-CN"/>
                        <a:t>Endpoints accepting string IDs or text input</a:t>
                      </a:r>
                      <a:endParaRPr lang="en-US" altLang="zh-CN"/>
                    </a:p>
                  </a:txBody>
                  <a:tcPr>
                    <a:lnT w="12700">
                      <a:solidFill>
                        <a:schemeClr val="tx1"/>
                      </a:solidFill>
                      <a:prstDash val="solid"/>
                    </a:lnT>
                  </a:tcPr>
                </a:tc>
                <a:tc>
                  <a:txBody>
                    <a:bodyPr/>
                    <a:p>
                      <a:pPr algn="l">
                        <a:buNone/>
                      </a:pPr>
                      <a:r>
                        <a:rPr lang="en-US" altLang="zh-CN"/>
                        <a:t>Test malformed JSON, NUL bytes, UTF-16 lone surrogates, extremely long (10MB) strings</a:t>
                      </a:r>
                      <a:endParaRPr lang="en-US" altLang="zh-CN"/>
                    </a:p>
                  </a:txBody>
                  <a:tcPr>
                    <a:lnT w="12700">
                      <a:solidFill>
                        <a:schemeClr val="tx1"/>
                      </a:solidFill>
                      <a:prstDash val="solid"/>
                    </a:lnT>
                  </a:tcPr>
                </a:tc>
              </a:tr>
            </a:tbl>
          </a:graphicData>
        </a:graphic>
      </p:graphicFrame>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pPr algn="l"/>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Attack‑</a:t>
            </a:r>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State Built‑in Test Strategies</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351270"/>
            <a:ext cx="1934845" cy="265430"/>
          </a:xfrm>
        </p:spPr>
        <p:txBody>
          <a:bodyPr/>
          <a:lstStyle/>
          <a:p>
            <a:fld id="{E09368C2-8BE5-4C19-86FB-98954A39BC6E}" type="slidenum">
              <a:rPr lang="zh-CN" altLang="en-US" smtClean="0"/>
            </a:fld>
            <a:endParaRPr lang="zh-CN" altLang="en-US"/>
          </a:p>
        </p:txBody>
      </p:sp>
      <p:graphicFrame>
        <p:nvGraphicFramePr>
          <p:cNvPr id="2" name="表格 1"/>
          <p:cNvGraphicFramePr/>
          <p:nvPr>
            <p:custDataLst>
              <p:tags r:id="rId3"/>
            </p:custDataLst>
          </p:nvPr>
        </p:nvGraphicFramePr>
        <p:xfrm>
          <a:off x="254635" y="1238885"/>
          <a:ext cx="11489690" cy="5130800"/>
        </p:xfrm>
        <a:graphic>
          <a:graphicData uri="http://schemas.openxmlformats.org/drawingml/2006/table">
            <a:tbl>
              <a:tblPr firstRow="1" bandCol="1">
                <a:tableStyleId>{7BA7714E-D7FD-4C82-9671-EAE3478D38F4}</a:tableStyleId>
              </a:tblPr>
              <a:tblGrid>
                <a:gridCol w="2385695"/>
                <a:gridCol w="4330065"/>
                <a:gridCol w="4773930"/>
              </a:tblGrid>
              <a:tr h="428625">
                <a:tc>
                  <a:txBody>
                    <a:bodyPr/>
                    <a:p>
                      <a:pPr algn="ctr">
                        <a:buNone/>
                      </a:pPr>
                      <a:r>
                        <a:rPr lang="en-US" altLang="zh-CN">
                          <a:solidFill>
                            <a:schemeClr val="tx2"/>
                          </a:solidFill>
                        </a:rPr>
                        <a:t>Strategy</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Applicability (Trigger)</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Core Test Actions</a:t>
                      </a:r>
                      <a:endParaRPr lang="en-US" altLang="zh-CN">
                        <a:solidFill>
                          <a:schemeClr val="tx2"/>
                        </a:solidFill>
                      </a:endParaRPr>
                    </a:p>
                  </a:txBody>
                  <a:tcPr>
                    <a:lnB w="12700">
                      <a:solidFill>
                        <a:schemeClr val="tx1"/>
                      </a:solidFill>
                      <a:prstDash val="solid"/>
                    </a:lnB>
                  </a:tcPr>
                </a:tc>
              </a:tr>
              <a:tr h="716915">
                <a:tc>
                  <a:txBody>
                    <a:bodyPr/>
                    <a:p>
                      <a:pPr algn="ctr">
                        <a:buNone/>
                      </a:pPr>
                      <a:r>
                        <a:rPr lang="en-US" altLang="zh-CN"/>
                        <a:t>CRUD + COUNT Consistency</a:t>
                      </a:r>
                      <a:endParaRPr lang="en-US" altLang="zh-CN"/>
                    </a:p>
                    <a:p>
                      <a:pPr algn="ctr">
                        <a:buNone/>
                      </a:pPr>
                      <a:r>
                        <a:rPr lang="zh-CN" altLang="en-US" sz="1400"/>
                        <a:t>（</a:t>
                      </a:r>
                      <a:r>
                        <a:rPr lang="en-US" altLang="zh-CN" sz="1400"/>
                        <a:t>CRUD</a:t>
                      </a:r>
                      <a:r>
                        <a:rPr lang="zh-CN" altLang="en-US" sz="1400"/>
                        <a:t>与</a:t>
                      </a:r>
                      <a:r>
                        <a:rPr lang="en-US" altLang="zh-CN" sz="1400"/>
                        <a:t> </a:t>
                      </a:r>
                      <a:r>
                        <a:rPr lang="zh-CN" altLang="en-US" sz="1400"/>
                        <a:t>计数一致性）</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sz="1800">
                          <a:sym typeface="+mn-ea"/>
                        </a:rPr>
                        <a:t>Claims</a:t>
                      </a:r>
                      <a:r>
                        <a:rPr lang="en-US" altLang="zh-CN"/>
                        <a:t> contain state_invariants for count consistency</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Insert N points → verify count increases by exactly N</a:t>
                      </a:r>
                      <a:endParaRPr lang="en-US" altLang="zh-CN"/>
                    </a:p>
                  </a:txBody>
                  <a:tcPr>
                    <a:lnT w="12700">
                      <a:solidFill>
                        <a:schemeClr val="tx1"/>
                      </a:solidFill>
                      <a:prstDash val="solid"/>
                    </a:lnT>
                    <a:lnB w="12700">
                      <a:solidFill>
                        <a:schemeClr val="tx1"/>
                      </a:solidFill>
                      <a:prstDash val="solid"/>
                    </a:lnB>
                  </a:tcPr>
                </a:tc>
              </a:tr>
              <a:tr h="758190">
                <a:tc>
                  <a:txBody>
                    <a:bodyPr/>
                    <a:p>
                      <a:pPr algn="ctr">
                        <a:buNone/>
                      </a:pPr>
                      <a:r>
                        <a:rPr lang="en-US" altLang="zh-CN"/>
                        <a:t> DELETE Consistency</a:t>
                      </a:r>
                      <a:endParaRPr lang="en-US" altLang="zh-CN"/>
                    </a:p>
                    <a:p>
                      <a:pPr algn="ctr">
                        <a:buNone/>
                      </a:pPr>
                      <a:r>
                        <a:rPr lang="zh-CN" altLang="en-US" sz="1400"/>
                        <a:t>（删除一致性）</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supporting deletion (collection/table/object)</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Delete → subsequent GET/COUNT returns 404 or equivalent</a:t>
                      </a:r>
                      <a:endParaRPr lang="en-US" altLang="zh-CN"/>
                    </a:p>
                  </a:txBody>
                  <a:tcPr>
                    <a:lnT w="12700">
                      <a:solidFill>
                        <a:schemeClr val="tx1"/>
                      </a:solidFill>
                      <a:prstDash val="solid"/>
                    </a:lnT>
                    <a:lnB w="12700">
                      <a:solidFill>
                        <a:schemeClr val="tx1"/>
                      </a:solidFill>
                      <a:prstDash val="solid"/>
                    </a:lnB>
                  </a:tcPr>
                </a:tc>
              </a:tr>
              <a:tr h="640080">
                <a:tc>
                  <a:txBody>
                    <a:bodyPr/>
                    <a:p>
                      <a:pPr algn="ctr">
                        <a:buNone/>
                      </a:pPr>
                      <a:r>
                        <a:rPr lang="en-US" altLang="zh-CN"/>
                        <a:t>Upsert Idempotence</a:t>
                      </a:r>
                      <a:endParaRPr lang="en-US" altLang="zh-CN"/>
                    </a:p>
                    <a:p>
                      <a:pPr algn="ctr">
                        <a:buNone/>
                      </a:pPr>
                      <a:r>
                        <a:rPr lang="zh-CN" altLang="en-US" sz="1400"/>
                        <a:t>（</a:t>
                      </a:r>
                      <a:r>
                        <a:rPr lang="en-US" altLang="zh-CN" sz="1400">
                          <a:sym typeface="+mn-ea"/>
                        </a:rPr>
                        <a:t>Upsert</a:t>
                      </a:r>
                      <a:r>
                        <a:rPr lang="zh-CN" altLang="en-US" sz="1400"/>
                        <a:t>幂等性）</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supporting upsert (insert/update with same ID)</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Upsert same ID twice → count increases by 1 (not 2), verify data correctness</a:t>
                      </a:r>
                      <a:endParaRPr lang="en-US" altLang="zh-CN"/>
                    </a:p>
                  </a:txBody>
                  <a:tcPr>
                    <a:lnT w="12700">
                      <a:solidFill>
                        <a:schemeClr val="tx1"/>
                      </a:solidFill>
                      <a:prstDash val="solid"/>
                    </a:lnT>
                    <a:lnB w="12700">
                      <a:solidFill>
                        <a:schemeClr val="tx1"/>
                      </a:solidFill>
                      <a:prstDash val="solid"/>
                    </a:lnB>
                  </a:tcPr>
                </a:tc>
              </a:tr>
              <a:tr h="758190">
                <a:tc>
                  <a:txBody>
                    <a:bodyPr/>
                    <a:p>
                      <a:pPr algn="ctr">
                        <a:buNone/>
                      </a:pPr>
                      <a:r>
                        <a:rPr lang="en-US" altLang="zh-CN"/>
                        <a:t>Concurrent Operations</a:t>
                      </a:r>
                      <a:r>
                        <a:rPr lang="zh-CN" altLang="en-US" sz="1400"/>
                        <a:t>（并</a:t>
                      </a:r>
                      <a:r>
                        <a:rPr lang="zh-CN" altLang="en-US" sz="1400"/>
                        <a:t>发操作）</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Universal for endpoints accepting concurrent writes/reads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Multi-threaded upsert/query → verify count = expected, no corruption, no crashes</a:t>
                      </a:r>
                      <a:endParaRPr lang="en-US" altLang="zh-CN"/>
                    </a:p>
                  </a:txBody>
                  <a:tcPr>
                    <a:lnT w="12700">
                      <a:solidFill>
                        <a:schemeClr val="tx1"/>
                      </a:solidFill>
                      <a:prstDash val="solid"/>
                    </a:lnT>
                    <a:lnB w="12700">
                      <a:solidFill>
                        <a:schemeClr val="tx1"/>
                      </a:solidFill>
                      <a:prstDash val="solid"/>
                    </a:lnB>
                  </a:tcPr>
                </a:tc>
              </a:tr>
              <a:tr h="914400">
                <a:tc>
                  <a:txBody>
                    <a:bodyPr/>
                    <a:p>
                      <a:pPr algn="ctr">
                        <a:buNone/>
                      </a:pPr>
                      <a:r>
                        <a:rPr lang="en-US" altLang="zh-CN"/>
                        <a:t>Index Build Consistency</a:t>
                      </a:r>
                      <a:endParaRPr lang="en-US" altLang="zh-CN"/>
                    </a:p>
                    <a:p>
                      <a:pPr algn="ctr">
                        <a:buNone/>
                      </a:pPr>
                      <a:r>
                        <a:rPr lang="zh-CN" altLang="en-US" sz="1400"/>
                        <a:t>（索引构建时一致性）</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supporting index creation (async or background)</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Build index while concurrently querying/inserting → verify no 500, no data loss</a:t>
                      </a:r>
                      <a:endParaRPr lang="en-US" altLang="zh-CN"/>
                    </a:p>
                  </a:txBody>
                  <a:tcPr>
                    <a:lnT w="12700">
                      <a:solidFill>
                        <a:schemeClr val="tx1"/>
                      </a:solidFill>
                      <a:prstDash val="solid"/>
                    </a:lnT>
                    <a:lnB w="12700">
                      <a:solidFill>
                        <a:schemeClr val="tx1"/>
                      </a:solidFill>
                      <a:prstDash val="solid"/>
                    </a:lnB>
                  </a:tcPr>
                </a:tc>
              </a:tr>
              <a:tr h="914400">
                <a:tc>
                  <a:txBody>
                    <a:bodyPr/>
                    <a:p>
                      <a:pPr algn="ctr">
                        <a:buNone/>
                      </a:pPr>
                      <a:r>
                        <a:rPr lang="en-US" altLang="zh-CN"/>
                        <a:t> Lifecycle Concurrency</a:t>
                      </a:r>
                      <a:endParaRPr lang="en-US" altLang="zh-CN"/>
                    </a:p>
                    <a:p>
                      <a:pPr algn="ctr">
                        <a:buNone/>
                      </a:pPr>
                      <a:r>
                        <a:rPr lang="zh-CN" altLang="en-US" sz="1400"/>
                        <a:t>（生命周期并发）</a:t>
                      </a:r>
                      <a:endParaRPr lang="zh-CN" altLang="en-US" sz="1400"/>
                    </a:p>
                  </a:txBody>
                  <a:tcPr>
                    <a:lnT w="12700">
                      <a:solidFill>
                        <a:schemeClr val="tx1"/>
                      </a:solidFill>
                      <a:prstDash val="solid"/>
                    </a:lnT>
                  </a:tcPr>
                </a:tc>
                <a:tc>
                  <a:txBody>
                    <a:bodyPr/>
                    <a:p>
                      <a:pPr algn="l">
                        <a:buNone/>
                      </a:pPr>
                      <a:r>
                        <a:rPr lang="en-US" altLang="zh-CN"/>
                        <a:t>Endpoints with collection/table lifecycle + access endpoints</a:t>
                      </a:r>
                      <a:endParaRPr lang="en-US" altLang="zh-CN"/>
                    </a:p>
                  </a:txBody>
                  <a:tcPr>
                    <a:lnT w="12700">
                      <a:solidFill>
                        <a:schemeClr val="tx1"/>
                      </a:solidFill>
                      <a:prstDash val="solid"/>
                    </a:lnT>
                  </a:tcPr>
                </a:tc>
                <a:tc>
                  <a:txBody>
                    <a:bodyPr/>
                    <a:p>
                      <a:pPr algn="l">
                        <a:buNone/>
                      </a:pPr>
                      <a:r>
                        <a:rPr lang="en-US" altLang="zh-CN"/>
                        <a:t>Concurrent create/delete/recreate vs query/upsert → 500 is defect (should be 404/503)</a:t>
                      </a:r>
                      <a:endParaRPr lang="en-US" altLang="zh-CN"/>
                    </a:p>
                  </a:txBody>
                  <a:tcPr>
                    <a:lnT w="12700">
                      <a:solidFill>
                        <a:schemeClr val="tx1"/>
                      </a:solidFill>
                      <a:prstDash val="solid"/>
                    </a:lnT>
                  </a:tcPr>
                </a:tc>
              </a:tr>
            </a:tbl>
          </a:graphicData>
        </a:graphic>
      </p:graphicFrame>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pPr algn="l"/>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Attack‑</a:t>
            </a:r>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Semantic Built‑in Test Strategies</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351270"/>
            <a:ext cx="1934845" cy="265430"/>
          </a:xfrm>
        </p:spPr>
        <p:txBody>
          <a:bodyPr/>
          <a:lstStyle/>
          <a:p>
            <a:fld id="{E09368C2-8BE5-4C19-86FB-98954A39BC6E}" type="slidenum">
              <a:rPr lang="zh-CN" altLang="en-US" smtClean="0"/>
            </a:fld>
            <a:endParaRPr lang="zh-CN" altLang="en-US"/>
          </a:p>
        </p:txBody>
      </p:sp>
      <p:graphicFrame>
        <p:nvGraphicFramePr>
          <p:cNvPr id="2" name="表格 1"/>
          <p:cNvGraphicFramePr/>
          <p:nvPr>
            <p:custDataLst>
              <p:tags r:id="rId3"/>
            </p:custDataLst>
          </p:nvPr>
        </p:nvGraphicFramePr>
        <p:xfrm>
          <a:off x="254635" y="1422400"/>
          <a:ext cx="11635105" cy="4876800"/>
        </p:xfrm>
        <a:graphic>
          <a:graphicData uri="http://schemas.openxmlformats.org/drawingml/2006/table">
            <a:tbl>
              <a:tblPr firstRow="1" bandCol="1">
                <a:tableStyleId>{7BA7714E-D7FD-4C82-9671-EAE3478D38F4}</a:tableStyleId>
              </a:tblPr>
              <a:tblGrid>
                <a:gridCol w="2354580"/>
                <a:gridCol w="4446270"/>
                <a:gridCol w="4834255"/>
              </a:tblGrid>
              <a:tr h="381000">
                <a:tc>
                  <a:txBody>
                    <a:bodyPr/>
                    <a:p>
                      <a:pPr algn="ctr">
                        <a:buNone/>
                      </a:pPr>
                      <a:r>
                        <a:rPr lang="en-US" altLang="zh-CN">
                          <a:solidFill>
                            <a:schemeClr val="tx2"/>
                          </a:solidFill>
                        </a:rPr>
                        <a:t>Strategy</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Applicability (Trigger)</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Core Test Actions</a:t>
                      </a:r>
                      <a:endParaRPr lang="en-US" altLang="zh-CN">
                        <a:solidFill>
                          <a:schemeClr val="tx2"/>
                        </a:solidFill>
                      </a:endParaRPr>
                    </a:p>
                  </a:txBody>
                  <a:tcPr>
                    <a:lnB w="12700">
                      <a:solidFill>
                        <a:schemeClr val="tx1"/>
                      </a:solidFill>
                      <a:prstDash val="solid"/>
                    </a:lnB>
                  </a:tcPr>
                </a:tc>
              </a:tr>
              <a:tr h="381000">
                <a:tc>
                  <a:txBody>
                    <a:bodyPr/>
                    <a:p>
                      <a:pPr algn="ctr">
                        <a:buNone/>
                      </a:pPr>
                      <a:r>
                        <a:rPr lang="en-US" altLang="zh-CN"/>
                        <a:t>Behavioral Claim Violation</a:t>
                      </a:r>
                      <a:r>
                        <a:rPr lang="zh-CN" altLang="en-US" sz="1400"/>
                        <a:t>（行为声明违</a:t>
                      </a:r>
                      <a:r>
                        <a:rPr lang="zh-CN" altLang="en-US" sz="1400"/>
                        <a:t>反）</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C</a:t>
                      </a:r>
                      <a:r>
                        <a:rPr lang="en-US" altLang="zh-CN"/>
                        <a:t>laims contain behavioral_contracts (timing/visibility guarantees)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Create → insert → search within 1s → verify immediate visibility per contract</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Error Diagnosis Quality </a:t>
                      </a:r>
                      <a:r>
                        <a:rPr lang="zh-CN" altLang="en-US" sz="1400"/>
                        <a:t>（错误诊断质量）</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Any failing case expected to return 4xx with error details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Score error message: parameter named  + format hint  + actionable suggestion </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Ilegal Rejection </a:t>
                      </a:r>
                      <a:endParaRPr lang="en-US" altLang="zh-CN"/>
                    </a:p>
                    <a:p>
                      <a:pPr algn="ctr">
                        <a:buNone/>
                      </a:pPr>
                      <a:r>
                        <a:rPr lang="zh-CN" altLang="en-US" sz="1400"/>
                        <a:t>（非法拒绝</a:t>
                      </a:r>
                      <a:r>
                        <a:rPr lang="en-US" altLang="zh-CN" sz="1400"/>
                        <a:t>/</a:t>
                      </a:r>
                      <a:r>
                        <a:rPr lang="zh-CN" altLang="en-US" sz="1400"/>
                        <a:t>误拒绝）</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Legitimate input ranges defined in contract</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Traverse valid values (1, 5, 10, 100, 1000) → verify all accepted (200)</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Implicit Type Coercion</a:t>
                      </a:r>
                      <a:r>
                        <a:rPr lang="zh-CN" altLang="en-US" sz="1400"/>
                        <a:t>（隐式类型转换）</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accepting typed parameters without strict validation</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Send string ("100"), float (5.0), boolean (true) → verify proper rejection (4xx)</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Search Semantic Correctness</a:t>
                      </a:r>
                      <a:endParaRPr lang="en-US" altLang="zh-CN"/>
                    </a:p>
                    <a:p>
                      <a:pPr algn="ctr">
                        <a:buNone/>
                      </a:pPr>
                      <a:r>
                        <a:rPr lang="zh-CN" altLang="en-US" sz="1400"/>
                        <a:t>（搜索语义正确性）</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Search/query endpoints with </a:t>
                      </a:r>
                      <a:endParaRPr lang="en-US" altLang="zh-CN"/>
                    </a:p>
                    <a:p>
                      <a:pPr algn="l">
                        <a:buNone/>
                      </a:pPr>
                      <a:r>
                        <a:rPr lang="en-US" altLang="zh-CN"/>
                        <a:t>nearest - neighbor semantics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Insert vectors at known distances → query → verify correct ordering (closest first)</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Metamorphic Relations</a:t>
                      </a:r>
                      <a:r>
                        <a:rPr lang="zh-CN" altLang="en-US" sz="1400"/>
                        <a:t>（蜕变关系）</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supporting multiple equivalent query formats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Same query in different formats → verify identical result sets / ordering</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Filter Semantic Correctness</a:t>
                      </a:r>
                      <a:endParaRPr lang="en-US" altLang="zh-CN"/>
                    </a:p>
                    <a:p>
                      <a:pPr algn="ctr">
                        <a:buNone/>
                      </a:pPr>
                      <a:r>
                        <a:rPr lang="zh-CN" altLang="en-US" sz="1400"/>
                        <a:t>（过滤语义正确性）</a:t>
                      </a:r>
                      <a:endParaRPr lang="zh-CN" altLang="en-US" sz="1400"/>
                    </a:p>
                  </a:txBody>
                  <a:tcPr>
                    <a:lnT w="12700">
                      <a:solidFill>
                        <a:schemeClr val="tx1"/>
                      </a:solidFill>
                      <a:prstDash val="solid"/>
                    </a:lnT>
                  </a:tcPr>
                </a:tc>
                <a:tc>
                  <a:txBody>
                    <a:bodyPr/>
                    <a:p>
                      <a:pPr algn="l">
                        <a:buNone/>
                      </a:pPr>
                      <a:r>
                        <a:rPr lang="en-US" altLang="zh-CN"/>
                        <a:t>Endpoints supporting filter/where conditions</a:t>
                      </a:r>
                      <a:endParaRPr lang="en-US" altLang="zh-CN"/>
                    </a:p>
                  </a:txBody>
                  <a:tcPr>
                    <a:lnT w="12700">
                      <a:solidFill>
                        <a:schemeClr val="tx1"/>
                      </a:solidFill>
                      <a:prstDash val="solid"/>
                    </a:lnT>
                  </a:tcPr>
                </a:tc>
                <a:tc>
                  <a:txBody>
                    <a:bodyPr/>
                    <a:p>
                      <a:pPr algn="l">
                        <a:buNone/>
                      </a:pPr>
                      <a:r>
                        <a:rPr lang="en-US" altLang="zh-CN"/>
                        <a:t>Insert labeled data → filter by category/score → verify filtered count matches expected</a:t>
                      </a:r>
                      <a:endParaRPr lang="en-US" altLang="zh-CN"/>
                    </a:p>
                  </a:txBody>
                  <a:tcPr>
                    <a:lnT w="12700">
                      <a:solidFill>
                        <a:schemeClr val="tx1"/>
                      </a:solidFill>
                      <a:prstDash val="solid"/>
                    </a:lnT>
                  </a:tcPr>
                </a:tc>
              </a:tr>
            </a:tbl>
          </a:graphicData>
        </a:graphic>
      </p:graphicFrame>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330" y="608330"/>
            <a:ext cx="6108065" cy="705485"/>
          </a:xfrm>
        </p:spPr>
        <p:txBody>
          <a:bodyPr/>
          <a:p>
            <a:endParaRPr lang="zh-CN" altLang="en-US"/>
          </a:p>
        </p:txBody>
      </p:sp>
      <p:sp>
        <p:nvSpPr>
          <p:cNvPr id="3" name="内容占位符 2"/>
          <p:cNvSpPr>
            <a:spLocks noGrp="1"/>
          </p:cNvSpPr>
          <p:nvPr>
            <p:ph idx="1"/>
            <p:custDataLst>
              <p:tags r:id="rId2"/>
            </p:custDataLst>
          </p:nvPr>
        </p:nvSpPr>
        <p:spPr>
          <a:xfrm>
            <a:off x="608330" y="1490345"/>
            <a:ext cx="10968990" cy="4681855"/>
          </a:xfrm>
        </p:spPr>
        <p:txBody>
          <a:bodyPr>
            <a:normAutofit fontScale="90000" lnSpcReduction="10000"/>
          </a:bodyPr>
          <a:p>
            <a:pPr marL="0" indent="0">
              <a:buNone/>
            </a:pPr>
            <a:endParaRPr lang="zh-CN" altLang="en-US"/>
          </a:p>
          <a:p>
            <a:r>
              <a:rPr lang="en-US" altLang="zh-CN"/>
              <a:t>1.</a:t>
            </a:r>
            <a:r>
              <a:rPr lang="zh-CN" altLang="en-US"/>
              <a:t>覆盖策略随级别变动：</a:t>
            </a:r>
            <a:r>
              <a:rPr lang="en-US" altLang="zh-CN"/>
              <a:t>api</a:t>
            </a:r>
            <a:r>
              <a:rPr lang="zh-CN" altLang="en-US"/>
              <a:t>端点级的约束可给定具体的测试场景，系统级相对宽松，先基于一些通用场景进行正反两面测试，然后再给定基本原则进行覆盖。</a:t>
            </a:r>
            <a:endParaRPr lang="zh-CN" altLang="en-US"/>
          </a:p>
          <a:p>
            <a:r>
              <a:rPr lang="en-US" altLang="zh-CN"/>
              <a:t>2.</a:t>
            </a:r>
            <a:r>
              <a:rPr lang="zh-CN" altLang="en-US"/>
              <a:t>不仅需要生成测试用例，还需要生成配套的</a:t>
            </a:r>
            <a:r>
              <a:rPr lang="en-US" altLang="zh-CN"/>
              <a:t>oracle</a:t>
            </a:r>
            <a:r>
              <a:rPr lang="zh-CN" altLang="en-US"/>
              <a:t>，然后在运行前需要进行预先验证，验证测试用例是否能有效覆盖测试预期场景、</a:t>
            </a:r>
            <a:r>
              <a:rPr lang="en-US" altLang="zh-CN"/>
              <a:t>oracle</a:t>
            </a:r>
            <a:r>
              <a:rPr lang="zh-CN" altLang="en-US"/>
              <a:t>本身是否有效（要不要加</a:t>
            </a:r>
            <a:r>
              <a:rPr lang="en-US" altLang="zh-CN"/>
              <a:t>agent</a:t>
            </a:r>
            <a:r>
              <a:rPr lang="zh-CN" altLang="en-US"/>
              <a:t>？还是让测试用例生成</a:t>
            </a:r>
            <a:r>
              <a:rPr lang="en-US" altLang="zh-CN"/>
              <a:t>agent</a:t>
            </a:r>
            <a:r>
              <a:rPr lang="zh-CN" altLang="en-US"/>
              <a:t>基于</a:t>
            </a:r>
            <a:r>
              <a:rPr lang="zh-CN" altLang="en-US"/>
              <a:t>某套原则自行验证？）、脚本在投入运行前还需要做一些基础检验（</a:t>
            </a:r>
            <a:r>
              <a:rPr lang="zh-CN" altLang="en-US"/>
              <a:t>脚本）。</a:t>
            </a:r>
            <a:endParaRPr lang="zh-CN" altLang="en-US"/>
          </a:p>
          <a:p>
            <a:r>
              <a:rPr lang="en-US" altLang="zh-CN"/>
              <a:t>3.</a:t>
            </a:r>
            <a:r>
              <a:rPr lang="zh-CN" altLang="en-US"/>
              <a:t>测试策略的匹配：不再做测试策略的匹配，在之前的实现里需要</a:t>
            </a:r>
            <a:r>
              <a:rPr lang="en-US" altLang="zh-CN"/>
              <a:t>agent</a:t>
            </a:r>
            <a:r>
              <a:rPr lang="zh-CN" altLang="en-US"/>
              <a:t>根据触发规则去对约束进行匹配，现在直接改成：可直接匹配的策略就直接与约束预绑定（这里主要针对那些策略相对确定、清晰的</a:t>
            </a:r>
            <a:r>
              <a:rPr lang="en-US" altLang="zh-CN"/>
              <a:t>API</a:t>
            </a:r>
            <a:r>
              <a:rPr lang="zh-CN" altLang="en-US"/>
              <a:t>端点级</a:t>
            </a:r>
            <a:r>
              <a:rPr lang="zh-CN" altLang="en-US"/>
              <a:t>约束）</a:t>
            </a:r>
            <a:endParaRPr lang="zh-CN" altLang="en-US"/>
          </a:p>
          <a:p>
            <a:r>
              <a:rPr lang="en-US" altLang="zh-CN"/>
              <a:t>4.</a:t>
            </a:r>
            <a:r>
              <a:rPr lang="zh-CN" altLang="en-US"/>
              <a:t>从当前展示的东西来看，这些列出来的策略有些问题：比如有些策略是清晰的，便于落地并评价是否有效覆盖（如</a:t>
            </a:r>
            <a:r>
              <a:rPr lang="en-US" altLang="zh-CN">
                <a:sym typeface="+mn-ea"/>
              </a:rPr>
              <a:t>Boundary Value</a:t>
            </a:r>
            <a:r>
              <a:rPr lang="zh-CN" altLang="en-US">
                <a:sym typeface="+mn-ea"/>
              </a:rPr>
              <a:t>、</a:t>
            </a:r>
            <a:r>
              <a:rPr lang="en-US" altLang="zh-CN">
                <a:sym typeface="+mn-ea"/>
              </a:rPr>
              <a:t>Type Boundary</a:t>
            </a:r>
            <a:r>
              <a:rPr lang="zh-CN" altLang="en-US"/>
              <a:t>），有些策略是笼统的，是否有效覆盖，测到什么程度算</a:t>
            </a:r>
            <a:r>
              <a:rPr lang="en-US" altLang="zh-CN"/>
              <a:t>ok</a:t>
            </a:r>
            <a:r>
              <a:rPr lang="zh-CN" altLang="en-US"/>
              <a:t>都没有明确标准，或许这类就改成如上所述的基于某些原则去构造场景去覆盖一些预设置的基础场景以及其引用的原文档可能已经指出的特定场景，而后再按照一些通用的基本规则去做场景设计与</a:t>
            </a:r>
            <a:r>
              <a:rPr lang="zh-CN" altLang="en-US"/>
              <a:t>覆盖？</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80465"/>
            <a:ext cx="10852150" cy="491299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3:</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we execute the generated scripts against a sandboxed VDBMS instance</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Test Script Execution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sp>
        <p:nvSpPr>
          <p:cNvPr id="5" name="圆角矩形 4"/>
          <p:cNvSpPr/>
          <p:nvPr>
            <p:custDataLst>
              <p:tags r:id="rId3"/>
            </p:custDataLst>
          </p:nvPr>
        </p:nvSpPr>
        <p:spPr>
          <a:xfrm>
            <a:off x="490220" y="2432685"/>
            <a:ext cx="3336925" cy="358394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4"/>
            </p:custDataLst>
          </p:nvPr>
        </p:nvSpPr>
        <p:spPr>
          <a:xfrm>
            <a:off x="1442085" y="2620645"/>
            <a:ext cx="252666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test scripts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8" name="文本框 7"/>
          <p:cNvSpPr txBox="1"/>
          <p:nvPr/>
        </p:nvSpPr>
        <p:spPr>
          <a:xfrm>
            <a:off x="542925" y="3317240"/>
            <a:ext cx="3323590" cy="2346960"/>
          </a:xfrm>
          <a:prstGeom prst="rect">
            <a:avLst/>
          </a:prstGeom>
          <a:noFill/>
        </p:spPr>
        <p:txBody>
          <a:bodyPr wrap="square" rtlCol="0" anchor="t">
            <a:noAutofit/>
          </a:bodyPr>
          <a:p>
            <a:pPr>
              <a:defRPr sz="1300" b="0">
                <a:solidFill>
                  <a:srgbClr val="333333"/>
                </a:solidFill>
                <a:latin typeface="Microsoft YaHei" panose="020B0503020204020204" charset="-122"/>
              </a:defRPr>
            </a:pPr>
            <a:r>
              <a:rPr lang="en-US" altLang="zh-CN" sz="1600" b="1">
                <a:solidFill>
                  <a:schemeClr val="tx1"/>
                </a:solidFill>
                <a:effectLst/>
                <a:latin typeface="Cambria" panose="02040503050406030204" charset="0"/>
                <a:cs typeface="Cambria" panose="02040503050406030204" charset="0"/>
                <a:sym typeface="+mn-ea"/>
              </a:rPr>
              <a:t>POST</a:t>
            </a:r>
            <a:r>
              <a:rPr lang="en-US" altLang="zh-CN" sz="1600">
                <a:solidFill>
                  <a:schemeClr val="tx1"/>
                </a:solidFill>
                <a:effectLst/>
                <a:latin typeface="Cambria" panose="02040503050406030204" charset="0"/>
                <a:cs typeface="Cambria" panose="02040503050406030204" charset="0"/>
                <a:sym typeface="+mn-ea"/>
              </a:rPr>
              <a:t> /v2/vectordb/entities/</a:t>
            </a:r>
            <a:r>
              <a:rPr lang="en-US" altLang="zh-CN" sz="1600">
                <a:solidFill>
                  <a:schemeClr val="tx1"/>
                </a:solidFill>
                <a:effectLst/>
                <a:latin typeface="Cambria" panose="02040503050406030204" charset="0"/>
                <a:cs typeface="Cambria" panose="02040503050406030204" charset="0"/>
                <a:sym typeface="+mn-ea"/>
              </a:rPr>
              <a:t>search</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b="1">
                <a:solidFill>
                  <a:schemeClr val="tx1"/>
                </a:solidFill>
                <a:effectLst/>
                <a:latin typeface="Cambria" panose="02040503050406030204" charset="0"/>
                <a:cs typeface="Cambria" panose="02040503050406030204" charset="0"/>
                <a:sym typeface="+mn-ea"/>
              </a:rPr>
              <a:t>Host:</a:t>
            </a:r>
            <a:r>
              <a:rPr lang="en-US" altLang="zh-CN" sz="1600">
                <a:solidFill>
                  <a:schemeClr val="tx1"/>
                </a:solidFill>
                <a:effectLst/>
                <a:latin typeface="Cambria" panose="02040503050406030204" charset="0"/>
                <a:cs typeface="Cambria" panose="02040503050406030204" charset="0"/>
                <a:sym typeface="+mn-ea"/>
              </a:rPr>
              <a:t> localhost:19530</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"collectionName": "demo",</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"data": [[0.1, 0.2, 0.3, ..., 0.512]],</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"searchParams":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a:t>
            </a:r>
            <a:r>
              <a:rPr lang="en-US" altLang="zh-CN" sz="1600">
                <a:solidFill>
                  <a:schemeClr val="tx1"/>
                </a:solidFill>
                <a:effectLst/>
                <a:latin typeface="Cambria" panose="02040503050406030204" charset="0"/>
                <a:cs typeface="Cambria" panose="02040503050406030204" charset="0"/>
                <a:sym typeface="+mn-ea"/>
              </a:rPr>
              <a:t>"params": { "nprobe": 0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a:t>
            </a:r>
            <a:endParaRPr lang="en-US" altLang="zh-CN" sz="1600">
              <a:solidFill>
                <a:schemeClr val="tx1"/>
              </a:solidFill>
              <a:effectLst/>
              <a:latin typeface="Cambria" panose="02040503050406030204" charset="0"/>
              <a:cs typeface="Cambria" panose="02040503050406030204" charset="0"/>
              <a:sym typeface="+mn-ea"/>
            </a:endParaRPr>
          </a:p>
        </p:txBody>
      </p:sp>
      <p:pic>
        <p:nvPicPr>
          <p:cNvPr id="29" name="图片 28" descr="软件"/>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746125" y="2501265"/>
            <a:ext cx="652780" cy="603885"/>
          </a:xfrm>
          <a:prstGeom prst="rect">
            <a:avLst/>
          </a:prstGeom>
        </p:spPr>
      </p:pic>
      <p:cxnSp>
        <p:nvCxnSpPr>
          <p:cNvPr id="3" name="直接箭头连接符 2"/>
          <p:cNvCxnSpPr>
            <a:stCxn id="5" idx="3"/>
            <a:endCxn id="7" idx="1"/>
          </p:cNvCxnSpPr>
          <p:nvPr/>
        </p:nvCxnSpPr>
        <p:spPr>
          <a:xfrm>
            <a:off x="3827145" y="4224655"/>
            <a:ext cx="1361440" cy="1270"/>
          </a:xfrm>
          <a:prstGeom prst="straightConnector1">
            <a:avLst/>
          </a:prstGeom>
          <a:ln w="28575" cmpd="sng">
            <a:solidFill>
              <a:schemeClr val="tx1"/>
            </a:solidFill>
            <a:prstDash val="solid"/>
            <a:tailEnd type="arrow"/>
          </a:ln>
        </p:spPr>
        <p:style>
          <a:lnRef idx="2">
            <a:schemeClr val="accent1"/>
          </a:lnRef>
          <a:fillRef idx="0">
            <a:srgbClr val="FFFFFF"/>
          </a:fillRef>
          <a:effectRef idx="0">
            <a:srgbClr val="FFFFFF"/>
          </a:effectRef>
          <a:fontRef idx="minor">
            <a:schemeClr val="tx1"/>
          </a:fontRef>
        </p:style>
      </p:cxnSp>
      <p:sp>
        <p:nvSpPr>
          <p:cNvPr id="7" name="圆角矩形 6"/>
          <p:cNvSpPr/>
          <p:nvPr>
            <p:custDataLst>
              <p:tags r:id="rId8"/>
            </p:custDataLst>
          </p:nvPr>
        </p:nvSpPr>
        <p:spPr>
          <a:xfrm>
            <a:off x="5188585" y="1873885"/>
            <a:ext cx="6125845" cy="470344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圆角矩形 17"/>
          <p:cNvSpPr/>
          <p:nvPr/>
        </p:nvSpPr>
        <p:spPr>
          <a:xfrm>
            <a:off x="7863205" y="2025015"/>
            <a:ext cx="3308985" cy="2895600"/>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p:txBody>
      </p:sp>
      <p:pic>
        <p:nvPicPr>
          <p:cNvPr id="13" name="图片 12" descr="文件"/>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7879080" y="2143760"/>
            <a:ext cx="883920" cy="702945"/>
          </a:xfrm>
          <a:prstGeom prst="rect">
            <a:avLst/>
          </a:prstGeom>
        </p:spPr>
      </p:pic>
      <p:sp>
        <p:nvSpPr>
          <p:cNvPr id="24" name="圆角矩形 23"/>
          <p:cNvSpPr/>
          <p:nvPr/>
        </p:nvSpPr>
        <p:spPr>
          <a:xfrm>
            <a:off x="5329555" y="2025015"/>
            <a:ext cx="2474595" cy="4333875"/>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p:txBody>
      </p:sp>
      <p:pic>
        <p:nvPicPr>
          <p:cNvPr id="31" name="图片 30" descr="文件"/>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5404485" y="2127250"/>
            <a:ext cx="699770" cy="719455"/>
          </a:xfrm>
          <a:prstGeom prst="rect">
            <a:avLst/>
          </a:prstGeom>
        </p:spPr>
      </p:pic>
      <p:sp>
        <p:nvSpPr>
          <p:cNvPr id="42" name="文本框 41"/>
          <p:cNvSpPr txBox="1"/>
          <p:nvPr/>
        </p:nvSpPr>
        <p:spPr>
          <a:xfrm>
            <a:off x="6012815" y="2394585"/>
            <a:ext cx="1858645" cy="337185"/>
          </a:xfrm>
          <a:prstGeom prst="rect">
            <a:avLst/>
          </a:prstGeom>
          <a:noFill/>
        </p:spPr>
        <p:txBody>
          <a:bodyPr wrap="square" rtlCol="0">
            <a:spAutoFit/>
          </a:bodyPr>
          <a:p>
            <a:pPr algn="ctr"/>
            <a:r>
              <a:rPr lang="en-US" altLang="zh-CN" sz="1600" b="1">
                <a:latin typeface="Comic Sans MS" panose="030F0702030302020204" charset="0"/>
                <a:cs typeface="Comic Sans MS" panose="030F0702030302020204" charset="0"/>
                <a:sym typeface="+mn-ea"/>
              </a:rPr>
              <a:t>VDBMS response</a:t>
            </a:r>
            <a:endParaRPr lang="en-US" altLang="zh-CN" sz="1600" b="1">
              <a:latin typeface="Comic Sans MS" panose="030F0702030302020204" charset="0"/>
              <a:cs typeface="Comic Sans MS" panose="030F0702030302020204" charset="0"/>
              <a:sym typeface="+mn-ea"/>
            </a:endParaRPr>
          </a:p>
        </p:txBody>
      </p:sp>
      <p:sp>
        <p:nvSpPr>
          <p:cNvPr id="43" name="文本框 42"/>
          <p:cNvSpPr txBox="1"/>
          <p:nvPr/>
        </p:nvSpPr>
        <p:spPr>
          <a:xfrm>
            <a:off x="8770620" y="2378710"/>
            <a:ext cx="2186940" cy="327025"/>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sym typeface="+mn-ea"/>
              </a:rPr>
              <a:t>VDBMS logs</a:t>
            </a:r>
            <a:endParaRPr lang="en-US" altLang="zh-CN" b="1">
              <a:latin typeface="Comic Sans MS" panose="030F0702030302020204" charset="0"/>
              <a:cs typeface="Comic Sans MS" panose="030F0702030302020204" charset="0"/>
              <a:sym typeface="+mn-ea"/>
            </a:endParaRPr>
          </a:p>
        </p:txBody>
      </p:sp>
      <p:sp>
        <p:nvSpPr>
          <p:cNvPr id="17" name="圆角矩形 16"/>
          <p:cNvSpPr/>
          <p:nvPr/>
        </p:nvSpPr>
        <p:spPr>
          <a:xfrm>
            <a:off x="7863205" y="4979035"/>
            <a:ext cx="3308985" cy="1329055"/>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600">
              <a:solidFill>
                <a:schemeClr val="tx1"/>
              </a:solidFill>
              <a:latin typeface="Comic Sans MS" panose="030F0702030302020204" charset="0"/>
              <a:cs typeface="Comic Sans MS" panose="030F0702030302020204" charset="0"/>
            </a:endParaRPr>
          </a:p>
        </p:txBody>
      </p:sp>
      <p:pic>
        <p:nvPicPr>
          <p:cNvPr id="14" name="图片 13" descr="数据库"/>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8011795" y="5062855"/>
            <a:ext cx="758825" cy="758825"/>
          </a:xfrm>
          <a:prstGeom prst="rect">
            <a:avLst/>
          </a:prstGeom>
        </p:spPr>
      </p:pic>
      <p:sp>
        <p:nvSpPr>
          <p:cNvPr id="20" name="文本框 19"/>
          <p:cNvSpPr txBox="1"/>
          <p:nvPr/>
        </p:nvSpPr>
        <p:spPr>
          <a:xfrm>
            <a:off x="7804150" y="5807075"/>
            <a:ext cx="1545590" cy="337185"/>
          </a:xfrm>
          <a:prstGeom prst="rect">
            <a:avLst/>
          </a:prstGeom>
          <a:noFill/>
        </p:spPr>
        <p:txBody>
          <a:bodyPr wrap="square" rtlCol="0">
            <a:spAutoFit/>
          </a:bodyPr>
          <a:p>
            <a:pPr algn="ctr"/>
            <a:r>
              <a:rPr lang="en-US" altLang="zh-CN" sz="1600" b="1">
                <a:latin typeface="Comic Sans MS" panose="030F0702030302020204" charset="0"/>
                <a:cs typeface="Comic Sans MS" panose="030F0702030302020204" charset="0"/>
                <a:sym typeface="+mn-ea"/>
              </a:rPr>
              <a:t>VDBMS state</a:t>
            </a:r>
            <a:endParaRPr lang="en-US" altLang="zh-CN" sz="1600" b="1">
              <a:latin typeface="Comic Sans MS" panose="030F0702030302020204" charset="0"/>
              <a:cs typeface="Comic Sans MS" panose="030F0702030302020204" charset="0"/>
              <a:sym typeface="+mn-ea"/>
            </a:endParaRPr>
          </a:p>
        </p:txBody>
      </p:sp>
      <p:sp>
        <p:nvSpPr>
          <p:cNvPr id="21" name="文本框 20"/>
          <p:cNvSpPr txBox="1"/>
          <p:nvPr/>
        </p:nvSpPr>
        <p:spPr>
          <a:xfrm>
            <a:off x="7879080" y="2961640"/>
            <a:ext cx="3371215" cy="1845310"/>
          </a:xfrm>
          <a:prstGeom prst="rect">
            <a:avLst/>
          </a:prstGeom>
          <a:noFill/>
        </p:spPr>
        <p:txBody>
          <a:bodyPr wrap="square" rtlCol="0" anchor="t">
            <a:noAutofit/>
          </a:bodyPr>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[2026/05/15 06:44:24.253 Z] [GIN]</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[/v2/vectordb/entities/search]</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[traceID=92b0db3bcacc727fbe4727333ca5a0ce]</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[code=200] [latency=2.513332ms]</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[client=172.18.0.1] [method=POST] [error=]</a:t>
            </a:r>
            <a:endParaRPr lang="en-US" altLang="zh-CN" sz="1600">
              <a:solidFill>
                <a:schemeClr val="tx1"/>
              </a:solidFill>
              <a:effectLst/>
              <a:latin typeface="Cambria" panose="02040503050406030204" charset="0"/>
              <a:cs typeface="Cambria" panose="02040503050406030204" charset="0"/>
              <a:sym typeface="+mn-ea"/>
            </a:endParaRPr>
          </a:p>
        </p:txBody>
      </p:sp>
      <p:sp>
        <p:nvSpPr>
          <p:cNvPr id="23" name="文本框 22"/>
          <p:cNvSpPr txBox="1"/>
          <p:nvPr/>
        </p:nvSpPr>
        <p:spPr>
          <a:xfrm>
            <a:off x="5261610" y="3201670"/>
            <a:ext cx="2611120" cy="2891790"/>
          </a:xfrm>
          <a:prstGeom prst="rect">
            <a:avLst/>
          </a:prstGeom>
          <a:noFill/>
        </p:spPr>
        <p:txBody>
          <a:bodyPr wrap="square" rtlCol="0">
            <a:spAutoFit/>
          </a:bodyPr>
          <a:p>
            <a:r>
              <a:rPr lang="en-US" altLang="zh-CN" sz="1400">
                <a:latin typeface="Cambria" panose="02040503050406030204" charset="0"/>
                <a:cs typeface="Cambria" panose="02040503050406030204" charset="0"/>
              </a:rPr>
              <a:t>HTTP/1.1 200 OK</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Content-Type: application/json</a:t>
            </a:r>
            <a:endParaRPr lang="en-US" altLang="zh-CN" sz="1400">
              <a:latin typeface="Cambria" panose="02040503050406030204" charset="0"/>
              <a:cs typeface="Cambria" panose="02040503050406030204" charset="0"/>
            </a:endParaRPr>
          </a:p>
          <a:p>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"code": 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"cost": 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"data": [</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0,    "id": 1},</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64,   "id": 2},</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256,  "id": 3}</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"topks": [3]</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a:t>
            </a:r>
            <a:endParaRPr lang="en-US" altLang="zh-CN" sz="1400">
              <a:latin typeface="Cambria" panose="02040503050406030204" charset="0"/>
              <a:cs typeface="Cambria" panose="02040503050406030204" charset="0"/>
            </a:endParaRPr>
          </a:p>
        </p:txBody>
      </p:sp>
      <p:sp>
        <p:nvSpPr>
          <p:cNvPr id="25" name="文本框 24"/>
          <p:cNvSpPr txBox="1"/>
          <p:nvPr/>
        </p:nvSpPr>
        <p:spPr>
          <a:xfrm>
            <a:off x="8978265" y="5320665"/>
            <a:ext cx="2115185" cy="64516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sym typeface="+mn-ea"/>
              </a:rPr>
              <a:t>No state change observed.</a:t>
            </a:r>
            <a:endParaRPr lang="zh-CN" altLang="en-US"/>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80465"/>
            <a:ext cx="10852150" cy="867410"/>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3:</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we execute the generated scripts against a sandboxed VDBMS instance</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Test Script Execution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sp>
        <p:nvSpPr>
          <p:cNvPr id="67" name="流程图: 过程 66"/>
          <p:cNvSpPr/>
          <p:nvPr/>
        </p:nvSpPr>
        <p:spPr>
          <a:xfrm>
            <a:off x="9451340" y="2610485"/>
            <a:ext cx="2543175" cy="3109595"/>
          </a:xfrm>
          <a:prstGeom prst="flowChartProcess">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a:picLocks noChangeAspect="1"/>
          </p:cNvPicPr>
          <p:nvPr/>
        </p:nvPicPr>
        <p:blipFill>
          <a:blip r:embed="rId3"/>
          <a:stretch>
            <a:fillRect/>
          </a:stretch>
        </p:blipFill>
        <p:spPr>
          <a:xfrm>
            <a:off x="9619615" y="2807970"/>
            <a:ext cx="1256030" cy="1133475"/>
          </a:xfrm>
          <a:prstGeom prst="rect">
            <a:avLst/>
          </a:prstGeom>
        </p:spPr>
      </p:pic>
      <p:sp>
        <p:nvSpPr>
          <p:cNvPr id="10" name="文本框 9"/>
          <p:cNvSpPr txBox="1"/>
          <p:nvPr/>
        </p:nvSpPr>
        <p:spPr>
          <a:xfrm>
            <a:off x="9572625" y="4537075"/>
            <a:ext cx="2301875" cy="368300"/>
          </a:xfrm>
          <a:prstGeom prst="rect">
            <a:avLst/>
          </a:prstGeom>
          <a:noFill/>
        </p:spPr>
        <p:txBody>
          <a:bodyPr wrap="square" rtlCol="0">
            <a:spAutoFit/>
          </a:bodyPr>
          <a:p>
            <a:pPr algn="ctr"/>
            <a:r>
              <a:rPr lang="en-US" altLang="zh-CN" b="1">
                <a:latin typeface="Comic Sans MS" panose="030F0702030302020204" charset="0"/>
                <a:cs typeface="Comic Sans MS" panose="030F0702030302020204" charset="0"/>
              </a:rPr>
              <a:t> </a:t>
            </a:r>
            <a:r>
              <a:rPr lang="en-US" altLang="zh-CN" b="1">
                <a:latin typeface="Comic Sans MS" panose="030F0702030302020204" charset="0"/>
                <a:cs typeface="Comic Sans MS" panose="030F0702030302020204" charset="0"/>
                <a:sym typeface="+mn-ea"/>
              </a:rPr>
              <a:t>VDBMS </a:t>
            </a:r>
            <a:r>
              <a:rPr lang="en-US" altLang="zh-CN" b="1">
                <a:latin typeface="Comic Sans MS" panose="030F0702030302020204" charset="0"/>
                <a:cs typeface="Comic Sans MS" panose="030F0702030302020204" charset="0"/>
              </a:rPr>
              <a:t>Container </a:t>
            </a:r>
            <a:endParaRPr lang="en-US" altLang="zh-CN" b="1">
              <a:latin typeface="Comic Sans MS" panose="030F0702030302020204" charset="0"/>
              <a:cs typeface="Comic Sans MS" panose="030F0702030302020204" charset="0"/>
            </a:endParaRPr>
          </a:p>
        </p:txBody>
      </p:sp>
      <p:sp>
        <p:nvSpPr>
          <p:cNvPr id="28" name="圆角矩形 27"/>
          <p:cNvSpPr/>
          <p:nvPr>
            <p:custDataLst>
              <p:tags r:id="rId4"/>
            </p:custDataLst>
          </p:nvPr>
        </p:nvSpPr>
        <p:spPr>
          <a:xfrm>
            <a:off x="4258310" y="3171825"/>
            <a:ext cx="2954655" cy="230759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32" name="文本框 31"/>
          <p:cNvSpPr txBox="1"/>
          <p:nvPr>
            <p:custDataLst>
              <p:tags r:id="rId5"/>
            </p:custDataLst>
          </p:nvPr>
        </p:nvSpPr>
        <p:spPr>
          <a:xfrm>
            <a:off x="5142230" y="3348355"/>
            <a:ext cx="2074545"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docker-executor</a:t>
            </a:r>
            <a:endParaRPr lang="en-US" altLang="zh-CN" b="1">
              <a:latin typeface="Comic Sans MS" panose="030F0702030302020204" charset="0"/>
              <a:cs typeface="Comic Sans MS" panose="030F0702030302020204" charset="0"/>
            </a:endParaRPr>
          </a:p>
        </p:txBody>
      </p:sp>
      <p:pic>
        <p:nvPicPr>
          <p:cNvPr id="80" name="图片 79" descr="机器人"/>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4347210" y="3221990"/>
            <a:ext cx="708025" cy="592455"/>
          </a:xfrm>
          <a:prstGeom prst="rect">
            <a:avLst/>
          </a:prstGeom>
        </p:spPr>
      </p:pic>
      <p:sp>
        <p:nvSpPr>
          <p:cNvPr id="37" name="下箭头 36"/>
          <p:cNvSpPr/>
          <p:nvPr>
            <p:custDataLst>
              <p:tags r:id="rId9"/>
            </p:custDataLst>
          </p:nvPr>
        </p:nvSpPr>
        <p:spPr>
          <a:xfrm>
            <a:off x="5315585" y="2779395"/>
            <a:ext cx="378460" cy="28384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圆角矩形 38"/>
          <p:cNvSpPr/>
          <p:nvPr>
            <p:custDataLst>
              <p:tags r:id="rId10"/>
            </p:custDataLst>
          </p:nvPr>
        </p:nvSpPr>
        <p:spPr>
          <a:xfrm>
            <a:off x="4277360" y="2047875"/>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45" name="图片 44" descr="软件"/>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4347210" y="2084070"/>
            <a:ext cx="652780" cy="603885"/>
          </a:xfrm>
          <a:prstGeom prst="rect">
            <a:avLst/>
          </a:prstGeom>
        </p:spPr>
      </p:pic>
      <p:sp>
        <p:nvSpPr>
          <p:cNvPr id="46" name="文本框 45"/>
          <p:cNvSpPr txBox="1"/>
          <p:nvPr>
            <p:custDataLst>
              <p:tags r:id="rId14"/>
            </p:custDataLst>
          </p:nvPr>
        </p:nvSpPr>
        <p:spPr>
          <a:xfrm>
            <a:off x="5055235" y="2186305"/>
            <a:ext cx="187769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test scripts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cxnSp>
        <p:nvCxnSpPr>
          <p:cNvPr id="48" name="直接箭头连接符 47"/>
          <p:cNvCxnSpPr/>
          <p:nvPr/>
        </p:nvCxnSpPr>
        <p:spPr>
          <a:xfrm flipV="1">
            <a:off x="7216140" y="3592830"/>
            <a:ext cx="2217420" cy="3810"/>
          </a:xfrm>
          <a:prstGeom prst="straightConnector1">
            <a:avLst/>
          </a:prstGeom>
          <a:ln w="22225">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51" name="文本框 50"/>
          <p:cNvSpPr txBox="1"/>
          <p:nvPr/>
        </p:nvSpPr>
        <p:spPr>
          <a:xfrm>
            <a:off x="7016750" y="3337560"/>
            <a:ext cx="2695575" cy="301625"/>
          </a:xfrm>
          <a:prstGeom prst="rect">
            <a:avLst/>
          </a:prstGeom>
          <a:noFill/>
        </p:spPr>
        <p:txBody>
          <a:bodyPr wrap="square" rtlCol="0" anchor="t">
            <a:noAutofit/>
          </a:bodyPr>
          <a:p>
            <a:pPr algn="ctr">
              <a:lnSpc>
                <a:spcPct val="100000"/>
              </a:lnSpc>
            </a:pPr>
            <a:r>
              <a:rPr lang="en-US" altLang="zh-CN" sz="1400" dirty="0" err="1">
                <a:latin typeface="Comic Sans MS" panose="030F0702030302020204" charset="0"/>
                <a:ea typeface="Microsoft YaHei" panose="020B0503020204020204" charset="-122"/>
                <a:cs typeface="Comic Sans MS" panose="030F0702030302020204" charset="0"/>
                <a:sym typeface="+mn-ea"/>
              </a:rPr>
              <a:t>HTTP </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a:p>
            <a:pPr algn="ctr">
              <a:lnSpc>
                <a:spcPct val="100000"/>
              </a:lnSpc>
            </a:pPr>
            <a:r>
              <a:rPr lang="en-US" altLang="zh-CN" sz="1400" dirty="0" err="1">
                <a:latin typeface="Comic Sans MS" panose="030F0702030302020204" charset="0"/>
                <a:ea typeface="Microsoft YaHei" panose="020B0503020204020204" charset="-122"/>
                <a:cs typeface="Comic Sans MS" panose="030F0702030302020204" charset="0"/>
                <a:sym typeface="+mn-ea"/>
              </a:rPr>
              <a:t>via TESTVDB_DB_URL</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55" name="流程图: 过程 54"/>
          <p:cNvSpPr/>
          <p:nvPr/>
        </p:nvSpPr>
        <p:spPr>
          <a:xfrm>
            <a:off x="54610" y="2261870"/>
            <a:ext cx="3839845" cy="3458845"/>
          </a:xfrm>
          <a:prstGeom prst="flowChartProcess">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6" name="图片 55" descr="ai_picture_gb_1786506268724_hteockqc_0"/>
          <p:cNvPicPr>
            <a:picLocks noChangeAspect="1"/>
          </p:cNvPicPr>
          <p:nvPr>
            <p:custDataLst>
              <p:tags r:id="rId15"/>
            </p:custDataLst>
          </p:nvPr>
        </p:nvPicPr>
        <p:blipFill>
          <a:blip r:embed="rId16"/>
          <a:srcRect l="29593" t="21757" r="29843" b="21520"/>
          <a:stretch>
            <a:fillRect/>
          </a:stretch>
        </p:blipFill>
        <p:spPr>
          <a:xfrm>
            <a:off x="151130" y="2339975"/>
            <a:ext cx="718820" cy="794385"/>
          </a:xfrm>
          <a:prstGeom prst="rect">
            <a:avLst/>
          </a:prstGeom>
          <a:ln w="19050">
            <a:noFill/>
          </a:ln>
        </p:spPr>
      </p:pic>
      <p:sp>
        <p:nvSpPr>
          <p:cNvPr id="57" name="矩形 56"/>
          <p:cNvSpPr/>
          <p:nvPr/>
        </p:nvSpPr>
        <p:spPr>
          <a:xfrm>
            <a:off x="951865" y="2404110"/>
            <a:ext cx="2812415" cy="79375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1.Set variables + write .executor.env</a:t>
            </a:r>
            <a:endParaRPr lang="en-US" altLang="zh-CN" sz="1600">
              <a:solidFill>
                <a:schemeClr val="tx1"/>
              </a:solidFill>
              <a:latin typeface="Comic Sans MS" panose="030F0702030302020204" charset="0"/>
              <a:cs typeface="Comic Sans MS" panose="030F0702030302020204" charset="0"/>
            </a:endParaRPr>
          </a:p>
          <a:p>
            <a:pPr algn="ctr"/>
            <a:r>
              <a:rPr lang="en-US" altLang="zh-CN" sz="1400">
                <a:solidFill>
                  <a:schemeClr val="tx1"/>
                </a:solidFill>
                <a:latin typeface="Comic Sans MS" panose="030F0702030302020204" charset="0"/>
                <a:cs typeface="Comic Sans MS" panose="030F0702030302020204" charset="0"/>
              </a:rPr>
              <a:t>(target/version/session_dir)</a:t>
            </a:r>
            <a:endParaRPr lang="en-US" altLang="zh-CN" sz="1400">
              <a:solidFill>
                <a:schemeClr val="tx1"/>
              </a:solidFill>
              <a:latin typeface="Comic Sans MS" panose="030F0702030302020204" charset="0"/>
              <a:cs typeface="Comic Sans MS" panose="030F0702030302020204" charset="0"/>
            </a:endParaRPr>
          </a:p>
        </p:txBody>
      </p:sp>
      <p:sp>
        <p:nvSpPr>
          <p:cNvPr id="60" name="矩形 59"/>
          <p:cNvSpPr/>
          <p:nvPr/>
        </p:nvSpPr>
        <p:spPr>
          <a:xfrm>
            <a:off x="951865" y="3272155"/>
            <a:ext cx="2811780" cy="73469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2.Ensure DB container is running </a:t>
            </a:r>
            <a:r>
              <a:rPr lang="en-US" altLang="zh-CN" sz="1400">
                <a:solidFill>
                  <a:schemeClr val="tx1"/>
                </a:solidFill>
                <a:latin typeface="Comic Sans MS" panose="030F0702030302020204" charset="0"/>
                <a:cs typeface="Comic Sans MS" panose="030F0702030302020204" charset="0"/>
              </a:rPr>
              <a:t>(health check)</a:t>
            </a:r>
            <a:endParaRPr lang="en-US" altLang="zh-CN" sz="1400">
              <a:solidFill>
                <a:schemeClr val="tx1"/>
              </a:solidFill>
              <a:latin typeface="Comic Sans MS" panose="030F0702030302020204" charset="0"/>
              <a:cs typeface="Comic Sans MS" panose="030F0702030302020204" charset="0"/>
            </a:endParaRPr>
          </a:p>
        </p:txBody>
      </p:sp>
      <p:sp>
        <p:nvSpPr>
          <p:cNvPr id="63" name="文本框 62"/>
          <p:cNvSpPr txBox="1"/>
          <p:nvPr/>
        </p:nvSpPr>
        <p:spPr>
          <a:xfrm>
            <a:off x="-76835" y="3108325"/>
            <a:ext cx="1174750" cy="65087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docker</a:t>
            </a:r>
            <a:endParaRPr lang="en-US" altLang="zh-CN" sz="1400">
              <a:latin typeface="Comic Sans MS" panose="030F0702030302020204" charset="0"/>
              <a:cs typeface="Comic Sans MS" panose="030F0702030302020204" charset="0"/>
              <a:sym typeface="+mn-ea"/>
            </a:endParaRPr>
          </a:p>
          <a:p>
            <a:pPr algn="ctr"/>
            <a:r>
              <a:rPr lang="en-US" altLang="zh-CN" sz="1400">
                <a:latin typeface="Comic Sans MS" panose="030F0702030302020204" charset="0"/>
                <a:cs typeface="Comic Sans MS" panose="030F0702030302020204" charset="0"/>
                <a:sym typeface="+mn-ea"/>
              </a:rPr>
              <a:t>-executor</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61" name="矩形 60"/>
          <p:cNvSpPr/>
          <p:nvPr/>
        </p:nvSpPr>
        <p:spPr>
          <a:xfrm>
            <a:off x="952500" y="4081145"/>
            <a:ext cx="2811780" cy="73469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3.Run scripts in batch </a:t>
            </a:r>
            <a:endParaRPr lang="en-US" altLang="zh-CN" sz="1600">
              <a:solidFill>
                <a:schemeClr val="tx1"/>
              </a:solidFill>
              <a:latin typeface="Comic Sans MS" panose="030F0702030302020204" charset="0"/>
              <a:cs typeface="Comic Sans MS" panose="030F0702030302020204" charset="0"/>
            </a:endParaRPr>
          </a:p>
          <a:p>
            <a:pPr algn="ctr"/>
            <a:r>
              <a:rPr lang="en-US" altLang="zh-CN" sz="1400">
                <a:solidFill>
                  <a:schemeClr val="tx1"/>
                </a:solidFill>
                <a:latin typeface="Comic Sans MS" panose="030F0702030302020204" charset="0"/>
                <a:cs typeface="Comic Sans MS" panose="030F0702030302020204" charset="0"/>
              </a:rPr>
              <a:t>(host Python, no docker exec)</a:t>
            </a:r>
            <a:endParaRPr lang="en-US" altLang="zh-CN" sz="1400">
              <a:solidFill>
                <a:schemeClr val="tx1"/>
              </a:solidFill>
              <a:latin typeface="Comic Sans MS" panose="030F0702030302020204" charset="0"/>
              <a:cs typeface="Comic Sans MS" panose="030F0702030302020204" charset="0"/>
            </a:endParaRPr>
          </a:p>
        </p:txBody>
      </p:sp>
      <p:sp>
        <p:nvSpPr>
          <p:cNvPr id="62" name="矩形 61"/>
          <p:cNvSpPr/>
          <p:nvPr/>
        </p:nvSpPr>
        <p:spPr>
          <a:xfrm>
            <a:off x="952500" y="4890135"/>
            <a:ext cx="2811780" cy="73469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4.Verify outputs</a:t>
            </a:r>
            <a:br>
              <a:rPr lang="en-US" altLang="zh-CN" sz="1400">
                <a:solidFill>
                  <a:schemeClr val="tx1"/>
                </a:solidFill>
                <a:latin typeface="Comic Sans MS" panose="030F0702030302020204" charset="0"/>
                <a:cs typeface="Comic Sans MS" panose="030F0702030302020204" charset="0"/>
              </a:rPr>
            </a:br>
            <a:r>
              <a:rPr lang="en-US" altLang="zh-CN" sz="1400">
                <a:solidFill>
                  <a:schemeClr val="tx1"/>
                </a:solidFill>
                <a:latin typeface="Comic Sans MS" panose="030F0702030302020204" charset="0"/>
                <a:cs typeface="Comic Sans MS" panose="030F0702030302020204" charset="0"/>
              </a:rPr>
              <a:t> (.done / .log counts)</a:t>
            </a:r>
            <a:endParaRPr lang="en-US" altLang="zh-CN" sz="1400">
              <a:solidFill>
                <a:schemeClr val="tx1"/>
              </a:solidFill>
              <a:latin typeface="Comic Sans MS" panose="030F0702030302020204" charset="0"/>
              <a:cs typeface="Comic Sans MS" panose="030F0702030302020204" charset="0"/>
            </a:endParaRPr>
          </a:p>
        </p:txBody>
      </p:sp>
      <p:sp>
        <p:nvSpPr>
          <p:cNvPr id="64" name="文本框 63"/>
          <p:cNvSpPr txBox="1"/>
          <p:nvPr/>
        </p:nvSpPr>
        <p:spPr>
          <a:xfrm>
            <a:off x="5770245" y="2752090"/>
            <a:ext cx="1078230" cy="301625"/>
          </a:xfrm>
          <a:prstGeom prst="rect">
            <a:avLst/>
          </a:prstGeom>
          <a:noFill/>
        </p:spPr>
        <p:txBody>
          <a:bodyPr wrap="square" rtlCol="0" anchor="t">
            <a:noAutofit/>
          </a:bodyPr>
          <a:p>
            <a:pPr algn="l"/>
            <a:r>
              <a:rPr lang="en-US" altLang="zh-CN" sz="1400" dirty="0" err="1">
                <a:latin typeface="Comic Sans MS" panose="030F0702030302020204" charset="0"/>
                <a:ea typeface="Microsoft YaHei" panose="020B0503020204020204" charset="-122"/>
                <a:cs typeface="Comic Sans MS" panose="030F0702030302020204" charset="0"/>
                <a:sym typeface="+mn-ea"/>
              </a:rPr>
              <a:t>{.....}.py *</a:t>
            </a:r>
            <a:r>
              <a:rPr lang="en-US" altLang="zh-CN" sz="1400" dirty="0" err="1">
                <a:latin typeface="Comic Sans MS" panose="030F0702030302020204" charset="0"/>
                <a:ea typeface="Microsoft YaHei" panose="020B0503020204020204" charset="-122"/>
                <a:cs typeface="Comic Sans MS" panose="030F0702030302020204" charset="0"/>
                <a:sym typeface="+mn-ea"/>
              </a:rPr>
              <a:t>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cxnSp>
        <p:nvCxnSpPr>
          <p:cNvPr id="65" name="直接连接符 64"/>
          <p:cNvCxnSpPr>
            <a:stCxn id="28" idx="1"/>
            <a:endCxn id="55" idx="3"/>
          </p:cNvCxnSpPr>
          <p:nvPr/>
        </p:nvCxnSpPr>
        <p:spPr>
          <a:xfrm flipH="1" flipV="1">
            <a:off x="3894455" y="3991610"/>
            <a:ext cx="363855" cy="334010"/>
          </a:xfrm>
          <a:prstGeom prst="line">
            <a:avLst/>
          </a:prstGeom>
        </p:spPr>
        <p:style>
          <a:lnRef idx="2">
            <a:schemeClr val="accent1"/>
          </a:lnRef>
          <a:fillRef idx="0">
            <a:srgbClr val="FFFFFF"/>
          </a:fillRef>
          <a:effectRef idx="0">
            <a:srgbClr val="FFFFFF"/>
          </a:effectRef>
          <a:fontRef idx="minor">
            <a:schemeClr val="tx1"/>
          </a:fontRef>
        </p:style>
      </p:cxnSp>
      <p:sp>
        <p:nvSpPr>
          <p:cNvPr id="76" name="矩形 75"/>
          <p:cNvSpPr/>
          <p:nvPr/>
        </p:nvSpPr>
        <p:spPr>
          <a:xfrm>
            <a:off x="4347210" y="3826510"/>
            <a:ext cx="2807335" cy="1470025"/>
          </a:xfrm>
          <a:prstGeom prst="rect">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en-US" altLang="zh-CN" sz="1600">
              <a:solidFill>
                <a:schemeClr val="tx1"/>
              </a:solidFill>
              <a:latin typeface="Comic Sans MS" panose="030F0702030302020204" charset="0"/>
              <a:cs typeface="Comic Sans MS" panose="030F0702030302020204" charset="0"/>
            </a:endParaRPr>
          </a:p>
        </p:txBody>
      </p:sp>
      <p:sp>
        <p:nvSpPr>
          <p:cNvPr id="75" name="矩形 74"/>
          <p:cNvSpPr/>
          <p:nvPr/>
        </p:nvSpPr>
        <p:spPr>
          <a:xfrm>
            <a:off x="4347210" y="3827145"/>
            <a:ext cx="1978660" cy="339090"/>
          </a:xfrm>
          <a:prstGeom prst="rect">
            <a:avLst/>
          </a:prstGeom>
          <a:solidFill>
            <a:schemeClr val="accent4">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a:solidFill>
                  <a:schemeClr val="tx1"/>
                </a:solidFill>
                <a:latin typeface="Comic Sans MS" panose="030F0702030302020204" charset="0"/>
                <a:cs typeface="Comic Sans MS" panose="030F0702030302020204" charset="0"/>
              </a:rPr>
              <a:t>E</a:t>
            </a:r>
            <a:r>
              <a:rPr lang="en-US" altLang="zh-CN" sz="1600">
                <a:solidFill>
                  <a:schemeClr val="tx1"/>
                </a:solidFill>
                <a:latin typeface="Comic Sans MS" panose="030F0702030302020204" charset="0"/>
                <a:cs typeface="Comic Sans MS" panose="030F0702030302020204" charset="0"/>
              </a:rPr>
              <a:t>xecution outputs</a:t>
            </a:r>
            <a:endParaRPr lang="en-US" altLang="zh-CN" sz="1600">
              <a:solidFill>
                <a:schemeClr val="tx1"/>
              </a:solidFill>
              <a:latin typeface="Comic Sans MS" panose="030F0702030302020204" charset="0"/>
              <a:cs typeface="Comic Sans MS" panose="030F0702030302020204" charset="0"/>
            </a:endParaRPr>
          </a:p>
        </p:txBody>
      </p:sp>
      <p:sp>
        <p:nvSpPr>
          <p:cNvPr id="77" name="矩形 76"/>
          <p:cNvSpPr/>
          <p:nvPr/>
        </p:nvSpPr>
        <p:spPr>
          <a:xfrm>
            <a:off x="4388485" y="4288790"/>
            <a:ext cx="2710180" cy="38989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olidFill>
                  <a:schemeClr val="tx1"/>
                </a:solidFill>
                <a:latin typeface="Comic Sans MS" panose="030F0702030302020204" charset="0"/>
                <a:cs typeface="Comic Sans MS" panose="030F0702030302020204" charset="0"/>
              </a:rPr>
              <a:t>output_${B}.log        </a:t>
            </a:r>
            <a:endParaRPr lang="en-US" altLang="zh-CN" sz="1400">
              <a:solidFill>
                <a:schemeClr val="tx1"/>
              </a:solidFill>
              <a:latin typeface="Comic Sans MS" panose="030F0702030302020204" charset="0"/>
              <a:cs typeface="Comic Sans MS" panose="030F0702030302020204" charset="0"/>
            </a:endParaRPr>
          </a:p>
        </p:txBody>
      </p:sp>
      <p:sp>
        <p:nvSpPr>
          <p:cNvPr id="78" name="文本框 77"/>
          <p:cNvSpPr txBox="1"/>
          <p:nvPr/>
        </p:nvSpPr>
        <p:spPr>
          <a:xfrm>
            <a:off x="7517130" y="4168775"/>
            <a:ext cx="1723390" cy="521970"/>
          </a:xfrm>
          <a:prstGeom prst="rect">
            <a:avLst/>
          </a:prstGeom>
          <a:noFill/>
        </p:spPr>
        <p:txBody>
          <a:bodyPr wrap="square" rtlCol="0">
            <a:spAutoFit/>
          </a:bodyPr>
          <a:p>
            <a:pPr algn="ctr">
              <a:lnSpc>
                <a:spcPct val="100000"/>
              </a:lnSpc>
            </a:pPr>
            <a:r>
              <a:rPr lang="en-US" altLang="zh-CN" sz="1400">
                <a:latin typeface="Comic Sans MS" panose="030F0702030302020204" charset="0"/>
                <a:cs typeface="Comic Sans MS" panose="030F0702030302020204" charset="0"/>
                <a:sym typeface="+mn-ea"/>
              </a:rPr>
              <a:t>raw HTTP request + response </a:t>
            </a:r>
            <a:endParaRPr lang="en-US" altLang="zh-CN" sz="1400">
              <a:latin typeface="Comic Sans MS" panose="030F0702030302020204" charset="0"/>
              <a:cs typeface="Comic Sans MS" panose="030F0702030302020204" charset="0"/>
              <a:sym typeface="+mn-ea"/>
            </a:endParaRPr>
          </a:p>
        </p:txBody>
      </p:sp>
      <p:cxnSp>
        <p:nvCxnSpPr>
          <p:cNvPr id="79" name="直接箭头连接符 78"/>
          <p:cNvCxnSpPr>
            <a:endCxn id="77" idx="3"/>
          </p:cNvCxnSpPr>
          <p:nvPr/>
        </p:nvCxnSpPr>
        <p:spPr>
          <a:xfrm flipH="1" flipV="1">
            <a:off x="7098665" y="4483735"/>
            <a:ext cx="2368550" cy="3175"/>
          </a:xfrm>
          <a:prstGeom prst="straightConnector1">
            <a:avLst/>
          </a:prstGeom>
          <a:ln w="22225">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81" name="矩形 80"/>
          <p:cNvSpPr/>
          <p:nvPr/>
        </p:nvSpPr>
        <p:spPr>
          <a:xfrm>
            <a:off x="4388485" y="4784090"/>
            <a:ext cx="2710180" cy="38989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olidFill>
                  <a:schemeClr val="tx1"/>
                </a:solidFill>
                <a:latin typeface="Comic Sans MS" panose="030F0702030302020204" charset="0"/>
                <a:cs typeface="Comic Sans MS" panose="030F0702030302020204" charset="0"/>
              </a:rPr>
              <a:t>output_${B}.log.done  </a:t>
            </a:r>
            <a:endParaRPr lang="en-US" altLang="zh-CN" sz="1400">
              <a:solidFill>
                <a:schemeClr val="tx1"/>
              </a:solidFill>
              <a:latin typeface="Comic Sans MS" panose="030F0702030302020204" charset="0"/>
              <a:cs typeface="Comic Sans MS" panose="030F0702030302020204" charset="0"/>
            </a:endParaRPr>
          </a:p>
        </p:txBody>
      </p:sp>
      <p:cxnSp>
        <p:nvCxnSpPr>
          <p:cNvPr id="82" name="直接箭头连接符 81"/>
          <p:cNvCxnSpPr/>
          <p:nvPr/>
        </p:nvCxnSpPr>
        <p:spPr>
          <a:xfrm flipH="1" flipV="1">
            <a:off x="7101840" y="4979035"/>
            <a:ext cx="2348865" cy="1905"/>
          </a:xfrm>
          <a:prstGeom prst="straightConnector1">
            <a:avLst/>
          </a:prstGeom>
          <a:ln w="22225">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83" name="文本框 82"/>
          <p:cNvSpPr txBox="1"/>
          <p:nvPr/>
        </p:nvSpPr>
        <p:spPr>
          <a:xfrm>
            <a:off x="7126605" y="4905375"/>
            <a:ext cx="2418080" cy="264160"/>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 atomic completion marker</a:t>
            </a:r>
            <a:endParaRPr lang="en-US" altLang="zh-CN" sz="1400">
              <a:solidFill>
                <a:schemeClr val="tx1"/>
              </a:solidFill>
              <a:latin typeface="Comic Sans MS" panose="030F0702030302020204" charset="0"/>
              <a:cs typeface="Comic Sans MS" panose="030F0702030302020204" charset="0"/>
            </a:endParaRPr>
          </a:p>
          <a:p>
            <a:endParaRPr lang="en-US" altLang="zh-CN" sz="1400">
              <a:solidFill>
                <a:schemeClr val="tx1"/>
              </a:solidFill>
              <a:latin typeface="Comic Sans MS" panose="030F0702030302020204" charset="0"/>
              <a:cs typeface="Comic Sans MS" panose="030F0702030302020204" charset="0"/>
            </a:endParaRPr>
          </a:p>
        </p:txBody>
      </p:sp>
      <p:sp>
        <p:nvSpPr>
          <p:cNvPr id="93" name="圆角矩形 92"/>
          <p:cNvSpPr/>
          <p:nvPr>
            <p:custDataLst>
              <p:tags r:id="rId17"/>
            </p:custDataLst>
          </p:nvPr>
        </p:nvSpPr>
        <p:spPr>
          <a:xfrm>
            <a:off x="4277360" y="581914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95" name="文本框 94"/>
          <p:cNvSpPr txBox="1"/>
          <p:nvPr>
            <p:custDataLst>
              <p:tags r:id="rId18"/>
            </p:custDataLst>
          </p:nvPr>
        </p:nvSpPr>
        <p:spPr>
          <a:xfrm>
            <a:off x="5057775" y="5960110"/>
            <a:ext cx="1877695" cy="484505"/>
          </a:xfrm>
          <a:prstGeom prst="rect">
            <a:avLst/>
          </a:prstGeom>
          <a:noFill/>
        </p:spPr>
        <p:txBody>
          <a:bodyPr wrap="square" rtlCol="0">
            <a:noAutofit/>
          </a:bodyPr>
          <a:p>
            <a:pPr algn="ctr"/>
            <a:r>
              <a:rPr lang="en-US" altLang="zh-CN" b="1">
                <a:solidFill>
                  <a:schemeClr val="tx2"/>
                </a:solidFill>
                <a:latin typeface="Comic Sans MS" panose="030F0702030302020204" charset="0"/>
                <a:cs typeface="Comic Sans MS" panose="030F0702030302020204" charset="0"/>
                <a:sym typeface="+mn-ea"/>
              </a:rPr>
              <a:t>Test outputs</a:t>
            </a:r>
            <a:endParaRPr lang="en-US" altLang="zh-CN" b="1"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pic>
        <p:nvPicPr>
          <p:cNvPr id="88" name="图片 87" descr="数据库"/>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4319905" y="5845175"/>
            <a:ext cx="665480" cy="599440"/>
          </a:xfrm>
          <a:prstGeom prst="rect">
            <a:avLst/>
          </a:prstGeom>
        </p:spPr>
      </p:pic>
      <p:sp>
        <p:nvSpPr>
          <p:cNvPr id="97" name="下箭头 96"/>
          <p:cNvSpPr/>
          <p:nvPr>
            <p:custDataLst>
              <p:tags r:id="rId22"/>
            </p:custDataLst>
          </p:nvPr>
        </p:nvSpPr>
        <p:spPr>
          <a:xfrm>
            <a:off x="5315585" y="5498465"/>
            <a:ext cx="378460" cy="28384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8" name="文本框 97"/>
          <p:cNvSpPr txBox="1"/>
          <p:nvPr/>
        </p:nvSpPr>
        <p:spPr>
          <a:xfrm>
            <a:off x="5770245" y="5471160"/>
            <a:ext cx="1901190" cy="309880"/>
          </a:xfrm>
          <a:prstGeom prst="rect">
            <a:avLst/>
          </a:prstGeom>
          <a:noFill/>
        </p:spPr>
        <p:txBody>
          <a:bodyPr wrap="square" rtlCol="0" anchor="t">
            <a:noAutofit/>
          </a:bodyPr>
          <a:p>
            <a:pPr algn="l"/>
            <a:r>
              <a:rPr lang="en-US" altLang="zh-CN" sz="1400">
                <a:latin typeface="Comic Sans MS" panose="030F0702030302020204" charset="0"/>
                <a:cs typeface="Comic Sans MS" panose="030F0702030302020204" charset="0"/>
                <a:sym typeface="+mn-ea"/>
              </a:rPr>
              <a:t>output_${B}.log</a:t>
            </a:r>
            <a:r>
              <a:rPr lang="en-US" altLang="zh-CN" sz="1400" dirty="0" err="1">
                <a:latin typeface="Comic Sans MS" panose="030F0702030302020204" charset="0"/>
                <a:ea typeface="Microsoft YaHei" panose="020B0503020204020204" charset="-122"/>
                <a:cs typeface="Comic Sans MS" panose="030F0702030302020204" charset="0"/>
                <a:sym typeface="+mn-ea"/>
              </a:rPr>
              <a:t> *</a:t>
            </a:r>
            <a:r>
              <a:rPr lang="en-US" altLang="zh-CN" sz="1400" dirty="0" err="1">
                <a:latin typeface="Comic Sans MS" panose="030F0702030302020204" charset="0"/>
                <a:ea typeface="Microsoft YaHei" panose="020B0503020204020204" charset="-122"/>
                <a:cs typeface="Comic Sans MS" panose="030F0702030302020204" charset="0"/>
                <a:sym typeface="+mn-ea"/>
              </a:rPr>
              <a:t>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7" grpId="0" animBg="1"/>
      <p:bldP spid="60" grpId="0" animBg="1"/>
      <p:bldP spid="63" grpId="0"/>
      <p:bldP spid="61" grpId="0" animBg="1"/>
      <p:bldP spid="6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61415"/>
            <a:ext cx="10852150" cy="491299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4:</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we confirm defects by comparing the expected behavior (claims) against the actual behavior (execution)</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8290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Defect Confirmation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sp>
        <p:nvSpPr>
          <p:cNvPr id="7" name="圆角矩形 6"/>
          <p:cNvSpPr/>
          <p:nvPr>
            <p:custDataLst>
              <p:tags r:id="rId3"/>
            </p:custDataLst>
          </p:nvPr>
        </p:nvSpPr>
        <p:spPr>
          <a:xfrm>
            <a:off x="248285" y="2038350"/>
            <a:ext cx="6125845" cy="470344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圆角矩形 17"/>
          <p:cNvSpPr/>
          <p:nvPr/>
        </p:nvSpPr>
        <p:spPr>
          <a:xfrm>
            <a:off x="2922905" y="2189480"/>
            <a:ext cx="3308985" cy="2895600"/>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p:txBody>
      </p:sp>
      <p:pic>
        <p:nvPicPr>
          <p:cNvPr id="13" name="图片 12" descr="文件"/>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2938780" y="2308225"/>
            <a:ext cx="883920" cy="702945"/>
          </a:xfrm>
          <a:prstGeom prst="rect">
            <a:avLst/>
          </a:prstGeom>
        </p:spPr>
      </p:pic>
      <p:sp>
        <p:nvSpPr>
          <p:cNvPr id="24" name="圆角矩形 23"/>
          <p:cNvSpPr/>
          <p:nvPr/>
        </p:nvSpPr>
        <p:spPr>
          <a:xfrm>
            <a:off x="389255" y="2189480"/>
            <a:ext cx="2474595" cy="4333875"/>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p:txBody>
      </p:sp>
      <p:pic>
        <p:nvPicPr>
          <p:cNvPr id="31" name="图片 30" descr="文件"/>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464185" y="2291715"/>
            <a:ext cx="699770" cy="719455"/>
          </a:xfrm>
          <a:prstGeom prst="rect">
            <a:avLst/>
          </a:prstGeom>
        </p:spPr>
      </p:pic>
      <p:sp>
        <p:nvSpPr>
          <p:cNvPr id="42" name="文本框 41"/>
          <p:cNvSpPr txBox="1"/>
          <p:nvPr/>
        </p:nvSpPr>
        <p:spPr>
          <a:xfrm>
            <a:off x="1072515" y="2559050"/>
            <a:ext cx="1858645" cy="337185"/>
          </a:xfrm>
          <a:prstGeom prst="rect">
            <a:avLst/>
          </a:prstGeom>
          <a:noFill/>
        </p:spPr>
        <p:txBody>
          <a:bodyPr wrap="square" rtlCol="0">
            <a:spAutoFit/>
          </a:bodyPr>
          <a:p>
            <a:pPr algn="ctr"/>
            <a:r>
              <a:rPr lang="en-US" altLang="zh-CN" sz="1600" b="1">
                <a:latin typeface="Comic Sans MS" panose="030F0702030302020204" charset="0"/>
                <a:cs typeface="Comic Sans MS" panose="030F0702030302020204" charset="0"/>
                <a:sym typeface="+mn-ea"/>
              </a:rPr>
              <a:t>VDBMS response</a:t>
            </a:r>
            <a:endParaRPr lang="en-US" altLang="zh-CN" sz="1600" b="1">
              <a:latin typeface="Comic Sans MS" panose="030F0702030302020204" charset="0"/>
              <a:cs typeface="Comic Sans MS" panose="030F0702030302020204" charset="0"/>
              <a:sym typeface="+mn-ea"/>
            </a:endParaRPr>
          </a:p>
        </p:txBody>
      </p:sp>
      <p:sp>
        <p:nvSpPr>
          <p:cNvPr id="43" name="文本框 42"/>
          <p:cNvSpPr txBox="1"/>
          <p:nvPr/>
        </p:nvSpPr>
        <p:spPr>
          <a:xfrm>
            <a:off x="3830320" y="2543175"/>
            <a:ext cx="2186940" cy="327025"/>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sym typeface="+mn-ea"/>
              </a:rPr>
              <a:t>VDBMS logs</a:t>
            </a:r>
            <a:endParaRPr lang="en-US" altLang="zh-CN" b="1">
              <a:latin typeface="Comic Sans MS" panose="030F0702030302020204" charset="0"/>
              <a:cs typeface="Comic Sans MS" panose="030F0702030302020204" charset="0"/>
              <a:sym typeface="+mn-ea"/>
            </a:endParaRPr>
          </a:p>
        </p:txBody>
      </p:sp>
      <p:sp>
        <p:nvSpPr>
          <p:cNvPr id="17" name="圆角矩形 16"/>
          <p:cNvSpPr/>
          <p:nvPr/>
        </p:nvSpPr>
        <p:spPr>
          <a:xfrm>
            <a:off x="2922905" y="5143500"/>
            <a:ext cx="3308985" cy="1329055"/>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600">
              <a:solidFill>
                <a:schemeClr val="tx1"/>
              </a:solidFill>
              <a:latin typeface="Comic Sans MS" panose="030F0702030302020204" charset="0"/>
              <a:cs typeface="Comic Sans MS" panose="030F0702030302020204" charset="0"/>
            </a:endParaRPr>
          </a:p>
        </p:txBody>
      </p:sp>
      <p:pic>
        <p:nvPicPr>
          <p:cNvPr id="14" name="图片 13" descr="数据库"/>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3071495" y="5227320"/>
            <a:ext cx="758825" cy="758825"/>
          </a:xfrm>
          <a:prstGeom prst="rect">
            <a:avLst/>
          </a:prstGeom>
        </p:spPr>
      </p:pic>
      <p:sp>
        <p:nvSpPr>
          <p:cNvPr id="20" name="文本框 19"/>
          <p:cNvSpPr txBox="1"/>
          <p:nvPr/>
        </p:nvSpPr>
        <p:spPr>
          <a:xfrm>
            <a:off x="2863850" y="5939790"/>
            <a:ext cx="1647190" cy="337185"/>
          </a:xfrm>
          <a:prstGeom prst="rect">
            <a:avLst/>
          </a:prstGeom>
          <a:noFill/>
        </p:spPr>
        <p:txBody>
          <a:bodyPr wrap="square" rtlCol="0">
            <a:spAutoFit/>
          </a:bodyPr>
          <a:p>
            <a:pPr algn="ctr"/>
            <a:r>
              <a:rPr lang="en-US" altLang="zh-CN" sz="1600" b="1">
                <a:latin typeface="Comic Sans MS" panose="030F0702030302020204" charset="0"/>
                <a:cs typeface="Comic Sans MS" panose="030F0702030302020204" charset="0"/>
                <a:sym typeface="+mn-ea"/>
              </a:rPr>
              <a:t>VDBMS state</a:t>
            </a:r>
            <a:endParaRPr lang="en-US" altLang="zh-CN" sz="1600" b="1">
              <a:latin typeface="Comic Sans MS" panose="030F0702030302020204" charset="0"/>
              <a:cs typeface="Comic Sans MS" panose="030F0702030302020204" charset="0"/>
              <a:sym typeface="+mn-ea"/>
            </a:endParaRPr>
          </a:p>
        </p:txBody>
      </p:sp>
      <p:sp>
        <p:nvSpPr>
          <p:cNvPr id="21" name="文本框 20"/>
          <p:cNvSpPr txBox="1"/>
          <p:nvPr/>
        </p:nvSpPr>
        <p:spPr>
          <a:xfrm>
            <a:off x="2938780" y="3126105"/>
            <a:ext cx="3371215" cy="1845310"/>
          </a:xfrm>
          <a:prstGeom prst="rect">
            <a:avLst/>
          </a:prstGeom>
          <a:noFill/>
        </p:spPr>
        <p:txBody>
          <a:bodyPr wrap="square" rtlCol="0" anchor="t">
            <a:noAutofit/>
          </a:bodyPr>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[2026/05/15 06:44:24.253 Z] [GIN]</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[/v2/vectordb/entities/search]</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[traceID=92b0db3bcacc727fbe4727333ca5a0ce]</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[code=200] [latency=2.513332ms]</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[client=172.18.0.1] [method=POST] [error=]</a:t>
            </a:r>
            <a:endParaRPr lang="en-US" altLang="zh-CN" sz="1600">
              <a:solidFill>
                <a:schemeClr val="tx1"/>
              </a:solidFill>
              <a:effectLst/>
              <a:latin typeface="Cambria" panose="02040503050406030204" charset="0"/>
              <a:cs typeface="Cambria" panose="02040503050406030204" charset="0"/>
              <a:sym typeface="+mn-ea"/>
            </a:endParaRPr>
          </a:p>
        </p:txBody>
      </p:sp>
      <p:sp>
        <p:nvSpPr>
          <p:cNvPr id="23" name="文本框 22"/>
          <p:cNvSpPr txBox="1"/>
          <p:nvPr/>
        </p:nvSpPr>
        <p:spPr>
          <a:xfrm>
            <a:off x="321310" y="3366135"/>
            <a:ext cx="2611120" cy="2891790"/>
          </a:xfrm>
          <a:prstGeom prst="rect">
            <a:avLst/>
          </a:prstGeom>
          <a:noFill/>
        </p:spPr>
        <p:txBody>
          <a:bodyPr wrap="square" rtlCol="0">
            <a:spAutoFit/>
          </a:bodyPr>
          <a:p>
            <a:r>
              <a:rPr lang="en-US" altLang="zh-CN" sz="1400">
                <a:latin typeface="Cambria" panose="02040503050406030204" charset="0"/>
                <a:cs typeface="Cambria" panose="02040503050406030204" charset="0"/>
              </a:rPr>
              <a:t>HTTP/1.1 200 OK</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Content-Type: application/json</a:t>
            </a:r>
            <a:endParaRPr lang="en-US" altLang="zh-CN" sz="1400">
              <a:latin typeface="Cambria" panose="02040503050406030204" charset="0"/>
              <a:cs typeface="Cambria" panose="02040503050406030204" charset="0"/>
            </a:endParaRPr>
          </a:p>
          <a:p>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"code": 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"cost": 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"data": [</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0,    "id": 1},</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64,   "id": 2},</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256,  "id": 3}</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"topks": [3]</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a:t>
            </a:r>
            <a:endParaRPr lang="en-US" altLang="zh-CN" sz="1400">
              <a:latin typeface="Cambria" panose="02040503050406030204" charset="0"/>
              <a:cs typeface="Cambria" panose="02040503050406030204" charset="0"/>
            </a:endParaRPr>
          </a:p>
        </p:txBody>
      </p:sp>
      <p:sp>
        <p:nvSpPr>
          <p:cNvPr id="25" name="文本框 24"/>
          <p:cNvSpPr txBox="1"/>
          <p:nvPr/>
        </p:nvSpPr>
        <p:spPr>
          <a:xfrm>
            <a:off x="4037965" y="5485130"/>
            <a:ext cx="2115185" cy="64516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sym typeface="+mn-ea"/>
              </a:rPr>
              <a:t>No state change observed.</a:t>
            </a:r>
            <a:endParaRPr lang="zh-CN" altLang="en-US"/>
          </a:p>
        </p:txBody>
      </p:sp>
      <p:sp>
        <p:nvSpPr>
          <p:cNvPr id="191" name="圆角矩形 190"/>
          <p:cNvSpPr/>
          <p:nvPr>
            <p:custDataLst>
              <p:tags r:id="rId13"/>
            </p:custDataLst>
          </p:nvPr>
        </p:nvSpPr>
        <p:spPr>
          <a:xfrm>
            <a:off x="6531610" y="3380105"/>
            <a:ext cx="4469130" cy="336169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2" name="文本框 191"/>
          <p:cNvSpPr txBox="1"/>
          <p:nvPr>
            <p:custDataLst>
              <p:tags r:id="rId14"/>
            </p:custDataLst>
          </p:nvPr>
        </p:nvSpPr>
        <p:spPr>
          <a:xfrm>
            <a:off x="7781925" y="3568065"/>
            <a:ext cx="2526665" cy="42799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193" name="图片 192" descr="代码文件"/>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6889750" y="3448685"/>
            <a:ext cx="699770" cy="603885"/>
          </a:xfrm>
          <a:prstGeom prst="rect">
            <a:avLst/>
          </a:prstGeom>
        </p:spPr>
      </p:pic>
      <p:sp>
        <p:nvSpPr>
          <p:cNvPr id="2" name="文本框 1"/>
          <p:cNvSpPr txBox="1"/>
          <p:nvPr/>
        </p:nvSpPr>
        <p:spPr>
          <a:xfrm>
            <a:off x="6575425" y="4052570"/>
            <a:ext cx="4415790" cy="2461260"/>
          </a:xfrm>
          <a:prstGeom prst="rect">
            <a:avLst/>
          </a:prstGeom>
          <a:noFill/>
        </p:spPr>
        <p:txBody>
          <a:bodyPr wrap="square" rtlCol="0" anchor="t">
            <a:spAutoFit/>
          </a:bodyPr>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"constraint_id": "xxxx_001",</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"endpoint": "entities+search",</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"description": "nprobe must be an integer in [1,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"assertion": "nprobe &gt;= 1 &amp;&amp; nprobe &lt;=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"type": "range_constraint",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"confidence": 1.0,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"evidence_tier": "explicit",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"source_url": "xxxx",</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"source_verified": true</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sym typeface="+mn-ea"/>
            </a:endParaRPr>
          </a:p>
        </p:txBody>
      </p:sp>
      <p:sp>
        <p:nvSpPr>
          <p:cNvPr id="65" name="椭圆 64"/>
          <p:cNvSpPr/>
          <p:nvPr/>
        </p:nvSpPr>
        <p:spPr>
          <a:xfrm>
            <a:off x="8348980" y="2095500"/>
            <a:ext cx="834390" cy="800100"/>
          </a:xfrm>
          <a:prstGeom prst="ellipse">
            <a:avLst/>
          </a:prstGeom>
          <a:noFill/>
          <a:ln w="34925">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7" name="图片 66" descr="不等于"/>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8597900" y="2518410"/>
            <a:ext cx="336550" cy="336550"/>
          </a:xfrm>
          <a:prstGeom prst="rect">
            <a:avLst/>
          </a:prstGeom>
        </p:spPr>
      </p:pic>
      <p:cxnSp>
        <p:nvCxnSpPr>
          <p:cNvPr id="70" name="直接箭头连接符 69"/>
          <p:cNvCxnSpPr>
            <a:stCxn id="65" idx="7"/>
            <a:endCxn id="78" idx="1"/>
          </p:cNvCxnSpPr>
          <p:nvPr/>
        </p:nvCxnSpPr>
        <p:spPr>
          <a:xfrm>
            <a:off x="9061450" y="2212975"/>
            <a:ext cx="1351915" cy="635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74" name="直接连接符 73"/>
          <p:cNvCxnSpPr/>
          <p:nvPr/>
        </p:nvCxnSpPr>
        <p:spPr>
          <a:xfrm>
            <a:off x="8348980" y="2495550"/>
            <a:ext cx="834390" cy="0"/>
          </a:xfrm>
          <a:prstGeom prst="line">
            <a:avLst/>
          </a:prstGeom>
          <a:ln w="22225">
            <a:solidFill>
              <a:srgbClr val="000000"/>
            </a:solidFill>
          </a:ln>
        </p:spPr>
        <p:style>
          <a:lnRef idx="2">
            <a:schemeClr val="accent1"/>
          </a:lnRef>
          <a:fillRef idx="0">
            <a:srgbClr val="FFFFFF"/>
          </a:fillRef>
          <a:effectRef idx="0">
            <a:srgbClr val="FFFFFF"/>
          </a:effectRef>
          <a:fontRef idx="minor">
            <a:schemeClr val="tx1"/>
          </a:fontRef>
        </p:style>
      </p:cxnSp>
      <p:pic>
        <p:nvPicPr>
          <p:cNvPr id="75" name="图片 74" descr="等于号"/>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8613140" y="2145665"/>
            <a:ext cx="305435" cy="335915"/>
          </a:xfrm>
          <a:prstGeom prst="rect">
            <a:avLst/>
          </a:prstGeom>
        </p:spPr>
      </p:pic>
      <p:cxnSp>
        <p:nvCxnSpPr>
          <p:cNvPr id="77" name="直接箭头连接符 76"/>
          <p:cNvCxnSpPr>
            <a:stCxn id="65" idx="5"/>
            <a:endCxn id="71" idx="1"/>
          </p:cNvCxnSpPr>
          <p:nvPr/>
        </p:nvCxnSpPr>
        <p:spPr>
          <a:xfrm>
            <a:off x="9061450" y="2778125"/>
            <a:ext cx="1351915" cy="762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a:stCxn id="191" idx="0"/>
            <a:endCxn id="65" idx="4"/>
          </p:cNvCxnSpPr>
          <p:nvPr/>
        </p:nvCxnSpPr>
        <p:spPr>
          <a:xfrm flipV="1">
            <a:off x="8766175" y="2895600"/>
            <a:ext cx="0" cy="48450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endCxn id="65" idx="2"/>
          </p:cNvCxnSpPr>
          <p:nvPr/>
        </p:nvCxnSpPr>
        <p:spPr>
          <a:xfrm>
            <a:off x="6311900" y="2492375"/>
            <a:ext cx="2037080" cy="317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78" name="图片 77" descr="对"/>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10413365" y="1998345"/>
            <a:ext cx="441960" cy="441960"/>
          </a:xfrm>
          <a:prstGeom prst="rect">
            <a:avLst/>
          </a:prstGeom>
        </p:spPr>
      </p:pic>
      <p:sp>
        <p:nvSpPr>
          <p:cNvPr id="79" name="文本框 78"/>
          <p:cNvSpPr txBox="1"/>
          <p:nvPr/>
        </p:nvSpPr>
        <p:spPr>
          <a:xfrm>
            <a:off x="9255760" y="1801495"/>
            <a:ext cx="127127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Not Bug. </a:t>
            </a:r>
            <a:endParaRPr lang="zh-CN" altLang="en-US">
              <a:latin typeface="Comic Sans MS" panose="030F0702030302020204" charset="0"/>
              <a:cs typeface="Comic Sans MS" panose="030F0702030302020204" charset="0"/>
            </a:endParaRPr>
          </a:p>
        </p:txBody>
      </p:sp>
      <p:pic>
        <p:nvPicPr>
          <p:cNvPr id="71" name="图片 70" descr="BUG问题修复"/>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10413365" y="2559050"/>
            <a:ext cx="536575" cy="452755"/>
          </a:xfrm>
          <a:prstGeom prst="rect">
            <a:avLst/>
          </a:prstGeom>
        </p:spPr>
      </p:pic>
      <p:sp>
        <p:nvSpPr>
          <p:cNvPr id="73" name="文本框 72"/>
          <p:cNvSpPr txBox="1"/>
          <p:nvPr/>
        </p:nvSpPr>
        <p:spPr>
          <a:xfrm>
            <a:off x="9112885" y="2790825"/>
            <a:ext cx="124841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Bug found</a:t>
            </a:r>
            <a:r>
              <a:rPr lang="zh-CN" altLang="en-US">
                <a:latin typeface="Comic Sans MS" panose="030F0702030302020204" charset="0"/>
                <a:cs typeface="Comic Sans MS" panose="030F0702030302020204" charset="0"/>
              </a:rPr>
              <a:t>！</a:t>
            </a:r>
            <a:endParaRPr lang="zh-CN" altLang="en-US">
              <a:latin typeface="Comic Sans MS" panose="030F0702030302020204" charset="0"/>
              <a:cs typeface="Comic Sans MS" panose="030F0702030302020204" charset="0"/>
            </a:endParaRPr>
          </a:p>
        </p:txBody>
      </p:sp>
      <p:sp>
        <p:nvSpPr>
          <p:cNvPr id="11" name="文本框 10"/>
          <p:cNvSpPr txBox="1"/>
          <p:nvPr/>
        </p:nvSpPr>
        <p:spPr>
          <a:xfrm>
            <a:off x="7142480" y="2642870"/>
            <a:ext cx="156464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comparison</a:t>
            </a:r>
            <a:endParaRPr lang="en-US" altLang="zh-CN">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5" grpId="0" animBg="1"/>
      <p:bldP spid="79" grpId="0"/>
      <p:bldP spid="7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custDataLst>
              <p:tags r:id="rId1"/>
            </p:custDataLst>
          </p:nvPr>
        </p:nvSpPr>
        <p:spPr>
          <a:xfrm>
            <a:off x="544830" y="1440180"/>
            <a:ext cx="3172460" cy="3203575"/>
          </a:xfrm>
          <a:prstGeom prst="roundRect">
            <a:avLst>
              <a:gd name="adj" fmla="val 21975"/>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    </a:t>
            </a:r>
            <a:endParaRPr lang="en-US" altLang="zh-CN" sz="1600">
              <a:solidFill>
                <a:schemeClr val="tx1"/>
              </a:solidFill>
              <a:latin typeface="Comic Sans MS" panose="030F0702030302020204" charset="0"/>
              <a:cs typeface="Comic Sans MS" panose="030F0702030302020204" charset="0"/>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351155" y="527050"/>
            <a:ext cx="4596130"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altLang="zh-CN" sz="3600"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B</a:t>
            </a:r>
            <a:r>
              <a:rPr lang="en-US" altLang="zh-CN" sz="3600"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ug Confirmation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20" name="灯片编号占位符 19"/>
          <p:cNvSpPr>
            <a:spLocks noGrp="1"/>
          </p:cNvSpPr>
          <p:nvPr>
            <p:ph type="sldNum" sz="quarter" idx="12"/>
          </p:nvPr>
        </p:nvSpPr>
        <p:spPr>
          <a:xfrm>
            <a:off x="11179175" y="6478270"/>
            <a:ext cx="497205" cy="264160"/>
          </a:xfrm>
        </p:spPr>
        <p:txBody>
          <a:bodyPr/>
          <a:lstStyle/>
          <a:p>
            <a:fld id="{E09368C2-8BE5-4C19-86FB-98954A39BC6E}" type="slidenum">
              <a:rPr lang="zh-CN" altLang="en-US" smtClean="0"/>
            </a:fld>
            <a:endParaRPr lang="zh-CN" altLang="en-US"/>
          </a:p>
        </p:txBody>
      </p:sp>
      <p:sp>
        <p:nvSpPr>
          <p:cNvPr id="21" name="圆角矩形 20"/>
          <p:cNvSpPr/>
          <p:nvPr>
            <p:custDataLst>
              <p:tags r:id="rId3"/>
            </p:custDataLst>
          </p:nvPr>
        </p:nvSpPr>
        <p:spPr>
          <a:xfrm>
            <a:off x="684160" y="1776911"/>
            <a:ext cx="2875030"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 name="图片 21" descr="书-翻开"/>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778587" y="1735455"/>
            <a:ext cx="677110" cy="690928"/>
          </a:xfrm>
          <a:prstGeom prst="rect">
            <a:avLst/>
          </a:prstGeom>
        </p:spPr>
      </p:pic>
      <p:sp>
        <p:nvSpPr>
          <p:cNvPr id="23" name="文本框 22"/>
          <p:cNvSpPr txBox="1"/>
          <p:nvPr>
            <p:custDataLst>
              <p:tags r:id="rId7"/>
            </p:custDataLst>
          </p:nvPr>
        </p:nvSpPr>
        <p:spPr>
          <a:xfrm>
            <a:off x="1513840" y="1907540"/>
            <a:ext cx="1938655" cy="451485"/>
          </a:xfrm>
          <a:prstGeom prst="rect">
            <a:avLst/>
          </a:prstGeom>
          <a:noFill/>
        </p:spPr>
        <p:txBody>
          <a:bodyPr wrap="square" rtlCol="0">
            <a:noAutofit/>
          </a:bodyPr>
          <a:p>
            <a:pPr algn="ctr"/>
            <a:r>
              <a:rPr lang="en-US" altLang="zh-CN" sz="1600" b="1">
                <a:solidFill>
                  <a:schemeClr val="bg2">
                    <a:lumMod val="50000"/>
                  </a:schemeClr>
                </a:solidFill>
                <a:latin typeface="Comic Sans MS" panose="030F0702030302020204" charset="0"/>
                <a:cs typeface="Comic Sans MS" panose="030F0702030302020204" charset="0"/>
              </a:rPr>
              <a:t>documentation</a:t>
            </a:r>
            <a:endParaRPr lang="en-US" altLang="zh-CN" sz="1600" b="1">
              <a:solidFill>
                <a:schemeClr val="bg2">
                  <a:lumMod val="50000"/>
                </a:schemeClr>
              </a:solidFill>
              <a:latin typeface="Comic Sans MS" panose="030F0702030302020204" charset="0"/>
              <a:cs typeface="Comic Sans MS" panose="030F0702030302020204" charset="0"/>
            </a:endParaRPr>
          </a:p>
        </p:txBody>
      </p:sp>
      <p:sp>
        <p:nvSpPr>
          <p:cNvPr id="29" name="圆角矩形 28"/>
          <p:cNvSpPr/>
          <p:nvPr>
            <p:custDataLst>
              <p:tags r:id="rId8"/>
            </p:custDataLst>
          </p:nvPr>
        </p:nvSpPr>
        <p:spPr>
          <a:xfrm>
            <a:off x="683393" y="2411797"/>
            <a:ext cx="288040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文本框 30"/>
          <p:cNvSpPr txBox="1"/>
          <p:nvPr>
            <p:custDataLst>
              <p:tags r:id="rId9"/>
            </p:custDataLst>
          </p:nvPr>
        </p:nvSpPr>
        <p:spPr>
          <a:xfrm>
            <a:off x="1513840" y="2554605"/>
            <a:ext cx="1938020" cy="378460"/>
          </a:xfrm>
          <a:prstGeom prst="rect">
            <a:avLst/>
          </a:prstGeom>
          <a:noFill/>
        </p:spPr>
        <p:txBody>
          <a:bodyPr wrap="square" rtlCol="0">
            <a:noAutofit/>
          </a:bodyPr>
          <a:p>
            <a:pPr algn="ctr"/>
            <a:r>
              <a:rPr lang="en-US" altLang="zh-CN" sz="1600" b="1" dirty="0" err="1">
                <a:solidFill>
                  <a:schemeClr val="bg2">
                    <a:lumMod val="50000"/>
                  </a:schemeClr>
                </a:solidFill>
                <a:latin typeface="Comic Sans MS" panose="030F0702030302020204" charset="0"/>
                <a:ea typeface="Microsoft YaHei" panose="020B0503020204020204" charset="-122"/>
                <a:cs typeface="Comic Sans MS" panose="030F0702030302020204" charset="0"/>
                <a:sym typeface="+mn-ea"/>
              </a:rPr>
              <a:t>behavioral claims</a:t>
            </a:r>
            <a:endParaRPr lang="en-US" altLang="zh-CN" sz="1600" b="1" dirty="0" err="1">
              <a:solidFill>
                <a:schemeClr val="bg2">
                  <a:lumMod val="50000"/>
                </a:schemeClr>
              </a:solidFill>
              <a:latin typeface="Comic Sans MS" panose="030F0702030302020204" charset="0"/>
              <a:ea typeface="Microsoft YaHei" panose="020B0503020204020204" charset="-122"/>
              <a:cs typeface="Comic Sans MS" panose="030F0702030302020204" charset="0"/>
              <a:sym typeface="+mn-ea"/>
            </a:endParaRPr>
          </a:p>
        </p:txBody>
      </p:sp>
      <p:pic>
        <p:nvPicPr>
          <p:cNvPr id="32" name="图片 31"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683895" y="2372360"/>
            <a:ext cx="940435" cy="626745"/>
          </a:xfrm>
          <a:prstGeom prst="rect">
            <a:avLst/>
          </a:prstGeom>
        </p:spPr>
      </p:pic>
      <p:sp>
        <p:nvSpPr>
          <p:cNvPr id="34" name="圆角矩形 33"/>
          <p:cNvSpPr/>
          <p:nvPr>
            <p:custDataLst>
              <p:tags r:id="rId13"/>
            </p:custDataLst>
          </p:nvPr>
        </p:nvSpPr>
        <p:spPr>
          <a:xfrm>
            <a:off x="683393" y="3042845"/>
            <a:ext cx="287042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custDataLst>
              <p:tags r:id="rId14"/>
            </p:custDataLst>
          </p:nvPr>
        </p:nvSpPr>
        <p:spPr>
          <a:xfrm>
            <a:off x="1513205" y="3128645"/>
            <a:ext cx="1938655" cy="402590"/>
          </a:xfrm>
          <a:prstGeom prst="rect">
            <a:avLst/>
          </a:prstGeom>
          <a:noFill/>
        </p:spPr>
        <p:txBody>
          <a:bodyPr wrap="square" rtlCol="0">
            <a:noAutofit/>
          </a:bodyPr>
          <a:p>
            <a:pPr algn="ctr"/>
            <a:r>
              <a:rPr lang="en-US" altLang="zh-CN" sz="1600" b="1" dirty="0" err="1">
                <a:solidFill>
                  <a:schemeClr val="bg2">
                    <a:lumMod val="50000"/>
                  </a:schemeClr>
                </a:solidFill>
                <a:latin typeface="Comic Sans MS" panose="030F0702030302020204" charset="0"/>
                <a:ea typeface="Microsoft YaHei" panose="020B0503020204020204" charset="-122"/>
                <a:cs typeface="Comic Sans MS" panose="030F0702030302020204" charset="0"/>
                <a:sym typeface="+mn-ea"/>
              </a:rPr>
              <a:t>test scripts</a:t>
            </a:r>
            <a:endParaRPr lang="en-US" altLang="zh-CN" sz="1600" b="1" dirty="0" err="1">
              <a:solidFill>
                <a:schemeClr val="bg2">
                  <a:lumMod val="50000"/>
                </a:schemeClr>
              </a:solidFill>
              <a:latin typeface="Comic Sans MS" panose="030F0702030302020204" charset="0"/>
              <a:ea typeface="Microsoft YaHei" panose="020B0503020204020204" charset="-122"/>
              <a:cs typeface="Comic Sans MS" panose="030F0702030302020204" charset="0"/>
              <a:sym typeface="+mn-ea"/>
            </a:endParaRPr>
          </a:p>
        </p:txBody>
      </p:sp>
      <p:pic>
        <p:nvPicPr>
          <p:cNvPr id="43" name="图片 42" descr="软件"/>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778587" y="3010602"/>
            <a:ext cx="717798" cy="621068"/>
          </a:xfrm>
          <a:prstGeom prst="rect">
            <a:avLst/>
          </a:prstGeom>
        </p:spPr>
      </p:pic>
      <p:sp>
        <p:nvSpPr>
          <p:cNvPr id="44" name="圆角矩形 43"/>
          <p:cNvSpPr/>
          <p:nvPr>
            <p:custDataLst>
              <p:tags r:id="rId18"/>
            </p:custDataLst>
          </p:nvPr>
        </p:nvSpPr>
        <p:spPr>
          <a:xfrm>
            <a:off x="682625" y="3670055"/>
            <a:ext cx="2881172"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文本框 44"/>
          <p:cNvSpPr txBox="1"/>
          <p:nvPr>
            <p:custDataLst>
              <p:tags r:id="rId19"/>
            </p:custDataLst>
          </p:nvPr>
        </p:nvSpPr>
        <p:spPr>
          <a:xfrm>
            <a:off x="1512570" y="3770630"/>
            <a:ext cx="1939290" cy="429895"/>
          </a:xfrm>
          <a:prstGeom prst="rect">
            <a:avLst/>
          </a:prstGeom>
          <a:noFill/>
        </p:spPr>
        <p:txBody>
          <a:bodyPr wrap="square" rtlCol="0">
            <a:noAutofit/>
          </a:bodyPr>
          <a:p>
            <a:pPr algn="ctr"/>
            <a:r>
              <a:rPr lang="en-US" altLang="zh-CN" sz="1600" b="1">
                <a:solidFill>
                  <a:schemeClr val="bg2">
                    <a:lumMod val="50000"/>
                  </a:schemeClr>
                </a:solidFill>
                <a:latin typeface="Comic Sans MS" panose="030F0702030302020204" charset="0"/>
                <a:cs typeface="Comic Sans MS" panose="030F0702030302020204" charset="0"/>
              </a:rPr>
              <a:t>Test outputs</a:t>
            </a:r>
            <a:endParaRPr lang="en-US" altLang="zh-CN" sz="1600" b="1">
              <a:solidFill>
                <a:schemeClr val="bg2">
                  <a:lumMod val="50000"/>
                </a:schemeClr>
              </a:solidFill>
              <a:latin typeface="Comic Sans MS" panose="030F0702030302020204" charset="0"/>
              <a:cs typeface="Comic Sans MS" panose="030F0702030302020204" charset="0"/>
            </a:endParaRPr>
          </a:p>
        </p:txBody>
      </p:sp>
      <p:pic>
        <p:nvPicPr>
          <p:cNvPr id="46" name="图片 45" descr="数据库"/>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778587" y="3631670"/>
            <a:ext cx="735455" cy="691696"/>
          </a:xfrm>
          <a:prstGeom prst="rect">
            <a:avLst/>
          </a:prstGeom>
        </p:spPr>
      </p:pic>
      <p:sp>
        <p:nvSpPr>
          <p:cNvPr id="47" name="圆角矩形 46"/>
          <p:cNvSpPr/>
          <p:nvPr>
            <p:custDataLst>
              <p:tags r:id="rId23"/>
            </p:custDataLst>
          </p:nvPr>
        </p:nvSpPr>
        <p:spPr>
          <a:xfrm>
            <a:off x="3850005" y="3653790"/>
            <a:ext cx="2004695" cy="2279015"/>
          </a:xfrm>
          <a:prstGeom prst="roundRect">
            <a:avLst/>
          </a:prstGeom>
          <a:solidFill>
            <a:schemeClr val="accent6">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文本框 47"/>
          <p:cNvSpPr txBox="1"/>
          <p:nvPr>
            <p:custDataLst>
              <p:tags r:id="rId24"/>
            </p:custDataLst>
          </p:nvPr>
        </p:nvSpPr>
        <p:spPr>
          <a:xfrm>
            <a:off x="3807460" y="4460240"/>
            <a:ext cx="2170430" cy="45148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Evidence_Builder</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128" name="圆角矩形 127"/>
          <p:cNvSpPr/>
          <p:nvPr/>
        </p:nvSpPr>
        <p:spPr>
          <a:xfrm>
            <a:off x="8190865" y="3653790"/>
            <a:ext cx="1982470" cy="2301240"/>
          </a:xfrm>
          <a:prstGeom prst="roundRect">
            <a:avLst>
              <a:gd name="adj" fmla="val 6943"/>
            </a:avLst>
          </a:prstGeom>
          <a:solidFill>
            <a:schemeClr val="accent2">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9" name="文本框 128"/>
          <p:cNvSpPr txBox="1"/>
          <p:nvPr>
            <p:custDataLst>
              <p:tags r:id="rId25"/>
            </p:custDataLst>
          </p:nvPr>
        </p:nvSpPr>
        <p:spPr>
          <a:xfrm>
            <a:off x="8306435" y="4476750"/>
            <a:ext cx="1806575" cy="45212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Chain_auditor</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130" name="图片 129" descr="机器人"/>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3994785" y="3717290"/>
            <a:ext cx="678815" cy="567690"/>
          </a:xfrm>
          <a:prstGeom prst="rect">
            <a:avLst/>
          </a:prstGeom>
        </p:spPr>
      </p:pic>
      <p:sp>
        <p:nvSpPr>
          <p:cNvPr id="132" name="圆角矩形 131"/>
          <p:cNvSpPr/>
          <p:nvPr>
            <p:custDataLst>
              <p:tags r:id="rId29"/>
            </p:custDataLst>
          </p:nvPr>
        </p:nvSpPr>
        <p:spPr>
          <a:xfrm>
            <a:off x="716915" y="5996940"/>
            <a:ext cx="2823210" cy="731520"/>
          </a:xfrm>
          <a:prstGeom prst="roundRect">
            <a:avLst>
              <a:gd name="adj" fmla="val 21975"/>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    </a:t>
            </a:r>
            <a:endParaRPr lang="en-US" altLang="zh-CN" sz="1600">
              <a:solidFill>
                <a:schemeClr val="tx1"/>
              </a:solidFill>
              <a:latin typeface="Comic Sans MS" panose="030F0702030302020204" charset="0"/>
              <a:cs typeface="Comic Sans MS" panose="030F0702030302020204" charset="0"/>
            </a:endParaRPr>
          </a:p>
        </p:txBody>
      </p:sp>
      <p:sp>
        <p:nvSpPr>
          <p:cNvPr id="133" name="文本框 132"/>
          <p:cNvSpPr txBox="1"/>
          <p:nvPr/>
        </p:nvSpPr>
        <p:spPr>
          <a:xfrm>
            <a:off x="1189355" y="6190615"/>
            <a:ext cx="2406650" cy="455295"/>
          </a:xfrm>
          <a:prstGeom prst="rect">
            <a:avLst/>
          </a:prstGeom>
          <a:noFill/>
        </p:spPr>
        <p:txBody>
          <a:bodyPr wrap="square" rtlCol="0">
            <a:noAutofit/>
          </a:bodyPr>
          <a:p>
            <a:pPr algn="ctr">
              <a:lnSpc>
                <a:spcPct val="100000"/>
              </a:lnSpc>
            </a:pPr>
            <a:r>
              <a:rPr lang="en-US" altLang="zh-CN">
                <a:latin typeface="Comic Sans MS" panose="030F0702030302020204" charset="0"/>
                <a:cs typeface="Comic Sans MS" panose="030F0702030302020204" charset="0"/>
              </a:rPr>
              <a:t>VDBMS source code</a:t>
            </a:r>
            <a:endParaRPr lang="en-US" altLang="zh-CN">
              <a:latin typeface="Comic Sans MS" panose="030F0702030302020204" charset="0"/>
              <a:cs typeface="Comic Sans MS" panose="030F0702030302020204" charset="0"/>
            </a:endParaRPr>
          </a:p>
        </p:txBody>
      </p:sp>
      <p:pic>
        <p:nvPicPr>
          <p:cNvPr id="134" name="图片 133" descr="代码"/>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a:off x="753745" y="6093460"/>
            <a:ext cx="516255" cy="454025"/>
          </a:xfrm>
          <a:prstGeom prst="rect">
            <a:avLst/>
          </a:prstGeom>
        </p:spPr>
      </p:pic>
      <p:sp>
        <p:nvSpPr>
          <p:cNvPr id="166" name="左箭头 165"/>
          <p:cNvSpPr/>
          <p:nvPr/>
        </p:nvSpPr>
        <p:spPr>
          <a:xfrm flipH="1">
            <a:off x="5854700" y="4887595"/>
            <a:ext cx="2305685" cy="47752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8" name="肘形连接符 17"/>
          <p:cNvCxnSpPr>
            <a:stCxn id="128" idx="2"/>
            <a:endCxn id="47" idx="2"/>
          </p:cNvCxnSpPr>
          <p:nvPr/>
        </p:nvCxnSpPr>
        <p:spPr>
          <a:xfrm rot="5400000" flipH="1">
            <a:off x="7006273" y="3779203"/>
            <a:ext cx="22225" cy="4329430"/>
          </a:xfrm>
          <a:prstGeom prst="bentConnector3">
            <a:avLst>
              <a:gd name="adj1" fmla="val -1070000"/>
            </a:avLst>
          </a:prstGeom>
          <a:ln w="22225">
            <a:tailEnd type="arrow"/>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5710555" y="6135370"/>
            <a:ext cx="2406650" cy="455295"/>
          </a:xfrm>
          <a:prstGeom prst="rect">
            <a:avLst/>
          </a:prstGeom>
          <a:noFill/>
        </p:spPr>
        <p:txBody>
          <a:bodyPr wrap="square" rtlCol="0">
            <a:noAutofit/>
          </a:bodyPr>
          <a:p>
            <a:pPr algn="ctr">
              <a:lnSpc>
                <a:spcPct val="100000"/>
              </a:lnSpc>
            </a:pPr>
            <a:r>
              <a:rPr lang="en-US" altLang="zh-CN" sz="1600">
                <a:latin typeface="Comic Sans MS" panose="030F0702030302020204" charset="0"/>
                <a:cs typeface="Comic Sans MS" panose="030F0702030302020204" charset="0"/>
              </a:rPr>
              <a:t>rebuild(max retry=3)</a:t>
            </a:r>
            <a:endParaRPr lang="en-US" altLang="zh-CN" sz="1600">
              <a:latin typeface="Comic Sans MS" panose="030F0702030302020204" charset="0"/>
              <a:cs typeface="Comic Sans MS" panose="030F0702030302020204" charset="0"/>
            </a:endParaRPr>
          </a:p>
        </p:txBody>
      </p:sp>
      <p:sp>
        <p:nvSpPr>
          <p:cNvPr id="6" name="右箭头标注 5"/>
          <p:cNvSpPr/>
          <p:nvPr/>
        </p:nvSpPr>
        <p:spPr>
          <a:xfrm>
            <a:off x="1883410" y="4635500"/>
            <a:ext cx="1966595" cy="1361440"/>
          </a:xfrm>
          <a:prstGeom prst="rightArrowCallout">
            <a:avLst>
              <a:gd name="adj1" fmla="val 22662"/>
              <a:gd name="adj2" fmla="val 21708"/>
              <a:gd name="adj3" fmla="val 29466"/>
              <a:gd name="adj4" fmla="val 16467"/>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descr="地球网络搜寻"/>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4502150" y="4072255"/>
            <a:ext cx="387985" cy="387985"/>
          </a:xfrm>
          <a:prstGeom prst="rect">
            <a:avLst/>
          </a:prstGeom>
        </p:spPr>
      </p:pic>
      <p:sp>
        <p:nvSpPr>
          <p:cNvPr id="9" name="文本框 8"/>
          <p:cNvSpPr txBox="1"/>
          <p:nvPr/>
        </p:nvSpPr>
        <p:spPr>
          <a:xfrm>
            <a:off x="5854700" y="5362575"/>
            <a:ext cx="2311400" cy="330200"/>
          </a:xfrm>
          <a:prstGeom prst="rect">
            <a:avLst/>
          </a:prstGeom>
          <a:noFill/>
        </p:spPr>
        <p:txBody>
          <a:bodyPr wrap="square" rtlCol="0">
            <a:noAutofit/>
          </a:bodyPr>
          <a:p>
            <a:r>
              <a:rPr lang="en-US" altLang="zh-CN" sz="1600">
                <a:latin typeface="Comic Sans MS" panose="030F0702030302020204" charset="0"/>
                <a:cs typeface="Comic Sans MS" panose="030F0702030302020204" charset="0"/>
              </a:rPr>
              <a:t>evidence_chain.json</a:t>
            </a:r>
            <a:endParaRPr lang="en-US" altLang="zh-CN" sz="1600">
              <a:latin typeface="Comic Sans MS" panose="030F0702030302020204" charset="0"/>
              <a:cs typeface="Comic Sans MS" panose="030F0702030302020204" charset="0"/>
            </a:endParaRPr>
          </a:p>
        </p:txBody>
      </p:sp>
      <p:pic>
        <p:nvPicPr>
          <p:cNvPr id="10" name="图片 9" descr="机器人"/>
          <p:cNvPicPr>
            <a:picLocks noChangeAspect="1"/>
          </p:cNvPicPr>
          <p:nvPr>
            <p:custDataLst>
              <p:tags r:id="rId35"/>
            </p:custDataLst>
          </p:nvPr>
        </p:nvPicPr>
        <p:blipFill>
          <a:blip r:embed="rId27">
            <a:extLst>
              <a:ext uri="{96DAC541-7B7A-43D3-8B79-37D633B846F1}">
                <asvg:svgBlip xmlns:asvg="http://schemas.microsoft.com/office/drawing/2016/SVG/main" r:embed="rId28"/>
              </a:ext>
            </a:extLst>
          </a:blip>
          <a:stretch>
            <a:fillRect/>
          </a:stretch>
        </p:blipFill>
        <p:spPr>
          <a:xfrm>
            <a:off x="8302625" y="3734435"/>
            <a:ext cx="678815" cy="567690"/>
          </a:xfrm>
          <a:prstGeom prst="rect">
            <a:avLst/>
          </a:prstGeom>
        </p:spPr>
      </p:pic>
      <p:sp>
        <p:nvSpPr>
          <p:cNvPr id="14" name="直角上箭头 13"/>
          <p:cNvSpPr/>
          <p:nvPr/>
        </p:nvSpPr>
        <p:spPr>
          <a:xfrm flipV="1">
            <a:off x="3563620" y="2656840"/>
            <a:ext cx="5106035" cy="996950"/>
          </a:xfrm>
          <a:prstGeom prst="bentUpArrow">
            <a:avLst>
              <a:gd name="adj1" fmla="val 14573"/>
              <a:gd name="adj2" fmla="val 18152"/>
              <a:gd name="adj3" fmla="val 25000"/>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5737225" y="2876550"/>
            <a:ext cx="2565400" cy="330200"/>
          </a:xfrm>
          <a:prstGeom prst="rect">
            <a:avLst/>
          </a:prstGeom>
          <a:noFill/>
        </p:spPr>
        <p:txBody>
          <a:bodyPr wrap="square" rtlCol="0">
            <a:noAutofit/>
          </a:bodyPr>
          <a:p>
            <a:pPr algn="ctr"/>
            <a:r>
              <a:rPr lang="en-US" altLang="zh-CN" sz="1600">
                <a:latin typeface="Comic Sans MS" panose="030F0702030302020204" charset="0"/>
                <a:cs typeface="Comic Sans MS" panose="030F0702030302020204" charset="0"/>
                <a:sym typeface="+mn-ea"/>
              </a:rPr>
              <a:t>behavioral_claims.md</a:t>
            </a:r>
            <a:endParaRPr lang="en-US" altLang="zh-CN" sz="1600">
              <a:latin typeface="Comic Sans MS" panose="030F0702030302020204" charset="0"/>
              <a:cs typeface="Comic Sans MS" panose="030F0702030302020204" charset="0"/>
              <a:sym typeface="+mn-ea"/>
            </a:endParaRPr>
          </a:p>
        </p:txBody>
      </p:sp>
      <p:sp>
        <p:nvSpPr>
          <p:cNvPr id="17" name="左箭头 16"/>
          <p:cNvSpPr/>
          <p:nvPr/>
        </p:nvSpPr>
        <p:spPr>
          <a:xfrm flipH="1">
            <a:off x="10173335" y="4323080"/>
            <a:ext cx="781050" cy="47752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左箭头 24"/>
          <p:cNvSpPr/>
          <p:nvPr/>
        </p:nvSpPr>
        <p:spPr>
          <a:xfrm flipH="1">
            <a:off x="10179685" y="4911725"/>
            <a:ext cx="781050" cy="47752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8" name="图片 77" descr="对"/>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tretch>
            <a:fillRect/>
          </a:stretch>
        </p:blipFill>
        <p:spPr>
          <a:xfrm>
            <a:off x="11054715" y="4302125"/>
            <a:ext cx="441960" cy="441960"/>
          </a:xfrm>
          <a:prstGeom prst="rect">
            <a:avLst/>
          </a:prstGeom>
        </p:spPr>
      </p:pic>
      <p:pic>
        <p:nvPicPr>
          <p:cNvPr id="71" name="图片 70" descr="BUG问题修复"/>
          <p:cNvPicPr>
            <a:picLocks noChangeAspect="1"/>
          </p:cNvPicPr>
          <p:nvPr>
            <p:custDataLst>
              <p:tags r:id="rId39"/>
            </p:custDataLst>
          </p:nvPr>
        </p:nvPicPr>
        <p:blipFill>
          <a:blip r:embed="rId40">
            <a:extLst>
              <a:ext uri="{96DAC541-7B7A-43D3-8B79-37D633B846F1}">
                <asvg:svgBlip xmlns:asvg="http://schemas.microsoft.com/office/drawing/2016/SVG/main" r:embed="rId41"/>
              </a:ext>
            </a:extLst>
          </a:blip>
          <a:stretch>
            <a:fillRect/>
          </a:stretch>
        </p:blipFill>
        <p:spPr>
          <a:xfrm>
            <a:off x="11007090" y="4936490"/>
            <a:ext cx="536575" cy="452755"/>
          </a:xfrm>
          <a:prstGeom prst="rect">
            <a:avLst/>
          </a:prstGeom>
        </p:spPr>
      </p:pic>
      <p:sp>
        <p:nvSpPr>
          <p:cNvPr id="79" name="文本框 78"/>
          <p:cNvSpPr txBox="1"/>
          <p:nvPr/>
        </p:nvSpPr>
        <p:spPr>
          <a:xfrm>
            <a:off x="10179685" y="3973195"/>
            <a:ext cx="1108710" cy="337185"/>
          </a:xfrm>
          <a:prstGeom prst="rect">
            <a:avLst/>
          </a:prstGeom>
          <a:noFill/>
        </p:spPr>
        <p:txBody>
          <a:bodyPr wrap="square" rtlCol="0">
            <a:spAutoFit/>
          </a:bodyPr>
          <a:p>
            <a:r>
              <a:rPr lang="en-US" altLang="zh-CN" sz="1600">
                <a:latin typeface="Comic Sans MS" panose="030F0702030302020204" charset="0"/>
                <a:cs typeface="Comic Sans MS" panose="030F0702030302020204" charset="0"/>
              </a:rPr>
              <a:t>Not Bug. </a:t>
            </a:r>
            <a:endParaRPr lang="en-US" altLang="zh-CN" sz="1600">
              <a:latin typeface="Comic Sans MS" panose="030F0702030302020204" charset="0"/>
              <a:cs typeface="Comic Sans MS" panose="030F0702030302020204" charset="0"/>
            </a:endParaRPr>
          </a:p>
        </p:txBody>
      </p:sp>
      <p:sp>
        <p:nvSpPr>
          <p:cNvPr id="73" name="文本框 72"/>
          <p:cNvSpPr txBox="1"/>
          <p:nvPr/>
        </p:nvSpPr>
        <p:spPr>
          <a:xfrm>
            <a:off x="10230485" y="5389245"/>
            <a:ext cx="1266190" cy="337185"/>
          </a:xfrm>
          <a:prstGeom prst="rect">
            <a:avLst/>
          </a:prstGeom>
          <a:noFill/>
        </p:spPr>
        <p:txBody>
          <a:bodyPr wrap="square" rtlCol="0">
            <a:spAutoFit/>
          </a:bodyPr>
          <a:p>
            <a:r>
              <a:rPr lang="en-US" altLang="zh-CN" sz="1600">
                <a:latin typeface="Comic Sans MS" panose="030F0702030302020204" charset="0"/>
                <a:cs typeface="Comic Sans MS" panose="030F0702030302020204" charset="0"/>
              </a:rPr>
              <a:t>Bug found</a:t>
            </a:r>
            <a:r>
              <a:rPr lang="zh-CN" altLang="en-US" sz="1600">
                <a:latin typeface="Comic Sans MS" panose="030F0702030302020204" charset="0"/>
                <a:cs typeface="Comic Sans MS" panose="030F0702030302020204" charset="0"/>
              </a:rPr>
              <a:t>！</a:t>
            </a:r>
            <a:endParaRPr lang="zh-CN" altLang="en-US" sz="1600">
              <a:latin typeface="Comic Sans MS" panose="030F0702030302020204" charset="0"/>
              <a:cs typeface="Comic Sans MS" panose="030F0702030302020204" charset="0"/>
            </a:endParaRPr>
          </a:p>
        </p:txBody>
      </p:sp>
      <p:pic>
        <p:nvPicPr>
          <p:cNvPr id="28" name="图片 27" descr="gh"/>
          <p:cNvPicPr>
            <a:picLocks noChangeAspect="1"/>
          </p:cNvPicPr>
          <p:nvPr/>
        </p:nvPicPr>
        <p:blipFill>
          <a:blip r:embed="rId42"/>
          <a:srcRect l="16063" t="9565" r="15937" b="25714"/>
          <a:stretch>
            <a:fillRect/>
          </a:stretch>
        </p:blipFill>
        <p:spPr>
          <a:xfrm>
            <a:off x="4502150" y="1697355"/>
            <a:ext cx="680085" cy="661670"/>
          </a:xfrm>
          <a:prstGeom prst="rect">
            <a:avLst/>
          </a:prstGeom>
        </p:spPr>
      </p:pic>
      <p:sp>
        <p:nvSpPr>
          <p:cNvPr id="33" name="圆角矩形 32"/>
          <p:cNvSpPr/>
          <p:nvPr>
            <p:custDataLst>
              <p:tags r:id="rId43"/>
            </p:custDataLst>
          </p:nvPr>
        </p:nvSpPr>
        <p:spPr>
          <a:xfrm>
            <a:off x="8166100" y="1713230"/>
            <a:ext cx="3292475" cy="698500"/>
          </a:xfrm>
          <a:prstGeom prst="roundRect">
            <a:avLst/>
          </a:prstGeom>
          <a:solidFill>
            <a:schemeClr val="accent6">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6" name="图片 35" descr="机器人"/>
          <p:cNvPicPr>
            <a:picLocks noChangeAspect="1"/>
          </p:cNvPicPr>
          <p:nvPr>
            <p:custDataLst>
              <p:tags r:id="rId44"/>
            </p:custDataLst>
          </p:nvPr>
        </p:nvPicPr>
        <p:blipFill>
          <a:blip r:embed="rId27">
            <a:extLst>
              <a:ext uri="{96DAC541-7B7A-43D3-8B79-37D633B846F1}">
                <asvg:svgBlip xmlns:asvg="http://schemas.microsoft.com/office/drawing/2016/SVG/main" r:embed="rId28"/>
              </a:ext>
            </a:extLst>
          </a:blip>
          <a:stretch>
            <a:fillRect/>
          </a:stretch>
        </p:blipFill>
        <p:spPr>
          <a:xfrm>
            <a:off x="8214360" y="1697355"/>
            <a:ext cx="678815" cy="567690"/>
          </a:xfrm>
          <a:prstGeom prst="rect">
            <a:avLst/>
          </a:prstGeom>
        </p:spPr>
      </p:pic>
      <p:sp>
        <p:nvSpPr>
          <p:cNvPr id="37" name="文本框 36"/>
          <p:cNvSpPr txBox="1"/>
          <p:nvPr>
            <p:custDataLst>
              <p:tags r:id="rId45"/>
            </p:custDataLst>
          </p:nvPr>
        </p:nvSpPr>
        <p:spPr>
          <a:xfrm>
            <a:off x="8893175" y="1829435"/>
            <a:ext cx="2559685" cy="45148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Bug-shape-extractor</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38" name="左箭头 37"/>
          <p:cNvSpPr/>
          <p:nvPr/>
        </p:nvSpPr>
        <p:spPr>
          <a:xfrm flipH="1">
            <a:off x="5391785" y="1829435"/>
            <a:ext cx="2725420" cy="47752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文本框 38"/>
          <p:cNvSpPr txBox="1"/>
          <p:nvPr/>
        </p:nvSpPr>
        <p:spPr>
          <a:xfrm>
            <a:off x="5854700" y="2155190"/>
            <a:ext cx="1505585" cy="330200"/>
          </a:xfrm>
          <a:prstGeom prst="rect">
            <a:avLst/>
          </a:prstGeom>
          <a:noFill/>
        </p:spPr>
        <p:txBody>
          <a:bodyPr wrap="square" rtlCol="0">
            <a:noAutofit/>
          </a:bodyPr>
          <a:p>
            <a:r>
              <a:rPr lang="en-US" altLang="zh-CN" sz="1600">
                <a:latin typeface="Comic Sans MS" panose="030F0702030302020204" charset="0"/>
                <a:cs typeface="Comic Sans MS" panose="030F0702030302020204" charset="0"/>
              </a:rPr>
              <a:t>issues</a:t>
            </a:r>
            <a:r>
              <a:rPr lang="zh-CN" altLang="en-US" sz="1600">
                <a:latin typeface="Comic Sans MS" panose="030F0702030302020204" charset="0"/>
                <a:cs typeface="Comic Sans MS" panose="030F0702030302020204" charset="0"/>
              </a:rPr>
              <a:t>、</a:t>
            </a:r>
            <a:r>
              <a:rPr lang="en-US" altLang="zh-CN" sz="1600">
                <a:latin typeface="Comic Sans MS" panose="030F0702030302020204" charset="0"/>
                <a:cs typeface="Comic Sans MS" panose="030F0702030302020204" charset="0"/>
              </a:rPr>
              <a:t>PRs</a:t>
            </a:r>
            <a:endParaRPr lang="en-US" altLang="zh-CN" sz="1600">
              <a:latin typeface="Comic Sans MS" panose="030F0702030302020204" charset="0"/>
              <a:cs typeface="Comic Sans MS" panose="030F0702030302020204" charset="0"/>
            </a:endParaRPr>
          </a:p>
        </p:txBody>
      </p:sp>
      <p:sp>
        <p:nvSpPr>
          <p:cNvPr id="40" name="文本框 39"/>
          <p:cNvSpPr txBox="1"/>
          <p:nvPr/>
        </p:nvSpPr>
        <p:spPr>
          <a:xfrm>
            <a:off x="9182100" y="2877185"/>
            <a:ext cx="3096895" cy="329565"/>
          </a:xfrm>
          <a:prstGeom prst="rect">
            <a:avLst/>
          </a:prstGeom>
          <a:noFill/>
        </p:spPr>
        <p:txBody>
          <a:bodyPr wrap="square" rtlCol="0">
            <a:noAutofit/>
          </a:bodyPr>
          <a:p>
            <a:pPr algn="ctr"/>
            <a:r>
              <a:rPr lang="en-US" altLang="zh-CN" sz="1600">
                <a:latin typeface="Comic Sans MS" panose="030F0702030302020204" charset="0"/>
                <a:cs typeface="Comic Sans MS" panose="030F0702030302020204" charset="0"/>
              </a:rPr>
              <a:t>developer_cognition.json</a:t>
            </a:r>
            <a:endParaRPr lang="en-US" altLang="zh-CN" sz="1600">
              <a:latin typeface="Comic Sans MS" panose="030F0702030302020204" charset="0"/>
              <a:cs typeface="Comic Sans MS" panose="030F0702030302020204" charset="0"/>
            </a:endParaRPr>
          </a:p>
          <a:p>
            <a:pPr algn="ctr"/>
            <a:r>
              <a:rPr lang="en-US" altLang="zh-CN" sz="1600">
                <a:latin typeface="Comic Sans MS" panose="030F0702030302020204" charset="0"/>
                <a:cs typeface="Comic Sans MS" panose="030F0702030302020204" charset="0"/>
              </a:rPr>
              <a:t>(What situations are bugs</a:t>
            </a:r>
            <a:endParaRPr lang="en-US" altLang="zh-CN" sz="1600">
              <a:latin typeface="Comic Sans MS" panose="030F0702030302020204" charset="0"/>
              <a:cs typeface="Comic Sans MS" panose="030F0702030302020204" charset="0"/>
            </a:endParaRPr>
          </a:p>
          <a:p>
            <a:pPr algn="ctr"/>
            <a:r>
              <a:rPr lang="en-US" altLang="zh-CN" sz="1600">
                <a:latin typeface="Comic Sans MS" panose="030F0702030302020204" charset="0"/>
                <a:cs typeface="Comic Sans MS" panose="030F0702030302020204" charset="0"/>
              </a:rPr>
              <a:t>and what are not)</a:t>
            </a:r>
            <a:endParaRPr lang="en-US" altLang="zh-CN" sz="1600">
              <a:latin typeface="Comic Sans MS" panose="030F0702030302020204" charset="0"/>
              <a:cs typeface="Comic Sans MS" panose="030F0702030302020204" charset="0"/>
            </a:endParaRPr>
          </a:p>
        </p:txBody>
      </p:sp>
      <p:sp>
        <p:nvSpPr>
          <p:cNvPr id="41" name="下箭头 40"/>
          <p:cNvSpPr/>
          <p:nvPr/>
        </p:nvSpPr>
        <p:spPr>
          <a:xfrm>
            <a:off x="8953500" y="2426970"/>
            <a:ext cx="399415" cy="1240155"/>
          </a:xfrm>
          <a:prstGeom prst="down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2" name="图片 41" descr="地球网络搜寻"/>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8669655" y="2007870"/>
            <a:ext cx="387985" cy="387985"/>
          </a:xfrm>
          <a:prstGeom prst="rect">
            <a:avLst/>
          </a:prstGeom>
        </p:spPr>
      </p:pic>
      <p:sp>
        <p:nvSpPr>
          <p:cNvPr id="49" name="直角上箭头 48"/>
          <p:cNvSpPr/>
          <p:nvPr/>
        </p:nvSpPr>
        <p:spPr>
          <a:xfrm>
            <a:off x="3540125" y="5932170"/>
            <a:ext cx="6165850" cy="714375"/>
          </a:xfrm>
          <a:prstGeom prst="bentUpArrow">
            <a:avLst>
              <a:gd name="adj1" fmla="val 18133"/>
              <a:gd name="adj2" fmla="val 23022"/>
              <a:gd name="adj3" fmla="val 25000"/>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animBg="1"/>
      <p:bldP spid="9" grpId="0"/>
      <p:bldP spid="40" grpId="0"/>
      <p:bldP spid="41" grpId="0" animBg="1"/>
      <p:bldP spid="49" grpId="0" animBg="1"/>
      <p:bldP spid="15" grpId="0"/>
      <p:bldP spid="14" grpId="0" animBg="1"/>
      <p:bldP spid="24" grpId="0"/>
      <p:bldP spid="128" grpId="0" animBg="1"/>
      <p:bldP spid="129" grpId="0"/>
      <p:bldP spid="17" grpId="0" animBg="1"/>
      <p:bldP spid="25" grpId="0" animBg="1"/>
      <p:bldP spid="79" grpId="0"/>
      <p:bldP spid="7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46"/>
          <p:cNvSpPr/>
          <p:nvPr>
            <p:custDataLst>
              <p:tags r:id="rId1"/>
            </p:custDataLst>
          </p:nvPr>
        </p:nvSpPr>
        <p:spPr>
          <a:xfrm>
            <a:off x="414655" y="1434465"/>
            <a:ext cx="10080625" cy="5307965"/>
          </a:xfrm>
          <a:prstGeom prst="roundRect">
            <a:avLst>
              <a:gd name="adj" fmla="val 6256"/>
            </a:avLst>
          </a:prstGeom>
          <a:solidFill>
            <a:schemeClr val="accent6">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351155" y="527050"/>
            <a:ext cx="4596130"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altLang="zh-CN" sz="3600"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Defect Confirmation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20" name="灯片编号占位符 19"/>
          <p:cNvSpPr>
            <a:spLocks noGrp="1"/>
          </p:cNvSpPr>
          <p:nvPr>
            <p:ph type="sldNum" sz="quarter" idx="12"/>
          </p:nvPr>
        </p:nvSpPr>
        <p:spPr>
          <a:xfrm>
            <a:off x="11179175" y="6478270"/>
            <a:ext cx="497205" cy="264160"/>
          </a:xfrm>
        </p:spPr>
        <p:txBody>
          <a:bodyPr/>
          <a:lstStyle/>
          <a:p>
            <a:fld id="{E09368C2-8BE5-4C19-86FB-98954A39BC6E}" type="slidenum">
              <a:rPr lang="zh-CN" altLang="en-US" smtClean="0"/>
            </a:fld>
            <a:endParaRPr lang="zh-CN" altLang="en-US"/>
          </a:p>
        </p:txBody>
      </p:sp>
      <p:sp>
        <p:nvSpPr>
          <p:cNvPr id="49" name="圆角矩形 48"/>
          <p:cNvSpPr/>
          <p:nvPr>
            <p:custDataLst>
              <p:tags r:id="rId3"/>
            </p:custDataLst>
          </p:nvPr>
        </p:nvSpPr>
        <p:spPr>
          <a:xfrm>
            <a:off x="550545" y="2729865"/>
            <a:ext cx="2988310" cy="2735580"/>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    </a:t>
            </a:r>
            <a:endParaRPr lang="en-US" altLang="zh-CN" sz="1600">
              <a:solidFill>
                <a:schemeClr val="tx1"/>
              </a:solidFill>
              <a:latin typeface="Comic Sans MS" panose="030F0702030302020204" charset="0"/>
              <a:cs typeface="Comic Sans MS" panose="030F0702030302020204" charset="0"/>
            </a:endParaRPr>
          </a:p>
        </p:txBody>
      </p:sp>
      <p:sp>
        <p:nvSpPr>
          <p:cNvPr id="21" name="圆角矩形 20"/>
          <p:cNvSpPr/>
          <p:nvPr>
            <p:custDataLst>
              <p:tags r:id="rId4"/>
            </p:custDataLst>
          </p:nvPr>
        </p:nvSpPr>
        <p:spPr>
          <a:xfrm>
            <a:off x="607960" y="2855141"/>
            <a:ext cx="2875030"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 name="图片 21" descr="书-翻开"/>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702387" y="2813685"/>
            <a:ext cx="677110" cy="690928"/>
          </a:xfrm>
          <a:prstGeom prst="rect">
            <a:avLst/>
          </a:prstGeom>
        </p:spPr>
      </p:pic>
      <p:sp>
        <p:nvSpPr>
          <p:cNvPr id="23" name="文本框 22"/>
          <p:cNvSpPr txBox="1"/>
          <p:nvPr>
            <p:custDataLst>
              <p:tags r:id="rId8"/>
            </p:custDataLst>
          </p:nvPr>
        </p:nvSpPr>
        <p:spPr>
          <a:xfrm>
            <a:off x="1437640" y="2985770"/>
            <a:ext cx="1938655" cy="451485"/>
          </a:xfrm>
          <a:prstGeom prst="rect">
            <a:avLst/>
          </a:prstGeom>
          <a:noFill/>
        </p:spPr>
        <p:txBody>
          <a:bodyPr wrap="square" rtlCol="0">
            <a:noAutofit/>
          </a:bodyPr>
          <a:p>
            <a:pPr algn="ctr"/>
            <a:r>
              <a:rPr lang="en-US" altLang="zh-CN" sz="1600" b="1">
                <a:solidFill>
                  <a:schemeClr val="tx2"/>
                </a:solidFill>
                <a:latin typeface="Comic Sans MS" panose="030F0702030302020204" charset="0"/>
                <a:cs typeface="Comic Sans MS" panose="030F0702030302020204" charset="0"/>
              </a:rPr>
              <a:t>documentation</a:t>
            </a:r>
            <a:endParaRPr lang="en-US" altLang="zh-CN" sz="1600" b="1">
              <a:solidFill>
                <a:schemeClr val="tx2"/>
              </a:solidFill>
              <a:latin typeface="Comic Sans MS" panose="030F0702030302020204" charset="0"/>
              <a:cs typeface="Comic Sans MS" panose="030F0702030302020204" charset="0"/>
            </a:endParaRPr>
          </a:p>
        </p:txBody>
      </p:sp>
      <p:sp>
        <p:nvSpPr>
          <p:cNvPr id="29" name="圆角矩形 28"/>
          <p:cNvSpPr/>
          <p:nvPr>
            <p:custDataLst>
              <p:tags r:id="rId9"/>
            </p:custDataLst>
          </p:nvPr>
        </p:nvSpPr>
        <p:spPr>
          <a:xfrm>
            <a:off x="607193" y="3490027"/>
            <a:ext cx="288040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文本框 30"/>
          <p:cNvSpPr txBox="1"/>
          <p:nvPr>
            <p:custDataLst>
              <p:tags r:id="rId10"/>
            </p:custDataLst>
          </p:nvPr>
        </p:nvSpPr>
        <p:spPr>
          <a:xfrm>
            <a:off x="1437640" y="3632835"/>
            <a:ext cx="1938020" cy="378460"/>
          </a:xfrm>
          <a:prstGeom prst="rect">
            <a:avLst/>
          </a:prstGeom>
          <a:noFill/>
        </p:spPr>
        <p:txBody>
          <a:bodyPr wrap="square" rtlCol="0">
            <a:noAutofit/>
          </a:bodyPr>
          <a:p>
            <a:pPr algn="ctr"/>
            <a:r>
              <a:rPr lang="en-US" altLang="zh-CN" sz="1600" b="1" dirty="0" err="1">
                <a:solidFill>
                  <a:schemeClr val="tx2"/>
                </a:solidFill>
                <a:latin typeface="Comic Sans MS" panose="030F0702030302020204" charset="0"/>
                <a:ea typeface="Microsoft YaHei" panose="020B0503020204020204" charset="-122"/>
                <a:cs typeface="Comic Sans MS" panose="030F0702030302020204" charset="0"/>
                <a:sym typeface="+mn-ea"/>
              </a:rPr>
              <a:t>behavioral claims</a:t>
            </a:r>
            <a:endParaRPr lang="en-US" altLang="zh-CN" sz="1600" b="1"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pic>
        <p:nvPicPr>
          <p:cNvPr id="32" name="图片 31" descr="代码文件"/>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07695" y="3450590"/>
            <a:ext cx="940435" cy="626745"/>
          </a:xfrm>
          <a:prstGeom prst="rect">
            <a:avLst/>
          </a:prstGeom>
        </p:spPr>
      </p:pic>
      <p:sp>
        <p:nvSpPr>
          <p:cNvPr id="34" name="圆角矩形 33"/>
          <p:cNvSpPr/>
          <p:nvPr>
            <p:custDataLst>
              <p:tags r:id="rId14"/>
            </p:custDataLst>
          </p:nvPr>
        </p:nvSpPr>
        <p:spPr>
          <a:xfrm>
            <a:off x="607193" y="4121075"/>
            <a:ext cx="287042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custDataLst>
              <p:tags r:id="rId15"/>
            </p:custDataLst>
          </p:nvPr>
        </p:nvSpPr>
        <p:spPr>
          <a:xfrm>
            <a:off x="1437005" y="4206875"/>
            <a:ext cx="1938655" cy="402590"/>
          </a:xfrm>
          <a:prstGeom prst="rect">
            <a:avLst/>
          </a:prstGeom>
          <a:noFill/>
        </p:spPr>
        <p:txBody>
          <a:bodyPr wrap="square" rtlCol="0">
            <a:noAutofit/>
          </a:bodyPr>
          <a:p>
            <a:pPr algn="ctr"/>
            <a:r>
              <a:rPr lang="en-US" altLang="zh-CN" sz="1600" b="1" dirty="0" err="1">
                <a:solidFill>
                  <a:schemeClr val="tx2"/>
                </a:solidFill>
                <a:latin typeface="Comic Sans MS" panose="030F0702030302020204" charset="0"/>
                <a:ea typeface="Microsoft YaHei" panose="020B0503020204020204" charset="-122"/>
                <a:cs typeface="Comic Sans MS" panose="030F0702030302020204" charset="0"/>
                <a:sym typeface="+mn-ea"/>
              </a:rPr>
              <a:t>test scripts</a:t>
            </a:r>
            <a:endParaRPr lang="en-US" altLang="zh-CN" sz="1600" b="1"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pic>
        <p:nvPicPr>
          <p:cNvPr id="43" name="图片 42" descr="软件"/>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702387" y="4088832"/>
            <a:ext cx="717798" cy="621068"/>
          </a:xfrm>
          <a:prstGeom prst="rect">
            <a:avLst/>
          </a:prstGeom>
        </p:spPr>
      </p:pic>
      <p:sp>
        <p:nvSpPr>
          <p:cNvPr id="44" name="圆角矩形 43"/>
          <p:cNvSpPr/>
          <p:nvPr>
            <p:custDataLst>
              <p:tags r:id="rId19"/>
            </p:custDataLst>
          </p:nvPr>
        </p:nvSpPr>
        <p:spPr>
          <a:xfrm>
            <a:off x="606425" y="4748285"/>
            <a:ext cx="2881172"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文本框 44"/>
          <p:cNvSpPr txBox="1"/>
          <p:nvPr>
            <p:custDataLst>
              <p:tags r:id="rId20"/>
            </p:custDataLst>
          </p:nvPr>
        </p:nvSpPr>
        <p:spPr>
          <a:xfrm>
            <a:off x="1437640" y="4848860"/>
            <a:ext cx="1939290" cy="429895"/>
          </a:xfrm>
          <a:prstGeom prst="rect">
            <a:avLst/>
          </a:prstGeom>
          <a:noFill/>
        </p:spPr>
        <p:txBody>
          <a:bodyPr wrap="square" rtlCol="0">
            <a:noAutofit/>
          </a:bodyPr>
          <a:p>
            <a:pPr algn="ctr"/>
            <a:r>
              <a:rPr lang="en-US" altLang="zh-CN" sz="1600" b="1">
                <a:solidFill>
                  <a:schemeClr val="tx2"/>
                </a:solidFill>
                <a:latin typeface="Comic Sans MS" panose="030F0702030302020204" charset="0"/>
                <a:cs typeface="Comic Sans MS" panose="030F0702030302020204" charset="0"/>
              </a:rPr>
              <a:t>Test outputs</a:t>
            </a:r>
            <a:endParaRPr lang="en-US" altLang="zh-CN" sz="1600" b="1">
              <a:solidFill>
                <a:schemeClr val="tx2"/>
              </a:solidFill>
              <a:latin typeface="Comic Sans MS" panose="030F0702030302020204" charset="0"/>
              <a:cs typeface="Comic Sans MS" panose="030F0702030302020204" charset="0"/>
            </a:endParaRPr>
          </a:p>
        </p:txBody>
      </p:sp>
      <p:pic>
        <p:nvPicPr>
          <p:cNvPr id="46" name="图片 45" descr="数据库"/>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702387" y="4709900"/>
            <a:ext cx="735455" cy="691696"/>
          </a:xfrm>
          <a:prstGeom prst="rect">
            <a:avLst/>
          </a:prstGeom>
        </p:spPr>
      </p:pic>
      <p:sp>
        <p:nvSpPr>
          <p:cNvPr id="48" name="文本框 47"/>
          <p:cNvSpPr txBox="1"/>
          <p:nvPr>
            <p:custDataLst>
              <p:tags r:id="rId24"/>
            </p:custDataLst>
          </p:nvPr>
        </p:nvSpPr>
        <p:spPr>
          <a:xfrm>
            <a:off x="645160" y="2279015"/>
            <a:ext cx="2170430" cy="45148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Evidence_Builder</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130" name="图片 129" descr="机器人"/>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865505" y="1539240"/>
            <a:ext cx="678815" cy="567690"/>
          </a:xfrm>
          <a:prstGeom prst="rect">
            <a:avLst/>
          </a:prstGeom>
        </p:spPr>
      </p:pic>
      <p:sp>
        <p:nvSpPr>
          <p:cNvPr id="132" name="圆角矩形 131"/>
          <p:cNvSpPr/>
          <p:nvPr>
            <p:custDataLst>
              <p:tags r:id="rId28"/>
            </p:custDataLst>
          </p:nvPr>
        </p:nvSpPr>
        <p:spPr>
          <a:xfrm>
            <a:off x="598170" y="5638165"/>
            <a:ext cx="2879725" cy="654050"/>
          </a:xfrm>
          <a:prstGeom prst="roundRect">
            <a:avLst>
              <a:gd name="adj" fmla="val 21975"/>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    </a:t>
            </a:r>
            <a:endParaRPr lang="en-US" altLang="zh-CN" sz="1600">
              <a:solidFill>
                <a:schemeClr val="tx1"/>
              </a:solidFill>
              <a:latin typeface="Comic Sans MS" panose="030F0702030302020204" charset="0"/>
              <a:cs typeface="Comic Sans MS" panose="030F0702030302020204" charset="0"/>
            </a:endParaRPr>
          </a:p>
        </p:txBody>
      </p:sp>
      <p:sp>
        <p:nvSpPr>
          <p:cNvPr id="133" name="文本框 132"/>
          <p:cNvSpPr txBox="1"/>
          <p:nvPr/>
        </p:nvSpPr>
        <p:spPr>
          <a:xfrm>
            <a:off x="1070610" y="5745480"/>
            <a:ext cx="2406650" cy="455295"/>
          </a:xfrm>
          <a:prstGeom prst="rect">
            <a:avLst/>
          </a:prstGeom>
          <a:noFill/>
        </p:spPr>
        <p:txBody>
          <a:bodyPr wrap="square" rtlCol="0">
            <a:noAutofit/>
          </a:bodyPr>
          <a:p>
            <a:pPr algn="ctr">
              <a:lnSpc>
                <a:spcPct val="100000"/>
              </a:lnSpc>
            </a:pPr>
            <a:r>
              <a:rPr lang="en-US" altLang="zh-CN">
                <a:latin typeface="Comic Sans MS" panose="030F0702030302020204" charset="0"/>
                <a:cs typeface="Comic Sans MS" panose="030F0702030302020204" charset="0"/>
              </a:rPr>
              <a:t>VDBMS source code</a:t>
            </a:r>
            <a:endParaRPr lang="en-US" altLang="zh-CN">
              <a:latin typeface="Comic Sans MS" panose="030F0702030302020204" charset="0"/>
              <a:cs typeface="Comic Sans MS" panose="030F0702030302020204" charset="0"/>
            </a:endParaRPr>
          </a:p>
        </p:txBody>
      </p:sp>
      <p:pic>
        <p:nvPicPr>
          <p:cNvPr id="134" name="图片 133" descr="代码"/>
          <p:cNvPicPr>
            <a:picLocks noChangeAspect="1"/>
          </p:cNvPicPr>
          <p:nvPr>
            <p:custDataLst>
              <p:tags r:id="rId29"/>
            </p:custDataLst>
          </p:nvPr>
        </p:nvPicPr>
        <p:blipFill>
          <a:blip r:embed="rId30">
            <a:extLst>
              <a:ext uri="{96DAC541-7B7A-43D3-8B79-37D633B846F1}">
                <asvg:svgBlip xmlns:asvg="http://schemas.microsoft.com/office/drawing/2016/SVG/main" r:embed="rId31"/>
              </a:ext>
            </a:extLst>
          </a:blip>
          <a:stretch>
            <a:fillRect/>
          </a:stretch>
        </p:blipFill>
        <p:spPr>
          <a:xfrm>
            <a:off x="635000" y="5745480"/>
            <a:ext cx="516255" cy="454025"/>
          </a:xfrm>
          <a:prstGeom prst="rect">
            <a:avLst/>
          </a:prstGeom>
        </p:spPr>
      </p:pic>
      <p:sp>
        <p:nvSpPr>
          <p:cNvPr id="166" name="左箭头 165"/>
          <p:cNvSpPr/>
          <p:nvPr/>
        </p:nvSpPr>
        <p:spPr>
          <a:xfrm flipH="1">
            <a:off x="10147935" y="4774565"/>
            <a:ext cx="1397635" cy="47752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descr="地球网络搜寻"/>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372870" y="1894205"/>
            <a:ext cx="387985" cy="387985"/>
          </a:xfrm>
          <a:prstGeom prst="rect">
            <a:avLst/>
          </a:prstGeom>
        </p:spPr>
      </p:pic>
      <p:sp>
        <p:nvSpPr>
          <p:cNvPr id="9" name="文本框 8"/>
          <p:cNvSpPr txBox="1"/>
          <p:nvPr/>
        </p:nvSpPr>
        <p:spPr>
          <a:xfrm>
            <a:off x="10230485" y="5317490"/>
            <a:ext cx="1826260" cy="368300"/>
          </a:xfrm>
          <a:prstGeom prst="rect">
            <a:avLst/>
          </a:prstGeom>
          <a:noFill/>
        </p:spPr>
        <p:txBody>
          <a:bodyPr wrap="square" rtlCol="0">
            <a:noAutofit/>
          </a:bodyPr>
          <a:p>
            <a:pPr algn="ctr"/>
            <a:r>
              <a:rPr lang="en-US" altLang="zh-CN">
                <a:latin typeface="Comic Sans MS" panose="030F0702030302020204" charset="0"/>
                <a:cs typeface="Comic Sans MS" panose="030F0702030302020204" charset="0"/>
              </a:rPr>
              <a:t>evidence_chain</a:t>
            </a:r>
            <a:endParaRPr lang="en-US" altLang="zh-CN">
              <a:latin typeface="Comic Sans MS" panose="030F0702030302020204" charset="0"/>
              <a:cs typeface="Comic Sans MS" panose="030F0702030302020204" charset="0"/>
            </a:endParaRPr>
          </a:p>
          <a:p>
            <a:pPr algn="ctr"/>
            <a:r>
              <a:rPr lang="en-US" altLang="zh-CN">
                <a:latin typeface="Comic Sans MS" panose="030F0702030302020204" charset="0"/>
                <a:cs typeface="Comic Sans MS" panose="030F0702030302020204" charset="0"/>
              </a:rPr>
              <a:t>.json</a:t>
            </a:r>
            <a:endParaRPr lang="zh-CN" altLang="en-US">
              <a:latin typeface="Comic Sans MS" panose="030F0702030302020204" charset="0"/>
              <a:cs typeface="Comic Sans MS" panose="030F0702030302020204" charset="0"/>
            </a:endParaRPr>
          </a:p>
        </p:txBody>
      </p:sp>
      <p:sp>
        <p:nvSpPr>
          <p:cNvPr id="2" name="圆角矩形 1"/>
          <p:cNvSpPr/>
          <p:nvPr>
            <p:custDataLst>
              <p:tags r:id="rId34"/>
            </p:custDataLst>
          </p:nvPr>
        </p:nvSpPr>
        <p:spPr>
          <a:xfrm>
            <a:off x="4156710" y="1635125"/>
            <a:ext cx="5992495" cy="524510"/>
          </a:xfrm>
          <a:prstGeom prst="roundRect">
            <a:avLst/>
          </a:prstGeom>
          <a:solidFill>
            <a:schemeClr val="accent6">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2"/>
              </a:solidFill>
              <a:latin typeface="Comic Sans MS" panose="030F0702030302020204" charset="0"/>
              <a:cs typeface="Comic Sans MS" panose="030F0702030302020204" charset="0"/>
              <a:sym typeface="+mn-ea"/>
            </a:endParaRPr>
          </a:p>
          <a:p>
            <a:pPr algn="ctr"/>
            <a:r>
              <a:rPr lang="en-US" altLang="zh-CN">
                <a:solidFill>
                  <a:schemeClr val="tx2"/>
                </a:solidFill>
                <a:latin typeface="Comic Sans MS" panose="030F0702030302020204" charset="0"/>
                <a:cs typeface="Comic Sans MS" panose="030F0702030302020204" charset="0"/>
                <a:sym typeface="+mn-ea"/>
              </a:rPr>
              <a:t>Phase 1 – Execution Evidence &amp; Document Verification</a:t>
            </a:r>
            <a:endParaRPr lang="en-US" altLang="zh-CN">
              <a:solidFill>
                <a:schemeClr val="tx2"/>
              </a:solidFill>
              <a:latin typeface="Comic Sans MS" panose="030F0702030302020204" charset="0"/>
              <a:cs typeface="Comic Sans MS" panose="030F0702030302020204" charset="0"/>
            </a:endParaRPr>
          </a:p>
          <a:p>
            <a:pPr algn="ctr"/>
            <a:endParaRPr lang="en-US" altLang="zh-CN">
              <a:solidFill>
                <a:schemeClr val="tx2"/>
              </a:solidFill>
              <a:latin typeface="Comic Sans MS" panose="030F0702030302020204" charset="0"/>
              <a:cs typeface="Comic Sans MS" panose="030F0702030302020204" charset="0"/>
            </a:endParaRPr>
          </a:p>
        </p:txBody>
      </p:sp>
      <p:sp>
        <p:nvSpPr>
          <p:cNvPr id="4" name="圆角矩形 3"/>
          <p:cNvSpPr/>
          <p:nvPr>
            <p:custDataLst>
              <p:tags r:id="rId35"/>
            </p:custDataLst>
          </p:nvPr>
        </p:nvSpPr>
        <p:spPr>
          <a:xfrm>
            <a:off x="4156075" y="2159635"/>
            <a:ext cx="5993130" cy="2447925"/>
          </a:xfrm>
          <a:prstGeom prst="roundRect">
            <a:avLst>
              <a:gd name="adj" fmla="val 2974"/>
            </a:avLst>
          </a:prstGeom>
          <a:solidFill>
            <a:schemeClr val="accent5">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2"/>
              </a:solidFill>
              <a:latin typeface="Comic Sans MS" panose="030F0702030302020204" charset="0"/>
              <a:cs typeface="Comic Sans MS" panose="030F0702030302020204" charset="0"/>
              <a:sym typeface="+mn-ea"/>
            </a:endParaRPr>
          </a:p>
          <a:p>
            <a:pPr algn="ctr"/>
            <a:endParaRPr lang="en-US" altLang="zh-CN">
              <a:solidFill>
                <a:schemeClr val="tx2"/>
              </a:solidFill>
              <a:latin typeface="Comic Sans MS" panose="030F0702030302020204" charset="0"/>
              <a:cs typeface="Comic Sans MS" panose="030F0702030302020204" charset="0"/>
            </a:endParaRPr>
          </a:p>
        </p:txBody>
      </p:sp>
      <p:sp>
        <p:nvSpPr>
          <p:cNvPr id="5" name="文本框 4"/>
          <p:cNvSpPr txBox="1"/>
          <p:nvPr/>
        </p:nvSpPr>
        <p:spPr>
          <a:xfrm>
            <a:off x="4389120" y="2282190"/>
            <a:ext cx="5637530" cy="382270"/>
          </a:xfrm>
          <a:prstGeom prst="rect">
            <a:avLst/>
          </a:prstGeom>
          <a:noFill/>
          <a:ln w="28575" cmpd="sng">
            <a:solidFill>
              <a:schemeClr val="accent6">
                <a:lumMod val="60000"/>
                <a:lumOff val="40000"/>
              </a:schemeClr>
            </a:solidFill>
            <a:prstDash val="solid"/>
          </a:ln>
        </p:spPr>
        <p:txBody>
          <a:bodyPr wrap="square" rtlCol="0">
            <a:noAutofit/>
          </a:bodyPr>
          <a:p>
            <a:r>
              <a:rPr lang="en-US" altLang="zh-CN" sz="1600"/>
              <a:t>1.check whether the</a:t>
            </a:r>
            <a:r>
              <a:rPr lang="en-US" altLang="zh-CN" sz="1600" b="1"/>
              <a:t> test outputs aligns with the </a:t>
            </a:r>
            <a:r>
              <a:rPr lang="en-US" altLang="zh-CN" sz="1600" b="1">
                <a:sym typeface="+mn-ea"/>
              </a:rPr>
              <a:t>claim</a:t>
            </a:r>
            <a:endParaRPr lang="en-US" altLang="zh-CN" sz="1600" b="1">
              <a:sym typeface="+mn-ea"/>
            </a:endParaRPr>
          </a:p>
        </p:txBody>
      </p:sp>
      <p:sp>
        <p:nvSpPr>
          <p:cNvPr id="13" name="文本框 12"/>
          <p:cNvSpPr txBox="1"/>
          <p:nvPr/>
        </p:nvSpPr>
        <p:spPr>
          <a:xfrm>
            <a:off x="4389755" y="2712720"/>
            <a:ext cx="5636895" cy="561340"/>
          </a:xfrm>
          <a:prstGeom prst="rect">
            <a:avLst/>
          </a:prstGeom>
          <a:noFill/>
          <a:ln w="28575" cmpd="sng">
            <a:solidFill>
              <a:schemeClr val="accent6">
                <a:lumMod val="60000"/>
                <a:lumOff val="40000"/>
              </a:schemeClr>
            </a:solidFill>
            <a:prstDash val="solid"/>
          </a:ln>
        </p:spPr>
        <p:txBody>
          <a:bodyPr wrap="square" rtlCol="0">
            <a:noAutofit/>
          </a:bodyPr>
          <a:p>
            <a:r>
              <a:rPr lang="en-US" altLang="zh-CN" sz="1600"/>
              <a:t>2.check </a:t>
            </a:r>
            <a:r>
              <a:rPr lang="en-US" altLang="zh-CN" sz="1600">
                <a:sym typeface="+mn-ea"/>
              </a:rPr>
              <a:t>document:</a:t>
            </a:r>
            <a:r>
              <a:rPr lang="en-US" altLang="zh-CN" sz="1600" b="1">
                <a:sym typeface="+mn-ea"/>
              </a:rPr>
              <a:t>reachability → version match → content consistency → endpoint existence</a:t>
            </a:r>
            <a:r>
              <a:rPr lang="en-US" altLang="zh-CN" sz="1600">
                <a:sym typeface="+mn-ea"/>
              </a:rPr>
              <a:t>.</a:t>
            </a:r>
            <a:endParaRPr lang="en-US" altLang="zh-CN" sz="1600"/>
          </a:p>
          <a:p>
            <a:endParaRPr lang="en-US" altLang="zh-CN" sz="1600"/>
          </a:p>
        </p:txBody>
      </p:sp>
      <p:sp>
        <p:nvSpPr>
          <p:cNvPr id="16" name="文本框 15"/>
          <p:cNvSpPr txBox="1"/>
          <p:nvPr/>
        </p:nvSpPr>
        <p:spPr>
          <a:xfrm>
            <a:off x="4389755" y="3322320"/>
            <a:ext cx="5621655" cy="539750"/>
          </a:xfrm>
          <a:prstGeom prst="rect">
            <a:avLst/>
          </a:prstGeom>
          <a:noFill/>
          <a:ln w="28575" cmpd="sng">
            <a:solidFill>
              <a:schemeClr val="accent6">
                <a:lumMod val="60000"/>
                <a:lumOff val="40000"/>
              </a:schemeClr>
            </a:solidFill>
            <a:prstDash val="solid"/>
          </a:ln>
        </p:spPr>
        <p:txBody>
          <a:bodyPr wrap="square" rtlCol="0">
            <a:noAutofit/>
          </a:bodyPr>
          <a:p>
            <a:r>
              <a:rPr lang="en-US" altLang="zh-CN" sz="1600"/>
              <a:t>3.check</a:t>
            </a:r>
            <a:r>
              <a:rPr lang="en-US" altLang="zh-CN" sz="1600" b="1"/>
              <a:t> </a:t>
            </a:r>
            <a:r>
              <a:rPr lang="en-US" altLang="zh-CN" sz="1600" b="1">
                <a:sym typeface="+mn-ea"/>
              </a:rPr>
              <a:t>reproducibility</a:t>
            </a:r>
            <a:r>
              <a:rPr lang="en-US" altLang="zh-CN" sz="1600">
                <a:sym typeface="+mn-ea"/>
              </a:rPr>
              <a:t> and </a:t>
            </a:r>
            <a:r>
              <a:rPr lang="en-US" altLang="zh-CN" sz="1600" b="1">
                <a:sym typeface="+mn-ea"/>
              </a:rPr>
              <a:t>HTTP semantics</a:t>
            </a:r>
            <a:endParaRPr lang="en-US" altLang="zh-CN" sz="1600" b="1">
              <a:sym typeface="+mn-ea"/>
            </a:endParaRPr>
          </a:p>
          <a:p>
            <a:r>
              <a:rPr lang="en-US" altLang="zh-CN" sz="1600">
                <a:sym typeface="+mn-ea"/>
              </a:rPr>
              <a:t> (2xx+error code vs. 4xx/5xx).</a:t>
            </a:r>
            <a:endParaRPr lang="en-US" altLang="zh-CN" sz="1600"/>
          </a:p>
          <a:p>
            <a:endParaRPr lang="en-US" altLang="zh-CN" sz="1600"/>
          </a:p>
        </p:txBody>
      </p:sp>
      <p:sp>
        <p:nvSpPr>
          <p:cNvPr id="42" name="文本框 41"/>
          <p:cNvSpPr txBox="1"/>
          <p:nvPr/>
        </p:nvSpPr>
        <p:spPr>
          <a:xfrm>
            <a:off x="4380865" y="3910330"/>
            <a:ext cx="5645785" cy="622300"/>
          </a:xfrm>
          <a:prstGeom prst="rect">
            <a:avLst/>
          </a:prstGeom>
          <a:noFill/>
          <a:ln w="28575" cmpd="sng">
            <a:solidFill>
              <a:schemeClr val="accent6">
                <a:lumMod val="60000"/>
                <a:lumOff val="40000"/>
              </a:schemeClr>
            </a:solidFill>
            <a:prstDash val="solid"/>
          </a:ln>
        </p:spPr>
        <p:txBody>
          <a:bodyPr wrap="square" rtlCol="0">
            <a:noAutofit/>
          </a:bodyPr>
          <a:p>
            <a:r>
              <a:rPr lang="en-US" altLang="zh-CN" sz="1600"/>
              <a:t>4.</a:t>
            </a:r>
            <a:r>
              <a:rPr lang="en-US" altLang="zh-CN" sz="1600">
                <a:sym typeface="+mn-ea"/>
              </a:rPr>
              <a:t>Trace the evidence chain: </a:t>
            </a:r>
            <a:r>
              <a:rPr lang="en-US" altLang="zh-CN" sz="1600" b="1">
                <a:sym typeface="+mn-ea"/>
              </a:rPr>
              <a:t>contract → doc → script → log</a:t>
            </a:r>
            <a:r>
              <a:rPr lang="en-US" altLang="zh-CN" sz="1600">
                <a:sym typeface="+mn-ea"/>
              </a:rPr>
              <a:t>; flag any broken link.</a:t>
            </a:r>
            <a:endParaRPr lang="en-US" altLang="zh-CN" sz="1600">
              <a:sym typeface="+mn-ea"/>
            </a:endParaRPr>
          </a:p>
        </p:txBody>
      </p:sp>
      <p:sp>
        <p:nvSpPr>
          <p:cNvPr id="50" name="圆角矩形 49"/>
          <p:cNvSpPr/>
          <p:nvPr>
            <p:custDataLst>
              <p:tags r:id="rId36"/>
            </p:custDataLst>
          </p:nvPr>
        </p:nvSpPr>
        <p:spPr>
          <a:xfrm>
            <a:off x="6353810" y="4704715"/>
            <a:ext cx="3795395" cy="524510"/>
          </a:xfrm>
          <a:prstGeom prst="roundRect">
            <a:avLst/>
          </a:prstGeom>
          <a:solidFill>
            <a:schemeClr val="accent6">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tx2"/>
                </a:solidFill>
                <a:latin typeface="Comic Sans MS" panose="030F0702030302020204" charset="0"/>
                <a:cs typeface="Comic Sans MS" panose="030F0702030302020204" charset="0"/>
                <a:sym typeface="+mn-ea"/>
              </a:rPr>
              <a:t>Phase 2 – Source Code Grounding</a:t>
            </a:r>
            <a:endParaRPr lang="en-US" altLang="zh-CN">
              <a:solidFill>
                <a:schemeClr val="tx2"/>
              </a:solidFill>
              <a:latin typeface="Comic Sans MS" panose="030F0702030302020204" charset="0"/>
              <a:cs typeface="Comic Sans MS" panose="030F0702030302020204" charset="0"/>
              <a:sym typeface="+mn-ea"/>
            </a:endParaRPr>
          </a:p>
        </p:txBody>
      </p:sp>
      <p:sp>
        <p:nvSpPr>
          <p:cNvPr id="52" name="圆角矩形 51"/>
          <p:cNvSpPr/>
          <p:nvPr>
            <p:custDataLst>
              <p:tags r:id="rId37"/>
            </p:custDataLst>
          </p:nvPr>
        </p:nvSpPr>
        <p:spPr>
          <a:xfrm>
            <a:off x="4156075" y="5229225"/>
            <a:ext cx="5991860" cy="1421765"/>
          </a:xfrm>
          <a:prstGeom prst="roundRect">
            <a:avLst>
              <a:gd name="adj" fmla="val 2974"/>
            </a:avLst>
          </a:prstGeom>
          <a:solidFill>
            <a:schemeClr val="accent5">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2"/>
              </a:solidFill>
              <a:latin typeface="Comic Sans MS" panose="030F0702030302020204" charset="0"/>
              <a:cs typeface="Comic Sans MS" panose="030F0702030302020204" charset="0"/>
              <a:sym typeface="+mn-ea"/>
            </a:endParaRPr>
          </a:p>
          <a:p>
            <a:pPr algn="ctr"/>
            <a:endParaRPr lang="en-US" altLang="zh-CN">
              <a:solidFill>
                <a:schemeClr val="tx2"/>
              </a:solidFill>
              <a:latin typeface="Comic Sans MS" panose="030F0702030302020204" charset="0"/>
              <a:cs typeface="Comic Sans MS" panose="030F0702030302020204" charset="0"/>
            </a:endParaRPr>
          </a:p>
        </p:txBody>
      </p:sp>
      <p:sp>
        <p:nvSpPr>
          <p:cNvPr id="53" name="文本框 52"/>
          <p:cNvSpPr txBox="1"/>
          <p:nvPr/>
        </p:nvSpPr>
        <p:spPr>
          <a:xfrm>
            <a:off x="4365625" y="5368925"/>
            <a:ext cx="5646420" cy="337185"/>
          </a:xfrm>
          <a:prstGeom prst="rect">
            <a:avLst/>
          </a:prstGeom>
          <a:noFill/>
          <a:ln w="28575" cmpd="sng">
            <a:solidFill>
              <a:schemeClr val="accent6">
                <a:lumMod val="60000"/>
                <a:lumOff val="40000"/>
              </a:schemeClr>
            </a:solidFill>
            <a:prstDash val="solid"/>
          </a:ln>
        </p:spPr>
        <p:txBody>
          <a:bodyPr wrap="square" rtlCol="0">
            <a:spAutoFit/>
          </a:bodyPr>
          <a:p>
            <a:r>
              <a:rPr lang="en-US" altLang="zh-CN" sz="1600">
                <a:sym typeface="+mn-ea"/>
              </a:rPr>
              <a:t>1.Grep</a:t>
            </a:r>
            <a:r>
              <a:rPr lang="en-US" altLang="zh-CN" sz="1600" b="1">
                <a:sym typeface="+mn-ea"/>
              </a:rPr>
              <a:t> local clone</a:t>
            </a:r>
            <a:r>
              <a:rPr lang="en-US" altLang="zh-CN" sz="1600">
                <a:sym typeface="+mn-ea"/>
              </a:rPr>
              <a:t> for parameter/error code keywords </a:t>
            </a:r>
            <a:endParaRPr lang="en-US" altLang="zh-CN" sz="1600">
              <a:sym typeface="+mn-ea"/>
            </a:endParaRPr>
          </a:p>
        </p:txBody>
      </p:sp>
      <p:sp>
        <p:nvSpPr>
          <p:cNvPr id="54" name="文本框 53"/>
          <p:cNvSpPr txBox="1"/>
          <p:nvPr/>
        </p:nvSpPr>
        <p:spPr>
          <a:xfrm>
            <a:off x="4365625" y="5774690"/>
            <a:ext cx="5671185" cy="846455"/>
          </a:xfrm>
          <a:prstGeom prst="rect">
            <a:avLst/>
          </a:prstGeom>
          <a:noFill/>
          <a:ln w="28575" cmpd="sng">
            <a:solidFill>
              <a:schemeClr val="accent6">
                <a:lumMod val="60000"/>
                <a:lumOff val="40000"/>
              </a:schemeClr>
            </a:solidFill>
            <a:prstDash val="solid"/>
          </a:ln>
        </p:spPr>
        <p:txBody>
          <a:bodyPr wrap="square" rtlCol="0">
            <a:noAutofit/>
          </a:bodyPr>
          <a:p>
            <a:r>
              <a:rPr lang="en-US" altLang="zh-CN" sz="1600">
                <a:sym typeface="+mn-ea"/>
              </a:rPr>
              <a:t>2.</a:t>
            </a:r>
            <a:r>
              <a:rPr lang="en-US" altLang="zh-CN" sz="1600">
                <a:sym typeface="+mn-ea"/>
              </a:rPr>
              <a:t>Determine verification_outcome: </a:t>
            </a:r>
            <a:r>
              <a:rPr lang="en-US" altLang="zh-CN" sz="1600" b="1">
                <a:sym typeface="+mn-ea"/>
              </a:rPr>
              <a:t>validation_absent / validation_present / by_design_in_source / not_found_in_source / webfetch_shallow</a:t>
            </a:r>
            <a:endParaRPr lang="en-US" altLang="zh-CN" sz="1600" b="1">
              <a:sym typeface="+mn-ea"/>
            </a:endParaRPr>
          </a:p>
        </p:txBody>
      </p:sp>
      <p:cxnSp>
        <p:nvCxnSpPr>
          <p:cNvPr id="55" name="直接箭头连接符 54"/>
          <p:cNvCxnSpPr>
            <a:stCxn id="49" idx="3"/>
            <a:endCxn id="4" idx="1"/>
          </p:cNvCxnSpPr>
          <p:nvPr/>
        </p:nvCxnSpPr>
        <p:spPr>
          <a:xfrm flipV="1">
            <a:off x="3538855" y="3383915"/>
            <a:ext cx="617220" cy="713740"/>
          </a:xfrm>
          <a:prstGeom prst="straightConnector1">
            <a:avLst/>
          </a:prstGeom>
          <a:ln w="25400">
            <a:solidFill>
              <a:schemeClr val="accent2">
                <a:lumMod val="75000"/>
                <a:alpha val="96000"/>
              </a:schemeClr>
            </a:solidFill>
            <a:tailEnd type="arrow"/>
          </a:ln>
        </p:spPr>
        <p:style>
          <a:lnRef idx="2">
            <a:schemeClr val="accent1"/>
          </a:lnRef>
          <a:fillRef idx="0">
            <a:srgbClr val="FFFFFF"/>
          </a:fillRef>
          <a:effectRef idx="0">
            <a:srgbClr val="FFFFFF"/>
          </a:effectRef>
          <a:fontRef idx="minor">
            <a:schemeClr val="tx1"/>
          </a:fontRef>
        </p:style>
      </p:cxnSp>
      <p:cxnSp>
        <p:nvCxnSpPr>
          <p:cNvPr id="56" name="直接箭头连接符 55"/>
          <p:cNvCxnSpPr>
            <a:stCxn id="133" idx="3"/>
            <a:endCxn id="52" idx="1"/>
          </p:cNvCxnSpPr>
          <p:nvPr/>
        </p:nvCxnSpPr>
        <p:spPr>
          <a:xfrm flipV="1">
            <a:off x="3477260" y="5940425"/>
            <a:ext cx="678815" cy="33020"/>
          </a:xfrm>
          <a:prstGeom prst="straightConnector1">
            <a:avLst/>
          </a:prstGeom>
          <a:ln w="25400">
            <a:solidFill>
              <a:schemeClr val="accent2">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57" name="直接箭头连接符 56"/>
          <p:cNvCxnSpPr/>
          <p:nvPr/>
        </p:nvCxnSpPr>
        <p:spPr>
          <a:xfrm>
            <a:off x="4940300" y="4639310"/>
            <a:ext cx="0" cy="533400"/>
          </a:xfrm>
          <a:prstGeom prst="straightConnector1">
            <a:avLst/>
          </a:prstGeom>
          <a:ln w="25400">
            <a:solidFill>
              <a:srgbClr val="000000">
                <a:alpha val="96000"/>
              </a:srgbClr>
            </a:solidFill>
            <a:tailEnd type="arrow"/>
          </a:ln>
        </p:spPr>
        <p:style>
          <a:lnRef idx="2">
            <a:schemeClr val="accent1"/>
          </a:lnRef>
          <a:fillRef idx="0">
            <a:srgbClr val="FFFFFF"/>
          </a:fillRef>
          <a:effectRef idx="0">
            <a:srgbClr val="FFFFFF"/>
          </a:effectRef>
          <a:fontRef idx="minor">
            <a:schemeClr val="tx1"/>
          </a:fontRef>
        </p:style>
      </p:cxnSp>
      <p:sp>
        <p:nvSpPr>
          <p:cNvPr id="59" name="左箭头 58"/>
          <p:cNvSpPr/>
          <p:nvPr/>
        </p:nvSpPr>
        <p:spPr>
          <a:xfrm>
            <a:off x="10128885" y="1682115"/>
            <a:ext cx="1416050" cy="36957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0" name="文本框 59"/>
          <p:cNvSpPr txBox="1"/>
          <p:nvPr/>
        </p:nvSpPr>
        <p:spPr>
          <a:xfrm>
            <a:off x="10231120" y="2113280"/>
            <a:ext cx="1960880" cy="617220"/>
          </a:xfrm>
          <a:prstGeom prst="rect">
            <a:avLst/>
          </a:prstGeom>
          <a:noFill/>
        </p:spPr>
        <p:txBody>
          <a:bodyPr wrap="square" rtlCol="0">
            <a:noAutofit/>
          </a:bodyPr>
          <a:p>
            <a:pPr algn="ctr"/>
            <a:r>
              <a:rPr lang="en-US" altLang="zh-CN">
                <a:latin typeface="Comic Sans MS" panose="030F0702030302020204" charset="0"/>
                <a:cs typeface="Comic Sans MS" panose="030F0702030302020204" charset="0"/>
              </a:rPr>
              <a:t>rebuild request</a:t>
            </a:r>
            <a:endParaRPr lang="en-US" altLang="zh-CN">
              <a:latin typeface="Comic Sans MS" panose="030F0702030302020204" charset="0"/>
              <a:cs typeface="Comic Sans MS" panose="030F0702030302020204" charset="0"/>
            </a:endParaRPr>
          </a:p>
          <a:p>
            <a:pPr algn="ctr"/>
            <a:r>
              <a:rPr lang="en-US" altLang="zh-CN" sz="1200">
                <a:latin typeface="Comic Sans MS" panose="030F0702030302020204" charset="0"/>
                <a:cs typeface="Comic Sans MS" panose="030F0702030302020204" charset="0"/>
              </a:rPr>
              <a:t>(</a:t>
            </a:r>
            <a:r>
              <a:rPr lang="en-US" altLang="zh-CN" sz="1200">
                <a:latin typeface="Comic Sans MS" panose="030F0702030302020204" charset="0"/>
                <a:cs typeface="Comic Sans MS" panose="030F0702030302020204" charset="0"/>
              </a:rPr>
              <a:t>from </a:t>
            </a:r>
            <a:r>
              <a:rPr lang="en-US" altLang="zh-CN" sz="1200" b="1" dirty="0" err="1">
                <a:latin typeface="Comic Sans MS" panose="030F0702030302020204" charset="0"/>
                <a:ea typeface="Microsoft YaHei" panose="020B0503020204020204" charset="-122"/>
                <a:cs typeface="Comic Sans MS" panose="030F0702030302020204" charset="0"/>
                <a:sym typeface="+mn-ea"/>
              </a:rPr>
              <a:t>Chain_auditor</a:t>
            </a:r>
            <a:r>
              <a:rPr lang="en-US" altLang="zh-CN" sz="1200">
                <a:latin typeface="Comic Sans MS" panose="030F0702030302020204" charset="0"/>
                <a:cs typeface="Comic Sans MS" panose="030F0702030302020204" charset="0"/>
              </a:rPr>
              <a:t>)</a:t>
            </a:r>
            <a:br>
              <a:rPr lang="en-US" altLang="zh-CN" sz="1200">
                <a:latin typeface="Comic Sans MS" panose="030F0702030302020204" charset="0"/>
                <a:cs typeface="Comic Sans MS" panose="030F0702030302020204" charset="0"/>
              </a:rPr>
            </a:br>
            <a:endParaRPr lang="en-US" altLang="zh-CN" sz="1200">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13" grpId="0" animBg="1"/>
      <p:bldP spid="16" grpId="0" animBg="1"/>
      <p:bldP spid="42" grpId="0" animBg="1"/>
      <p:bldP spid="59" grpId="0" animBg="1"/>
      <p:bldP spid="60" grpId="0"/>
      <p:bldP spid="166" grpId="0" animBg="1"/>
      <p:bldP spid="9" grpId="0"/>
      <p:bldP spid="50" grpId="0" animBg="1"/>
      <p:bldP spid="52" grpId="0" animBg="1"/>
      <p:bldP spid="53" grpId="0" animBg="1"/>
      <p:bldP spid="5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46"/>
          <p:cNvSpPr/>
          <p:nvPr>
            <p:custDataLst>
              <p:tags r:id="rId1"/>
            </p:custDataLst>
          </p:nvPr>
        </p:nvSpPr>
        <p:spPr>
          <a:xfrm>
            <a:off x="256540" y="965200"/>
            <a:ext cx="11179810" cy="5777230"/>
          </a:xfrm>
          <a:prstGeom prst="roundRect">
            <a:avLst>
              <a:gd name="adj" fmla="val 6256"/>
            </a:avLst>
          </a:prstGeom>
          <a:solidFill>
            <a:schemeClr val="accent6">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767235" y="9943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64820" y="794385"/>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401320" y="164465"/>
            <a:ext cx="600265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altLang="zh-CN" sz="3600"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Evidence chain template</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20" name="灯片编号占位符 19"/>
          <p:cNvSpPr>
            <a:spLocks noGrp="1"/>
          </p:cNvSpPr>
          <p:nvPr>
            <p:ph type="sldNum" sz="quarter" idx="12"/>
          </p:nvPr>
        </p:nvSpPr>
        <p:spPr>
          <a:xfrm>
            <a:off x="11179175" y="6478270"/>
            <a:ext cx="497205" cy="264160"/>
          </a:xfrm>
        </p:spPr>
        <p:txBody>
          <a:bodyPr/>
          <a:lstStyle/>
          <a:p>
            <a:fld id="{E09368C2-8BE5-4C19-86FB-98954A39BC6E}" type="slidenum">
              <a:rPr lang="zh-CN" altLang="en-US" smtClean="0"/>
            </a:fld>
            <a:endParaRPr lang="zh-CN" altLang="en-US"/>
          </a:p>
        </p:txBody>
      </p:sp>
      <p:sp>
        <p:nvSpPr>
          <p:cNvPr id="3" name="文本框 2"/>
          <p:cNvSpPr txBox="1"/>
          <p:nvPr/>
        </p:nvSpPr>
        <p:spPr>
          <a:xfrm>
            <a:off x="401320" y="1028065"/>
            <a:ext cx="5045710" cy="5652135"/>
          </a:xfrm>
          <a:prstGeom prst="rect">
            <a:avLst/>
          </a:prstGeom>
          <a:noFill/>
        </p:spPr>
        <p:txBody>
          <a:bodyPr wrap="square" rtlCol="0">
            <a:noAutofit/>
          </a:bodyPr>
          <a:p>
            <a:r>
              <a:rPr lang="en-US" altLang="zh-CN" sz="1400"/>
              <a:t>{</a:t>
            </a:r>
            <a:endParaRPr lang="en-US" altLang="zh-CN" sz="1400"/>
          </a:p>
          <a:p>
            <a:r>
              <a:rPr lang="en-US" altLang="zh-CN" sz="1400"/>
              <a:t>  "defect_id": "&lt;</a:t>
            </a:r>
            <a:r>
              <a:rPr lang="zh-CN" altLang="en-US" sz="1400"/>
              <a:t>你的 </a:t>
            </a:r>
            <a:r>
              <a:rPr lang="en-US" altLang="zh-CN" sz="1400"/>
              <a:t>defect_id&gt;",</a:t>
            </a:r>
            <a:endParaRPr lang="en-US" altLang="zh-CN" sz="1400"/>
          </a:p>
          <a:p>
            <a:r>
              <a:rPr lang="en-US" altLang="zh-CN" sz="1400"/>
              <a:t>  "endpoint": "...",</a:t>
            </a:r>
            <a:endParaRPr lang="en-US" altLang="zh-CN" sz="1400"/>
          </a:p>
          <a:p>
            <a:r>
              <a:rPr lang="en-US" altLang="zh-CN" sz="1400"/>
              <a:t>  "defect_type": "Type1 | Type2 | Type3 | Type4",</a:t>
            </a:r>
            <a:endParaRPr lang="en-US" altLang="zh-CN" sz="1400"/>
          </a:p>
          <a:p>
            <a:r>
              <a:rPr lang="en-US" altLang="zh-CN" sz="1400"/>
              <a:t>  "built_by": "evidence-builder",</a:t>
            </a:r>
            <a:endParaRPr lang="en-US" altLang="zh-CN" sz="1400"/>
          </a:p>
          <a:p>
            <a:r>
              <a:rPr lang="en-US" altLang="zh-CN" sz="1400"/>
              <a:t>  "steps": {</a:t>
            </a:r>
            <a:endParaRPr lang="en-US" altLang="zh-CN" sz="1400"/>
          </a:p>
          <a:p>
            <a:r>
              <a:rPr lang="en-US" altLang="zh-CN" sz="1400"/>
              <a:t>   </a:t>
            </a:r>
            <a:r>
              <a:rPr lang="en-US" altLang="zh-CN" sz="1400" b="1">
                <a:highlight>
                  <a:srgbClr val="C0C0C0"/>
                </a:highlight>
              </a:rPr>
              <a:t> </a:t>
            </a:r>
            <a:r>
              <a:rPr lang="en-US" altLang="zh-CN" sz="1600" b="1">
                <a:highlight>
                  <a:srgbClr val="C0C0C0"/>
                </a:highlight>
              </a:rPr>
              <a:t>"doc_verification"</a:t>
            </a:r>
            <a:r>
              <a:rPr lang="en-US" altLang="zh-CN" sz="1400"/>
              <a:t>: {</a:t>
            </a:r>
            <a:endParaRPr lang="en-US" altLang="zh-CN" sz="1400"/>
          </a:p>
          <a:p>
            <a:r>
              <a:rPr lang="en-US" altLang="zh-CN" sz="1400"/>
              <a:t>      "result": "DOC_VERIFIED | DOC_PARTIAL | DOC_MISMATCH",</a:t>
            </a:r>
            <a:endParaRPr lang="en-US" altLang="zh-CN" sz="1400"/>
          </a:p>
          <a:p>
            <a:r>
              <a:rPr lang="en-US" altLang="zh-CN" sz="1400"/>
              <a:t>      "link_reachability": "PASS | FAIL | PARTIAL",</a:t>
            </a:r>
            <a:endParaRPr lang="en-US" altLang="zh-CN" sz="1400"/>
          </a:p>
          <a:p>
            <a:r>
              <a:rPr lang="en-US" altLang="zh-CN" sz="1400"/>
              <a:t>      "version_match": "PASS | PARTIAL | FAIL",</a:t>
            </a:r>
            <a:endParaRPr lang="en-US" altLang="zh-CN" sz="1400"/>
          </a:p>
          <a:p>
            <a:r>
              <a:rPr lang="en-US" altLang="zh-CN" sz="1400"/>
              <a:t>      "content_consistency": "PASS | PARTIAL | FAIL",</a:t>
            </a:r>
            <a:endParaRPr lang="en-US" altLang="zh-CN" sz="1400"/>
          </a:p>
          <a:p>
            <a:r>
              <a:rPr lang="en-US" altLang="zh-CN" sz="1400"/>
              <a:t>      "endpoint_precision": "PASS | PARTIAL | FAIL",</a:t>
            </a:r>
            <a:endParaRPr lang="en-US" altLang="zh-CN" sz="1400"/>
          </a:p>
          <a:p>
            <a:r>
              <a:rPr lang="en-US" altLang="zh-CN" sz="1400"/>
              <a:t>      "sdk_rest_confusion": false,</a:t>
            </a:r>
            <a:endParaRPr lang="en-US" altLang="zh-CN" sz="1400"/>
          </a:p>
          <a:p>
            <a:r>
              <a:rPr lang="en-US" altLang="zh-CN" sz="1400"/>
              <a:t>      "detail": "</a:t>
            </a:r>
            <a:r>
              <a:rPr lang="zh-CN" altLang="en-US" sz="1400"/>
              <a:t>一句话各层结论",</a:t>
            </a:r>
            <a:endParaRPr lang="zh-CN" altLang="en-US" sz="1400"/>
          </a:p>
          <a:p>
            <a:r>
              <a:rPr lang="en-US" altLang="zh-CN" sz="1400"/>
              <a:t>      "evidence_source": "doc"</a:t>
            </a:r>
            <a:endParaRPr lang="en-US" altLang="zh-CN" sz="1400"/>
          </a:p>
          <a:p>
            <a:r>
              <a:rPr lang="en-US" altLang="zh-CN" sz="1400"/>
              <a:t>    },</a:t>
            </a:r>
            <a:endParaRPr lang="en-US" altLang="zh-CN" sz="1400"/>
          </a:p>
          <a:p>
            <a:r>
              <a:rPr lang="en-US" altLang="zh-CN" sz="1400"/>
              <a:t>   </a:t>
            </a:r>
            <a:r>
              <a:rPr lang="en-US" altLang="zh-CN" sz="1400" b="1"/>
              <a:t> </a:t>
            </a:r>
            <a:r>
              <a:rPr lang="en-US" altLang="zh-CN" sz="1600" b="1">
                <a:highlight>
                  <a:srgbClr val="C0C0C0"/>
                </a:highlight>
              </a:rPr>
              <a:t>"execution_evidence"</a:t>
            </a:r>
            <a:r>
              <a:rPr lang="en-US" altLang="zh-CN" sz="1400"/>
              <a:t>: {</a:t>
            </a:r>
            <a:endParaRPr lang="en-US" altLang="zh-CN" sz="1400"/>
          </a:p>
          <a:p>
            <a:r>
              <a:rPr lang="en-US" altLang="zh-CN" sz="1400"/>
              <a:t>      "grade": "A | B | C | D",</a:t>
            </a:r>
            <a:endParaRPr lang="en-US" altLang="zh-CN" sz="1400"/>
          </a:p>
          <a:p>
            <a:r>
              <a:rPr lang="en-US" altLang="zh-CN" sz="1400"/>
              <a:t>      "log_pattern": "...(</a:t>
            </a:r>
            <a:r>
              <a:rPr lang="zh-CN" altLang="en-US" sz="1400"/>
              <a:t>主观测原始行，如 </a:t>
            </a:r>
            <a:r>
              <a:rPr lang="en-US" altLang="zh-CN" sz="1400"/>
              <a:t>c1: password='abcdefgh' → http=200, code=0)",</a:t>
            </a:r>
            <a:endParaRPr lang="en-US" altLang="zh-CN" sz="1400"/>
          </a:p>
          <a:p>
            <a:r>
              <a:rPr lang="en-US" altLang="zh-CN" sz="1400"/>
              <a:t>      "secondary_observations": ["...(</a:t>
            </a:r>
            <a:r>
              <a:rPr lang="zh-CN" altLang="en-US" sz="1400"/>
              <a:t>次观测原文行，如 </a:t>
            </a:r>
            <a:r>
              <a:rPr lang="en-US" altLang="zh-CN" sz="1400"/>
              <a:t>c3: length=1 → rejected)"],</a:t>
            </a:r>
            <a:endParaRPr lang="en-US" altLang="zh-CN" sz="1400"/>
          </a:p>
          <a:p>
            <a:r>
              <a:rPr lang="en-US" altLang="zh-CN" sz="1400"/>
              <a:t>      "claim_alignment": "aligned | drifted | partial",</a:t>
            </a:r>
            <a:endParaRPr lang="en-US" altLang="zh-CN" sz="1400"/>
          </a:p>
          <a:p>
            <a:r>
              <a:rPr lang="en-US" altLang="zh-CN" sz="1400"/>
              <a:t>      "http_semantics": {"client_error_returned_as": "HTTP 2xx + </a:t>
            </a:r>
            <a:r>
              <a:rPr lang="zh-CN" altLang="en-US" sz="1400"/>
              <a:t>业务错误码 | </a:t>
            </a:r>
            <a:r>
              <a:rPr lang="en-US" altLang="zh-CN" sz="1400"/>
              <a:t>HTTP 4xx/5xx | N/A", "note": "..."},</a:t>
            </a:r>
            <a:endParaRPr lang="en-US" altLang="zh-CN" sz="1400"/>
          </a:p>
          <a:p>
            <a:r>
              <a:rPr lang="en-US" altLang="zh-CN" sz="1400"/>
              <a:t>      </a:t>
            </a:r>
            <a:endParaRPr lang="en-US" altLang="zh-CN" sz="1400"/>
          </a:p>
        </p:txBody>
      </p:sp>
      <p:sp>
        <p:nvSpPr>
          <p:cNvPr id="6" name="文本框 5"/>
          <p:cNvSpPr txBox="1"/>
          <p:nvPr/>
        </p:nvSpPr>
        <p:spPr>
          <a:xfrm>
            <a:off x="5743575" y="1028065"/>
            <a:ext cx="5436235" cy="5652135"/>
          </a:xfrm>
          <a:prstGeom prst="rect">
            <a:avLst/>
          </a:prstGeom>
          <a:noFill/>
        </p:spPr>
        <p:txBody>
          <a:bodyPr wrap="square" rtlCol="0">
            <a:noAutofit/>
          </a:bodyPr>
          <a:p>
            <a:r>
              <a:rPr lang="en-US" altLang="zh-CN" sz="1400">
                <a:sym typeface="+mn-ea"/>
              </a:rPr>
              <a:t>"reproducibility": "</a:t>
            </a:r>
            <a:r>
              <a:rPr lang="zh-CN" altLang="en-US" sz="1400">
                <a:sym typeface="+mn-ea"/>
              </a:rPr>
              <a:t>多脚本稳定触发 | 单脚本 | 间歇 | 环境问题",</a:t>
            </a:r>
            <a:endParaRPr lang="zh-CN" altLang="en-US" sz="1400"/>
          </a:p>
          <a:p>
            <a:r>
              <a:rPr lang="en-US" altLang="zh-CN" sz="1400">
                <a:sym typeface="+mn-ea"/>
              </a:rPr>
              <a:t>      "script_error": false,</a:t>
            </a:r>
            <a:endParaRPr lang="en-US" altLang="zh-CN" sz="1400"/>
          </a:p>
          <a:p>
            <a:r>
              <a:rPr lang="en-US" altLang="zh-CN" sz="1400">
                <a:sym typeface="+mn-ea"/>
              </a:rPr>
              <a:t>      "triggering_scripts": ["..."],</a:t>
            </a:r>
            <a:endParaRPr lang="en-US" altLang="zh-CN" sz="1400"/>
          </a:p>
          <a:p>
            <a:r>
              <a:rPr lang="en-US" altLang="zh-CN" sz="1400">
                <a:sym typeface="+mn-ea"/>
              </a:rPr>
              <a:t>      "evidence_source": "behavior"</a:t>
            </a:r>
            <a:endParaRPr lang="en-US" altLang="zh-CN" sz="1400"/>
          </a:p>
          <a:p>
            <a:r>
              <a:rPr lang="en-US" altLang="zh-CN" sz="1400">
                <a:sym typeface="+mn-ea"/>
              </a:rPr>
              <a:t>    },</a:t>
            </a:r>
            <a:endParaRPr lang="en-US" altLang="zh-CN" sz="1400"/>
          </a:p>
          <a:p>
            <a:r>
              <a:rPr lang="en-US" altLang="zh-CN" sz="1400">
                <a:sym typeface="+mn-ea"/>
              </a:rPr>
              <a:t>   </a:t>
            </a:r>
            <a:r>
              <a:rPr lang="en-US" altLang="zh-CN" sz="1400" b="1">
                <a:highlight>
                  <a:srgbClr val="C0C0C0"/>
                </a:highlight>
                <a:sym typeface="+mn-ea"/>
              </a:rPr>
              <a:t> </a:t>
            </a:r>
            <a:r>
              <a:rPr lang="en-US" altLang="zh-CN" sz="1600" b="1">
                <a:highlight>
                  <a:srgbClr val="C0C0C0"/>
                </a:highlight>
                <a:sym typeface="+mn-ea"/>
              </a:rPr>
              <a:t>"contract_grounding"</a:t>
            </a:r>
            <a:r>
              <a:rPr lang="en-US" altLang="zh-CN" sz="1400">
                <a:sym typeface="+mn-ea"/>
              </a:rPr>
              <a:t>: {</a:t>
            </a:r>
            <a:endParaRPr lang="en-US" altLang="zh-CN" sz="1400"/>
          </a:p>
          <a:p>
            <a:r>
              <a:rPr lang="en-US" altLang="zh-CN" sz="1400">
                <a:sym typeface="+mn-ea"/>
              </a:rPr>
              <a:t>      "constraint_id": "...",</a:t>
            </a:r>
            <a:endParaRPr lang="en-US" altLang="zh-CN" sz="1400"/>
          </a:p>
          <a:p>
            <a:r>
              <a:rPr lang="en-US" altLang="zh-CN" sz="1400">
                <a:sym typeface="+mn-ea"/>
              </a:rPr>
              <a:t>      "assertion_text_quoted": "&lt;contract </a:t>
            </a:r>
            <a:r>
              <a:rPr lang="zh-CN" altLang="en-US" sz="1400">
                <a:sym typeface="+mn-ea"/>
              </a:rPr>
              <a:t>原文&gt;",</a:t>
            </a:r>
            <a:endParaRPr lang="zh-CN" altLang="en-US" sz="1400"/>
          </a:p>
          <a:p>
            <a:r>
              <a:rPr lang="en-US" altLang="zh-CN" sz="1400">
                <a:sym typeface="+mn-ea"/>
              </a:rPr>
              <a:t>      "api_violates_assertion": true,</a:t>
            </a:r>
            <a:endParaRPr lang="en-US" altLang="zh-CN" sz="1400"/>
          </a:p>
          <a:p>
            <a:r>
              <a:rPr lang="en-US" altLang="zh-CN" sz="1400">
                <a:sym typeface="+mn-ea"/>
              </a:rPr>
              <a:t>      "evidence_source": "doc"</a:t>
            </a:r>
            <a:endParaRPr lang="en-US" altLang="zh-CN" sz="1400"/>
          </a:p>
          <a:p>
            <a:r>
              <a:rPr lang="en-US" altLang="zh-CN" sz="1400">
                <a:sym typeface="+mn-ea"/>
              </a:rPr>
              <a:t>    },</a:t>
            </a:r>
            <a:endParaRPr lang="en-US" altLang="zh-CN" sz="1400"/>
          </a:p>
          <a:p>
            <a:r>
              <a:rPr lang="en-US" altLang="zh-CN" sz="1400">
                <a:sym typeface="+mn-ea"/>
              </a:rPr>
              <a:t>  </a:t>
            </a:r>
            <a:r>
              <a:rPr lang="en-US" altLang="zh-CN" sz="1400" b="1">
                <a:sym typeface="+mn-ea"/>
              </a:rPr>
              <a:t>  </a:t>
            </a:r>
            <a:r>
              <a:rPr lang="en-US" altLang="zh-CN" sz="1600" b="1">
                <a:highlight>
                  <a:srgbClr val="C0C0C0"/>
                </a:highlight>
                <a:sym typeface="+mn-ea"/>
              </a:rPr>
              <a:t>"chain_trace"</a:t>
            </a:r>
            <a:r>
              <a:rPr lang="en-US" altLang="zh-CN" sz="1400" b="1">
                <a:sym typeface="+mn-ea"/>
              </a:rPr>
              <a:t>:</a:t>
            </a:r>
            <a:r>
              <a:rPr lang="en-US" altLang="zh-CN" sz="1400">
                <a:sym typeface="+mn-ea"/>
              </a:rPr>
              <a:t> {</a:t>
            </a:r>
            <a:endParaRPr lang="en-US" altLang="zh-CN" sz="1400"/>
          </a:p>
          <a:p>
            <a:r>
              <a:rPr lang="en-US" altLang="zh-CN" sz="1400">
                <a:sym typeface="+mn-ea"/>
              </a:rPr>
              <a:t>      "chain_links": ["contract:...", "doc:...", "script:...", "log:..."],</a:t>
            </a:r>
            <a:endParaRPr lang="en-US" altLang="zh-CN" sz="1400"/>
          </a:p>
          <a:p>
            <a:r>
              <a:rPr lang="en-US" altLang="zh-CN" sz="1400">
                <a:sym typeface="+mn-ea"/>
              </a:rPr>
              <a:t>      "chain_broken_at": null,</a:t>
            </a:r>
            <a:endParaRPr lang="en-US" altLang="zh-CN" sz="1400"/>
          </a:p>
          <a:p>
            <a:r>
              <a:rPr lang="en-US" altLang="zh-CN" sz="1400">
                <a:sym typeface="+mn-ea"/>
              </a:rPr>
              <a:t>      "break_detail": null,</a:t>
            </a:r>
            <a:endParaRPr lang="en-US" altLang="zh-CN" sz="1400"/>
          </a:p>
          <a:p>
            <a:r>
              <a:rPr lang="en-US" altLang="zh-CN" sz="1400">
                <a:sym typeface="+mn-ea"/>
              </a:rPr>
              <a:t>      "evidence_source": "doc+behavior"</a:t>
            </a:r>
            <a:endParaRPr lang="en-US" altLang="zh-CN" sz="1400"/>
          </a:p>
          <a:p>
            <a:r>
              <a:rPr lang="en-US" altLang="zh-CN" sz="1400">
                <a:sym typeface="+mn-ea"/>
              </a:rPr>
              <a:t>    },</a:t>
            </a:r>
            <a:endParaRPr lang="en-US" altLang="zh-CN" sz="1400"/>
          </a:p>
          <a:p>
            <a:r>
              <a:rPr lang="en-US" altLang="zh-CN" sz="1400">
                <a:sym typeface="+mn-ea"/>
              </a:rPr>
              <a:t>    </a:t>
            </a:r>
            <a:r>
              <a:rPr lang="en-US" altLang="zh-CN" sz="1600" b="1">
                <a:highlight>
                  <a:srgbClr val="C0C0C0"/>
                </a:highlight>
                <a:sym typeface="+mn-ea"/>
              </a:rPr>
              <a:t>"source_grounding"</a:t>
            </a:r>
            <a:r>
              <a:rPr lang="en-US" altLang="zh-CN" sz="1400">
                <a:sym typeface="+mn-ea"/>
              </a:rPr>
              <a:t>: {</a:t>
            </a:r>
            <a:endParaRPr lang="en-US" altLang="zh-CN" sz="1400"/>
          </a:p>
          <a:p>
            <a:r>
              <a:rPr lang="en-US" altLang="zh-CN" sz="1400">
                <a:sym typeface="+mn-ea"/>
              </a:rPr>
              <a:t>      "grep_queries": ["..."],</a:t>
            </a:r>
            <a:endParaRPr lang="en-US" altLang="zh-CN" sz="1400"/>
          </a:p>
          <a:p>
            <a:r>
              <a:rPr lang="en-US" altLang="zh-CN" sz="1400">
                <a:sym typeface="+mn-ea"/>
              </a:rPr>
              <a:t>      "files_examined": ["..."],</a:t>
            </a:r>
            <a:endParaRPr lang="en-US" altLang="zh-CN" sz="1400"/>
          </a:p>
          <a:p>
            <a:r>
              <a:rPr lang="en-US" altLang="zh-CN" sz="1400">
                <a:sym typeface="+mn-ea"/>
              </a:rPr>
              <a:t>      "source_excerpt": "...",</a:t>
            </a:r>
            <a:endParaRPr lang="en-US" altLang="zh-CN" sz="1400"/>
          </a:p>
          <a:p>
            <a:r>
              <a:rPr lang="en-US" altLang="zh-CN" sz="1400">
                <a:sym typeface="+mn-ea"/>
              </a:rPr>
              <a:t>      "call_chain_traced": "...",</a:t>
            </a:r>
            <a:endParaRPr lang="en-US" altLang="zh-CN" sz="1400"/>
          </a:p>
          <a:p>
            <a:r>
              <a:rPr lang="en-US" altLang="zh-CN" sz="1400">
                <a:sym typeface="+mn-ea"/>
              </a:rPr>
              <a:t>      "verification_outcome": "validation_absent | validation_present | by_design_in_source | not_found_in_source | webfetch_shallow",</a:t>
            </a:r>
            <a:endParaRPr lang="en-US" altLang="zh-CN" sz="1400"/>
          </a:p>
          <a:p>
            <a:r>
              <a:rPr lang="en-US" altLang="zh-CN" sz="1400">
                <a:sym typeface="+mn-ea"/>
              </a:rPr>
              <a:t>      "evidence_source": "source"</a:t>
            </a:r>
            <a:endParaRPr lang="en-US" altLang="zh-CN" sz="1400"/>
          </a:p>
          <a:p>
            <a:r>
              <a:rPr lang="en-US" altLang="zh-CN" sz="1400">
                <a:sym typeface="+mn-ea"/>
              </a:rPr>
              <a:t>    }</a:t>
            </a:r>
            <a:endParaRPr lang="en-US" altLang="zh-CN" sz="1400"/>
          </a:p>
        </p:txBody>
      </p:sp>
      <p:cxnSp>
        <p:nvCxnSpPr>
          <p:cNvPr id="7" name="直接连接符 6"/>
          <p:cNvCxnSpPr/>
          <p:nvPr/>
        </p:nvCxnSpPr>
        <p:spPr>
          <a:xfrm>
            <a:off x="5536565" y="1134110"/>
            <a:ext cx="9525" cy="5440045"/>
          </a:xfrm>
          <a:prstGeom prst="line">
            <a:avLst/>
          </a:prstGeom>
          <a:ln w="28575">
            <a:solidFill>
              <a:schemeClr val="tx1">
                <a:lumMod val="50000"/>
                <a:lumOff val="50000"/>
              </a:schemeClr>
            </a:solidFill>
            <a:headEnd type="oval"/>
            <a:tailEnd type="oval"/>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46"/>
          <p:cNvSpPr/>
          <p:nvPr>
            <p:custDataLst>
              <p:tags r:id="rId1"/>
            </p:custDataLst>
          </p:nvPr>
        </p:nvSpPr>
        <p:spPr>
          <a:xfrm>
            <a:off x="530225" y="1318895"/>
            <a:ext cx="11468100" cy="4702175"/>
          </a:xfrm>
          <a:prstGeom prst="roundRect">
            <a:avLst>
              <a:gd name="adj" fmla="val 6256"/>
            </a:avLst>
          </a:prstGeom>
          <a:solidFill>
            <a:schemeClr val="accent6">
              <a:lumMod val="20000"/>
              <a:lumOff val="80000"/>
            </a:schemeClr>
          </a:solidFill>
          <a:ln w="12700">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717070" y="10451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799465"/>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351155" y="100965"/>
            <a:ext cx="4596130"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altLang="zh-CN" sz="3600"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Defect Confirmation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20" name="灯片编号占位符 19"/>
          <p:cNvSpPr>
            <a:spLocks noGrp="1"/>
          </p:cNvSpPr>
          <p:nvPr>
            <p:ph type="sldNum" sz="quarter" idx="12"/>
          </p:nvPr>
        </p:nvSpPr>
        <p:spPr>
          <a:xfrm>
            <a:off x="11179175" y="6478270"/>
            <a:ext cx="497205" cy="264160"/>
          </a:xfrm>
        </p:spPr>
        <p:txBody>
          <a:bodyPr/>
          <a:lstStyle/>
          <a:p>
            <a:fld id="{E09368C2-8BE5-4C19-86FB-98954A39BC6E}" type="slidenum">
              <a:rPr lang="zh-CN" altLang="en-US" smtClean="0"/>
            </a:fld>
            <a:endParaRPr lang="zh-CN" altLang="en-US"/>
          </a:p>
        </p:txBody>
      </p:sp>
      <p:sp>
        <p:nvSpPr>
          <p:cNvPr id="49" name="圆角矩形 48"/>
          <p:cNvSpPr/>
          <p:nvPr>
            <p:custDataLst>
              <p:tags r:id="rId3"/>
            </p:custDataLst>
          </p:nvPr>
        </p:nvSpPr>
        <p:spPr>
          <a:xfrm>
            <a:off x="791845" y="2439035"/>
            <a:ext cx="2988310" cy="3232785"/>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Phase 1: Four Checks</a:t>
            </a: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p:txBody>
      </p:sp>
      <p:sp>
        <p:nvSpPr>
          <p:cNvPr id="21" name="圆角矩形 20"/>
          <p:cNvSpPr/>
          <p:nvPr>
            <p:custDataLst>
              <p:tags r:id="rId4"/>
            </p:custDataLst>
          </p:nvPr>
        </p:nvSpPr>
        <p:spPr>
          <a:xfrm>
            <a:off x="848625" y="3053896"/>
            <a:ext cx="2875030"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圆角矩形 28"/>
          <p:cNvSpPr/>
          <p:nvPr>
            <p:custDataLst>
              <p:tags r:id="rId5"/>
            </p:custDataLst>
          </p:nvPr>
        </p:nvSpPr>
        <p:spPr>
          <a:xfrm>
            <a:off x="847858" y="3688782"/>
            <a:ext cx="288040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文本框 30"/>
          <p:cNvSpPr txBox="1"/>
          <p:nvPr>
            <p:custDataLst>
              <p:tags r:id="rId6"/>
            </p:custDataLst>
          </p:nvPr>
        </p:nvSpPr>
        <p:spPr>
          <a:xfrm>
            <a:off x="857250" y="3755390"/>
            <a:ext cx="2870835" cy="490855"/>
          </a:xfrm>
          <a:prstGeom prst="rect">
            <a:avLst/>
          </a:prstGeom>
          <a:noFill/>
        </p:spPr>
        <p:txBody>
          <a:bodyPr wrap="square" rtlCol="0">
            <a:noAutofit/>
          </a:bodyPr>
          <a:p>
            <a:pPr algn="ctr"/>
            <a:r>
              <a:rPr lang="en-US" altLang="zh-CN" sz="1400" b="1" dirty="0" err="1">
                <a:solidFill>
                  <a:schemeClr val="tx2"/>
                </a:solidFill>
                <a:latin typeface="Comic Sans MS" panose="030F0702030302020204" charset="0"/>
                <a:ea typeface="Microsoft YaHei" panose="020B0503020204020204" charset="-122"/>
                <a:cs typeface="Comic Sans MS" panose="030F0702030302020204" charset="0"/>
                <a:sym typeface="+mn-ea"/>
              </a:rPr>
              <a:t>2.Consistency:</a:t>
            </a:r>
            <a:r>
              <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rPr>
              <a:t>Contract/Doc/Log/Source aligned</a:t>
            </a:r>
            <a:endPar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sp>
        <p:nvSpPr>
          <p:cNvPr id="34" name="圆角矩形 33"/>
          <p:cNvSpPr/>
          <p:nvPr>
            <p:custDataLst>
              <p:tags r:id="rId7"/>
            </p:custDataLst>
          </p:nvPr>
        </p:nvSpPr>
        <p:spPr>
          <a:xfrm>
            <a:off x="847858" y="4319830"/>
            <a:ext cx="287042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custDataLst>
              <p:tags r:id="rId8"/>
            </p:custDataLst>
          </p:nvPr>
        </p:nvSpPr>
        <p:spPr>
          <a:xfrm>
            <a:off x="847725" y="4405630"/>
            <a:ext cx="2870835" cy="402590"/>
          </a:xfrm>
          <a:prstGeom prst="rect">
            <a:avLst/>
          </a:prstGeom>
          <a:noFill/>
        </p:spPr>
        <p:txBody>
          <a:bodyPr wrap="square" rtlCol="0">
            <a:noAutofit/>
          </a:bodyPr>
          <a:p>
            <a:pPr algn="ctr"/>
            <a:r>
              <a:rPr lang="en-US" altLang="zh-CN" sz="1400" b="1" dirty="0" err="1">
                <a:solidFill>
                  <a:schemeClr val="tx2"/>
                </a:solidFill>
                <a:latin typeface="Comic Sans MS" panose="030F0702030302020204" charset="0"/>
                <a:ea typeface="Microsoft YaHei" panose="020B0503020204020204" charset="-122"/>
                <a:cs typeface="Comic Sans MS" panose="030F0702030302020204" charset="0"/>
                <a:sym typeface="+mn-ea"/>
              </a:rPr>
              <a:t>3.Self-consistency:</a:t>
            </a:r>
            <a:r>
              <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rPr>
              <a:t>No internal contradictions</a:t>
            </a:r>
            <a:endPar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sp>
        <p:nvSpPr>
          <p:cNvPr id="44" name="圆角矩形 43"/>
          <p:cNvSpPr/>
          <p:nvPr>
            <p:custDataLst>
              <p:tags r:id="rId9"/>
            </p:custDataLst>
          </p:nvPr>
        </p:nvSpPr>
        <p:spPr>
          <a:xfrm>
            <a:off x="847090" y="4947285"/>
            <a:ext cx="2871470" cy="65341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文本框 44"/>
          <p:cNvSpPr txBox="1"/>
          <p:nvPr>
            <p:custDataLst>
              <p:tags r:id="rId10"/>
            </p:custDataLst>
          </p:nvPr>
        </p:nvSpPr>
        <p:spPr>
          <a:xfrm>
            <a:off x="847725" y="5047615"/>
            <a:ext cx="2848610" cy="429895"/>
          </a:xfrm>
          <a:prstGeom prst="rect">
            <a:avLst/>
          </a:prstGeom>
          <a:noFill/>
        </p:spPr>
        <p:txBody>
          <a:bodyPr wrap="square" rtlCol="0">
            <a:noAutofit/>
          </a:bodyPr>
          <a:p>
            <a:pPr algn="ctr"/>
            <a:r>
              <a:rPr lang="en-US" altLang="zh-CN" sz="1400" b="1">
                <a:solidFill>
                  <a:schemeClr val="tx2"/>
                </a:solidFill>
                <a:latin typeface="Comic Sans MS" panose="030F0702030302020204" charset="0"/>
                <a:cs typeface="Comic Sans MS" panose="030F0702030302020204" charset="0"/>
              </a:rPr>
              <a:t>4.Correspondence: </a:t>
            </a:r>
            <a:r>
              <a:rPr lang="en-US" altLang="zh-CN" sz="1400">
                <a:solidFill>
                  <a:schemeClr val="tx2"/>
                </a:solidFill>
                <a:latin typeface="Comic Sans MS" panose="030F0702030302020204" charset="0"/>
                <a:cs typeface="Comic Sans MS" panose="030F0702030302020204" charset="0"/>
              </a:rPr>
              <a:t>Primary observation matches claim?</a:t>
            </a:r>
            <a:endParaRPr lang="en-US" altLang="zh-CN" sz="1400">
              <a:solidFill>
                <a:schemeClr val="tx2"/>
              </a:solidFill>
              <a:latin typeface="Comic Sans MS" panose="030F0702030302020204" charset="0"/>
              <a:cs typeface="Comic Sans MS" panose="030F0702030302020204" charset="0"/>
            </a:endParaRPr>
          </a:p>
        </p:txBody>
      </p:sp>
      <p:pic>
        <p:nvPicPr>
          <p:cNvPr id="130" name="图片 129" descr="机器人"/>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716915" y="1335405"/>
            <a:ext cx="678815" cy="567690"/>
          </a:xfrm>
          <a:prstGeom prst="rect">
            <a:avLst/>
          </a:prstGeom>
        </p:spPr>
      </p:pic>
      <p:sp>
        <p:nvSpPr>
          <p:cNvPr id="129" name="文本框 128"/>
          <p:cNvSpPr txBox="1"/>
          <p:nvPr>
            <p:custDataLst>
              <p:tags r:id="rId14"/>
            </p:custDataLst>
          </p:nvPr>
        </p:nvSpPr>
        <p:spPr>
          <a:xfrm>
            <a:off x="645795" y="2023110"/>
            <a:ext cx="1806575" cy="45212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Chain_auditor</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3" name="文本框 2"/>
          <p:cNvSpPr txBox="1"/>
          <p:nvPr>
            <p:custDataLst>
              <p:tags r:id="rId15"/>
            </p:custDataLst>
          </p:nvPr>
        </p:nvSpPr>
        <p:spPr>
          <a:xfrm>
            <a:off x="847725" y="3125470"/>
            <a:ext cx="2870835" cy="444500"/>
          </a:xfrm>
          <a:prstGeom prst="rect">
            <a:avLst/>
          </a:prstGeom>
          <a:noFill/>
        </p:spPr>
        <p:txBody>
          <a:bodyPr wrap="square" rtlCol="0">
            <a:noAutofit/>
          </a:bodyPr>
          <a:p>
            <a:pPr algn="ctr"/>
            <a:r>
              <a:rPr lang="en-US" altLang="zh-CN" sz="1400" b="1" dirty="0" err="1">
                <a:solidFill>
                  <a:schemeClr val="tx2"/>
                </a:solidFill>
                <a:latin typeface="Comic Sans MS" panose="030F0702030302020204" charset="0"/>
                <a:ea typeface="Microsoft YaHei" panose="020B0503020204020204" charset="-122"/>
                <a:cs typeface="Comic Sans MS" panose="030F0702030302020204" charset="0"/>
                <a:sym typeface="+mn-ea"/>
              </a:rPr>
              <a:t>1.Completeness:</a:t>
            </a:r>
            <a:r>
              <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rPr>
              <a:t>All 5 sections present &amp; non-empty</a:t>
            </a:r>
            <a:endPar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cxnSp>
        <p:nvCxnSpPr>
          <p:cNvPr id="7" name="曲线连接符 6"/>
          <p:cNvCxnSpPr>
            <a:stCxn id="3" idx="3"/>
            <a:endCxn id="31" idx="3"/>
          </p:cNvCxnSpPr>
          <p:nvPr/>
        </p:nvCxnSpPr>
        <p:spPr>
          <a:xfrm>
            <a:off x="3718560" y="3347720"/>
            <a:ext cx="9525" cy="653415"/>
          </a:xfrm>
          <a:prstGeom prst="curvedConnector3">
            <a:avLst>
              <a:gd name="adj1" fmla="val 2600000"/>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10" name="曲线连接符 9"/>
          <p:cNvCxnSpPr>
            <a:stCxn id="31" idx="3"/>
            <a:endCxn id="35" idx="3"/>
          </p:cNvCxnSpPr>
          <p:nvPr/>
        </p:nvCxnSpPr>
        <p:spPr>
          <a:xfrm flipH="1">
            <a:off x="3718560" y="4001135"/>
            <a:ext cx="9525" cy="605790"/>
          </a:xfrm>
          <a:prstGeom prst="curvedConnector3">
            <a:avLst>
              <a:gd name="adj1" fmla="val -2500000"/>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11" name="曲线连接符 10"/>
          <p:cNvCxnSpPr>
            <a:stCxn id="35" idx="3"/>
            <a:endCxn id="45" idx="3"/>
          </p:cNvCxnSpPr>
          <p:nvPr/>
        </p:nvCxnSpPr>
        <p:spPr>
          <a:xfrm flipH="1">
            <a:off x="3696335" y="4606925"/>
            <a:ext cx="22225" cy="655955"/>
          </a:xfrm>
          <a:prstGeom prst="curvedConnector3">
            <a:avLst>
              <a:gd name="adj1" fmla="val -1071429"/>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14" name="直接箭头连接符 13"/>
          <p:cNvCxnSpPr>
            <a:stCxn id="3" idx="1"/>
          </p:cNvCxnSpPr>
          <p:nvPr/>
        </p:nvCxnSpPr>
        <p:spPr>
          <a:xfrm flipH="1">
            <a:off x="196850" y="3347720"/>
            <a:ext cx="650875" cy="381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31" idx="1"/>
          </p:cNvCxnSpPr>
          <p:nvPr/>
        </p:nvCxnSpPr>
        <p:spPr>
          <a:xfrm flipH="1">
            <a:off x="238125" y="4001135"/>
            <a:ext cx="619125" cy="127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a:stCxn id="35" idx="1"/>
          </p:cNvCxnSpPr>
          <p:nvPr/>
        </p:nvCxnSpPr>
        <p:spPr>
          <a:xfrm flipH="1">
            <a:off x="222250" y="4606925"/>
            <a:ext cx="625475" cy="508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45" idx="1"/>
          </p:cNvCxnSpPr>
          <p:nvPr/>
        </p:nvCxnSpPr>
        <p:spPr>
          <a:xfrm flipH="1">
            <a:off x="196215" y="5262880"/>
            <a:ext cx="651510" cy="381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a:off x="3912870" y="3597910"/>
            <a:ext cx="749935" cy="38354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pass</a:t>
            </a:r>
            <a:endParaRPr lang="en-US" altLang="zh-CN" sz="1400">
              <a:latin typeface="Comic Sans MS" panose="030F0702030302020204" charset="0"/>
              <a:cs typeface="Comic Sans MS" panose="030F0702030302020204" charset="0"/>
            </a:endParaRPr>
          </a:p>
        </p:txBody>
      </p:sp>
      <p:sp>
        <p:nvSpPr>
          <p:cNvPr id="24" name="文本框 23"/>
          <p:cNvSpPr txBox="1"/>
          <p:nvPr/>
        </p:nvSpPr>
        <p:spPr>
          <a:xfrm>
            <a:off x="3912870" y="4215130"/>
            <a:ext cx="749935" cy="38354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pass</a:t>
            </a:r>
            <a:endParaRPr lang="en-US" altLang="zh-CN" sz="1400">
              <a:latin typeface="Comic Sans MS" panose="030F0702030302020204" charset="0"/>
              <a:cs typeface="Comic Sans MS" panose="030F0702030302020204" charset="0"/>
            </a:endParaRPr>
          </a:p>
        </p:txBody>
      </p:sp>
      <p:sp>
        <p:nvSpPr>
          <p:cNvPr id="25" name="文本框 24"/>
          <p:cNvSpPr txBox="1"/>
          <p:nvPr/>
        </p:nvSpPr>
        <p:spPr>
          <a:xfrm>
            <a:off x="3912870" y="4865370"/>
            <a:ext cx="749935" cy="38354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pass</a:t>
            </a:r>
            <a:endParaRPr lang="en-US" altLang="zh-CN" sz="1400">
              <a:latin typeface="Comic Sans MS" panose="030F0702030302020204" charset="0"/>
              <a:cs typeface="Comic Sans MS" panose="030F0702030302020204" charset="0"/>
            </a:endParaRPr>
          </a:p>
        </p:txBody>
      </p:sp>
      <p:sp>
        <p:nvSpPr>
          <p:cNvPr id="33" name="文本框 32"/>
          <p:cNvSpPr txBox="1"/>
          <p:nvPr/>
        </p:nvSpPr>
        <p:spPr>
          <a:xfrm>
            <a:off x="0" y="3396615"/>
            <a:ext cx="1116330" cy="314325"/>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rebuild</a:t>
            </a:r>
            <a:endParaRPr lang="en-US" altLang="zh-CN" sz="1400">
              <a:latin typeface="Comic Sans MS" panose="030F0702030302020204" charset="0"/>
              <a:cs typeface="Comic Sans MS" panose="030F0702030302020204" charset="0"/>
              <a:sym typeface="+mn-ea"/>
            </a:endParaRPr>
          </a:p>
        </p:txBody>
      </p:sp>
      <p:sp>
        <p:nvSpPr>
          <p:cNvPr id="36" name="文本框 35"/>
          <p:cNvSpPr txBox="1"/>
          <p:nvPr/>
        </p:nvSpPr>
        <p:spPr>
          <a:xfrm>
            <a:off x="0" y="4010660"/>
            <a:ext cx="1116330" cy="301625"/>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rebuild</a:t>
            </a:r>
            <a:endParaRPr lang="en-US" altLang="zh-CN" sz="1400">
              <a:latin typeface="Comic Sans MS" panose="030F0702030302020204" charset="0"/>
              <a:cs typeface="Comic Sans MS" panose="030F0702030302020204" charset="0"/>
              <a:sym typeface="+mn-ea"/>
            </a:endParaRPr>
          </a:p>
        </p:txBody>
      </p:sp>
      <p:sp>
        <p:nvSpPr>
          <p:cNvPr id="37" name="文本框 36"/>
          <p:cNvSpPr txBox="1"/>
          <p:nvPr/>
        </p:nvSpPr>
        <p:spPr>
          <a:xfrm>
            <a:off x="0" y="4612005"/>
            <a:ext cx="1116330" cy="301625"/>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rebuild</a:t>
            </a:r>
            <a:endParaRPr lang="en-US" altLang="zh-CN" sz="1400">
              <a:latin typeface="Comic Sans MS" panose="030F0702030302020204" charset="0"/>
              <a:cs typeface="Comic Sans MS" panose="030F0702030302020204" charset="0"/>
              <a:sym typeface="+mn-ea"/>
            </a:endParaRPr>
          </a:p>
        </p:txBody>
      </p:sp>
      <p:sp>
        <p:nvSpPr>
          <p:cNvPr id="38" name="文本框 37"/>
          <p:cNvSpPr txBox="1"/>
          <p:nvPr/>
        </p:nvSpPr>
        <p:spPr>
          <a:xfrm>
            <a:off x="0" y="5316855"/>
            <a:ext cx="1116330" cy="301625"/>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rebuild</a:t>
            </a:r>
            <a:endParaRPr lang="en-US" altLang="zh-CN" sz="1400">
              <a:latin typeface="Comic Sans MS" panose="030F0702030302020204" charset="0"/>
              <a:cs typeface="Comic Sans MS" panose="030F0702030302020204" charset="0"/>
              <a:sym typeface="+mn-ea"/>
            </a:endParaRPr>
          </a:p>
        </p:txBody>
      </p:sp>
      <p:sp>
        <p:nvSpPr>
          <p:cNvPr id="39" name="文本框 38"/>
          <p:cNvSpPr txBox="1"/>
          <p:nvPr/>
        </p:nvSpPr>
        <p:spPr>
          <a:xfrm>
            <a:off x="2740660" y="944245"/>
            <a:ext cx="2389505" cy="320040"/>
          </a:xfrm>
          <a:prstGeom prst="rect">
            <a:avLst/>
          </a:prstGeom>
          <a:noFill/>
        </p:spPr>
        <p:txBody>
          <a:bodyPr wrap="square" rtlCol="0">
            <a:noAutofit/>
          </a:bodyPr>
          <a:p>
            <a:pPr algn="ctr"/>
            <a:r>
              <a:rPr lang="en-US" altLang="zh-CN">
                <a:latin typeface="Comic Sans MS" panose="030F0702030302020204" charset="0"/>
                <a:cs typeface="Comic Sans MS" panose="030F0702030302020204" charset="0"/>
              </a:rPr>
              <a:t>evidence_chain.json</a:t>
            </a:r>
            <a:endParaRPr lang="zh-CN" altLang="en-US">
              <a:latin typeface="Comic Sans MS" panose="030F0702030302020204" charset="0"/>
              <a:cs typeface="Comic Sans MS" panose="030F0702030302020204" charset="0"/>
            </a:endParaRPr>
          </a:p>
        </p:txBody>
      </p:sp>
      <p:sp>
        <p:nvSpPr>
          <p:cNvPr id="41" name="下箭头 40"/>
          <p:cNvSpPr/>
          <p:nvPr/>
        </p:nvSpPr>
        <p:spPr>
          <a:xfrm>
            <a:off x="2452370" y="1031240"/>
            <a:ext cx="513715" cy="1408430"/>
          </a:xfrm>
          <a:prstGeom prst="downArrow">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圆角矩形 39"/>
          <p:cNvSpPr/>
          <p:nvPr>
            <p:custDataLst>
              <p:tags r:id="rId16"/>
            </p:custDataLst>
          </p:nvPr>
        </p:nvSpPr>
        <p:spPr>
          <a:xfrm>
            <a:off x="4838700" y="1715770"/>
            <a:ext cx="5590540" cy="622300"/>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600">
              <a:solidFill>
                <a:schemeClr val="tx1"/>
              </a:solidFill>
              <a:latin typeface="Comic Sans MS" panose="030F0702030302020204" charset="0"/>
              <a:cs typeface="Comic Sans MS" panose="030F0702030302020204" charset="0"/>
            </a:endParaRPr>
          </a:p>
          <a:p>
            <a:pPr algn="ctr"/>
            <a:r>
              <a:rPr lang="en-US" altLang="zh-CN" sz="1600" b="1">
                <a:solidFill>
                  <a:schemeClr val="tx1"/>
                </a:solidFill>
                <a:latin typeface="Comic Sans MS" panose="030F0702030302020204" charset="0"/>
                <a:cs typeface="Comic Sans MS" panose="030F0702030302020204" charset="0"/>
              </a:rPr>
              <a:t>A Perspective: Contract</a:t>
            </a:r>
            <a:r>
              <a:rPr lang="en-US" altLang="zh-CN" sz="1600">
                <a:solidFill>
                  <a:schemeClr val="tx1"/>
                </a:solidFill>
                <a:latin typeface="Comic Sans MS" panose="030F0702030302020204" charset="0"/>
                <a:cs typeface="Comic Sans MS" panose="030F0702030302020204" charset="0"/>
              </a:rPr>
              <a:t>    Run </a:t>
            </a:r>
            <a:r>
              <a:rPr lang="en-US" altLang="zh-CN" sz="1200">
                <a:solidFill>
                  <a:schemeClr val="tx1"/>
                </a:solidFill>
                <a:highlight>
                  <a:srgbClr val="C0C0C0"/>
                </a:highlight>
                <a:latin typeface="Comic Sans MS" panose="030F0702030302020204" charset="0"/>
                <a:cs typeface="Comic Sans MS" panose="030F0702030302020204" charset="0"/>
              </a:rPr>
              <a:t>check_chain_grounding.py</a:t>
            </a:r>
            <a:endParaRPr lang="en-US" altLang="zh-CN" sz="1200">
              <a:solidFill>
                <a:schemeClr val="tx1"/>
              </a:solidFill>
              <a:highlight>
                <a:srgbClr val="C0C0C0"/>
              </a:highlight>
              <a:latin typeface="Comic Sans MS" panose="030F0702030302020204" charset="0"/>
              <a:cs typeface="Comic Sans MS" panose="030F0702030302020204" charset="0"/>
            </a:endParaRPr>
          </a:p>
          <a:p>
            <a:pPr algn="ctr"/>
            <a:endParaRPr lang="en-US" altLang="zh-CN" sz="1200">
              <a:solidFill>
                <a:schemeClr val="tx1"/>
              </a:solidFill>
              <a:highlight>
                <a:srgbClr val="C0C0C0"/>
              </a:highlight>
              <a:latin typeface="Comic Sans MS" panose="030F0702030302020204" charset="0"/>
              <a:cs typeface="Comic Sans MS" panose="030F0702030302020204" charset="0"/>
            </a:endParaRPr>
          </a:p>
        </p:txBody>
      </p:sp>
      <p:cxnSp>
        <p:nvCxnSpPr>
          <p:cNvPr id="51" name="肘形连接符 50"/>
          <p:cNvCxnSpPr/>
          <p:nvPr/>
        </p:nvCxnSpPr>
        <p:spPr>
          <a:xfrm rot="5400000" flipH="1" flipV="1">
            <a:off x="3090863" y="1000443"/>
            <a:ext cx="3884930" cy="5351145"/>
          </a:xfrm>
          <a:prstGeom prst="bentConnector5">
            <a:avLst>
              <a:gd name="adj1" fmla="val -6121"/>
              <a:gd name="adj2" fmla="val 39302"/>
              <a:gd name="adj3" fmla="val 106138"/>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58" name="文本框 57"/>
          <p:cNvSpPr txBox="1"/>
          <p:nvPr/>
        </p:nvSpPr>
        <p:spPr>
          <a:xfrm>
            <a:off x="1763395" y="5681980"/>
            <a:ext cx="749935" cy="33909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pass</a:t>
            </a:r>
            <a:endParaRPr lang="en-US" altLang="zh-CN" sz="1400">
              <a:latin typeface="Comic Sans MS" panose="030F0702030302020204" charset="0"/>
              <a:cs typeface="Comic Sans MS" panose="030F0702030302020204" charset="0"/>
            </a:endParaRPr>
          </a:p>
        </p:txBody>
      </p:sp>
      <p:pic>
        <p:nvPicPr>
          <p:cNvPr id="67" name="图片 66" descr="齿轮"/>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758055" y="1593850"/>
            <a:ext cx="473710" cy="473710"/>
          </a:xfrm>
          <a:prstGeom prst="rect">
            <a:avLst/>
          </a:prstGeom>
        </p:spPr>
      </p:pic>
      <p:cxnSp>
        <p:nvCxnSpPr>
          <p:cNvPr id="59" name="直接箭头连接符 58"/>
          <p:cNvCxnSpPr>
            <a:endCxn id="6" idx="0"/>
          </p:cNvCxnSpPr>
          <p:nvPr/>
        </p:nvCxnSpPr>
        <p:spPr>
          <a:xfrm>
            <a:off x="4994910" y="2993390"/>
            <a:ext cx="15875" cy="74866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60" name="图片 59" descr="BUG问题修复"/>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4758055" y="6287135"/>
            <a:ext cx="536575" cy="452755"/>
          </a:xfrm>
          <a:prstGeom prst="rect">
            <a:avLst/>
          </a:prstGeom>
        </p:spPr>
      </p:pic>
      <p:sp>
        <p:nvSpPr>
          <p:cNvPr id="62" name="文本框 61"/>
          <p:cNvSpPr txBox="1"/>
          <p:nvPr/>
        </p:nvSpPr>
        <p:spPr>
          <a:xfrm>
            <a:off x="4439920" y="2639060"/>
            <a:ext cx="1109980" cy="354330"/>
          </a:xfrm>
          <a:prstGeom prst="rect">
            <a:avLst/>
          </a:prstGeom>
          <a:noFill/>
          <a:ln w="28575" cmpd="sng">
            <a:noFill/>
            <a:prstDash val="solid"/>
          </a:ln>
        </p:spPr>
        <p:txBody>
          <a:bodyPr wrap="square" rtlCol="0">
            <a:noAutofit/>
          </a:bodyPr>
          <a:p>
            <a:pPr algn="ctr"/>
            <a:r>
              <a:rPr lang="en-US" altLang="zh-CN" sz="1400">
                <a:latin typeface="Comic Sans MS" panose="030F0702030302020204" charset="0"/>
                <a:cs typeface="Comic Sans MS" panose="030F0702030302020204" charset="0"/>
              </a:rPr>
              <a:t>Confirmed</a:t>
            </a:r>
            <a:endParaRPr lang="en-US" altLang="zh-CN" sz="1400">
              <a:latin typeface="Comic Sans MS" panose="030F0702030302020204" charset="0"/>
              <a:cs typeface="Comic Sans MS" panose="030F0702030302020204" charset="0"/>
            </a:endParaRPr>
          </a:p>
        </p:txBody>
      </p:sp>
      <p:cxnSp>
        <p:nvCxnSpPr>
          <p:cNvPr id="63" name="直接箭头连接符 62"/>
          <p:cNvCxnSpPr>
            <a:endCxn id="65" idx="0"/>
          </p:cNvCxnSpPr>
          <p:nvPr/>
        </p:nvCxnSpPr>
        <p:spPr>
          <a:xfrm>
            <a:off x="6262370" y="2357755"/>
            <a:ext cx="635" cy="63563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64" name="直接箭头连接符 63"/>
          <p:cNvCxnSpPr>
            <a:endCxn id="62" idx="0"/>
          </p:cNvCxnSpPr>
          <p:nvPr/>
        </p:nvCxnSpPr>
        <p:spPr>
          <a:xfrm flipH="1">
            <a:off x="4994910" y="2383155"/>
            <a:ext cx="3810" cy="25590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65" name="文本框 64"/>
          <p:cNvSpPr txBox="1"/>
          <p:nvPr/>
        </p:nvSpPr>
        <p:spPr>
          <a:xfrm>
            <a:off x="5740400" y="2993390"/>
            <a:ext cx="1044575" cy="354330"/>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Refuted</a:t>
            </a:r>
            <a:endParaRPr lang="en-US" altLang="zh-CN" sz="1400">
              <a:latin typeface="Comic Sans MS" panose="030F0702030302020204" charset="0"/>
              <a:cs typeface="Comic Sans MS" panose="030F0702030302020204" charset="0"/>
            </a:endParaRPr>
          </a:p>
        </p:txBody>
      </p:sp>
      <p:cxnSp>
        <p:nvCxnSpPr>
          <p:cNvPr id="66" name="直接箭头连接符 65"/>
          <p:cNvCxnSpPr>
            <a:stCxn id="28" idx="2"/>
          </p:cNvCxnSpPr>
          <p:nvPr/>
        </p:nvCxnSpPr>
        <p:spPr>
          <a:xfrm flipH="1">
            <a:off x="6261100" y="4053840"/>
            <a:ext cx="3810" cy="218503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78" name="图片 77" descr="对"/>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6042025" y="6300470"/>
            <a:ext cx="441960" cy="441960"/>
          </a:xfrm>
          <a:prstGeom prst="rect">
            <a:avLst/>
          </a:prstGeom>
        </p:spPr>
      </p:pic>
      <p:sp>
        <p:nvSpPr>
          <p:cNvPr id="77" name="圆角矩形 76"/>
          <p:cNvSpPr/>
          <p:nvPr>
            <p:custDataLst>
              <p:tags r:id="rId25"/>
            </p:custDataLst>
          </p:nvPr>
        </p:nvSpPr>
        <p:spPr>
          <a:xfrm>
            <a:off x="6687185" y="2741930"/>
            <a:ext cx="3742690" cy="516890"/>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latin typeface="Comic Sans MS" panose="030F0702030302020204" charset="0"/>
                <a:cs typeface="Comic Sans MS" panose="030F0702030302020204" charset="0"/>
              </a:rPr>
              <a:t>B Perspective: Physical</a:t>
            </a:r>
            <a:r>
              <a:rPr lang="en-US" altLang="zh-CN" sz="1600">
                <a:solidFill>
                  <a:schemeClr val="tx1"/>
                </a:solidFill>
                <a:latin typeface="Comic Sans MS" panose="030F0702030302020204" charset="0"/>
                <a:cs typeface="Comic Sans MS" panose="030F0702030302020204" charset="0"/>
              </a:rPr>
              <a:t>  Run </a:t>
            </a:r>
            <a:r>
              <a:rPr lang="en-US" altLang="zh-CN" sz="1200">
                <a:solidFill>
                  <a:schemeClr val="tx1"/>
                </a:solidFill>
                <a:highlight>
                  <a:srgbClr val="C0C0C0"/>
                </a:highlight>
                <a:latin typeface="Comic Sans MS" panose="030F0702030302020204" charset="0"/>
                <a:cs typeface="Comic Sans MS" panose="030F0702030302020204" charset="0"/>
              </a:rPr>
              <a:t>check_physical_constraints.py</a:t>
            </a:r>
            <a:endParaRPr lang="en-US" altLang="zh-CN" sz="1200">
              <a:solidFill>
                <a:schemeClr val="tx1"/>
              </a:solidFill>
              <a:highlight>
                <a:srgbClr val="C0C0C0"/>
              </a:highlight>
              <a:latin typeface="Comic Sans MS" panose="030F0702030302020204" charset="0"/>
              <a:cs typeface="Comic Sans MS" panose="030F0702030302020204" charset="0"/>
            </a:endParaRPr>
          </a:p>
        </p:txBody>
      </p:sp>
      <p:sp>
        <p:nvSpPr>
          <p:cNvPr id="79" name="文本框 78"/>
          <p:cNvSpPr txBox="1"/>
          <p:nvPr/>
        </p:nvSpPr>
        <p:spPr>
          <a:xfrm>
            <a:off x="7590790" y="2406650"/>
            <a:ext cx="1044575" cy="297815"/>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Neutral</a:t>
            </a:r>
            <a:endParaRPr lang="en-US" altLang="zh-CN" sz="1400">
              <a:latin typeface="Comic Sans MS" panose="030F0702030302020204" charset="0"/>
              <a:cs typeface="Comic Sans MS" panose="030F0702030302020204" charset="0"/>
            </a:endParaRPr>
          </a:p>
        </p:txBody>
      </p:sp>
      <p:cxnSp>
        <p:nvCxnSpPr>
          <p:cNvPr id="80" name="直接箭头连接符 79"/>
          <p:cNvCxnSpPr/>
          <p:nvPr/>
        </p:nvCxnSpPr>
        <p:spPr>
          <a:xfrm>
            <a:off x="7481570" y="2357755"/>
            <a:ext cx="1270" cy="39624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81" name="图片 80" descr="齿轮"/>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572885" y="2581910"/>
            <a:ext cx="473710" cy="473710"/>
          </a:xfrm>
          <a:prstGeom prst="rect">
            <a:avLst/>
          </a:prstGeom>
        </p:spPr>
      </p:pic>
      <p:cxnSp>
        <p:nvCxnSpPr>
          <p:cNvPr id="82" name="直接箭头连接符 81"/>
          <p:cNvCxnSpPr/>
          <p:nvPr/>
        </p:nvCxnSpPr>
        <p:spPr>
          <a:xfrm flipH="1">
            <a:off x="7005955" y="3282315"/>
            <a:ext cx="1905" cy="38862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83" name="文本框 82"/>
          <p:cNvSpPr txBox="1"/>
          <p:nvPr/>
        </p:nvSpPr>
        <p:spPr>
          <a:xfrm>
            <a:off x="6692900" y="3670935"/>
            <a:ext cx="1044575" cy="37973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Triggered</a:t>
            </a:r>
            <a:endParaRPr lang="en-US" altLang="zh-CN" sz="1400">
              <a:latin typeface="Comic Sans MS" panose="030F0702030302020204" charset="0"/>
              <a:cs typeface="Comic Sans MS" panose="030F0702030302020204" charset="0"/>
            </a:endParaRPr>
          </a:p>
        </p:txBody>
      </p:sp>
      <p:cxnSp>
        <p:nvCxnSpPr>
          <p:cNvPr id="85" name="直接箭头连接符 84"/>
          <p:cNvCxnSpPr/>
          <p:nvPr/>
        </p:nvCxnSpPr>
        <p:spPr>
          <a:xfrm>
            <a:off x="7005955" y="4050665"/>
            <a:ext cx="7620" cy="222631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86" name="图片 85" descr="BUG问题修复"/>
          <p:cNvPicPr>
            <a:picLocks noChangeAspect="1"/>
          </p:cNvPicPr>
          <p:nvPr>
            <p:custDataLst>
              <p:tags r:id="rId26"/>
            </p:custDataLst>
          </p:nvPr>
        </p:nvPicPr>
        <p:blipFill>
          <a:blip r:embed="rId20">
            <a:extLst>
              <a:ext uri="{96DAC541-7B7A-43D3-8B79-37D633B846F1}">
                <asvg:svgBlip xmlns:asvg="http://schemas.microsoft.com/office/drawing/2016/SVG/main" r:embed="rId21"/>
              </a:ext>
            </a:extLst>
          </a:blip>
          <a:stretch>
            <a:fillRect/>
          </a:stretch>
        </p:blipFill>
        <p:spPr>
          <a:xfrm>
            <a:off x="6737350" y="6290310"/>
            <a:ext cx="536575" cy="452755"/>
          </a:xfrm>
          <a:prstGeom prst="rect">
            <a:avLst/>
          </a:prstGeom>
        </p:spPr>
      </p:pic>
      <p:cxnSp>
        <p:nvCxnSpPr>
          <p:cNvPr id="87" name="直接箭头连接符 86"/>
          <p:cNvCxnSpPr/>
          <p:nvPr/>
        </p:nvCxnSpPr>
        <p:spPr>
          <a:xfrm>
            <a:off x="8302625" y="3293110"/>
            <a:ext cx="1270" cy="39624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88" name="圆角矩形 87"/>
          <p:cNvSpPr/>
          <p:nvPr>
            <p:custDataLst>
              <p:tags r:id="rId27"/>
            </p:custDataLst>
          </p:nvPr>
        </p:nvSpPr>
        <p:spPr>
          <a:xfrm>
            <a:off x="7668895" y="3681095"/>
            <a:ext cx="3430270" cy="516890"/>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latin typeface="Comic Sans MS" panose="030F0702030302020204" charset="0"/>
                <a:cs typeface="Comic Sans MS" panose="030F0702030302020204" charset="0"/>
              </a:rPr>
              <a:t>C Perspective: Cognition</a:t>
            </a:r>
            <a:endParaRPr lang="en-US" altLang="zh-CN" sz="1600" b="1">
              <a:solidFill>
                <a:schemeClr val="tx1"/>
              </a:solidFill>
              <a:latin typeface="Comic Sans MS" panose="030F0702030302020204" charset="0"/>
              <a:cs typeface="Comic Sans MS" panose="030F0702030302020204" charset="0"/>
            </a:endParaRPr>
          </a:p>
        </p:txBody>
      </p:sp>
      <p:sp>
        <p:nvSpPr>
          <p:cNvPr id="89" name="下箭头 88"/>
          <p:cNvSpPr/>
          <p:nvPr/>
        </p:nvSpPr>
        <p:spPr>
          <a:xfrm>
            <a:off x="10429875" y="1057275"/>
            <a:ext cx="513715" cy="2632075"/>
          </a:xfrm>
          <a:prstGeom prst="downArrow">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0" name="文本框 89"/>
          <p:cNvSpPr txBox="1"/>
          <p:nvPr/>
        </p:nvSpPr>
        <p:spPr>
          <a:xfrm>
            <a:off x="7784465" y="1124585"/>
            <a:ext cx="3096895" cy="329565"/>
          </a:xfrm>
          <a:prstGeom prst="rect">
            <a:avLst/>
          </a:prstGeom>
          <a:noFill/>
        </p:spPr>
        <p:txBody>
          <a:bodyPr wrap="square" rtlCol="0">
            <a:noAutofit/>
          </a:bodyPr>
          <a:p>
            <a:pPr algn="ctr"/>
            <a:r>
              <a:rPr lang="en-US" altLang="zh-CN" sz="1600">
                <a:latin typeface="Comic Sans MS" panose="030F0702030302020204" charset="0"/>
                <a:cs typeface="Comic Sans MS" panose="030F0702030302020204" charset="0"/>
              </a:rPr>
              <a:t>developer_cognition.json</a:t>
            </a:r>
            <a:endParaRPr lang="en-US" altLang="zh-CN" sz="1600">
              <a:latin typeface="Comic Sans MS" panose="030F0702030302020204" charset="0"/>
              <a:cs typeface="Comic Sans MS" panose="030F0702030302020204" charset="0"/>
            </a:endParaRPr>
          </a:p>
        </p:txBody>
      </p:sp>
      <p:cxnSp>
        <p:nvCxnSpPr>
          <p:cNvPr id="91" name="直接箭头连接符 90"/>
          <p:cNvCxnSpPr/>
          <p:nvPr/>
        </p:nvCxnSpPr>
        <p:spPr>
          <a:xfrm>
            <a:off x="7745095" y="4215130"/>
            <a:ext cx="2540" cy="3333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92" name="文本框 91"/>
          <p:cNvSpPr txBox="1"/>
          <p:nvPr/>
        </p:nvSpPr>
        <p:spPr>
          <a:xfrm>
            <a:off x="7207885" y="4539615"/>
            <a:ext cx="955040" cy="508000"/>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Supports</a:t>
            </a:r>
            <a:endParaRPr lang="en-US" altLang="zh-CN" sz="1400">
              <a:latin typeface="Comic Sans MS" panose="030F0702030302020204" charset="0"/>
              <a:cs typeface="Comic Sans MS" panose="030F0702030302020204" charset="0"/>
            </a:endParaRPr>
          </a:p>
          <a:p>
            <a:pPr algn="ctr"/>
            <a:r>
              <a:rPr lang="en-US" altLang="zh-CN" sz="1400">
                <a:latin typeface="Comic Sans MS" panose="030F0702030302020204" charset="0"/>
                <a:cs typeface="Comic Sans MS" panose="030F0702030302020204" charset="0"/>
              </a:rPr>
              <a:t>defect</a:t>
            </a:r>
            <a:endParaRPr lang="en-US" altLang="zh-CN" sz="1400">
              <a:latin typeface="Comic Sans MS" panose="030F0702030302020204" charset="0"/>
              <a:cs typeface="Comic Sans MS" panose="030F0702030302020204" charset="0"/>
            </a:endParaRPr>
          </a:p>
        </p:txBody>
      </p:sp>
      <p:cxnSp>
        <p:nvCxnSpPr>
          <p:cNvPr id="94" name="直接箭头连接符 93"/>
          <p:cNvCxnSpPr/>
          <p:nvPr/>
        </p:nvCxnSpPr>
        <p:spPr>
          <a:xfrm>
            <a:off x="7740650" y="5056505"/>
            <a:ext cx="4445" cy="119824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95" name="图片 94" descr="BUG问题修复"/>
          <p:cNvPicPr>
            <a:picLocks noChangeAspect="1"/>
          </p:cNvPicPr>
          <p:nvPr>
            <p:custDataLst>
              <p:tags r:id="rId28"/>
            </p:custDataLst>
          </p:nvPr>
        </p:nvPicPr>
        <p:blipFill>
          <a:blip r:embed="rId20">
            <a:extLst>
              <a:ext uri="{96DAC541-7B7A-43D3-8B79-37D633B846F1}">
                <asvg:svgBlip xmlns:asvg="http://schemas.microsoft.com/office/drawing/2016/SVG/main" r:embed="rId21"/>
              </a:ext>
            </a:extLst>
          </a:blip>
          <a:stretch>
            <a:fillRect/>
          </a:stretch>
        </p:blipFill>
        <p:spPr>
          <a:xfrm>
            <a:off x="7510145" y="6297930"/>
            <a:ext cx="536575" cy="452755"/>
          </a:xfrm>
          <a:prstGeom prst="rect">
            <a:avLst/>
          </a:prstGeom>
        </p:spPr>
      </p:pic>
      <p:sp>
        <p:nvSpPr>
          <p:cNvPr id="96" name="文本框 95"/>
          <p:cNvSpPr txBox="1"/>
          <p:nvPr/>
        </p:nvSpPr>
        <p:spPr>
          <a:xfrm>
            <a:off x="8442325" y="3312160"/>
            <a:ext cx="1413510" cy="39497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Not triggered</a:t>
            </a:r>
            <a:endParaRPr lang="en-US" altLang="zh-CN" sz="1400">
              <a:latin typeface="Comic Sans MS" panose="030F0702030302020204" charset="0"/>
              <a:cs typeface="Comic Sans MS" panose="030F0702030302020204" charset="0"/>
            </a:endParaRPr>
          </a:p>
        </p:txBody>
      </p:sp>
      <p:cxnSp>
        <p:nvCxnSpPr>
          <p:cNvPr id="97" name="直接箭头连接符 96"/>
          <p:cNvCxnSpPr/>
          <p:nvPr/>
        </p:nvCxnSpPr>
        <p:spPr>
          <a:xfrm>
            <a:off x="8522335" y="4215130"/>
            <a:ext cx="2540" cy="3333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98" name="文本框 97"/>
          <p:cNvSpPr txBox="1"/>
          <p:nvPr/>
        </p:nvSpPr>
        <p:spPr>
          <a:xfrm>
            <a:off x="7969885" y="4539615"/>
            <a:ext cx="1177290" cy="508000"/>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Supports</a:t>
            </a:r>
            <a:endParaRPr lang="en-US" altLang="zh-CN" sz="1400">
              <a:latin typeface="Comic Sans MS" panose="030F0702030302020204" charset="0"/>
              <a:cs typeface="Comic Sans MS" panose="030F0702030302020204" charset="0"/>
            </a:endParaRPr>
          </a:p>
          <a:p>
            <a:pPr algn="ctr"/>
            <a:r>
              <a:rPr lang="en-US" altLang="zh-CN" sz="1400">
                <a:latin typeface="Comic Sans MS" panose="030F0702030302020204" charset="0"/>
                <a:cs typeface="Comic Sans MS" panose="030F0702030302020204" charset="0"/>
              </a:rPr>
              <a:t>not defect</a:t>
            </a:r>
            <a:endParaRPr lang="en-US" altLang="zh-CN" sz="1400">
              <a:latin typeface="Comic Sans MS" panose="030F0702030302020204" charset="0"/>
              <a:cs typeface="Comic Sans MS" panose="030F0702030302020204" charset="0"/>
            </a:endParaRPr>
          </a:p>
        </p:txBody>
      </p:sp>
      <p:cxnSp>
        <p:nvCxnSpPr>
          <p:cNvPr id="99" name="直接箭头连接符 98"/>
          <p:cNvCxnSpPr/>
          <p:nvPr/>
        </p:nvCxnSpPr>
        <p:spPr>
          <a:xfrm flipH="1">
            <a:off x="8512810" y="5048250"/>
            <a:ext cx="6985" cy="11588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100" name="图片 99" descr="对"/>
          <p:cNvPicPr>
            <a:picLocks noChangeAspect="1"/>
          </p:cNvPicPr>
          <p:nvPr>
            <p:custDataLst>
              <p:tags r:id="rId29"/>
            </p:custDataLst>
          </p:nvPr>
        </p:nvPicPr>
        <p:blipFill>
          <a:blip r:embed="rId23">
            <a:extLst>
              <a:ext uri="{96DAC541-7B7A-43D3-8B79-37D633B846F1}">
                <asvg:svgBlip xmlns:asvg="http://schemas.microsoft.com/office/drawing/2016/SVG/main" r:embed="rId24"/>
              </a:ext>
            </a:extLst>
          </a:blip>
          <a:stretch>
            <a:fillRect/>
          </a:stretch>
        </p:blipFill>
        <p:spPr>
          <a:xfrm>
            <a:off x="8302625" y="6287135"/>
            <a:ext cx="441960" cy="441960"/>
          </a:xfrm>
          <a:prstGeom prst="rect">
            <a:avLst/>
          </a:prstGeom>
        </p:spPr>
      </p:pic>
      <p:cxnSp>
        <p:nvCxnSpPr>
          <p:cNvPr id="101" name="直接箭头连接符 100"/>
          <p:cNvCxnSpPr/>
          <p:nvPr/>
        </p:nvCxnSpPr>
        <p:spPr>
          <a:xfrm>
            <a:off x="9331325" y="4215130"/>
            <a:ext cx="2540" cy="3333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102" name="圆角矩形 101"/>
          <p:cNvSpPr/>
          <p:nvPr>
            <p:custDataLst>
              <p:tags r:id="rId30"/>
            </p:custDataLst>
          </p:nvPr>
        </p:nvSpPr>
        <p:spPr>
          <a:xfrm>
            <a:off x="9004300" y="4540250"/>
            <a:ext cx="2905125" cy="516890"/>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latin typeface="Comic Sans MS" panose="030F0702030302020204" charset="0"/>
                <a:cs typeface="Comic Sans MS" panose="030F0702030302020204" charset="0"/>
              </a:rPr>
              <a:t>D Perspective: Source</a:t>
            </a:r>
            <a:endParaRPr lang="en-US" altLang="zh-CN" sz="1600" b="1">
              <a:solidFill>
                <a:schemeClr val="tx1"/>
              </a:solidFill>
              <a:latin typeface="Comic Sans MS" panose="030F0702030302020204" charset="0"/>
              <a:cs typeface="Comic Sans MS" panose="030F0702030302020204" charset="0"/>
            </a:endParaRPr>
          </a:p>
        </p:txBody>
      </p:sp>
      <p:sp>
        <p:nvSpPr>
          <p:cNvPr id="103" name="下箭头 102"/>
          <p:cNvSpPr/>
          <p:nvPr/>
        </p:nvSpPr>
        <p:spPr>
          <a:xfrm>
            <a:off x="11229975" y="1061085"/>
            <a:ext cx="513715" cy="3478530"/>
          </a:xfrm>
          <a:prstGeom prst="downArrow">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 name="文本框 103"/>
          <p:cNvSpPr txBox="1"/>
          <p:nvPr/>
        </p:nvSpPr>
        <p:spPr>
          <a:xfrm>
            <a:off x="10753090" y="1249680"/>
            <a:ext cx="1438910" cy="299720"/>
          </a:xfrm>
          <a:prstGeom prst="rect">
            <a:avLst/>
          </a:prstGeom>
          <a:noFill/>
        </p:spPr>
        <p:txBody>
          <a:bodyPr wrap="square" rtlCol="0">
            <a:noAutofit/>
          </a:bodyPr>
          <a:p>
            <a:pPr algn="ctr"/>
            <a:r>
              <a:rPr lang="en-US" altLang="zh-CN" sz="1600">
                <a:latin typeface="Comic Sans MS" panose="030F0702030302020204" charset="0"/>
                <a:cs typeface="Comic Sans MS" panose="030F0702030302020204" charset="0"/>
              </a:rPr>
              <a:t>VDBMS source code</a:t>
            </a:r>
            <a:endParaRPr lang="en-US" altLang="zh-CN" sz="1600">
              <a:latin typeface="Comic Sans MS" panose="030F0702030302020204" charset="0"/>
              <a:cs typeface="Comic Sans MS" panose="030F0702030302020204" charset="0"/>
            </a:endParaRPr>
          </a:p>
        </p:txBody>
      </p:sp>
      <p:sp>
        <p:nvSpPr>
          <p:cNvPr id="105" name="文本框 104"/>
          <p:cNvSpPr txBox="1"/>
          <p:nvPr/>
        </p:nvSpPr>
        <p:spPr>
          <a:xfrm>
            <a:off x="9264015" y="4197985"/>
            <a:ext cx="987425" cy="254000"/>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No signal</a:t>
            </a:r>
            <a:endParaRPr lang="en-US" altLang="zh-CN" sz="1400">
              <a:latin typeface="Comic Sans MS" panose="030F0702030302020204" charset="0"/>
              <a:cs typeface="Comic Sans MS" panose="030F0702030302020204" charset="0"/>
            </a:endParaRPr>
          </a:p>
        </p:txBody>
      </p:sp>
      <p:cxnSp>
        <p:nvCxnSpPr>
          <p:cNvPr id="106" name="直接箭头连接符 105"/>
          <p:cNvCxnSpPr/>
          <p:nvPr/>
        </p:nvCxnSpPr>
        <p:spPr>
          <a:xfrm flipH="1">
            <a:off x="9546590" y="5087620"/>
            <a:ext cx="6985" cy="11588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108" name="文本框 107"/>
          <p:cNvSpPr txBox="1"/>
          <p:nvPr/>
        </p:nvSpPr>
        <p:spPr>
          <a:xfrm>
            <a:off x="9554210" y="5364480"/>
            <a:ext cx="1095375" cy="254000"/>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By_design</a:t>
            </a:r>
            <a:endParaRPr lang="en-US" altLang="zh-CN" sz="1400">
              <a:latin typeface="Comic Sans MS" panose="030F0702030302020204" charset="0"/>
              <a:cs typeface="Comic Sans MS" panose="030F0702030302020204" charset="0"/>
            </a:endParaRPr>
          </a:p>
        </p:txBody>
      </p:sp>
      <p:pic>
        <p:nvPicPr>
          <p:cNvPr id="109" name="图片 108" descr="对"/>
          <p:cNvPicPr>
            <a:picLocks noChangeAspect="1"/>
          </p:cNvPicPr>
          <p:nvPr>
            <p:custDataLst>
              <p:tags r:id="rId31"/>
            </p:custDataLst>
          </p:nvPr>
        </p:nvPicPr>
        <p:blipFill>
          <a:blip r:embed="rId23">
            <a:extLst>
              <a:ext uri="{96DAC541-7B7A-43D3-8B79-37D633B846F1}">
                <asvg:svgBlip xmlns:asvg="http://schemas.microsoft.com/office/drawing/2016/SVG/main" r:embed="rId24"/>
              </a:ext>
            </a:extLst>
          </a:blip>
          <a:stretch>
            <a:fillRect/>
          </a:stretch>
        </p:blipFill>
        <p:spPr>
          <a:xfrm>
            <a:off x="9331960" y="6246495"/>
            <a:ext cx="441960" cy="441960"/>
          </a:xfrm>
          <a:prstGeom prst="rect">
            <a:avLst/>
          </a:prstGeom>
        </p:spPr>
      </p:pic>
      <p:cxnSp>
        <p:nvCxnSpPr>
          <p:cNvPr id="110" name="直接箭头连接符 109"/>
          <p:cNvCxnSpPr/>
          <p:nvPr/>
        </p:nvCxnSpPr>
        <p:spPr>
          <a:xfrm flipH="1">
            <a:off x="10683240" y="5080000"/>
            <a:ext cx="6985" cy="11588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111" name="文本框 110"/>
          <p:cNvSpPr txBox="1"/>
          <p:nvPr/>
        </p:nvSpPr>
        <p:spPr>
          <a:xfrm>
            <a:off x="10814050" y="5346700"/>
            <a:ext cx="1095375" cy="494665"/>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Not by_design</a:t>
            </a:r>
            <a:endParaRPr lang="en-US" altLang="zh-CN" sz="1400">
              <a:latin typeface="Comic Sans MS" panose="030F0702030302020204" charset="0"/>
              <a:cs typeface="Comic Sans MS" panose="030F0702030302020204" charset="0"/>
            </a:endParaRPr>
          </a:p>
        </p:txBody>
      </p:sp>
      <p:pic>
        <p:nvPicPr>
          <p:cNvPr id="112" name="图片 111" descr="BUG问题修复"/>
          <p:cNvPicPr>
            <a:picLocks noChangeAspect="1"/>
          </p:cNvPicPr>
          <p:nvPr>
            <p:custDataLst>
              <p:tags r:id="rId32"/>
            </p:custDataLst>
          </p:nvPr>
        </p:nvPicPr>
        <p:blipFill>
          <a:blip r:embed="rId20">
            <a:extLst>
              <a:ext uri="{96DAC541-7B7A-43D3-8B79-37D633B846F1}">
                <asvg:svgBlip xmlns:asvg="http://schemas.microsoft.com/office/drawing/2016/SVG/main" r:embed="rId21"/>
              </a:ext>
            </a:extLst>
          </a:blip>
          <a:stretch>
            <a:fillRect/>
          </a:stretch>
        </p:blipFill>
        <p:spPr>
          <a:xfrm>
            <a:off x="10467975" y="6235700"/>
            <a:ext cx="536575" cy="452755"/>
          </a:xfrm>
          <a:prstGeom prst="rect">
            <a:avLst/>
          </a:prstGeom>
        </p:spPr>
      </p:pic>
      <p:sp>
        <p:nvSpPr>
          <p:cNvPr id="6" name="流程图: 决策 5"/>
          <p:cNvSpPr/>
          <p:nvPr/>
        </p:nvSpPr>
        <p:spPr>
          <a:xfrm>
            <a:off x="4662805" y="3742055"/>
            <a:ext cx="695325" cy="455930"/>
          </a:xfrm>
          <a:prstGeom prst="flowChartDecision">
            <a:avLst/>
          </a:prstGeom>
          <a:solidFill>
            <a:schemeClr val="accent5">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solidFill>
                  <a:srgbClr val="002060"/>
                </a:solidFill>
              </a:rPr>
              <a:t>C</a:t>
            </a:r>
            <a:endParaRPr lang="en-US" altLang="zh-CN" sz="1200">
              <a:solidFill>
                <a:srgbClr val="002060"/>
              </a:solidFill>
            </a:endParaRPr>
          </a:p>
        </p:txBody>
      </p:sp>
      <p:cxnSp>
        <p:nvCxnSpPr>
          <p:cNvPr id="8" name="直接箭头连接符 7"/>
          <p:cNvCxnSpPr/>
          <p:nvPr/>
        </p:nvCxnSpPr>
        <p:spPr>
          <a:xfrm>
            <a:off x="5030470" y="4197985"/>
            <a:ext cx="22225" cy="2050415"/>
          </a:xfrm>
          <a:prstGeom prst="straightConnector1">
            <a:avLst/>
          </a:prstGeom>
          <a:ln w="127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5194300" y="4269740"/>
            <a:ext cx="1066800" cy="328930"/>
          </a:xfrm>
          <a:prstGeom prst="rect">
            <a:avLst/>
          </a:prstGeom>
          <a:noFill/>
        </p:spPr>
        <p:txBody>
          <a:bodyPr wrap="square" rtlCol="0">
            <a:noAutofit/>
          </a:bodyPr>
          <a:p>
            <a:pPr algn="ctr"/>
            <a:endParaRPr lang="en-US" altLang="zh-CN" sz="1200">
              <a:latin typeface="Comic Sans MS" panose="030F0702030302020204" charset="0"/>
              <a:cs typeface="Comic Sans MS" panose="030F0702030302020204" charset="0"/>
            </a:endParaRPr>
          </a:p>
        </p:txBody>
      </p:sp>
      <p:sp>
        <p:nvSpPr>
          <p:cNvPr id="13" name="文本框 12"/>
          <p:cNvSpPr txBox="1"/>
          <p:nvPr/>
        </p:nvSpPr>
        <p:spPr>
          <a:xfrm>
            <a:off x="4620895" y="4947285"/>
            <a:ext cx="987425" cy="254000"/>
          </a:xfrm>
          <a:prstGeom prst="rect">
            <a:avLst/>
          </a:prstGeom>
          <a:noFill/>
        </p:spPr>
        <p:txBody>
          <a:bodyPr wrap="square" rtlCol="0">
            <a:noAutofit/>
          </a:bodyPr>
          <a:p>
            <a:pPr algn="ctr"/>
            <a:r>
              <a:rPr lang="en-US" altLang="zh-CN" sz="1200">
                <a:latin typeface="Comic Sans MS" panose="030F0702030302020204" charset="0"/>
                <a:cs typeface="Comic Sans MS" panose="030F0702030302020204" charset="0"/>
              </a:rPr>
              <a:t>No signal</a:t>
            </a:r>
            <a:endParaRPr lang="en-US" altLang="zh-CN" sz="1200">
              <a:latin typeface="Comic Sans MS" panose="030F0702030302020204" charset="0"/>
              <a:cs typeface="Comic Sans MS" panose="030F0702030302020204" charset="0"/>
            </a:endParaRPr>
          </a:p>
        </p:txBody>
      </p:sp>
      <p:sp>
        <p:nvSpPr>
          <p:cNvPr id="16" name="文本框 15"/>
          <p:cNvSpPr txBox="1"/>
          <p:nvPr/>
        </p:nvSpPr>
        <p:spPr>
          <a:xfrm>
            <a:off x="5129530" y="4172585"/>
            <a:ext cx="912495" cy="508000"/>
          </a:xfrm>
          <a:prstGeom prst="rect">
            <a:avLst/>
          </a:prstGeom>
          <a:noFill/>
        </p:spPr>
        <p:txBody>
          <a:bodyPr wrap="square" rtlCol="0">
            <a:noAutofit/>
          </a:bodyPr>
          <a:p>
            <a:pPr algn="ctr"/>
            <a:r>
              <a:rPr lang="en-US" altLang="zh-CN" sz="1200">
                <a:latin typeface="Comic Sans MS" panose="030F0702030302020204" charset="0"/>
                <a:cs typeface="Comic Sans MS" panose="030F0702030302020204" charset="0"/>
              </a:rPr>
              <a:t>Supports</a:t>
            </a:r>
            <a:endParaRPr lang="en-US" altLang="zh-CN" sz="1200">
              <a:latin typeface="Comic Sans MS" panose="030F0702030302020204" charset="0"/>
              <a:cs typeface="Comic Sans MS" panose="030F0702030302020204" charset="0"/>
            </a:endParaRPr>
          </a:p>
          <a:p>
            <a:pPr algn="ctr"/>
            <a:r>
              <a:rPr lang="en-US" altLang="zh-CN" sz="1200">
                <a:latin typeface="Comic Sans MS" panose="030F0702030302020204" charset="0"/>
                <a:cs typeface="Comic Sans MS" panose="030F0702030302020204" charset="0"/>
              </a:rPr>
              <a:t>not defect</a:t>
            </a:r>
            <a:endParaRPr lang="en-US" altLang="zh-CN" sz="1200">
              <a:latin typeface="Comic Sans MS" panose="030F0702030302020204" charset="0"/>
              <a:cs typeface="Comic Sans MS" panose="030F0702030302020204" charset="0"/>
            </a:endParaRPr>
          </a:p>
        </p:txBody>
      </p:sp>
      <p:cxnSp>
        <p:nvCxnSpPr>
          <p:cNvPr id="22" name="肘形连接符 21"/>
          <p:cNvCxnSpPr>
            <a:endCxn id="23" idx="0"/>
          </p:cNvCxnSpPr>
          <p:nvPr/>
        </p:nvCxnSpPr>
        <p:spPr>
          <a:xfrm rot="5400000" flipV="1">
            <a:off x="4403725" y="4929505"/>
            <a:ext cx="2265680" cy="346075"/>
          </a:xfrm>
          <a:prstGeom prst="bentConnector3">
            <a:avLst>
              <a:gd name="adj1" fmla="val 1079"/>
            </a:avLst>
          </a:prstGeom>
          <a:ln w="127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a:off x="5294630" y="6235700"/>
            <a:ext cx="829945" cy="295275"/>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rebuild</a:t>
            </a:r>
            <a:endParaRPr lang="en-US" altLang="zh-CN" sz="1400">
              <a:latin typeface="Comic Sans MS" panose="030F0702030302020204" charset="0"/>
              <a:cs typeface="Comic Sans MS" panose="030F0702030302020204" charset="0"/>
              <a:sym typeface="+mn-ea"/>
            </a:endParaRPr>
          </a:p>
        </p:txBody>
      </p:sp>
      <p:sp>
        <p:nvSpPr>
          <p:cNvPr id="28" name="流程图: 决策 27"/>
          <p:cNvSpPr/>
          <p:nvPr/>
        </p:nvSpPr>
        <p:spPr>
          <a:xfrm>
            <a:off x="5916930" y="3597910"/>
            <a:ext cx="695325" cy="455930"/>
          </a:xfrm>
          <a:prstGeom prst="flowChartDecision">
            <a:avLst/>
          </a:prstGeom>
          <a:solidFill>
            <a:schemeClr val="accent5">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solidFill>
                  <a:srgbClr val="002060"/>
                </a:solidFill>
              </a:rPr>
              <a:t>B</a:t>
            </a:r>
            <a:endParaRPr lang="en-US" altLang="zh-CN" sz="1200">
              <a:solidFill>
                <a:srgbClr val="002060"/>
              </a:solidFill>
            </a:endParaRPr>
          </a:p>
        </p:txBody>
      </p:sp>
      <p:cxnSp>
        <p:nvCxnSpPr>
          <p:cNvPr id="32" name="直接箭头连接符 31"/>
          <p:cNvCxnSpPr>
            <a:stCxn id="65" idx="2"/>
            <a:endCxn id="28" idx="0"/>
          </p:cNvCxnSpPr>
          <p:nvPr/>
        </p:nvCxnSpPr>
        <p:spPr>
          <a:xfrm>
            <a:off x="6263005" y="3347720"/>
            <a:ext cx="1905" cy="25019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42" name="肘形连接符 41"/>
          <p:cNvCxnSpPr>
            <a:stCxn id="28" idx="1"/>
            <a:endCxn id="23" idx="0"/>
          </p:cNvCxnSpPr>
          <p:nvPr/>
        </p:nvCxnSpPr>
        <p:spPr>
          <a:xfrm rot="10800000" flipV="1">
            <a:off x="5709920" y="3825240"/>
            <a:ext cx="207010" cy="2409825"/>
          </a:xfrm>
          <a:prstGeom prst="bentConnector2">
            <a:avLst/>
          </a:prstGeom>
          <a:ln w="127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46" name="文本框 45"/>
          <p:cNvSpPr txBox="1"/>
          <p:nvPr/>
        </p:nvSpPr>
        <p:spPr>
          <a:xfrm>
            <a:off x="5294630" y="3486150"/>
            <a:ext cx="919480" cy="269240"/>
          </a:xfrm>
          <a:prstGeom prst="rect">
            <a:avLst/>
          </a:prstGeom>
          <a:noFill/>
        </p:spPr>
        <p:txBody>
          <a:bodyPr wrap="square" rtlCol="0">
            <a:noAutofit/>
          </a:bodyPr>
          <a:p>
            <a:r>
              <a:rPr lang="en-US" altLang="zh-CN" sz="1200">
                <a:latin typeface="Comic Sans MS" panose="030F0702030302020204" charset="0"/>
                <a:cs typeface="Comic Sans MS" panose="030F0702030302020204" charset="0"/>
              </a:rPr>
              <a:t>Triggered</a:t>
            </a:r>
            <a:endParaRPr lang="en-US" altLang="zh-CN" sz="1200">
              <a:latin typeface="Comic Sans MS" panose="030F0702030302020204" charset="0"/>
              <a:cs typeface="Comic Sans MS" panose="030F0702030302020204" charset="0"/>
            </a:endParaRPr>
          </a:p>
        </p:txBody>
      </p:sp>
      <p:sp>
        <p:nvSpPr>
          <p:cNvPr id="48" name="文本框 47"/>
          <p:cNvSpPr txBox="1"/>
          <p:nvPr/>
        </p:nvSpPr>
        <p:spPr>
          <a:xfrm>
            <a:off x="5860415" y="4342130"/>
            <a:ext cx="1413510" cy="394970"/>
          </a:xfrm>
          <a:prstGeom prst="rect">
            <a:avLst/>
          </a:prstGeom>
          <a:noFill/>
        </p:spPr>
        <p:txBody>
          <a:bodyPr wrap="square" rtlCol="0">
            <a:noAutofit/>
          </a:bodyPr>
          <a:p>
            <a:r>
              <a:rPr lang="en-US" altLang="zh-CN" sz="1200">
                <a:latin typeface="Comic Sans MS" panose="030F0702030302020204" charset="0"/>
                <a:cs typeface="Comic Sans MS" panose="030F0702030302020204" charset="0"/>
              </a:rPr>
              <a:t>Not triggered</a:t>
            </a:r>
            <a:endParaRPr lang="en-US" altLang="zh-CN" sz="1200">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9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9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0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9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99"/>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0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0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0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10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08"/>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09"/>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1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1"/>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40" grpId="0" animBg="1"/>
      <p:bldP spid="62" grpId="0" bldLvl="0" animBg="1"/>
      <p:bldP spid="79" grpId="0"/>
      <p:bldP spid="77" grpId="0" animBg="1"/>
      <p:bldP spid="83" grpId="0"/>
      <p:bldP spid="88" grpId="0" bldLvl="0" animBg="1"/>
      <p:bldP spid="96" grpId="0"/>
      <p:bldP spid="65" grpId="0"/>
      <p:bldP spid="98" grpId="0"/>
      <p:bldP spid="92" grpId="0"/>
      <p:bldP spid="102" grpId="0" bldLvl="0" animBg="1"/>
      <p:bldP spid="105" grpId="0"/>
      <p:bldP spid="108" grpId="0"/>
      <p:bldP spid="111" grpId="0"/>
      <p:bldP spid="90" grpId="0"/>
      <p:bldP spid="89" grpId="0" animBg="1"/>
      <p:bldP spid="104" grpId="0"/>
      <p:bldP spid="103" grpId="0" animBg="1"/>
      <p:bldP spid="9" grpId="0"/>
      <p:bldP spid="13" grpId="0"/>
      <p:bldP spid="16" grpId="0"/>
      <p:bldP spid="46" grpId="0"/>
      <p:bldP spid="48" grpId="0"/>
      <p:bldP spid="6" grpId="0" animBg="1"/>
      <p:bldP spid="46" grpId="1"/>
      <p:bldP spid="23" grpId="0"/>
      <p:bldP spid="2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a:t>测试后检验面临问题：测试中错误地筛掉了</a:t>
            </a:r>
            <a:r>
              <a:rPr lang="en-US" altLang="zh-CN"/>
              <a:t>7</a:t>
            </a:r>
            <a:r>
              <a:rPr lang="zh-CN" altLang="en-US"/>
              <a:t>个</a:t>
            </a:r>
            <a:r>
              <a:rPr lang="en-US" altLang="zh-CN"/>
              <a:t>TP</a:t>
            </a:r>
            <a:r>
              <a:rPr lang="zh-CN" altLang="en-US"/>
              <a:t>，可见当前情况下</a:t>
            </a:r>
            <a:r>
              <a:rPr lang="zh-CN" altLang="en-US">
                <a:sym typeface="+mn-ea"/>
              </a:rPr>
              <a:t>测试后检验要求过高，又提及当前总假阳性率并不能算高，故可以尝试调整或弃用测试后检验模块，以</a:t>
            </a:r>
            <a:r>
              <a:rPr lang="en-US" altLang="zh-CN">
                <a:sym typeface="+mn-ea"/>
              </a:rPr>
              <a:t>“</a:t>
            </a:r>
            <a:r>
              <a:rPr lang="zh-CN" altLang="en-US">
                <a:sym typeface="+mn-ea"/>
              </a:rPr>
              <a:t>用</a:t>
            </a:r>
            <a:r>
              <a:rPr lang="en-US" altLang="zh-CN">
                <a:sym typeface="+mn-ea"/>
              </a:rPr>
              <a:t>FP</a:t>
            </a:r>
            <a:r>
              <a:rPr lang="zh-CN" altLang="en-US">
                <a:sym typeface="+mn-ea"/>
              </a:rPr>
              <a:t>率换</a:t>
            </a:r>
            <a:r>
              <a:rPr lang="en-US" altLang="zh-CN">
                <a:sym typeface="+mn-ea"/>
              </a:rPr>
              <a:t>TP</a:t>
            </a:r>
            <a:r>
              <a:rPr lang="zh-CN" altLang="en-US">
                <a:sym typeface="+mn-ea"/>
              </a:rPr>
              <a:t>完整</a:t>
            </a:r>
            <a:r>
              <a:rPr lang="en-US" altLang="zh-CN">
                <a:sym typeface="+mn-ea"/>
              </a:rPr>
              <a:t>”</a:t>
            </a:r>
            <a:r>
              <a:rPr lang="zh-CN" altLang="en-US">
                <a:sym typeface="+mn-ea"/>
              </a:rPr>
              <a:t>或直接诚实报告</a:t>
            </a:r>
            <a:r>
              <a:rPr lang="en-US" altLang="zh-CN">
                <a:sym typeface="+mn-ea"/>
              </a:rPr>
              <a:t>FP</a:t>
            </a:r>
            <a:r>
              <a:rPr lang="zh-CN" altLang="en-US">
                <a:sym typeface="+mn-ea"/>
              </a:rPr>
              <a:t>率（直接弃用</a:t>
            </a:r>
            <a:r>
              <a:rPr lang="zh-CN" altLang="en-US">
                <a:sym typeface="+mn-ea"/>
              </a:rPr>
              <a:t>该模块）</a:t>
            </a:r>
            <a:endParaRPr lang="zh-CN" altLang="en-US">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521335" y="530860"/>
            <a:ext cx="941895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Evaluation</a:t>
            </a:r>
            <a:endParaRPr lang="en-US" sz="360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sp>
        <p:nvSpPr>
          <p:cNvPr id="2" name="内容占位符 2"/>
          <p:cNvSpPr>
            <a:spLocks noGrp="1"/>
          </p:cNvSpPr>
          <p:nvPr/>
        </p:nvSpPr>
        <p:spPr>
          <a:xfrm>
            <a:off x="294005" y="1557020"/>
            <a:ext cx="11283315" cy="4757420"/>
          </a:xfrm>
          <a:prstGeom prst="rect">
            <a:avLst/>
          </a:prstGeom>
        </p:spPr>
        <p:txBody>
          <a:bodyPr vert="horz" wrap="square" lIns="91440" tIns="45720" rIns="91440" bIns="45720" rtlCol="0">
            <a:noAutofit/>
          </a:bodyPr>
          <a:lstStyle>
            <a:lvl1pPr marL="360045" indent="-360045" algn="l" defTabSz="914400" rtl="0" eaLnBrk="1" latinLnBrk="0" hangingPunct="1">
              <a:lnSpc>
                <a:spcPct val="90000"/>
              </a:lnSpc>
              <a:spcBef>
                <a:spcPts val="1000"/>
              </a:spcBef>
              <a:buClr>
                <a:srgbClr val="2683C6"/>
              </a:buClr>
              <a:buFont typeface="Wingdings" panose="05000000000000000000" pitchFamily="2" charset="2"/>
              <a:buChar char="Ø"/>
              <a:defRPr sz="2800" b="0" i="0" kern="1200" baseline="0">
                <a:solidFill>
                  <a:schemeClr val="tx1"/>
                </a:solidFill>
                <a:latin typeface="Times New Roman" panose="02020603050405020304" charset="0"/>
                <a:ea typeface="+mn-ea"/>
                <a:cs typeface="+mn-cs"/>
              </a:defRPr>
            </a:lvl1pPr>
            <a:lvl2pPr marL="685800" indent="-228600" algn="l" defTabSz="914400" rtl="0" eaLnBrk="1" latinLnBrk="0" hangingPunct="1">
              <a:lnSpc>
                <a:spcPct val="90000"/>
              </a:lnSpc>
              <a:spcBef>
                <a:spcPts val="500"/>
              </a:spcBef>
              <a:buClr>
                <a:srgbClr val="2683C6"/>
              </a:buClr>
              <a:buFont typeface="Arial" panose="020B0604020202020204" pitchFamily="34" charset="0"/>
              <a:buChar char="•"/>
              <a:defRPr sz="2400" b="0" i="0" kern="1200">
                <a:solidFill>
                  <a:schemeClr val="tx1"/>
                </a:solidFill>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imes New Roman" panose="0202060305040502030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imes New Roman" panose="0202060305040502030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b="1" dirty="0">
                <a:latin typeface="Cambria" panose="02040503050406030204" charset="0"/>
                <a:cs typeface="Cambria" panose="02040503050406030204" charset="0"/>
              </a:rPr>
              <a:t>RQ1: Bug detection effectiveness</a:t>
            </a:r>
            <a:endParaRPr lang="en-US" altLang="zh-CN" b="1" dirty="0">
              <a:latin typeface="Cambria" panose="02040503050406030204" charset="0"/>
              <a:cs typeface="Cambria" panose="02040503050406030204" charset="0"/>
            </a:endParaRPr>
          </a:p>
          <a:p>
            <a:pPr lvl="1"/>
            <a:r>
              <a:rPr lang="en-US" altLang="zh-CN" dirty="0">
                <a:latin typeface="Cambria" panose="02040503050406030204" charset="0"/>
                <a:cs typeface="Cambria" panose="02040503050406030204" charset="0"/>
              </a:rPr>
              <a:t>What doc-implementation </a:t>
            </a:r>
            <a:r>
              <a:rPr kumimoji="1" lang="en-US" altLang="zh-CN" i="1" dirty="0" err="1">
                <a:latin typeface="Cambria" panose="02040503050406030204" charset="0"/>
                <a:cs typeface="Cambria" panose="02040503050406030204" charset="0"/>
              </a:rPr>
              <a:t>bugs</a:t>
            </a:r>
            <a:r>
              <a:rPr lang="en-US" altLang="zh-CN" dirty="0">
                <a:latin typeface="Cambria" panose="02040503050406030204" charset="0"/>
                <a:cs typeface="Cambria" panose="02040503050406030204" charset="0"/>
              </a:rPr>
              <a:t> can </a:t>
            </a:r>
            <a:r>
              <a:rPr lang="en-US" altLang="zh-CN" dirty="0" err="1">
                <a:latin typeface="Cambria" panose="02040503050406030204" charset="0"/>
                <a:cs typeface="Cambria" panose="02040503050406030204" charset="0"/>
              </a:rPr>
              <a:t>TestVDB</a:t>
            </a:r>
            <a:r>
              <a:rPr lang="en-US" altLang="zh-CN" dirty="0">
                <a:latin typeface="Cambria" panose="02040503050406030204" charset="0"/>
                <a:cs typeface="Cambria" panose="02040503050406030204" charset="0"/>
              </a:rPr>
              <a:t> detect in real-world</a:t>
            </a:r>
            <a:r>
              <a:rPr lang="zh-CN" altLang="en-US" dirty="0">
                <a:latin typeface="Cambria" panose="02040503050406030204" charset="0"/>
                <a:cs typeface="Cambria" panose="02040503050406030204" charset="0"/>
              </a:rPr>
              <a:t> </a:t>
            </a:r>
            <a:r>
              <a:rPr lang="en-US" altLang="zh-CN" dirty="0">
                <a:latin typeface="Cambria" panose="02040503050406030204" charset="0"/>
                <a:cs typeface="Cambria" panose="02040503050406030204" charset="0"/>
              </a:rPr>
              <a:t>VDBMSs?</a:t>
            </a:r>
            <a:endParaRPr lang="en-US" altLang="zh-CN" dirty="0">
              <a:latin typeface="Cambria" panose="02040503050406030204" charset="0"/>
              <a:cs typeface="Cambria" panose="02040503050406030204" charset="0"/>
            </a:endParaRPr>
          </a:p>
          <a:p>
            <a:pPr marL="457200" lvl="1" indent="0">
              <a:buNone/>
            </a:pPr>
            <a:endParaRPr lang="en-US" altLang="zh-CN" dirty="0">
              <a:latin typeface="Cambria" panose="02040503050406030204" charset="0"/>
              <a:cs typeface="Cambria" panose="02040503050406030204" charset="0"/>
            </a:endParaRPr>
          </a:p>
          <a:p>
            <a:r>
              <a:rPr lang="en-US" altLang="zh-CN" b="1" dirty="0">
                <a:latin typeface="Cambria" panose="02040503050406030204" charset="0"/>
                <a:cs typeface="Cambria" panose="02040503050406030204" charset="0"/>
              </a:rPr>
              <a:t>RQ2: Effectiveness of </a:t>
            </a:r>
            <a:r>
              <a:rPr lang="en-US" altLang="zh-CN" b="1" dirty="0">
                <a:latin typeface="Cambria" panose="02040503050406030204" charset="0"/>
                <a:cs typeface="Cambria" panose="02040503050406030204" charset="0"/>
                <a:sym typeface="+mn-ea"/>
              </a:rPr>
              <a:t>false positive</a:t>
            </a:r>
            <a:r>
              <a:rPr lang="en-US" altLang="zh-CN" b="1" dirty="0">
                <a:latin typeface="Cambria" panose="02040503050406030204" charset="0"/>
                <a:cs typeface="Cambria" panose="02040503050406030204" charset="0"/>
              </a:rPr>
              <a:t> interception</a:t>
            </a:r>
            <a:endParaRPr lang="en-US" altLang="zh-CN" b="1" dirty="0">
              <a:latin typeface="Cambria" panose="02040503050406030204" charset="0"/>
              <a:cs typeface="Cambria" panose="02040503050406030204" charset="0"/>
            </a:endParaRPr>
          </a:p>
          <a:p>
            <a:pPr lvl="1"/>
            <a:r>
              <a:rPr lang="en-US" altLang="zh-CN" dirty="0">
                <a:latin typeface="Cambria" panose="02040503050406030204" charset="0"/>
                <a:cs typeface="Cambria" panose="02040503050406030204" charset="0"/>
              </a:rPr>
              <a:t>How effective is chain-builder+chain-</a:t>
            </a:r>
            <a:r>
              <a:rPr lang="en-US" altLang="zh-CN" dirty="0">
                <a:latin typeface="Cambria" panose="02040503050406030204" charset="0"/>
                <a:cs typeface="Cambria" panose="02040503050406030204" charset="0"/>
              </a:rPr>
              <a:t>auditor at  intercepti</a:t>
            </a:r>
            <a:r>
              <a:rPr lang="en-US" altLang="zh-CN" dirty="0">
                <a:latin typeface="Cambria" panose="02040503050406030204" charset="0"/>
                <a:cs typeface="Cambria" panose="02040503050406030204" charset="0"/>
              </a:rPr>
              <a:t>ng false positives in TestVDB?</a:t>
            </a:r>
            <a:endParaRPr lang="en-US" altLang="zh-CN" dirty="0">
              <a:latin typeface="Cambria" panose="02040503050406030204" charset="0"/>
              <a:cs typeface="Cambria" panose="02040503050406030204" charset="0"/>
            </a:endParaRPr>
          </a:p>
          <a:p>
            <a:pPr marL="457200" lvl="1" indent="0">
              <a:buNone/>
            </a:pPr>
            <a:endParaRPr lang="en-US" altLang="zh-CN" dirty="0">
              <a:latin typeface="Cambria" panose="02040503050406030204" charset="0"/>
              <a:cs typeface="Cambria" panose="02040503050406030204" charset="0"/>
            </a:endParaRPr>
          </a:p>
          <a:p>
            <a:r>
              <a:rPr lang="en-US" altLang="zh-CN" b="1" dirty="0">
                <a:latin typeface="Cambria" panose="02040503050406030204" charset="0"/>
                <a:cs typeface="Cambria" panose="02040503050406030204" charset="0"/>
              </a:rPr>
              <a:t>RQ3: Comparing with existing approach</a:t>
            </a:r>
            <a:endParaRPr lang="en-US" altLang="zh-CN" b="1" dirty="0">
              <a:latin typeface="Cambria" panose="02040503050406030204" charset="0"/>
              <a:cs typeface="Cambria" panose="02040503050406030204" charset="0"/>
            </a:endParaRPr>
          </a:p>
          <a:p>
            <a:pPr lvl="1"/>
            <a:r>
              <a:rPr lang="en-US" altLang="zh-CN" dirty="0">
                <a:latin typeface="Cambria" panose="02040503050406030204" charset="0"/>
                <a:cs typeface="Cambria" panose="02040503050406030204" charset="0"/>
              </a:rPr>
              <a:t>How many defects detected by TestVDB can be found by existing approach</a:t>
            </a:r>
            <a:r>
              <a:rPr lang="zh-CN" altLang="en-US" dirty="0">
                <a:latin typeface="Cambria" panose="02040503050406030204" charset="0"/>
                <a:cs typeface="Cambria" panose="02040503050406030204" charset="0"/>
              </a:rPr>
              <a:t>（</a:t>
            </a:r>
            <a:r>
              <a:rPr lang="en-US" altLang="zh-CN" dirty="0">
                <a:latin typeface="Cambria" panose="02040503050406030204" charset="0"/>
                <a:cs typeface="Cambria" panose="02040503050406030204" charset="0"/>
              </a:rPr>
              <a:t>VDBFuzz</a:t>
            </a:r>
            <a:r>
              <a:rPr lang="zh-CN" altLang="en-US" dirty="0">
                <a:latin typeface="Cambria" panose="02040503050406030204" charset="0"/>
                <a:cs typeface="Cambria" panose="02040503050406030204" charset="0"/>
              </a:rPr>
              <a:t>）</a:t>
            </a:r>
            <a:r>
              <a:rPr lang="en-US" altLang="zh-CN" dirty="0">
                <a:latin typeface="Cambria" panose="02040503050406030204" charset="0"/>
                <a:cs typeface="Cambria" panose="02040503050406030204" charset="0"/>
              </a:rPr>
              <a:t>?</a:t>
            </a:r>
            <a:endParaRPr lang="en-US" altLang="zh-CN" dirty="0">
              <a:latin typeface="Cambria" panose="02040503050406030204" charset="0"/>
              <a:cs typeface="Cambria" panose="02040503050406030204" charset="0"/>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7000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509905" y="551180"/>
            <a:ext cx="941895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altLang="zh-CN" sz="3600" dirty="0">
                <a:solidFill>
                  <a:srgbClr val="0A4A94"/>
                </a:solidFill>
                <a:latin typeface="Cambria" panose="02040503050406030204" charset="0"/>
                <a:cs typeface="Cambria" panose="02040503050406030204" charset="0"/>
                <a:sym typeface="+mn-ea"/>
              </a:rPr>
              <a:t>Bug detection </a:t>
            </a:r>
            <a:r>
              <a:rPr lang="en-US" altLang="zh-CN" sz="3600" dirty="0">
                <a:solidFill>
                  <a:srgbClr val="0A4A94"/>
                </a:solidFill>
                <a:latin typeface="Cambria" panose="02040503050406030204" charset="0"/>
                <a:cs typeface="Cambria" panose="02040503050406030204" charset="0"/>
                <a:sym typeface="+mn-ea"/>
              </a:rPr>
              <a:t>outcome</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graphicFrame>
        <p:nvGraphicFramePr>
          <p:cNvPr id="3" name="表格 5"/>
          <p:cNvGraphicFramePr>
            <a:graphicFrameLocks noGrp="1"/>
          </p:cNvGraphicFramePr>
          <p:nvPr>
            <p:custDataLst>
              <p:tags r:id="rId3"/>
            </p:custDataLst>
          </p:nvPr>
        </p:nvGraphicFramePr>
        <p:xfrm>
          <a:off x="981075" y="3304540"/>
          <a:ext cx="8578215" cy="2016760"/>
        </p:xfrm>
        <a:graphic>
          <a:graphicData uri="http://schemas.openxmlformats.org/drawingml/2006/table">
            <a:tbl>
              <a:tblPr>
                <a:tableStyleId>{5C22544A-7EE6-4342-B048-85BDC9FD1C3A}</a:tableStyleId>
              </a:tblPr>
              <a:tblGrid>
                <a:gridCol w="1173691"/>
                <a:gridCol w="1536058"/>
                <a:gridCol w="1468120"/>
                <a:gridCol w="1097915"/>
                <a:gridCol w="1707937"/>
                <a:gridCol w="1594460"/>
              </a:tblGrid>
              <a:tr h="431800">
                <a:tc>
                  <a:txBody>
                    <a:bodyPr/>
                    <a:lstStyle/>
                    <a:p>
                      <a:r>
                        <a:rPr lang="en-US" altLang="zh-CN" sz="2000" b="1" i="0" dirty="0">
                          <a:latin typeface="Times New Roman" panose="02020603050405020304" charset="0"/>
                        </a:rPr>
                        <a:t>VDBMS</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Submitted</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Confirmed</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Fixed</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2000" b="1" dirty="0">
                          <a:latin typeface="Times New Roman" panose="02020603050405020304" charset="0"/>
                          <a:sym typeface="+mn-ea"/>
                        </a:rPr>
                        <a:t>False Positive</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Pending</a:t>
                      </a:r>
                      <a:endParaRPr lang="en-US" altLang="zh-CN"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sz="2000" b="0" i="0" dirty="0">
                          <a:latin typeface="Times New Roman" panose="02020603050405020304" charset="0"/>
                        </a:rPr>
                        <a:t>Milvus</a:t>
                      </a:r>
                      <a:endParaRPr lang="en-US" altLang="zh-CN"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50</a:t>
                      </a:r>
                      <a:endParaRPr lang="zh-CN" altLang="en-US"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29</a:t>
                      </a:r>
                      <a:endParaRPr lang="zh-CN" altLang="en-US"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12</a:t>
                      </a:r>
                      <a:endParaRPr lang="en-US" altLang="zh-CN"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sz="2000" b="0" i="0" dirty="0">
                          <a:latin typeface="Times New Roman" panose="02020603050405020304" charset="0"/>
                        </a:rPr>
                        <a:t>3</a:t>
                      </a:r>
                      <a:endParaRPr lang="en-US" sz="12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18</a:t>
                      </a:r>
                      <a:endParaRPr lang="en-US" altLang="zh-CN"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r>
              <a:tr h="370840">
                <a:tc>
                  <a:txBody>
                    <a:bodyPr/>
                    <a:lstStyle/>
                    <a:p>
                      <a:r>
                        <a:rPr lang="en-US" altLang="zh-CN" sz="2000" b="0" i="0" dirty="0">
                          <a:latin typeface="Times New Roman" panose="02020603050405020304" charset="0"/>
                        </a:rPr>
                        <a:t>Qdrant</a:t>
                      </a:r>
                      <a:endParaRPr lang="en-US" altLang="zh-CN"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23</a:t>
                      </a:r>
                      <a:endParaRPr lang="zh-CN" altLang="en-US"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7</a:t>
                      </a:r>
                      <a:endParaRPr lang="en-US" altLang="zh-CN"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7</a:t>
                      </a:r>
                      <a:endParaRPr lang="en-US" altLang="zh-CN" sz="2000" b="0" i="0" dirty="0">
                        <a:latin typeface="Times New Roman" panose="02020603050405020304" charset="0"/>
                      </a:endParaRPr>
                    </a:p>
                  </a:txBody>
                  <a:tcPr>
                    <a:solidFill>
                      <a:schemeClr val="bg1">
                        <a:lumMod val="85000"/>
                      </a:schemeClr>
                    </a:solidFill>
                  </a:tcPr>
                </a:tc>
                <a:tc>
                  <a:txBody>
                    <a:bodyPr/>
                    <a:lstStyle/>
                    <a:p>
                      <a:pPr algn="ctr"/>
                      <a:r>
                        <a:rPr lang="en-US" sz="2000" b="0" i="0" dirty="0">
                          <a:latin typeface="Times New Roman" panose="02020603050405020304" charset="0"/>
                        </a:rPr>
                        <a:t>1</a:t>
                      </a:r>
                      <a:endParaRPr lang="en-US"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15</a:t>
                      </a:r>
                      <a:endParaRPr lang="zh-CN" altLang="en-US" sz="2000" b="0" i="0" dirty="0">
                        <a:latin typeface="Times New Roman" panose="02020603050405020304" charset="0"/>
                      </a:endParaRPr>
                    </a:p>
                  </a:txBody>
                  <a:tcPr>
                    <a:noFill/>
                  </a:tcPr>
                </a:tc>
              </a:tr>
              <a:tr h="370840">
                <a:tc>
                  <a:txBody>
                    <a:bodyPr/>
                    <a:lstStyle/>
                    <a:p>
                      <a:r>
                        <a:rPr lang="en-US" altLang="zh-CN" sz="2000" b="0" i="0" dirty="0" err="1">
                          <a:latin typeface="Times New Roman" panose="02020603050405020304" charset="0"/>
                        </a:rPr>
                        <a:t>Weaviate</a:t>
                      </a:r>
                      <a:endParaRPr lang="en-US" altLang="zh-CN" sz="2000" b="0" i="0" dirty="0" err="1">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29</a:t>
                      </a:r>
                      <a:endParaRPr lang="zh-CN" altLang="en-US"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8</a:t>
                      </a:r>
                      <a:endParaRPr lang="en-US" altLang="zh-CN"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8</a:t>
                      </a:r>
                      <a:endParaRPr lang="en-US" altLang="zh-CN"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b="0" i="0" dirty="0">
                          <a:latin typeface="Times New Roman" panose="02020603050405020304" charset="0"/>
                        </a:rPr>
                        <a:t>1</a:t>
                      </a:r>
                      <a:endParaRPr lang="en-US"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20</a:t>
                      </a:r>
                      <a:endParaRPr lang="zh-CN" altLang="en-US"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r>
              <a:tr h="370840">
                <a:tc>
                  <a:txBody>
                    <a:bodyPr/>
                    <a:lstStyle/>
                    <a:p>
                      <a:r>
                        <a:rPr lang="en-US" altLang="zh-CN" sz="2000" b="1" i="0" dirty="0">
                          <a:latin typeface="Times New Roman" panose="02020603050405020304" charset="0"/>
                        </a:rPr>
                        <a:t>Total</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102</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44</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27</a:t>
                      </a:r>
                      <a:endParaRPr lang="en-US" altLang="zh-CN"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b="1" i="0" dirty="0">
                          <a:latin typeface="Times New Roman" panose="02020603050405020304" charset="0"/>
                        </a:rPr>
                        <a:t>5*</a:t>
                      </a:r>
                      <a:endParaRPr 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53</a:t>
                      </a:r>
                      <a:endParaRPr lang="en-US" altLang="zh-CN"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33" name="内容占位符 32"/>
          <p:cNvSpPr>
            <a:spLocks noGrp="1"/>
          </p:cNvSpPr>
          <p:nvPr>
            <p:ph idx="1"/>
          </p:nvPr>
        </p:nvSpPr>
        <p:spPr>
          <a:xfrm>
            <a:off x="549910" y="1383665"/>
            <a:ext cx="6798945" cy="1642110"/>
          </a:xfrm>
        </p:spPr>
        <p:txBody>
          <a:bodyPr>
            <a:normAutofit fontScale="90000"/>
          </a:bodyPr>
          <a:lstStyle/>
          <a:p>
            <a:r>
              <a:t> 102 bugs were submitted</a:t>
            </a:r>
          </a:p>
          <a:p>
            <a:r>
              <a:t> 44 bugs were confirmed as new bugs </a:t>
            </a:r>
          </a:p>
          <a:p>
            <a:r>
              <a:t> 27 bugs were fixed</a:t>
            </a:r>
          </a:p>
          <a:p/>
        </p:txBody>
      </p:sp>
      <p:sp>
        <p:nvSpPr>
          <p:cNvPr id="5" name="文本框 4"/>
          <p:cNvSpPr txBox="1"/>
          <p:nvPr/>
        </p:nvSpPr>
        <p:spPr>
          <a:xfrm>
            <a:off x="414655" y="6158865"/>
            <a:ext cx="7677150" cy="368300"/>
          </a:xfrm>
          <a:prstGeom prst="rect">
            <a:avLst/>
          </a:prstGeom>
          <a:noFill/>
        </p:spPr>
        <p:txBody>
          <a:bodyPr wrap="square" rtlCol="0">
            <a:spAutoFit/>
          </a:bodyPr>
          <a:p>
            <a:r>
              <a:rPr/>
              <a:t>*  Of the 27 historical false positives, the current TestVDB suppresses 22 (81.5%); 2 of the 7 misjudged TPs are now escalated to human review under the tightened rule.</a:t>
            </a:r>
            <a:endParaRPr lang="en-US" altLang="zh-CN" dirty="0">
              <a:latin typeface="Times New Roman" panose="02020603050405020304" charset="0"/>
              <a:sym typeface="+mn-ea"/>
            </a:endParaRPr>
          </a:p>
        </p:txBody>
      </p:sp>
      <p:sp>
        <p:nvSpPr>
          <p:cNvPr id="34" name="TextBox 33"/>
          <p:cNvSpPr txBox="1"/>
          <p:nvPr/>
        </p:nvSpPr>
        <p:spPr>
          <a:xfrm>
            <a:off x="548640" y="5669280"/>
            <a:ext cx="7863840" cy="1005840"/>
          </a:xfrm>
          <a:prstGeom prst="rect">
            <a:avLst/>
          </a:prstGeom>
          <a:noFill/>
        </p:spPr>
        <p:txBody>
          <a:bodyPr wrap="square">
            <a:spAutoFit/>
          </a:bodyPr>
          <a:lstStyle/>
          <a:p>
            <a:r>
              <a:t>Ledger: 136 issues across milvus/weaviate/qdrant (2026-08-30). Confirmed 44 = 45-TP corpus (incl. 1 dup-tracked); Fixed 27. #9942 promoted / #9520 reclassified offset each other (same vendor, FIXED&lt;-&gt;pending) so totals are unchanged vs the earlier ledger; RQ2 set stays frozen at 44TP+27FP.</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t>Strategy attribution of the confirmed bugs (45-TP corpus, incl. 1 dup-tracked)</a:t>
            </a:r>
          </a:p>
          <a:p>
            <a:r>
              <a:t>boundary 24 · semantic 10 · state 3 · unattributable 8</a:t>
            </a:r>
          </a:p>
          <a:p/>
          <a:p>
            <a:r>
              <a:t>(source: tp-strategy-attribution-2026-08-30.json; per-constraint-family × strategy pivot in FINAL_STATS_RQ1_v34)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圆角矩形 34"/>
          <p:cNvSpPr/>
          <p:nvPr/>
        </p:nvSpPr>
        <p:spPr>
          <a:xfrm>
            <a:off x="6278880" y="1894840"/>
            <a:ext cx="3273425" cy="4819015"/>
          </a:xfrm>
          <a:prstGeom prst="roundRect">
            <a:avLst/>
          </a:prstGeom>
          <a:solidFill>
            <a:schemeClr val="accent5">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dirty="0">
                <a:solidFill>
                  <a:srgbClr val="002060"/>
                </a:solidFill>
                <a:highlight>
                  <a:srgbClr val="C0C0C0"/>
                </a:highlight>
                <a:latin typeface="Comic Sans MS" panose="030F0702030302020204" charset="0"/>
                <a:ea typeface="Microsoft YaHei" panose="020B0503020204020204" charset="-122"/>
                <a:cs typeface="Comic Sans MS" panose="030F0702030302020204" charset="0"/>
                <a:sym typeface="Arial" panose="020B0604020202020204" pitchFamily="34" charset="0"/>
              </a:rPr>
              <a:t>Manual Check</a:t>
            </a:r>
            <a:endParaRPr lang="en-US" altLang="zh-CN" dirty="0">
              <a:solidFill>
                <a:srgbClr val="002060"/>
              </a:solidFill>
              <a:highlight>
                <a:srgbClr val="C0C0C0"/>
              </a:highlight>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34" name="圆角矩形 33"/>
          <p:cNvSpPr/>
          <p:nvPr/>
        </p:nvSpPr>
        <p:spPr>
          <a:xfrm>
            <a:off x="2844165" y="2326640"/>
            <a:ext cx="3273425" cy="3989070"/>
          </a:xfrm>
          <a:prstGeom prst="roundRect">
            <a:avLst/>
          </a:prstGeom>
          <a:solidFill>
            <a:schemeClr val="accent4">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dirty="0">
                <a:solidFill>
                  <a:srgbClr val="002060"/>
                </a:solidFill>
                <a:highlight>
                  <a:srgbClr val="C0C0C0"/>
                </a:highlight>
                <a:latin typeface="Comic Sans MS" panose="030F0702030302020204" charset="0"/>
                <a:ea typeface="Microsoft YaHei" panose="020B0503020204020204" charset="-122"/>
                <a:cs typeface="Comic Sans MS" panose="030F0702030302020204" charset="0"/>
                <a:sym typeface="Arial" panose="020B0604020202020204" pitchFamily="34" charset="0"/>
              </a:rPr>
              <a:t>Defect Confirmation</a:t>
            </a:r>
            <a:endParaRPr lang="en-US" altLang="zh-CN" dirty="0">
              <a:solidFill>
                <a:srgbClr val="002060"/>
              </a:solidFill>
              <a:highlight>
                <a:srgbClr val="C0C0C0"/>
              </a:highlight>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33" name="内容占位符 32"/>
          <p:cNvSpPr>
            <a:spLocks noGrp="1"/>
          </p:cNvSpPr>
          <p:nvPr>
            <p:ph idx="1"/>
          </p:nvPr>
        </p:nvSpPr>
        <p:spPr>
          <a:xfrm>
            <a:off x="669925" y="1395730"/>
            <a:ext cx="10852150" cy="944245"/>
          </a:xfrm>
        </p:spPr>
        <p:txBody>
          <a:bodyPr/>
          <a:lstStyle/>
          <a:p>
            <a:pPr marL="0" indent="0">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 </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252710" y="6315710"/>
            <a:ext cx="1324610" cy="315595"/>
          </a:xfrm>
        </p:spPr>
        <p:txBody>
          <a:bodyPr/>
          <a:lstStyle/>
          <a:p>
            <a:fld id="{E09368C2-8BE5-4C19-86FB-98954A39BC6E}" type="slidenum">
              <a:rPr lang="zh-CN" altLang="en-US" smtClean="0"/>
            </a:fld>
            <a:endParaRPr lang="zh-CN" altLang="en-US"/>
          </a:p>
        </p:txBody>
      </p:sp>
      <p:sp>
        <p:nvSpPr>
          <p:cNvPr id="5" name="内容占位符 32"/>
          <p:cNvSpPr>
            <a:spLocks noGrp="1"/>
          </p:cNvSpPr>
          <p:nvPr/>
        </p:nvSpPr>
        <p:spPr>
          <a:xfrm>
            <a:off x="716915" y="1229360"/>
            <a:ext cx="10852150" cy="947420"/>
          </a:xfrm>
          <a:prstGeom prst="rect">
            <a:avLst/>
          </a:prstGeom>
        </p:spPr>
        <p:txBody>
          <a:bodyPr vert="horz" lIns="90000" tIns="46800" rIns="90000" bIns="4680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buFont typeface="Wingdings" panose="05000000000000000000" charset="0"/>
              <a:buChar char="p"/>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71 candidates</a:t>
            </a:r>
            <a:r>
              <a:rPr lang="en-US" altLang="zh-CN" sz="1800" b="1" dirty="0" err="1">
                <a:solidFill>
                  <a:schemeClr val="tx1"/>
                </a:solidFill>
                <a:latin typeface="Cambria" panose="02040503050406030204" charset="0"/>
                <a:ea typeface="Microsoft YaHei" panose="020B0503020204020204" charset="-122"/>
                <a:cs typeface="Cambria" panose="02040503050406030204" charset="0"/>
                <a:sym typeface="+mn-ea"/>
              </a:rPr>
              <a:t>[1]（44TP[milvus 29, qdrant 7, weaviate 8] + 27FP[milvus 14, qdrant 11, weaviate 2]）</a:t>
            </a:r>
            <a:endParaRPr lang="en-US" altLang="zh-CN" sz="1800" b="1" dirty="0" err="1">
              <a:solidFill>
                <a:schemeClr val="tx1"/>
              </a:solidFill>
              <a:latin typeface="Cambria" panose="02040503050406030204" charset="0"/>
              <a:ea typeface="Microsoft YaHei" panose="020B0503020204020204" charset="-122"/>
              <a:cs typeface="Cambria" panose="02040503050406030204" charset="0"/>
              <a:sym typeface="+mn-ea"/>
            </a:endParaRPr>
          </a:p>
          <a:p>
            <a:pPr marL="0" lvl="1">
              <a:buFont typeface="Wingdings" panose="05000000000000000000" charset="0"/>
              <a:buChar char="p"/>
            </a:pPr>
            <a:endParaRPr lang="en-US" altLang="zh-CN" sz="1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7" name="文本框 6"/>
          <p:cNvSpPr txBox="1"/>
          <p:nvPr/>
        </p:nvSpPr>
        <p:spPr>
          <a:xfrm>
            <a:off x="471170" y="6483350"/>
            <a:ext cx="4531360" cy="469265"/>
          </a:xfrm>
          <a:prstGeom prst="rect">
            <a:avLst/>
          </a:prstGeom>
          <a:noFill/>
        </p:spPr>
        <p:txBody>
          <a:bodyPr wrap="square" rtlCol="0">
            <a:noAutofit/>
          </a:bodyPr>
          <a:p>
            <a:r>
              <a:rPr lang="en-US" altLang="zh-CN" sz="1400" b="1" dirty="0" err="1">
                <a:latin typeface="Cambria" panose="02040503050406030204" charset="0"/>
                <a:ea typeface="Microsoft YaHei" panose="020B0503020204020204" charset="-122"/>
                <a:cs typeface="Cambria" panose="02040503050406030204" charset="0"/>
                <a:sym typeface="+mn-ea"/>
              </a:rPr>
              <a:t>[1] </a:t>
            </a:r>
            <a:r>
              <a:rPr lang="en-US" altLang="zh-CN" sz="1400">
                <a:latin typeface="Cambria" panose="02040503050406030204" charset="0"/>
                <a:cs typeface="Cambria" panose="02040503050406030204" charset="0"/>
              </a:rPr>
              <a:t>sampled from the 71-”TP + FP” pool for experiment</a:t>
            </a:r>
            <a:endParaRPr lang="en-US" altLang="zh-CN" sz="1400">
              <a:latin typeface="Cambria" panose="02040503050406030204" charset="0"/>
              <a:cs typeface="Cambria" panose="02040503050406030204" charset="0"/>
            </a:endParaRPr>
          </a:p>
          <a:p>
            <a:endParaRPr lang="en-US" altLang="zh-CN" sz="1400">
              <a:latin typeface="Cambria" panose="02040503050406030204" charset="0"/>
              <a:cs typeface="Cambria" panose="02040503050406030204" charset="0"/>
            </a:endParaRPr>
          </a:p>
        </p:txBody>
      </p:sp>
      <p:sp>
        <p:nvSpPr>
          <p:cNvPr id="8" name="矩形 7"/>
          <p:cNvSpPr/>
          <p:nvPr/>
        </p:nvSpPr>
        <p:spPr>
          <a:xfrm>
            <a:off x="521335" y="401828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71 candidates</a:t>
            </a:r>
            <a:endParaRPr lang="en-US" altLang="zh-CN">
              <a:solidFill>
                <a:srgbClr val="002060"/>
              </a:solidFill>
              <a:latin typeface="Comic Sans MS" panose="030F0702030302020204" charset="0"/>
              <a:cs typeface="Comic Sans MS" panose="030F0702030302020204" charset="0"/>
            </a:endParaRPr>
          </a:p>
        </p:txBody>
      </p:sp>
      <p:sp>
        <p:nvSpPr>
          <p:cNvPr id="14" name="矩形 13"/>
          <p:cNvSpPr/>
          <p:nvPr/>
        </p:nvSpPr>
        <p:spPr>
          <a:xfrm>
            <a:off x="3556635" y="276352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47 is_defect</a:t>
            </a:r>
          </a:p>
        </p:txBody>
      </p:sp>
      <p:sp>
        <p:nvSpPr>
          <p:cNvPr id="15" name="矩形 14"/>
          <p:cNvSpPr/>
          <p:nvPr/>
        </p:nvSpPr>
        <p:spPr>
          <a:xfrm>
            <a:off x="3556635" y="520509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24 not_defect</a:t>
            </a:r>
          </a:p>
        </p:txBody>
      </p:sp>
      <p:cxnSp>
        <p:nvCxnSpPr>
          <p:cNvPr id="16" name="肘形连接符 15"/>
          <p:cNvCxnSpPr>
            <a:stCxn id="8" idx="3"/>
            <a:endCxn id="15" idx="1"/>
          </p:cNvCxnSpPr>
          <p:nvPr/>
        </p:nvCxnSpPr>
        <p:spPr>
          <a:xfrm>
            <a:off x="2727325" y="4304665"/>
            <a:ext cx="829310" cy="1186815"/>
          </a:xfrm>
          <a:prstGeom prst="bentConnector3">
            <a:avLst>
              <a:gd name="adj1" fmla="val 50000"/>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18" name="肘形连接符 17"/>
          <p:cNvCxnSpPr>
            <a:stCxn id="8" idx="3"/>
            <a:endCxn id="14" idx="1"/>
          </p:cNvCxnSpPr>
          <p:nvPr/>
        </p:nvCxnSpPr>
        <p:spPr>
          <a:xfrm flipV="1">
            <a:off x="2727325" y="3049905"/>
            <a:ext cx="829310" cy="1254760"/>
          </a:xfrm>
          <a:prstGeom prst="bentConnector3">
            <a:avLst>
              <a:gd name="adj1" fmla="val 50000"/>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20" name="矩形 19"/>
          <p:cNvSpPr/>
          <p:nvPr/>
        </p:nvSpPr>
        <p:spPr>
          <a:xfrm>
            <a:off x="7133590" y="2160905"/>
            <a:ext cx="2275205"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42 real_defect</a:t>
            </a:r>
          </a:p>
          <a:p>
            <a:r>
              <a:t>(真实缺陷_成功检出)</a:t>
            </a:r>
          </a:p>
        </p:txBody>
      </p:sp>
      <p:sp>
        <p:nvSpPr>
          <p:cNvPr id="21" name="矩形 20"/>
          <p:cNvSpPr/>
          <p:nvPr/>
        </p:nvSpPr>
        <p:spPr>
          <a:xfrm>
            <a:off x="7133590" y="3373755"/>
            <a:ext cx="2276475"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5 not_defect</a:t>
            </a:r>
            <a:endParaRPr lang="en-US" altLang="zh-CN">
              <a:solidFill>
                <a:srgbClr val="002060"/>
              </a:solidFill>
              <a:latin typeface="Comic Sans MS" panose="030F0702030302020204" charset="0"/>
              <a:cs typeface="Comic Sans MS" panose="030F0702030302020204" charset="0"/>
            </a:endParaRPr>
          </a:p>
          <a:p>
            <a:pPr algn="ctr"/>
            <a:r>
              <a:rPr lang="en-US" altLang="zh-CN">
                <a:solidFill>
                  <a:srgbClr val="002060"/>
                </a:solidFill>
                <a:latin typeface="Comic Sans MS" panose="030F0702030302020204" charset="0"/>
                <a:cs typeface="Comic Sans MS" panose="030F0702030302020204" charset="0"/>
                <a:sym typeface="+mn-ea"/>
              </a:rPr>
              <a:t>(</a:t>
            </a:r>
            <a:r>
              <a:rPr lang="zh-CN" altLang="en-US">
                <a:solidFill>
                  <a:srgbClr val="002060"/>
                </a:solidFill>
                <a:latin typeface="Comic Sans MS" panose="030F0702030302020204" charset="0"/>
                <a:cs typeface="Comic Sans MS" panose="030F0702030302020204" charset="0"/>
                <a:sym typeface="+mn-ea"/>
              </a:rPr>
              <a:t>真实误报</a:t>
            </a:r>
            <a:r>
              <a:rPr lang="en-US" altLang="zh-CN">
                <a:solidFill>
                  <a:srgbClr val="002060"/>
                </a:solidFill>
                <a:latin typeface="Comic Sans MS" panose="030F0702030302020204" charset="0"/>
                <a:cs typeface="Comic Sans MS" panose="030F0702030302020204" charset="0"/>
                <a:sym typeface="+mn-ea"/>
              </a:rPr>
              <a:t>_</a:t>
            </a:r>
            <a:r>
              <a:rPr lang="zh-CN" altLang="en-US">
                <a:solidFill>
                  <a:srgbClr val="002060"/>
                </a:solidFill>
                <a:latin typeface="Comic Sans MS" panose="030F0702030302020204" charset="0"/>
                <a:cs typeface="Comic Sans MS" panose="030F0702030302020204" charset="0"/>
                <a:sym typeface="+mn-ea"/>
              </a:rPr>
              <a:t>漏检</a:t>
            </a:r>
            <a:r>
              <a:rPr lang="en-US" altLang="zh-CN">
                <a:solidFill>
                  <a:srgbClr val="002060"/>
                </a:solidFill>
                <a:latin typeface="Comic Sans MS" panose="030F0702030302020204" charset="0"/>
                <a:cs typeface="Comic Sans MS" panose="030F0702030302020204" charset="0"/>
                <a:sym typeface="+mn-ea"/>
              </a:rPr>
              <a:t>)</a:t>
            </a:r>
            <a:endParaRPr lang="en-US" altLang="zh-CN">
              <a:solidFill>
                <a:srgbClr val="002060"/>
              </a:solidFill>
              <a:latin typeface="Comic Sans MS" panose="030F0702030302020204" charset="0"/>
              <a:cs typeface="Comic Sans MS" panose="030F0702030302020204" charset="0"/>
            </a:endParaRPr>
          </a:p>
        </p:txBody>
      </p:sp>
      <p:cxnSp>
        <p:nvCxnSpPr>
          <p:cNvPr id="22" name="肘形连接符 21"/>
          <p:cNvCxnSpPr>
            <a:stCxn id="14" idx="3"/>
            <a:endCxn id="20" idx="1"/>
          </p:cNvCxnSpPr>
          <p:nvPr/>
        </p:nvCxnSpPr>
        <p:spPr>
          <a:xfrm flipV="1">
            <a:off x="5762625" y="2447290"/>
            <a:ext cx="1370965" cy="602615"/>
          </a:xfrm>
          <a:prstGeom prst="bentConnector3">
            <a:avLst>
              <a:gd name="adj1" fmla="val 50023"/>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23" name="肘形连接符 22"/>
          <p:cNvCxnSpPr>
            <a:stCxn id="14" idx="3"/>
            <a:endCxn id="21" idx="1"/>
          </p:cNvCxnSpPr>
          <p:nvPr/>
        </p:nvCxnSpPr>
        <p:spPr>
          <a:xfrm>
            <a:off x="5762625" y="3049905"/>
            <a:ext cx="1370965" cy="610235"/>
          </a:xfrm>
          <a:prstGeom prst="bentConnector3">
            <a:avLst>
              <a:gd name="adj1" fmla="val 50023"/>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24" name="矩形 23"/>
          <p:cNvSpPr/>
          <p:nvPr/>
        </p:nvSpPr>
        <p:spPr>
          <a:xfrm>
            <a:off x="7133590" y="5800725"/>
            <a:ext cx="2275205"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2 real_defect</a:t>
            </a:r>
          </a:p>
          <a:p>
            <a:r>
              <a:t>(真实缺陷_被误判)</a:t>
            </a:r>
          </a:p>
        </p:txBody>
      </p:sp>
      <p:sp>
        <p:nvSpPr>
          <p:cNvPr id="25" name="矩形 24"/>
          <p:cNvSpPr/>
          <p:nvPr/>
        </p:nvSpPr>
        <p:spPr>
          <a:xfrm>
            <a:off x="7133590" y="4587240"/>
            <a:ext cx="2280920" cy="89217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22 not_defect</a:t>
            </a:r>
            <a:br>
              <a:rPr lang="en-US" altLang="zh-CN">
                <a:solidFill>
                  <a:srgbClr val="002060"/>
                </a:solidFill>
                <a:latin typeface="Comic Sans MS" panose="030F0702030302020204" charset="0"/>
                <a:cs typeface="Comic Sans MS" panose="030F0702030302020204" charset="0"/>
              </a:rPr>
            </a:br>
            <a:r>
              <a:rPr lang="en-US" altLang="zh-CN">
                <a:solidFill>
                  <a:srgbClr val="002060"/>
                </a:solidFill>
                <a:latin typeface="Comic Sans MS" panose="030F0702030302020204" charset="0"/>
                <a:cs typeface="Comic Sans MS" panose="030F0702030302020204" charset="0"/>
              </a:rPr>
              <a:t>(</a:t>
            </a:r>
            <a:r>
              <a:rPr lang="zh-CN" altLang="en-US">
                <a:solidFill>
                  <a:srgbClr val="002060"/>
                </a:solidFill>
                <a:latin typeface="Comic Sans MS" panose="030F0702030302020204" charset="0"/>
                <a:cs typeface="Comic Sans MS" panose="030F0702030302020204" charset="0"/>
              </a:rPr>
              <a:t>真实误报</a:t>
            </a:r>
            <a:r>
              <a:rPr lang="en-US" altLang="zh-CN">
                <a:solidFill>
                  <a:srgbClr val="002060"/>
                </a:solidFill>
                <a:latin typeface="Comic Sans MS" panose="030F0702030302020204" charset="0"/>
                <a:cs typeface="Comic Sans MS" panose="030F0702030302020204" charset="0"/>
              </a:rPr>
              <a:t>_</a:t>
            </a:r>
            <a:r>
              <a:rPr lang="zh-CN" altLang="en-US">
                <a:solidFill>
                  <a:srgbClr val="002060"/>
                </a:solidFill>
                <a:latin typeface="Comic Sans MS" panose="030F0702030302020204" charset="0"/>
                <a:cs typeface="Comic Sans MS" panose="030F0702030302020204" charset="0"/>
              </a:rPr>
              <a:t>成功拦截</a:t>
            </a:r>
            <a:r>
              <a:rPr lang="en-US" altLang="zh-CN">
                <a:solidFill>
                  <a:srgbClr val="002060"/>
                </a:solidFill>
                <a:latin typeface="Comic Sans MS" panose="030F0702030302020204" charset="0"/>
                <a:cs typeface="Comic Sans MS" panose="030F0702030302020204" charset="0"/>
              </a:rPr>
              <a:t>)</a:t>
            </a:r>
            <a:endParaRPr lang="en-US" altLang="zh-CN">
              <a:solidFill>
                <a:srgbClr val="002060"/>
              </a:solidFill>
              <a:latin typeface="Comic Sans MS" panose="030F0702030302020204" charset="0"/>
              <a:cs typeface="Comic Sans MS" panose="030F0702030302020204" charset="0"/>
            </a:endParaRPr>
          </a:p>
        </p:txBody>
      </p:sp>
      <p:cxnSp>
        <p:nvCxnSpPr>
          <p:cNvPr id="28" name="肘形连接符 27"/>
          <p:cNvCxnSpPr>
            <a:stCxn id="15" idx="3"/>
            <a:endCxn id="24" idx="1"/>
          </p:cNvCxnSpPr>
          <p:nvPr/>
        </p:nvCxnSpPr>
        <p:spPr>
          <a:xfrm>
            <a:off x="5762625" y="5491480"/>
            <a:ext cx="1370965" cy="595630"/>
          </a:xfrm>
          <a:prstGeom prst="bentConnector3">
            <a:avLst>
              <a:gd name="adj1" fmla="val 50023"/>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29" name="肘形连接符 28"/>
          <p:cNvCxnSpPr>
            <a:stCxn id="15" idx="3"/>
            <a:endCxn id="25" idx="1"/>
          </p:cNvCxnSpPr>
          <p:nvPr/>
        </p:nvCxnSpPr>
        <p:spPr>
          <a:xfrm flipV="1">
            <a:off x="5762625" y="5033645"/>
            <a:ext cx="1370965" cy="457835"/>
          </a:xfrm>
          <a:prstGeom prst="bentConnector3">
            <a:avLst>
              <a:gd name="adj1" fmla="val 50023"/>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36" name="TextBox 35"/>
          <p:cNvSpPr txBox="1"/>
          <p:nvPr/>
        </p:nvSpPr>
        <p:spPr>
          <a:xfrm>
            <a:off x="548640" y="6035040"/>
            <a:ext cx="7863840" cy="822960"/>
          </a:xfrm>
          <a:prstGeom prst="rect">
            <a:avLst/>
          </a:prstGeom>
          <a:noFill/>
        </p:spPr>
        <p:txBody>
          <a:bodyPr wrap="square">
            <a:spAutoFit/>
          </a:bodyPr>
          <a:lstStyle/>
          <a:p>
            <a:r>
              <a:t>Contract v2 (2026-08-30): specification coverage completed — 4 explicit assertions added from vendor documentation originals (HNSW param range, status-code semantics, selector exclusivity, caveat boundary). Recall 0.841→0.955 (42/44, incl. 2 human-review confirmations), precision 0.894 (42/47), misjudged TPs 7→2, zero FP regression. Same numbers as the issue-anchored injection (v9) — but fully GT-free.</a:t>
            </a:r>
          </a:p>
        </p:txBody>
      </p:sp>
      <p:sp>
        <p:nvSpPr>
          <p:cNvPr id="37" name="TextBox 36"/>
          <p:cNvSpPr txBox="1"/>
          <p:nvPr/>
        </p:nvSpPr>
        <p:spPr>
          <a:xfrm>
            <a:off x="548640" y="6766560"/>
            <a:ext cx="7863840" cy="548640"/>
          </a:xfrm>
          <a:prstGeom prst="rect">
            <a:avLst/>
          </a:prstGeom>
          <a:noFill/>
        </p:spPr>
        <p:txBody>
          <a:bodyPr wrap="square">
            <a:spAutoFit/>
          </a:bodyPr>
          <a:lstStyle/>
          <a:p>
            <a:r>
              <a:t>+ 2 candidates escalated to human review (milvus_012/033) under the tightened by-design rule; their verdicts are counted on the is-defect side pending final human sign-off (automatic-only bound: recall 0.909, 40/44).</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圆角矩形 34"/>
          <p:cNvSpPr/>
          <p:nvPr/>
        </p:nvSpPr>
        <p:spPr>
          <a:xfrm>
            <a:off x="197485" y="1554480"/>
            <a:ext cx="2694305" cy="4819015"/>
          </a:xfrm>
          <a:prstGeom prst="roundRect">
            <a:avLst/>
          </a:prstGeom>
          <a:solidFill>
            <a:schemeClr val="accent5">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dirty="0">
              <a:solidFill>
                <a:srgbClr val="002060"/>
              </a:solidFill>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33" name="内容占位符 32"/>
          <p:cNvSpPr>
            <a:spLocks noGrp="1"/>
          </p:cNvSpPr>
          <p:nvPr>
            <p:ph idx="1"/>
          </p:nvPr>
        </p:nvSpPr>
        <p:spPr>
          <a:xfrm>
            <a:off x="4084320" y="1889760"/>
            <a:ext cx="6437630" cy="589915"/>
          </a:xfrm>
          <a:ln w="28575" cmpd="sng">
            <a:solidFill>
              <a:srgbClr val="000000"/>
            </a:solidFill>
            <a:prstDash val="solid"/>
          </a:ln>
        </p:spPr>
        <p:txBody>
          <a:bodyPr>
            <a:normAutofit lnSpcReduction="20000"/>
          </a:bodyPr>
          <a:lstStyle/>
          <a:p>
            <a:pPr marL="0" indent="0">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 Why were they detectable as FPs</a:t>
            </a:r>
            <a:r>
              <a:rPr lang="zh-CN" altLang="en-US" sz="2800" b="1" dirty="0" err="1">
                <a:solidFill>
                  <a:schemeClr val="tx1"/>
                </a:solidFill>
                <a:latin typeface="Cambria" panose="02040503050406030204" charset="0"/>
                <a:ea typeface="Microsoft YaHei" panose="020B0503020204020204" charset="-122"/>
                <a:cs typeface="Cambria" panose="02040503050406030204" charset="0"/>
                <a:sym typeface="+mn-ea"/>
              </a:rPr>
              <a:t>？</a:t>
            </a:r>
            <a:endParaRPr lang="zh-CN" altLang="en-US"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a:t>
            </a:r>
            <a:r>
              <a:rPr lang="en-US" sz="3600">
                <a:solidFill>
                  <a:srgbClr val="0A4A94"/>
                </a:solidFill>
                <a:latin typeface="Cambria" panose="02040503050406030204" charset="0"/>
                <a:cs typeface="Cambria" panose="02040503050406030204" charset="0"/>
                <a:sym typeface="+mn-ea"/>
              </a:rPr>
              <a:t>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252710" y="6315710"/>
            <a:ext cx="1324610" cy="315595"/>
          </a:xfrm>
        </p:spPr>
        <p:txBody>
          <a:bodyPr/>
          <a:lstStyle/>
          <a:p>
            <a:fld id="{E09368C2-8BE5-4C19-86FB-98954A39BC6E}" type="slidenum">
              <a:rPr lang="zh-CN" altLang="en-US" smtClean="0"/>
            </a:fld>
            <a:endParaRPr lang="zh-CN" altLang="en-US"/>
          </a:p>
        </p:txBody>
      </p:sp>
      <p:sp>
        <p:nvSpPr>
          <p:cNvPr id="10" name="矩形 9"/>
          <p:cNvSpPr/>
          <p:nvPr/>
        </p:nvSpPr>
        <p:spPr>
          <a:xfrm>
            <a:off x="398145" y="1668780"/>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judge_is_defect</a:t>
            </a:r>
            <a:endParaRPr lang="en-US" altLang="zh-CN">
              <a:solidFill>
                <a:srgbClr val="002060"/>
              </a:solidFill>
              <a:latin typeface="Comic Sans MS" panose="030F0702030302020204" charset="0"/>
              <a:cs typeface="Comic Sans MS" panose="030F0702030302020204" charset="0"/>
            </a:endParaRPr>
          </a:p>
        </p:txBody>
      </p:sp>
      <p:sp>
        <p:nvSpPr>
          <p:cNvPr id="20" name="矩形 19"/>
          <p:cNvSpPr/>
          <p:nvPr/>
        </p:nvSpPr>
        <p:spPr>
          <a:xfrm>
            <a:off x="473075" y="182054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42 real_defect</a:t>
            </a:r>
          </a:p>
          <a:p>
            <a:r>
              <a:t>(真实缺陷)</a:t>
            </a:r>
          </a:p>
        </p:txBody>
      </p:sp>
      <p:sp>
        <p:nvSpPr>
          <p:cNvPr id="21" name="矩形 20"/>
          <p:cNvSpPr/>
          <p:nvPr/>
        </p:nvSpPr>
        <p:spPr>
          <a:xfrm>
            <a:off x="473075" y="303339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5 not_defect</a:t>
            </a:r>
            <a:endParaRPr lang="en-US" altLang="zh-CN">
              <a:solidFill>
                <a:srgbClr val="002060"/>
              </a:solidFill>
              <a:latin typeface="Comic Sans MS" panose="030F0702030302020204" charset="0"/>
              <a:cs typeface="Comic Sans MS" panose="030F0702030302020204" charset="0"/>
            </a:endParaRPr>
          </a:p>
          <a:p>
            <a:pPr algn="ctr"/>
            <a:r>
              <a:rPr lang="en-US" altLang="zh-CN">
                <a:solidFill>
                  <a:srgbClr val="002060"/>
                </a:solidFill>
                <a:latin typeface="Comic Sans MS" panose="030F0702030302020204" charset="0"/>
                <a:cs typeface="Comic Sans MS" panose="030F0702030302020204" charset="0"/>
                <a:sym typeface="+mn-ea"/>
              </a:rPr>
              <a:t>(</a:t>
            </a:r>
            <a:r>
              <a:rPr lang="zh-CN" altLang="en-US">
                <a:solidFill>
                  <a:srgbClr val="002060"/>
                </a:solidFill>
                <a:latin typeface="Comic Sans MS" panose="030F0702030302020204" charset="0"/>
                <a:cs typeface="Comic Sans MS" panose="030F0702030302020204" charset="0"/>
                <a:sym typeface="+mn-ea"/>
              </a:rPr>
              <a:t>真实误报</a:t>
            </a:r>
            <a:r>
              <a:rPr lang="en-US" altLang="zh-CN">
                <a:solidFill>
                  <a:srgbClr val="002060"/>
                </a:solidFill>
                <a:latin typeface="Comic Sans MS" panose="030F0702030302020204" charset="0"/>
                <a:cs typeface="Comic Sans MS" panose="030F0702030302020204" charset="0"/>
                <a:sym typeface="+mn-ea"/>
              </a:rPr>
              <a:t>)</a:t>
            </a:r>
            <a:endParaRPr lang="en-US" altLang="zh-CN">
              <a:solidFill>
                <a:srgbClr val="002060"/>
              </a:solidFill>
              <a:latin typeface="Comic Sans MS" panose="030F0702030302020204" charset="0"/>
              <a:cs typeface="Comic Sans MS" panose="030F0702030302020204" charset="0"/>
            </a:endParaRPr>
          </a:p>
        </p:txBody>
      </p:sp>
      <p:sp>
        <p:nvSpPr>
          <p:cNvPr id="9" name="矩形 8"/>
          <p:cNvSpPr/>
          <p:nvPr/>
        </p:nvSpPr>
        <p:spPr>
          <a:xfrm>
            <a:off x="398145" y="4102735"/>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judge_not_defect</a:t>
            </a:r>
            <a:endParaRPr lang="en-US" altLang="zh-CN">
              <a:solidFill>
                <a:srgbClr val="002060"/>
              </a:solidFill>
              <a:latin typeface="Comic Sans MS" panose="030F0702030302020204" charset="0"/>
              <a:cs typeface="Comic Sans MS" panose="030F0702030302020204" charset="0"/>
            </a:endParaRPr>
          </a:p>
        </p:txBody>
      </p:sp>
      <p:sp>
        <p:nvSpPr>
          <p:cNvPr id="24" name="矩形 23"/>
          <p:cNvSpPr/>
          <p:nvPr/>
        </p:nvSpPr>
        <p:spPr>
          <a:xfrm>
            <a:off x="473075" y="546036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2 real_defect</a:t>
            </a:r>
          </a:p>
          <a:p>
            <a:r>
              <a:t>(真实缺陷)</a:t>
            </a:r>
          </a:p>
        </p:txBody>
      </p:sp>
      <p:sp>
        <p:nvSpPr>
          <p:cNvPr id="25" name="矩形 24"/>
          <p:cNvSpPr/>
          <p:nvPr/>
        </p:nvSpPr>
        <p:spPr>
          <a:xfrm>
            <a:off x="473075" y="424688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22 not_defect</a:t>
            </a:r>
            <a:br>
              <a:rPr lang="en-US" altLang="zh-CN">
                <a:solidFill>
                  <a:srgbClr val="002060"/>
                </a:solidFill>
                <a:latin typeface="Comic Sans MS" panose="030F0702030302020204" charset="0"/>
                <a:cs typeface="Comic Sans MS" panose="030F0702030302020204" charset="0"/>
              </a:rPr>
            </a:br>
            <a:r>
              <a:rPr lang="en-US" altLang="zh-CN">
                <a:solidFill>
                  <a:srgbClr val="002060"/>
                </a:solidFill>
                <a:latin typeface="Comic Sans MS" panose="030F0702030302020204" charset="0"/>
                <a:cs typeface="Comic Sans MS" panose="030F0702030302020204" charset="0"/>
              </a:rPr>
              <a:t>(</a:t>
            </a:r>
            <a:r>
              <a:rPr lang="zh-CN" altLang="en-US">
                <a:solidFill>
                  <a:srgbClr val="002060"/>
                </a:solidFill>
                <a:latin typeface="Comic Sans MS" panose="030F0702030302020204" charset="0"/>
                <a:cs typeface="Comic Sans MS" panose="030F0702030302020204" charset="0"/>
              </a:rPr>
              <a:t>真实误报</a:t>
            </a:r>
            <a:r>
              <a:rPr lang="en-US" altLang="zh-CN">
                <a:solidFill>
                  <a:srgbClr val="002060"/>
                </a:solidFill>
                <a:latin typeface="Comic Sans MS" panose="030F0702030302020204" charset="0"/>
                <a:cs typeface="Comic Sans MS" panose="030F0702030302020204" charset="0"/>
              </a:rPr>
              <a:t>)</a:t>
            </a:r>
            <a:endParaRPr lang="en-US" altLang="zh-CN">
              <a:solidFill>
                <a:srgbClr val="002060"/>
              </a:solidFill>
              <a:latin typeface="Comic Sans MS" panose="030F0702030302020204" charset="0"/>
              <a:cs typeface="Comic Sans MS" panose="030F0702030302020204" charset="0"/>
            </a:endParaRPr>
          </a:p>
        </p:txBody>
      </p:sp>
      <p:graphicFrame>
        <p:nvGraphicFramePr>
          <p:cNvPr id="2" name="表格 1"/>
          <p:cNvGraphicFramePr/>
          <p:nvPr>
            <p:custDataLst>
              <p:tags r:id="rId3"/>
            </p:custDataLst>
          </p:nvPr>
        </p:nvGraphicFramePr>
        <p:xfrm>
          <a:off x="5301615" y="2952750"/>
          <a:ext cx="7611110" cy="3255010"/>
        </p:xfrm>
        <a:graphic>
          <a:graphicData uri="http://schemas.openxmlformats.org/drawingml/2006/table">
            <a:tbl>
              <a:tblPr firstRow="1" bandCol="1">
                <a:tableStyleId>{B2E476ED-E556-45B5-8BDD-68916C002191}</a:tableStyleId>
              </a:tblPr>
              <a:tblGrid>
                <a:gridCol w="2345690"/>
                <a:gridCol w="1733550"/>
              </a:tblGrid>
              <a:tr h="734695">
                <a:tc>
                  <a:txBody>
                    <a:bodyPr/>
                    <a:p>
                      <a:pPr algn="ctr">
                        <a:buNone/>
                      </a:pPr>
                      <a:r>
                        <a:rPr lang="en-US" altLang="zh-CN">
                          <a:solidFill>
                            <a:srgbClr val="002060"/>
                          </a:solidFill>
                        </a:rPr>
                        <a:t>Interception evidence source</a:t>
                      </a:r>
                      <a:endParaRPr lang="en-US" altLang="zh-CN">
                        <a:solidFill>
                          <a:srgbClr val="002060"/>
                        </a:solidFill>
                      </a:endParaRPr>
                    </a:p>
                  </a:txBody>
                  <a:tcPr>
                    <a:solidFill>
                      <a:schemeClr val="accent5">
                        <a:lumMod val="40000"/>
                        <a:lumOff val="60000"/>
                      </a:schemeClr>
                    </a:solidFill>
                  </a:tcPr>
                </a:tc>
                <a:tc>
                  <a:txBody>
                    <a:bodyPr/>
                    <a:p>
                      <a:pPr algn="ctr">
                        <a:buNone/>
                      </a:pPr>
                      <a:r>
                        <a:rPr lang="en-US" altLang="zh-CN">
                          <a:solidFill>
                            <a:srgbClr val="002060"/>
                          </a:solidFill>
                        </a:rPr>
                        <a:t>Correctly intercepted</a:t>
                      </a:r>
                      <a:endParaRPr lang="en-US" altLang="zh-CN">
                        <a:solidFill>
                          <a:srgbClr val="002060"/>
                        </a:solidFill>
                      </a:endParaRPr>
                    </a:p>
                  </a:txBody>
                  <a:tcPr>
                    <a:solidFill>
                      <a:schemeClr val="accent5">
                        <a:lumMod val="40000"/>
                        <a:lumOff val="60000"/>
                      </a:schemeClr>
                    </a:solidFill>
                  </a:tcPr>
                </a:tc>
              </a:tr>
              <a:tr h="600075">
                <a:tc>
                  <a:txBody>
                    <a:bodyPr/>
                    <a:p>
                      <a:pPr algn="ctr">
                        <a:buNone/>
                      </a:pPr>
                      <a:r>
                        <a:rPr lang="en-US" altLang="zh-CN"/>
                        <a:t>source </a:t>
                      </a:r>
                      <a:r>
                        <a:rPr lang="en-US" altLang="zh-CN"/>
                        <a:t>code only</a:t>
                      </a:r>
                      <a:endParaRPr lang="en-US" altLang="zh-CN"/>
                    </a:p>
                  </a:txBody>
                  <a:tcPr>
                    <a:lnR w="12700">
                      <a:solidFill>
                        <a:schemeClr val="tx1"/>
                      </a:solidFill>
                      <a:prstDash val="solid"/>
                    </a:lnR>
                    <a:lnB w="12700">
                      <a:solidFill>
                        <a:schemeClr val="tx1"/>
                      </a:solidFill>
                      <a:prstDash val="solid"/>
                    </a:lnB>
                  </a:tcPr>
                </a:tc>
                <a:tc>
                  <a:txBody>
                    <a:bodyPr/>
                    <a:p>
                      <a:pPr algn="ctr">
                        <a:buNone/>
                      </a:pPr>
                      <a:r>
                        <a:rPr lang="en-US" altLang="zh-CN"/>
                        <a:t>6</a:t>
                      </a:r>
                      <a:endParaRPr lang="en-US" altLang="zh-CN"/>
                    </a:p>
                  </a:txBody>
                  <a:tcPr>
                    <a:lnL w="12700">
                      <a:solidFill>
                        <a:schemeClr val="tx1"/>
                      </a:solidFill>
                      <a:prstDash val="solid"/>
                    </a:lnL>
                    <a:lnR w="12700">
                      <a:solidFill>
                        <a:schemeClr val="tx1"/>
                      </a:solidFill>
                      <a:prstDash val="solid"/>
                    </a:lnR>
                    <a:lnB w="12700">
                      <a:solidFill>
                        <a:schemeClr val="tx1"/>
                      </a:solidFill>
                      <a:prstDash val="solid"/>
                    </a:lnB>
                  </a:tcPr>
                </a:tc>
              </a:tr>
              <a:tr h="600075">
                <a:tc>
                  <a:txBody>
                    <a:bodyPr/>
                    <a:p>
                      <a:pPr algn="ctr">
                        <a:buNone/>
                      </a:pPr>
                      <a:r>
                        <a:rPr lang="en-US" altLang="zh-CN" sz="1800">
                          <a:sym typeface="+mn-ea"/>
                        </a:rPr>
                        <a:t>doc only</a:t>
                      </a:r>
                      <a:endParaRPr lang="en-US" altLang="zh-CN" sz="1800"/>
                    </a:p>
                    <a:p>
                      <a:pPr algn="ctr">
                        <a:buNone/>
                      </a:pPr>
                      <a:endParaRPr lang="en-US" altLang="zh-CN"/>
                    </a:p>
                  </a:txBody>
                  <a:tcPr>
                    <a:lnR w="12700">
                      <a:solidFill>
                        <a:schemeClr val="tx1"/>
                      </a:solidFill>
                      <a:prstDash val="solid"/>
                    </a:lnR>
                    <a:lnT w="12700">
                      <a:solidFill>
                        <a:schemeClr val="tx1"/>
                      </a:solidFill>
                      <a:prstDash val="solid"/>
                    </a:lnT>
                    <a:lnB w="12700">
                      <a:solidFill>
                        <a:schemeClr val="tx1"/>
                      </a:solidFill>
                      <a:prstDash val="solid"/>
                    </a:lnB>
                  </a:tcPr>
                </a:tc>
                <a:tc>
                  <a:txBody>
                    <a:bodyPr/>
                    <a:p>
                      <a:pPr algn="ctr">
                        <a:buNone/>
                      </a:pPr>
                      <a:r>
                        <a:rPr lang="en-US" altLang="zh-CN"/>
                        <a:t>4</a:t>
                      </a:r>
                      <a:endParaRPr lang="en-US" altLang="zh-CN"/>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600075">
                <a:tc>
                  <a:txBody>
                    <a:bodyPr/>
                    <a:p>
                      <a:pPr algn="ctr">
                        <a:buNone/>
                      </a:pPr>
                      <a:r>
                        <a:rPr lang="en-US" altLang="zh-CN"/>
                        <a:t>both </a:t>
                      </a:r>
                      <a:endParaRPr lang="en-US" altLang="zh-CN"/>
                    </a:p>
                    <a:p>
                      <a:pPr algn="ctr">
                        <a:buNone/>
                      </a:pPr>
                      <a:r>
                        <a:rPr lang="en-US" altLang="zh-CN"/>
                        <a:t>(doc+source </a:t>
                      </a:r>
                      <a:r>
                        <a:rPr lang="en-US" altLang="zh-CN"/>
                        <a:t>code)</a:t>
                      </a:r>
                      <a:endParaRPr lang="en-US" altLang="zh-CN"/>
                    </a:p>
                  </a:txBody>
                  <a:tcPr>
                    <a:lnR w="12700">
                      <a:solidFill>
                        <a:schemeClr val="tx1"/>
                      </a:solidFill>
                      <a:prstDash val="solid"/>
                    </a:lnR>
                    <a:lnT w="12700">
                      <a:solidFill>
                        <a:schemeClr val="tx1"/>
                      </a:solidFill>
                      <a:prstDash val="solid"/>
                    </a:lnT>
                    <a:lnB w="12700">
                      <a:solidFill>
                        <a:schemeClr val="tx1"/>
                      </a:solidFill>
                      <a:prstDash val="solid"/>
                    </a:lnB>
                  </a:tcPr>
                </a:tc>
                <a:tc>
                  <a:txBody>
                    <a:bodyPr/>
                    <a:p>
                      <a:pPr algn="ctr">
                        <a:buNone/>
                      </a:pPr>
                      <a:r>
                        <a:rPr lang="en-US" altLang="zh-CN"/>
                        <a:t>7</a:t>
                      </a:r>
                      <a:endParaRPr lang="en-US" altLang="zh-CN"/>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600075">
                <a:tc>
                  <a:txBody>
                    <a:bodyPr/>
                    <a:p>
                      <a:pPr algn="ctr">
                        <a:buNone/>
                      </a:pPr>
                      <a:r>
                        <a:rPr lang="en-US" altLang="zh-CN" sz="1800">
                          <a:sym typeface="+mn-ea"/>
                        </a:rPr>
                        <a:t>execution evidence only</a:t>
                      </a:r>
                      <a:endParaRPr lang="zh-CN" altLang="en-US"/>
                    </a:p>
                  </a:txBody>
                  <a:tcPr>
                    <a:lnR w="12700">
                      <a:solidFill>
                        <a:schemeClr val="tx1"/>
                      </a:solidFill>
                      <a:prstDash val="solid"/>
                    </a:lnR>
                    <a:lnT w="12700">
                      <a:solidFill>
                        <a:schemeClr val="tx1"/>
                      </a:solidFill>
                      <a:prstDash val="solid"/>
                    </a:lnT>
                  </a:tcPr>
                </a:tc>
                <a:tc>
                  <a:txBody>
                    <a:bodyPr/>
                    <a:p>
                      <a:pPr algn="ctr">
                        <a:buNone/>
                      </a:pPr>
                      <a:r>
                        <a:rPr lang="en-US" altLang="zh-CN"/>
                        <a:t>5</a:t>
                      </a:r>
                      <a:endParaRPr lang="en-US" altLang="zh-CN"/>
                    </a:p>
                  </a:txBody>
                  <a:tcPr>
                    <a:lnL w="12700">
                      <a:solidFill>
                        <a:schemeClr val="tx1"/>
                      </a:solidFill>
                      <a:prstDash val="solid"/>
                    </a:lnL>
                    <a:lnR w="12700">
                      <a:solidFill>
                        <a:schemeClr val="tx1"/>
                      </a:solidFill>
                      <a:prstDash val="solid"/>
                    </a:lnR>
                    <a:lnT w="12700">
                      <a:solidFill>
                        <a:schemeClr val="tx1"/>
                      </a:solidFill>
                      <a:prstDash val="solid"/>
                    </a:lnT>
                  </a:tcPr>
                </a:tc>
              </a:tr>
            </a:tbl>
          </a:graphicData>
        </a:graphic>
      </p:graphicFrame>
      <p:cxnSp>
        <p:nvCxnSpPr>
          <p:cNvPr id="6" name="肘形连接符 5"/>
          <p:cNvCxnSpPr>
            <a:stCxn id="25" idx="3"/>
            <a:endCxn id="33" idx="1"/>
          </p:cNvCxnSpPr>
          <p:nvPr/>
        </p:nvCxnSpPr>
        <p:spPr>
          <a:xfrm flipV="1">
            <a:off x="2679065" y="2185035"/>
            <a:ext cx="1405255" cy="2348230"/>
          </a:xfrm>
          <a:prstGeom prst="bentConnector3">
            <a:avLst>
              <a:gd name="adj1" fmla="val 43741"/>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4263390" y="1820545"/>
            <a:ext cx="6078855" cy="804545"/>
          </a:xfrm>
          <a:ln w="28575" cmpd="sng">
            <a:solidFill>
              <a:srgbClr val="000000"/>
            </a:solidFill>
            <a:prstDash val="solid"/>
          </a:ln>
        </p:spPr>
        <p:txBody>
          <a:bodyPr>
            <a:noAutofit/>
          </a:bodyPr>
          <a:lstStyle/>
          <a:p>
            <a:pPr marL="0" indent="0" algn="ctr">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Which stage caused the FPs ?</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a:t>
            </a:r>
            <a:r>
              <a:rPr lang="en-US" sz="3600">
                <a:solidFill>
                  <a:srgbClr val="0A4A94"/>
                </a:solidFill>
                <a:latin typeface="Cambria" panose="02040503050406030204" charset="0"/>
                <a:cs typeface="Cambria" panose="02040503050406030204" charset="0"/>
                <a:sym typeface="+mn-ea"/>
              </a:rPr>
              <a:t>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252710" y="6315710"/>
            <a:ext cx="1324610" cy="315595"/>
          </a:xfrm>
        </p:spPr>
        <p:txBody>
          <a:bodyPr/>
          <a:lstStyle/>
          <a:p>
            <a:fld id="{E09368C2-8BE5-4C19-86FB-98954A39BC6E}" type="slidenum">
              <a:rPr lang="zh-CN" altLang="en-US" smtClean="0"/>
            </a:fld>
            <a:endParaRPr lang="zh-CN" altLang="en-US"/>
          </a:p>
        </p:txBody>
      </p:sp>
      <p:graphicFrame>
        <p:nvGraphicFramePr>
          <p:cNvPr id="2" name="表格 1"/>
          <p:cNvGraphicFramePr/>
          <p:nvPr>
            <p:custDataLst>
              <p:tags r:id="rId3"/>
            </p:custDataLst>
          </p:nvPr>
        </p:nvGraphicFramePr>
        <p:xfrm>
          <a:off x="3497580" y="2990850"/>
          <a:ext cx="8152130" cy="1514475"/>
        </p:xfrm>
        <a:graphic>
          <a:graphicData uri="http://schemas.openxmlformats.org/drawingml/2006/table">
            <a:tbl>
              <a:tblPr firstRow="1" bandRow="1">
                <a:tableStyleId>{49217015-400D-4278-81E5-65789FCF5C13}</a:tableStyleId>
              </a:tblPr>
              <a:tblGrid>
                <a:gridCol w="2028825"/>
                <a:gridCol w="2129155"/>
                <a:gridCol w="1805305"/>
                <a:gridCol w="2188845"/>
              </a:tblGrid>
              <a:tr h="734695">
                <a:tc>
                  <a:txBody>
                    <a:bodyPr/>
                    <a:p>
                      <a:pPr algn="ctr">
                        <a:buNone/>
                      </a:pPr>
                      <a:r>
                        <a:rPr lang="en-US" altLang="zh-CN"/>
                        <a:t>mundane_api_semantics(</a:t>
                      </a:r>
                      <a:r>
                        <a:rPr lang="zh-CN" altLang="en-US"/>
                        <a:t>正常语义被当作缺陷</a:t>
                      </a:r>
                      <a:r>
                        <a:rPr lang="en-US" altLang="zh-CN"/>
                        <a:t>)</a:t>
                      </a:r>
                      <a:endParaRPr lang="en-US" altLang="zh-CN"/>
                    </a:p>
                  </a:txBody>
                  <a:tcPr/>
                </a:tc>
                <a:tc>
                  <a:txBody>
                    <a:bodyPr/>
                    <a:p>
                      <a:pPr algn="ctr">
                        <a:buNone/>
                      </a:pPr>
                      <a:r>
                        <a:rPr lang="en-US" altLang="zh-CN"/>
                        <a:t>approximate_by_design</a:t>
                      </a:r>
                      <a:r>
                        <a:rPr lang="zh-CN" altLang="en-US"/>
                        <a:t>（文档明示无精度承诺）</a:t>
                      </a:r>
                      <a:endParaRPr lang="zh-CN" altLang="en-US"/>
                    </a:p>
                  </a:txBody>
                  <a:tcPr/>
                </a:tc>
                <a:tc>
                  <a:txBody>
                    <a:bodyPr/>
                    <a:p>
                      <a:pPr algn="ctr">
                        <a:buNone/>
                      </a:pPr>
                      <a:r>
                        <a:rPr lang="en-US" altLang="zh-CN"/>
                        <a:t>claim_misread</a:t>
                      </a:r>
                      <a:r>
                        <a:rPr lang="zh-CN" altLang="en-US"/>
                        <a:t>（读错</a:t>
                      </a:r>
                      <a:r>
                        <a:rPr lang="en-US" altLang="zh-CN"/>
                        <a:t>claim</a:t>
                      </a:r>
                      <a:r>
                        <a:rPr lang="zh-CN" altLang="en-US"/>
                        <a:t>）</a:t>
                      </a:r>
                      <a:endParaRPr lang="zh-CN" altLang="en-US"/>
                    </a:p>
                  </a:txBody>
                  <a:tcPr/>
                </a:tc>
                <a:tc>
                  <a:txBody>
                    <a:bodyPr/>
                    <a:p>
                      <a:pPr algn="ctr">
                        <a:buNone/>
                      </a:pPr>
                      <a:r>
                        <a:rPr lang="en-US" altLang="zh-CN"/>
                        <a:t>unreproducible</a:t>
                      </a:r>
                      <a:r>
                        <a:rPr lang="zh-CN" altLang="en-US"/>
                        <a:t>（</a:t>
                      </a:r>
                      <a:r>
                        <a:rPr lang="zh-CN" altLang="en-US"/>
                        <a:t>无法复现）</a:t>
                      </a:r>
                      <a:endParaRPr lang="zh-CN" altLang="en-US"/>
                    </a:p>
                  </a:txBody>
                  <a:tcPr/>
                </a:tc>
              </a:tr>
              <a:tr h="600075">
                <a:tc>
                  <a:txBody>
                    <a:bodyPr/>
                    <a:p>
                      <a:pPr algn="ctr">
                        <a:buNone/>
                      </a:pPr>
                      <a:r>
                        <a:rPr lang="en-US" altLang="zh-CN"/>
                        <a:t>7</a:t>
                      </a:r>
                      <a:endParaRPr lang="en-US" altLang="zh-CN"/>
                    </a:p>
                  </a:txBody>
                  <a:tcPr/>
                </a:tc>
                <a:tc>
                  <a:txBody>
                    <a:bodyPr/>
                    <a:p>
                      <a:pPr algn="ctr">
                        <a:buNone/>
                      </a:pPr>
                      <a:r>
                        <a:rPr lang="en-US" altLang="zh-CN"/>
                        <a:t>6</a:t>
                      </a:r>
                      <a:endParaRPr lang="en-US" altLang="zh-CN"/>
                    </a:p>
                  </a:txBody>
                  <a:tcPr/>
                </a:tc>
                <a:tc>
                  <a:txBody>
                    <a:bodyPr/>
                    <a:p>
                      <a:pPr algn="ctr">
                        <a:buNone/>
                      </a:pPr>
                      <a:r>
                        <a:rPr lang="en-US" altLang="zh-CN"/>
                        <a:t>3</a:t>
                      </a:r>
                      <a:endParaRPr lang="en-US" altLang="zh-CN"/>
                    </a:p>
                  </a:txBody>
                  <a:tcPr/>
                </a:tc>
                <a:tc>
                  <a:txBody>
                    <a:bodyPr/>
                    <a:p>
                      <a:pPr algn="ctr">
                        <a:buNone/>
                      </a:pPr>
                      <a:r>
                        <a:rPr lang="en-US" altLang="zh-CN"/>
                        <a:t>2</a:t>
                      </a:r>
                      <a:endParaRPr lang="en-US" altLang="zh-CN"/>
                    </a:p>
                  </a:txBody>
                  <a:tcPr/>
                </a:tc>
              </a:tr>
            </a:tbl>
          </a:graphicData>
        </a:graphic>
      </p:graphicFrame>
      <p:sp>
        <p:nvSpPr>
          <p:cNvPr id="3" name="圆角矩形 2"/>
          <p:cNvSpPr/>
          <p:nvPr/>
        </p:nvSpPr>
        <p:spPr>
          <a:xfrm>
            <a:off x="197485" y="1554480"/>
            <a:ext cx="2694305" cy="4819015"/>
          </a:xfrm>
          <a:prstGeom prst="roundRect">
            <a:avLst/>
          </a:prstGeom>
          <a:solidFill>
            <a:schemeClr val="accent5">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dirty="0">
              <a:solidFill>
                <a:srgbClr val="002060"/>
              </a:solidFill>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10" name="矩形 9"/>
          <p:cNvSpPr/>
          <p:nvPr/>
        </p:nvSpPr>
        <p:spPr>
          <a:xfrm>
            <a:off x="398145" y="1668780"/>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judge_is_defect</a:t>
            </a:r>
            <a:endParaRPr lang="en-US" altLang="zh-CN">
              <a:solidFill>
                <a:srgbClr val="002060"/>
              </a:solidFill>
              <a:latin typeface="Comic Sans MS" panose="030F0702030302020204" charset="0"/>
              <a:cs typeface="Comic Sans MS" panose="030F0702030302020204" charset="0"/>
            </a:endParaRPr>
          </a:p>
        </p:txBody>
      </p:sp>
      <p:sp>
        <p:nvSpPr>
          <p:cNvPr id="5" name="矩形 4"/>
          <p:cNvSpPr/>
          <p:nvPr/>
        </p:nvSpPr>
        <p:spPr>
          <a:xfrm>
            <a:off x="473075" y="182054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42 real_defect</a:t>
            </a:r>
          </a:p>
          <a:p>
            <a:r>
              <a:t>(真实缺陷)</a:t>
            </a:r>
          </a:p>
        </p:txBody>
      </p:sp>
      <p:sp>
        <p:nvSpPr>
          <p:cNvPr id="7" name="矩形 6"/>
          <p:cNvSpPr/>
          <p:nvPr/>
        </p:nvSpPr>
        <p:spPr>
          <a:xfrm>
            <a:off x="473075" y="303339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5 not_defect</a:t>
            </a:r>
            <a:endParaRPr lang="en-US" altLang="zh-CN">
              <a:solidFill>
                <a:srgbClr val="002060"/>
              </a:solidFill>
              <a:latin typeface="Comic Sans MS" panose="030F0702030302020204" charset="0"/>
              <a:cs typeface="Comic Sans MS" panose="030F0702030302020204" charset="0"/>
            </a:endParaRPr>
          </a:p>
          <a:p>
            <a:pPr algn="ctr"/>
            <a:r>
              <a:rPr lang="en-US" altLang="zh-CN">
                <a:solidFill>
                  <a:srgbClr val="002060"/>
                </a:solidFill>
                <a:latin typeface="Comic Sans MS" panose="030F0702030302020204" charset="0"/>
                <a:cs typeface="Comic Sans MS" panose="030F0702030302020204" charset="0"/>
                <a:sym typeface="+mn-ea"/>
              </a:rPr>
              <a:t>(</a:t>
            </a:r>
            <a:r>
              <a:rPr lang="zh-CN" altLang="en-US">
                <a:solidFill>
                  <a:srgbClr val="002060"/>
                </a:solidFill>
                <a:latin typeface="Comic Sans MS" panose="030F0702030302020204" charset="0"/>
                <a:cs typeface="Comic Sans MS" panose="030F0702030302020204" charset="0"/>
                <a:sym typeface="+mn-ea"/>
              </a:rPr>
              <a:t>真实误报</a:t>
            </a:r>
            <a:r>
              <a:rPr lang="en-US" altLang="zh-CN">
                <a:solidFill>
                  <a:srgbClr val="002060"/>
                </a:solidFill>
                <a:latin typeface="Comic Sans MS" panose="030F0702030302020204" charset="0"/>
                <a:cs typeface="Comic Sans MS" panose="030F0702030302020204" charset="0"/>
                <a:sym typeface="+mn-ea"/>
              </a:rPr>
              <a:t>)</a:t>
            </a:r>
            <a:endParaRPr lang="en-US" altLang="zh-CN">
              <a:solidFill>
                <a:srgbClr val="002060"/>
              </a:solidFill>
              <a:latin typeface="Comic Sans MS" panose="030F0702030302020204" charset="0"/>
              <a:cs typeface="Comic Sans MS" panose="030F0702030302020204" charset="0"/>
            </a:endParaRPr>
          </a:p>
        </p:txBody>
      </p:sp>
      <p:sp>
        <p:nvSpPr>
          <p:cNvPr id="9" name="矩形 8"/>
          <p:cNvSpPr/>
          <p:nvPr/>
        </p:nvSpPr>
        <p:spPr>
          <a:xfrm>
            <a:off x="398145" y="4102735"/>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judge_not_defect</a:t>
            </a:r>
            <a:endParaRPr lang="en-US" altLang="zh-CN">
              <a:solidFill>
                <a:srgbClr val="002060"/>
              </a:solidFill>
              <a:latin typeface="Comic Sans MS" panose="030F0702030302020204" charset="0"/>
              <a:cs typeface="Comic Sans MS" panose="030F0702030302020204" charset="0"/>
            </a:endParaRPr>
          </a:p>
        </p:txBody>
      </p:sp>
      <p:sp>
        <p:nvSpPr>
          <p:cNvPr id="8" name="矩形 7"/>
          <p:cNvSpPr/>
          <p:nvPr/>
        </p:nvSpPr>
        <p:spPr>
          <a:xfrm>
            <a:off x="473075" y="546036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2 real_defect</a:t>
            </a:r>
          </a:p>
          <a:p>
            <a:r>
              <a:t>(真实缺陷)</a:t>
            </a:r>
          </a:p>
        </p:txBody>
      </p:sp>
      <p:sp>
        <p:nvSpPr>
          <p:cNvPr id="11" name="矩形 10"/>
          <p:cNvSpPr/>
          <p:nvPr/>
        </p:nvSpPr>
        <p:spPr>
          <a:xfrm>
            <a:off x="473075" y="424688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22 not_defect</a:t>
            </a:r>
            <a:br>
              <a:rPr lang="en-US" altLang="zh-CN">
                <a:solidFill>
                  <a:srgbClr val="002060"/>
                </a:solidFill>
                <a:latin typeface="Comic Sans MS" panose="030F0702030302020204" charset="0"/>
                <a:cs typeface="Comic Sans MS" panose="030F0702030302020204" charset="0"/>
              </a:rPr>
            </a:br>
            <a:r>
              <a:rPr lang="en-US" altLang="zh-CN">
                <a:solidFill>
                  <a:srgbClr val="002060"/>
                </a:solidFill>
                <a:latin typeface="Comic Sans MS" panose="030F0702030302020204" charset="0"/>
                <a:cs typeface="Comic Sans MS" panose="030F0702030302020204" charset="0"/>
              </a:rPr>
              <a:t>(</a:t>
            </a:r>
            <a:r>
              <a:rPr lang="zh-CN" altLang="en-US">
                <a:solidFill>
                  <a:srgbClr val="002060"/>
                </a:solidFill>
                <a:latin typeface="Comic Sans MS" panose="030F0702030302020204" charset="0"/>
                <a:cs typeface="Comic Sans MS" panose="030F0702030302020204" charset="0"/>
              </a:rPr>
              <a:t>真实误报</a:t>
            </a:r>
            <a:r>
              <a:rPr lang="en-US" altLang="zh-CN">
                <a:solidFill>
                  <a:srgbClr val="002060"/>
                </a:solidFill>
                <a:latin typeface="Comic Sans MS" panose="030F0702030302020204" charset="0"/>
                <a:cs typeface="Comic Sans MS" panose="030F0702030302020204" charset="0"/>
              </a:rPr>
              <a:t>)</a:t>
            </a:r>
            <a:endParaRPr lang="en-US" altLang="zh-CN">
              <a:solidFill>
                <a:srgbClr val="002060"/>
              </a:solidFill>
              <a:latin typeface="Comic Sans MS" panose="030F0702030302020204" charset="0"/>
              <a:cs typeface="Comic Sans MS" panose="030F0702030302020204" charset="0"/>
            </a:endParaRPr>
          </a:p>
        </p:txBody>
      </p:sp>
      <p:cxnSp>
        <p:nvCxnSpPr>
          <p:cNvPr id="6" name="肘形连接符 5"/>
          <p:cNvCxnSpPr>
            <a:stCxn id="11" idx="3"/>
            <a:endCxn id="33" idx="1"/>
          </p:cNvCxnSpPr>
          <p:nvPr/>
        </p:nvCxnSpPr>
        <p:spPr>
          <a:xfrm flipV="1">
            <a:off x="2679065" y="2223135"/>
            <a:ext cx="1584325" cy="2310130"/>
          </a:xfrm>
          <a:prstGeom prst="bentConnector3">
            <a:avLst>
              <a:gd name="adj1" fmla="val 37274"/>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graphicFrame>
        <p:nvGraphicFramePr>
          <p:cNvPr id="16" name="表格 15"/>
          <p:cNvGraphicFramePr/>
          <p:nvPr>
            <p:custDataLst>
              <p:tags r:id="rId4"/>
            </p:custDataLst>
          </p:nvPr>
        </p:nvGraphicFramePr>
        <p:xfrm>
          <a:off x="3507105" y="4675505"/>
          <a:ext cx="5957570" cy="1524635"/>
        </p:xfrm>
        <a:graphic>
          <a:graphicData uri="http://schemas.openxmlformats.org/drawingml/2006/table">
            <a:tbl>
              <a:tblPr firstRow="1" bandRow="1">
                <a:tableStyleId>{49217015-400D-4278-81E5-65789FCF5C13}</a:tableStyleId>
              </a:tblPr>
              <a:tblGrid>
                <a:gridCol w="2117725"/>
                <a:gridCol w="2019935"/>
                <a:gridCol w="1819910"/>
              </a:tblGrid>
              <a:tr h="760095">
                <a:tc>
                  <a:txBody>
                    <a:bodyPr/>
                    <a:p>
                      <a:pPr algn="ctr">
                        <a:buNone/>
                      </a:pPr>
                      <a:r>
                        <a:rPr lang="en-US" altLang="zh-CN"/>
                        <a:t>eventual_consistency</a:t>
                      </a:r>
                      <a:r>
                        <a:rPr lang="zh-CN" altLang="en-US"/>
                        <a:t>（读取发生在传播完成前）</a:t>
                      </a:r>
                      <a:endParaRPr lang="zh-CN" altLang="en-US"/>
                    </a:p>
                  </a:txBody>
                  <a:tcPr/>
                </a:tc>
                <a:tc>
                  <a:txBody>
                    <a:bodyPr/>
                    <a:p>
                      <a:pPr algn="ctr">
                        <a:buNone/>
                      </a:pPr>
                      <a:r>
                        <a:rPr lang="en-US" altLang="zh-CN"/>
                        <a:t>request_param_typo</a:t>
                      </a:r>
                      <a:r>
                        <a:rPr lang="zh-CN" altLang="en-US"/>
                        <a:t>（攻击了不存在的参数</a:t>
                      </a:r>
                      <a:r>
                        <a:rPr lang="zh-CN" altLang="en-US"/>
                        <a:t>）</a:t>
                      </a:r>
                      <a:endParaRPr lang="zh-CN" altLang="en-US"/>
                    </a:p>
                  </a:txBody>
                  <a:tcPr/>
                </a:tc>
                <a:tc>
                  <a:txBody>
                    <a:bodyPr/>
                    <a:p>
                      <a:pPr algn="ctr">
                        <a:buNone/>
                      </a:pPr>
                      <a:r>
                        <a:rPr lang="en-US" altLang="zh-CN"/>
                        <a:t>script_error</a:t>
                      </a:r>
                      <a:r>
                        <a:rPr lang="zh-CN" altLang="en-US"/>
                        <a:t>（</a:t>
                      </a:r>
                      <a:r>
                        <a:rPr lang="zh-CN" altLang="en-US"/>
                        <a:t>脚本错误）</a:t>
                      </a:r>
                      <a:endParaRPr lang="zh-CN" altLang="en-US"/>
                    </a:p>
                  </a:txBody>
                  <a:tcPr/>
                </a:tc>
              </a:tr>
              <a:tr h="610235">
                <a:tc>
                  <a:txBody>
                    <a:bodyPr/>
                    <a:p>
                      <a:pPr algn="ctr">
                        <a:buNone/>
                      </a:pPr>
                      <a:r>
                        <a:rPr lang="en-US" altLang="zh-CN"/>
                        <a:t>1</a:t>
                      </a:r>
                      <a:endParaRPr lang="en-US" altLang="zh-CN"/>
                    </a:p>
                  </a:txBody>
                  <a:tcPr/>
                </a:tc>
                <a:tc>
                  <a:txBody>
                    <a:bodyPr/>
                    <a:p>
                      <a:pPr algn="ctr">
                        <a:buNone/>
                      </a:pPr>
                      <a:r>
                        <a:rPr lang="en-US" altLang="zh-CN"/>
                        <a:t>1</a:t>
                      </a:r>
                      <a:endParaRPr lang="en-US" altLang="zh-CN"/>
                    </a:p>
                  </a:txBody>
                  <a:tcPr/>
                </a:tc>
                <a:tc>
                  <a:txBody>
                    <a:bodyPr/>
                    <a:p>
                      <a:pPr algn="ctr">
                        <a:buNone/>
                      </a:pPr>
                      <a:r>
                        <a:rPr lang="en-US" altLang="zh-CN"/>
                        <a:t>1</a:t>
                      </a:r>
                      <a:endParaRPr lang="en-US" altLang="zh-CN"/>
                    </a:p>
                  </a:txBody>
                  <a:tcPr/>
                </a:tc>
              </a:tr>
            </a:tbl>
          </a:graphicData>
        </a:graphic>
      </p:graphicFrame>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4263390" y="1820545"/>
            <a:ext cx="6078855" cy="804545"/>
          </a:xfrm>
          <a:ln w="28575" cmpd="sng">
            <a:solidFill>
              <a:srgbClr val="000000"/>
            </a:solidFill>
            <a:prstDash val="solid"/>
          </a:ln>
        </p:spPr>
        <p:txBody>
          <a:bodyPr>
            <a:noAutofit/>
          </a:bodyPr>
          <a:lstStyle/>
          <a:p>
            <a:pPr marL="0" indent="0" algn="ctr">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Why were they misjudged as FP?</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a:t>
            </a:r>
            <a:r>
              <a:rPr lang="en-US" sz="3600">
                <a:solidFill>
                  <a:srgbClr val="0A4A94"/>
                </a:solidFill>
                <a:latin typeface="Cambria" panose="02040503050406030204" charset="0"/>
                <a:cs typeface="Cambria" panose="02040503050406030204" charset="0"/>
                <a:sym typeface="+mn-ea"/>
              </a:rPr>
              <a:t>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252710" y="6315710"/>
            <a:ext cx="1324610" cy="315595"/>
          </a:xfrm>
        </p:spPr>
        <p:txBody>
          <a:bodyPr/>
          <a:lstStyle/>
          <a:p>
            <a:fld id="{E09368C2-8BE5-4C19-86FB-98954A39BC6E}" type="slidenum">
              <a:rPr lang="zh-CN" altLang="en-US" smtClean="0"/>
            </a:fld>
            <a:endParaRPr lang="zh-CN" altLang="en-US"/>
          </a:p>
        </p:txBody>
      </p:sp>
      <p:graphicFrame>
        <p:nvGraphicFramePr>
          <p:cNvPr id="2" name="表格 1"/>
          <p:cNvGraphicFramePr/>
          <p:nvPr>
            <p:custDataLst>
              <p:tags r:id="rId3"/>
            </p:custDataLst>
          </p:nvPr>
        </p:nvGraphicFramePr>
        <p:xfrm>
          <a:off x="4261485" y="3735705"/>
          <a:ext cx="5991225" cy="3134995"/>
        </p:xfrm>
        <a:graphic>
          <a:graphicData uri="http://schemas.openxmlformats.org/drawingml/2006/table">
            <a:tbl>
              <a:tblPr firstRow="1" bandCol="1">
                <a:tableStyleId>{B2E476ED-E556-45B5-8BDD-68916C002191}</a:tableStyleId>
              </a:tblPr>
              <a:tblGrid>
                <a:gridCol w="2866390"/>
                <a:gridCol w="3124835"/>
              </a:tblGrid>
              <a:tr h="734695">
                <a:tc>
                  <a:txBody>
                    <a:bodyPr/>
                    <a:p>
                      <a:r>
                        <a:t>knowledge / assertion-template gaps — 3 flipped by contract v2 (milvus_003/024, qdrant_018)</a:t>
                      </a:r>
                    </a:p>
                  </a:txBody>
                  <a:tcPr>
                    <a:solidFill>
                      <a:schemeClr val="accent5">
                        <a:lumMod val="40000"/>
                        <a:lumOff val="60000"/>
                      </a:schemeClr>
                    </a:solidFill>
                  </a:tcPr>
                </a:tc>
                <a:tc>
                  <a:txBody>
                    <a:bodyPr/>
                    <a:p>
                      <a:r>
                        <a:t>limits &amp; escalation — 1 paradigm limit (milvus_004, no doc anchor) + 1 evidence gap (milvus_001, no HTTP log) + 2 escalated (milvus_012/033)</a:t>
                      </a:r>
                    </a:p>
                  </a:txBody>
                  <a:tcPr/>
                </a:tc>
              </a:tr>
              <a:tr h="600075">
                <a:tc>
                  <a:txBody>
                    <a:bodyPr/>
                    <a:p>
                      <a:r>
                        <a:t>3</a:t>
                      </a:r>
                    </a:p>
                  </a:txBody>
                  <a:tcPr>
                    <a:lnR w="12700">
                      <a:solidFill>
                        <a:schemeClr val="tx1"/>
                      </a:solidFill>
                      <a:prstDash val="solid"/>
                    </a:lnR>
                    <a:lnB w="12700">
                      <a:solidFill>
                        <a:schemeClr val="tx1"/>
                      </a:solidFill>
                      <a:prstDash val="solid"/>
                    </a:lnB>
                  </a:tcPr>
                </a:tc>
                <a:tc>
                  <a:txBody>
                    <a:bodyPr/>
                    <a:p>
                      <a:r>
                        <a:t>4</a:t>
                      </a:r>
                    </a:p>
                  </a:txBody>
                  <a:tcPr>
                    <a:lnL w="12700">
                      <a:solidFill>
                        <a:schemeClr val="tx1"/>
                      </a:solidFill>
                      <a:prstDash val="solid"/>
                    </a:lnL>
                    <a:lnR w="12700">
                      <a:solidFill>
                        <a:schemeClr val="tx1"/>
                      </a:solidFill>
                      <a:prstDash val="solid"/>
                    </a:lnR>
                    <a:lnB w="12700">
                      <a:solidFill>
                        <a:schemeClr val="tx1"/>
                      </a:solidFill>
                      <a:prstDash val="solid"/>
                    </a:lnB>
                  </a:tcPr>
                </a:tc>
              </a:tr>
            </a:tbl>
          </a:graphicData>
        </a:graphic>
      </p:graphicFrame>
      <p:sp>
        <p:nvSpPr>
          <p:cNvPr id="3" name="圆角矩形 2"/>
          <p:cNvSpPr/>
          <p:nvPr/>
        </p:nvSpPr>
        <p:spPr>
          <a:xfrm>
            <a:off x="197485" y="1554480"/>
            <a:ext cx="2694305" cy="4819015"/>
          </a:xfrm>
          <a:prstGeom prst="roundRect">
            <a:avLst/>
          </a:prstGeom>
          <a:solidFill>
            <a:schemeClr val="accent5">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dirty="0">
              <a:solidFill>
                <a:srgbClr val="002060"/>
              </a:solidFill>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10" name="矩形 9"/>
          <p:cNvSpPr/>
          <p:nvPr/>
        </p:nvSpPr>
        <p:spPr>
          <a:xfrm>
            <a:off x="398145" y="1668780"/>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judge_is_defect</a:t>
            </a:r>
            <a:endParaRPr lang="en-US" altLang="zh-CN">
              <a:solidFill>
                <a:srgbClr val="002060"/>
              </a:solidFill>
              <a:latin typeface="Comic Sans MS" panose="030F0702030302020204" charset="0"/>
              <a:cs typeface="Comic Sans MS" panose="030F0702030302020204" charset="0"/>
            </a:endParaRPr>
          </a:p>
        </p:txBody>
      </p:sp>
      <p:sp>
        <p:nvSpPr>
          <p:cNvPr id="5" name="矩形 4"/>
          <p:cNvSpPr/>
          <p:nvPr/>
        </p:nvSpPr>
        <p:spPr>
          <a:xfrm>
            <a:off x="473075" y="182054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42 real_defect</a:t>
            </a:r>
          </a:p>
          <a:p>
            <a:r>
              <a:t>(真实缺陷)</a:t>
            </a:r>
          </a:p>
        </p:txBody>
      </p:sp>
      <p:sp>
        <p:nvSpPr>
          <p:cNvPr id="7" name="矩形 6"/>
          <p:cNvSpPr/>
          <p:nvPr/>
        </p:nvSpPr>
        <p:spPr>
          <a:xfrm>
            <a:off x="473075" y="303339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5 not_defect</a:t>
            </a:r>
            <a:endParaRPr lang="en-US" altLang="zh-CN">
              <a:solidFill>
                <a:srgbClr val="002060"/>
              </a:solidFill>
              <a:latin typeface="Comic Sans MS" panose="030F0702030302020204" charset="0"/>
              <a:cs typeface="Comic Sans MS" panose="030F0702030302020204" charset="0"/>
            </a:endParaRPr>
          </a:p>
          <a:p>
            <a:pPr algn="ctr"/>
            <a:r>
              <a:rPr lang="en-US" altLang="zh-CN">
                <a:solidFill>
                  <a:srgbClr val="002060"/>
                </a:solidFill>
                <a:latin typeface="Comic Sans MS" panose="030F0702030302020204" charset="0"/>
                <a:cs typeface="Comic Sans MS" panose="030F0702030302020204" charset="0"/>
                <a:sym typeface="+mn-ea"/>
              </a:rPr>
              <a:t>(</a:t>
            </a:r>
            <a:r>
              <a:rPr lang="zh-CN" altLang="en-US">
                <a:solidFill>
                  <a:srgbClr val="002060"/>
                </a:solidFill>
                <a:latin typeface="Comic Sans MS" panose="030F0702030302020204" charset="0"/>
                <a:cs typeface="Comic Sans MS" panose="030F0702030302020204" charset="0"/>
                <a:sym typeface="+mn-ea"/>
              </a:rPr>
              <a:t>真实误报</a:t>
            </a:r>
            <a:r>
              <a:rPr lang="en-US" altLang="zh-CN">
                <a:solidFill>
                  <a:srgbClr val="002060"/>
                </a:solidFill>
                <a:latin typeface="Comic Sans MS" panose="030F0702030302020204" charset="0"/>
                <a:cs typeface="Comic Sans MS" panose="030F0702030302020204" charset="0"/>
                <a:sym typeface="+mn-ea"/>
              </a:rPr>
              <a:t>)</a:t>
            </a:r>
            <a:endParaRPr lang="en-US" altLang="zh-CN">
              <a:solidFill>
                <a:srgbClr val="002060"/>
              </a:solidFill>
              <a:latin typeface="Comic Sans MS" panose="030F0702030302020204" charset="0"/>
              <a:cs typeface="Comic Sans MS" panose="030F0702030302020204" charset="0"/>
            </a:endParaRPr>
          </a:p>
        </p:txBody>
      </p:sp>
      <p:sp>
        <p:nvSpPr>
          <p:cNvPr id="9" name="矩形 8"/>
          <p:cNvSpPr/>
          <p:nvPr/>
        </p:nvSpPr>
        <p:spPr>
          <a:xfrm>
            <a:off x="398145" y="4102735"/>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judge_not_defect</a:t>
            </a:r>
            <a:endParaRPr lang="en-US" altLang="zh-CN">
              <a:solidFill>
                <a:srgbClr val="002060"/>
              </a:solidFill>
              <a:latin typeface="Comic Sans MS" panose="030F0702030302020204" charset="0"/>
              <a:cs typeface="Comic Sans MS" panose="030F0702030302020204" charset="0"/>
            </a:endParaRPr>
          </a:p>
        </p:txBody>
      </p:sp>
      <p:sp>
        <p:nvSpPr>
          <p:cNvPr id="8" name="矩形 7"/>
          <p:cNvSpPr/>
          <p:nvPr/>
        </p:nvSpPr>
        <p:spPr>
          <a:xfrm>
            <a:off x="473075" y="546036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2 real_defect</a:t>
            </a:r>
          </a:p>
          <a:p>
            <a:r>
              <a:t>(真实缺陷)</a:t>
            </a:r>
          </a:p>
        </p:txBody>
      </p:sp>
      <p:sp>
        <p:nvSpPr>
          <p:cNvPr id="11" name="矩形 10"/>
          <p:cNvSpPr/>
          <p:nvPr/>
        </p:nvSpPr>
        <p:spPr>
          <a:xfrm>
            <a:off x="473075" y="424688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22 not_defect</a:t>
            </a:r>
            <a:br>
              <a:rPr lang="en-US" altLang="zh-CN">
                <a:solidFill>
                  <a:srgbClr val="002060"/>
                </a:solidFill>
                <a:latin typeface="Comic Sans MS" panose="030F0702030302020204" charset="0"/>
                <a:cs typeface="Comic Sans MS" panose="030F0702030302020204" charset="0"/>
              </a:rPr>
            </a:br>
            <a:r>
              <a:rPr lang="en-US" altLang="zh-CN">
                <a:solidFill>
                  <a:srgbClr val="002060"/>
                </a:solidFill>
                <a:latin typeface="Comic Sans MS" panose="030F0702030302020204" charset="0"/>
                <a:cs typeface="Comic Sans MS" panose="030F0702030302020204" charset="0"/>
              </a:rPr>
              <a:t>(</a:t>
            </a:r>
            <a:r>
              <a:rPr lang="zh-CN" altLang="en-US">
                <a:solidFill>
                  <a:srgbClr val="002060"/>
                </a:solidFill>
                <a:latin typeface="Comic Sans MS" panose="030F0702030302020204" charset="0"/>
                <a:cs typeface="Comic Sans MS" panose="030F0702030302020204" charset="0"/>
              </a:rPr>
              <a:t>真实误报</a:t>
            </a:r>
            <a:r>
              <a:rPr lang="en-US" altLang="zh-CN">
                <a:solidFill>
                  <a:srgbClr val="002060"/>
                </a:solidFill>
                <a:latin typeface="Comic Sans MS" panose="030F0702030302020204" charset="0"/>
                <a:cs typeface="Comic Sans MS" panose="030F0702030302020204" charset="0"/>
              </a:rPr>
              <a:t>)</a:t>
            </a:r>
            <a:endParaRPr lang="en-US" altLang="zh-CN">
              <a:solidFill>
                <a:srgbClr val="002060"/>
              </a:solidFill>
              <a:latin typeface="Comic Sans MS" panose="030F0702030302020204" charset="0"/>
              <a:cs typeface="Comic Sans MS" panose="030F0702030302020204" charset="0"/>
            </a:endParaRPr>
          </a:p>
        </p:txBody>
      </p:sp>
      <p:cxnSp>
        <p:nvCxnSpPr>
          <p:cNvPr id="6" name="肘形连接符 5"/>
          <p:cNvCxnSpPr>
            <a:stCxn id="8" idx="3"/>
            <a:endCxn id="33" idx="1"/>
          </p:cNvCxnSpPr>
          <p:nvPr/>
        </p:nvCxnSpPr>
        <p:spPr>
          <a:xfrm flipV="1">
            <a:off x="2679065" y="2223135"/>
            <a:ext cx="1584325" cy="3523615"/>
          </a:xfrm>
          <a:prstGeom prst="bentConnector3">
            <a:avLst>
              <a:gd name="adj1" fmla="val 29699"/>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4263390" y="1820545"/>
            <a:ext cx="6078855" cy="804545"/>
          </a:xfrm>
          <a:ln w="28575" cmpd="sng">
            <a:solidFill>
              <a:srgbClr val="000000"/>
            </a:solidFill>
            <a:prstDash val="solid"/>
          </a:ln>
        </p:spPr>
        <p:txBody>
          <a:bodyPr>
            <a:noAutofit/>
          </a:bodyPr>
          <a:lstStyle/>
          <a:p>
            <a:pPr marL="0" indent="0" algn="ctr">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Why were they missed ?</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a:t>
            </a:r>
            <a:r>
              <a:rPr lang="en-US" sz="3600">
                <a:solidFill>
                  <a:srgbClr val="0A4A94"/>
                </a:solidFill>
                <a:latin typeface="Cambria" panose="02040503050406030204" charset="0"/>
                <a:cs typeface="Cambria" panose="02040503050406030204" charset="0"/>
                <a:sym typeface="+mn-ea"/>
              </a:rPr>
              <a:t>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252710" y="6315710"/>
            <a:ext cx="1324610" cy="315595"/>
          </a:xfrm>
        </p:spPr>
        <p:txBody>
          <a:bodyPr/>
          <a:lstStyle/>
          <a:p>
            <a:fld id="{E09368C2-8BE5-4C19-86FB-98954A39BC6E}" type="slidenum">
              <a:rPr lang="zh-CN" altLang="en-US" smtClean="0"/>
            </a:fld>
            <a:endParaRPr lang="zh-CN" altLang="en-US"/>
          </a:p>
        </p:txBody>
      </p:sp>
      <p:sp>
        <p:nvSpPr>
          <p:cNvPr id="3" name="圆角矩形 2"/>
          <p:cNvSpPr/>
          <p:nvPr/>
        </p:nvSpPr>
        <p:spPr>
          <a:xfrm>
            <a:off x="197485" y="1554480"/>
            <a:ext cx="2694305" cy="4819015"/>
          </a:xfrm>
          <a:prstGeom prst="roundRect">
            <a:avLst/>
          </a:prstGeom>
          <a:solidFill>
            <a:schemeClr val="accent5">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dirty="0">
              <a:solidFill>
                <a:srgbClr val="002060"/>
              </a:solidFill>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10" name="矩形 9"/>
          <p:cNvSpPr/>
          <p:nvPr/>
        </p:nvSpPr>
        <p:spPr>
          <a:xfrm>
            <a:off x="398145" y="1668780"/>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judge_is_defect</a:t>
            </a:r>
            <a:endParaRPr lang="en-US" altLang="zh-CN">
              <a:solidFill>
                <a:srgbClr val="002060"/>
              </a:solidFill>
              <a:latin typeface="Comic Sans MS" panose="030F0702030302020204" charset="0"/>
              <a:cs typeface="Comic Sans MS" panose="030F0702030302020204" charset="0"/>
            </a:endParaRPr>
          </a:p>
        </p:txBody>
      </p:sp>
      <p:sp>
        <p:nvSpPr>
          <p:cNvPr id="5" name="矩形 4"/>
          <p:cNvSpPr/>
          <p:nvPr/>
        </p:nvSpPr>
        <p:spPr>
          <a:xfrm>
            <a:off x="473075" y="182054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42 real_defect</a:t>
            </a:r>
          </a:p>
          <a:p>
            <a:r>
              <a:t>(真实缺陷)</a:t>
            </a:r>
          </a:p>
        </p:txBody>
      </p:sp>
      <p:sp>
        <p:nvSpPr>
          <p:cNvPr id="7" name="矩形 6"/>
          <p:cNvSpPr/>
          <p:nvPr/>
        </p:nvSpPr>
        <p:spPr>
          <a:xfrm>
            <a:off x="473075" y="303339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5 not_defect</a:t>
            </a:r>
            <a:endParaRPr lang="en-US" altLang="zh-CN">
              <a:solidFill>
                <a:srgbClr val="002060"/>
              </a:solidFill>
              <a:latin typeface="Comic Sans MS" panose="030F0702030302020204" charset="0"/>
              <a:cs typeface="Comic Sans MS" panose="030F0702030302020204" charset="0"/>
            </a:endParaRPr>
          </a:p>
          <a:p>
            <a:pPr algn="ctr"/>
            <a:r>
              <a:rPr lang="en-US" altLang="zh-CN">
                <a:solidFill>
                  <a:srgbClr val="002060"/>
                </a:solidFill>
                <a:latin typeface="Comic Sans MS" panose="030F0702030302020204" charset="0"/>
                <a:cs typeface="Comic Sans MS" panose="030F0702030302020204" charset="0"/>
                <a:sym typeface="+mn-ea"/>
              </a:rPr>
              <a:t>(</a:t>
            </a:r>
            <a:r>
              <a:rPr lang="zh-CN" altLang="en-US">
                <a:solidFill>
                  <a:srgbClr val="002060"/>
                </a:solidFill>
                <a:latin typeface="Comic Sans MS" panose="030F0702030302020204" charset="0"/>
                <a:cs typeface="Comic Sans MS" panose="030F0702030302020204" charset="0"/>
                <a:sym typeface="+mn-ea"/>
              </a:rPr>
              <a:t>真实误报</a:t>
            </a:r>
            <a:r>
              <a:rPr lang="en-US" altLang="zh-CN">
                <a:solidFill>
                  <a:srgbClr val="002060"/>
                </a:solidFill>
                <a:latin typeface="Comic Sans MS" panose="030F0702030302020204" charset="0"/>
                <a:cs typeface="Comic Sans MS" panose="030F0702030302020204" charset="0"/>
                <a:sym typeface="+mn-ea"/>
              </a:rPr>
              <a:t>)</a:t>
            </a:r>
            <a:endParaRPr lang="en-US" altLang="zh-CN">
              <a:solidFill>
                <a:srgbClr val="002060"/>
              </a:solidFill>
              <a:latin typeface="Comic Sans MS" panose="030F0702030302020204" charset="0"/>
              <a:cs typeface="Comic Sans MS" panose="030F0702030302020204" charset="0"/>
            </a:endParaRPr>
          </a:p>
        </p:txBody>
      </p:sp>
      <p:sp>
        <p:nvSpPr>
          <p:cNvPr id="9" name="矩形 8"/>
          <p:cNvSpPr/>
          <p:nvPr/>
        </p:nvSpPr>
        <p:spPr>
          <a:xfrm>
            <a:off x="398145" y="4102735"/>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judge_not_defect</a:t>
            </a:r>
            <a:endParaRPr lang="en-US" altLang="zh-CN">
              <a:solidFill>
                <a:srgbClr val="002060"/>
              </a:solidFill>
              <a:latin typeface="Comic Sans MS" panose="030F0702030302020204" charset="0"/>
              <a:cs typeface="Comic Sans MS" panose="030F0702030302020204" charset="0"/>
            </a:endParaRPr>
          </a:p>
        </p:txBody>
      </p:sp>
      <p:sp>
        <p:nvSpPr>
          <p:cNvPr id="8" name="矩形 7"/>
          <p:cNvSpPr/>
          <p:nvPr/>
        </p:nvSpPr>
        <p:spPr>
          <a:xfrm>
            <a:off x="473075" y="546036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2 real_defect</a:t>
            </a:r>
          </a:p>
          <a:p>
            <a:r>
              <a:t>(真实缺陷)</a:t>
            </a:r>
          </a:p>
        </p:txBody>
      </p:sp>
      <p:sp>
        <p:nvSpPr>
          <p:cNvPr id="11" name="矩形 10"/>
          <p:cNvSpPr/>
          <p:nvPr/>
        </p:nvSpPr>
        <p:spPr>
          <a:xfrm>
            <a:off x="473075" y="424688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22 not_defect</a:t>
            </a:r>
            <a:br>
              <a:rPr lang="en-US" altLang="zh-CN">
                <a:solidFill>
                  <a:srgbClr val="002060"/>
                </a:solidFill>
                <a:latin typeface="Comic Sans MS" panose="030F0702030302020204" charset="0"/>
                <a:cs typeface="Comic Sans MS" panose="030F0702030302020204" charset="0"/>
              </a:rPr>
            </a:br>
            <a:r>
              <a:rPr lang="en-US" altLang="zh-CN">
                <a:solidFill>
                  <a:srgbClr val="002060"/>
                </a:solidFill>
                <a:latin typeface="Comic Sans MS" panose="030F0702030302020204" charset="0"/>
                <a:cs typeface="Comic Sans MS" panose="030F0702030302020204" charset="0"/>
              </a:rPr>
              <a:t>(</a:t>
            </a:r>
            <a:r>
              <a:rPr lang="zh-CN" altLang="en-US">
                <a:solidFill>
                  <a:srgbClr val="002060"/>
                </a:solidFill>
                <a:latin typeface="Comic Sans MS" panose="030F0702030302020204" charset="0"/>
                <a:cs typeface="Comic Sans MS" panose="030F0702030302020204" charset="0"/>
              </a:rPr>
              <a:t>真实误报</a:t>
            </a:r>
            <a:r>
              <a:rPr lang="en-US" altLang="zh-CN">
                <a:solidFill>
                  <a:srgbClr val="002060"/>
                </a:solidFill>
                <a:latin typeface="Comic Sans MS" panose="030F0702030302020204" charset="0"/>
                <a:cs typeface="Comic Sans MS" panose="030F0702030302020204" charset="0"/>
              </a:rPr>
              <a:t>)</a:t>
            </a:r>
            <a:endParaRPr lang="en-US" altLang="zh-CN">
              <a:solidFill>
                <a:srgbClr val="002060"/>
              </a:solidFill>
              <a:latin typeface="Comic Sans MS" panose="030F0702030302020204" charset="0"/>
              <a:cs typeface="Comic Sans MS" panose="030F0702030302020204" charset="0"/>
            </a:endParaRPr>
          </a:p>
        </p:txBody>
      </p:sp>
      <p:cxnSp>
        <p:nvCxnSpPr>
          <p:cNvPr id="6" name="肘形连接符 5"/>
          <p:cNvCxnSpPr>
            <a:stCxn id="7" idx="3"/>
            <a:endCxn id="33" idx="1"/>
          </p:cNvCxnSpPr>
          <p:nvPr/>
        </p:nvCxnSpPr>
        <p:spPr>
          <a:xfrm flipV="1">
            <a:off x="2679065" y="2223135"/>
            <a:ext cx="1584325" cy="1096645"/>
          </a:xfrm>
          <a:prstGeom prst="bentConnector3">
            <a:avLst>
              <a:gd name="adj1" fmla="val 39679"/>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graphicFrame>
        <p:nvGraphicFramePr>
          <p:cNvPr id="13" name="表格 12"/>
          <p:cNvGraphicFramePr/>
          <p:nvPr>
            <p:custDataLst>
              <p:tags r:id="rId3"/>
            </p:custDataLst>
          </p:nvPr>
        </p:nvGraphicFramePr>
        <p:xfrm>
          <a:off x="4768850" y="3671570"/>
          <a:ext cx="5067935" cy="1788795"/>
        </p:xfrm>
        <a:graphic>
          <a:graphicData uri="http://schemas.openxmlformats.org/drawingml/2006/table">
            <a:tbl>
              <a:tblPr firstRow="1" bandCol="1">
                <a:tableStyleId>{B2E476ED-E556-45B5-8BDD-68916C002191}</a:tableStyleId>
              </a:tblPr>
              <a:tblGrid>
                <a:gridCol w="2424430"/>
                <a:gridCol w="2643505"/>
              </a:tblGrid>
              <a:tr h="734695">
                <a:tc>
                  <a:txBody>
                    <a:bodyPr/>
                    <a:p>
                      <a:pPr algn="ctr">
                        <a:buNone/>
                      </a:pPr>
                      <a:r>
                        <a:rPr lang="en-US" altLang="zh-CN">
                          <a:solidFill>
                            <a:srgbClr val="002060"/>
                          </a:solidFill>
                        </a:rPr>
                        <a:t>Maintainers show inconsistent attitudes toward similar phenomena</a:t>
                      </a:r>
                      <a:endParaRPr lang="en-US" altLang="zh-CN">
                        <a:solidFill>
                          <a:srgbClr val="002060"/>
                        </a:solidFill>
                      </a:endParaRPr>
                    </a:p>
                  </a:txBody>
                  <a:tcPr>
                    <a:solidFill>
                      <a:schemeClr val="accent5">
                        <a:lumMod val="40000"/>
                        <a:lumOff val="60000"/>
                      </a:schemeClr>
                    </a:solidFill>
                  </a:tcPr>
                </a:tc>
                <a:tc>
                  <a:txBody>
                    <a:bodyPr/>
                    <a:p>
                      <a:pPr algn="ctr">
                        <a:buNone/>
                      </a:pPr>
                      <a:r>
                        <a:rPr lang="en-US" altLang="zh-CN">
                          <a:solidFill>
                            <a:srgbClr val="002060"/>
                          </a:solidFill>
                        </a:rPr>
                        <a:t>no by-design </a:t>
                      </a:r>
                      <a:r>
                        <a:rPr lang="en-US" altLang="zh-CN">
                          <a:solidFill>
                            <a:srgbClr val="002060"/>
                          </a:solidFill>
                        </a:rPr>
                        <a:t>information available</a:t>
                      </a:r>
                      <a:endParaRPr lang="en-US" altLang="zh-CN">
                        <a:solidFill>
                          <a:srgbClr val="002060"/>
                        </a:solidFill>
                      </a:endParaRPr>
                    </a:p>
                  </a:txBody>
                  <a:tcPr/>
                </a:tc>
              </a:tr>
              <a:tr h="600075">
                <a:tc>
                  <a:txBody>
                    <a:bodyPr/>
                    <a:p>
                      <a:pPr algn="ctr">
                        <a:buNone/>
                      </a:pPr>
                      <a:r>
                        <a:rPr lang="en-US" altLang="zh-CN"/>
                        <a:t>2</a:t>
                      </a:r>
                      <a:endParaRPr lang="en-US" altLang="zh-CN"/>
                    </a:p>
                  </a:txBody>
                  <a:tcPr>
                    <a:lnR w="12700">
                      <a:solidFill>
                        <a:schemeClr val="tx1"/>
                      </a:solidFill>
                      <a:prstDash val="solid"/>
                    </a:lnR>
                    <a:lnB w="12700">
                      <a:solidFill>
                        <a:schemeClr val="tx1"/>
                      </a:solidFill>
                      <a:prstDash val="solid"/>
                    </a:lnB>
                  </a:tcPr>
                </a:tc>
                <a:tc>
                  <a:txBody>
                    <a:bodyPr/>
                    <a:p>
                      <a:pPr algn="ctr">
                        <a:buNone/>
                      </a:pPr>
                      <a:r>
                        <a:rPr lang="en-US" altLang="zh-CN"/>
                        <a:t>3</a:t>
                      </a:r>
                      <a:endParaRPr lang="en-US" altLang="zh-CN"/>
                    </a:p>
                  </a:txBody>
                  <a:tcPr>
                    <a:lnL w="12700">
                      <a:solidFill>
                        <a:schemeClr val="tx1"/>
                      </a:solidFill>
                      <a:prstDash val="solid"/>
                    </a:lnL>
                    <a:lnR w="12700">
                      <a:solidFill>
                        <a:schemeClr val="tx1"/>
                      </a:solidFill>
                      <a:prstDash val="solid"/>
                    </a:lnR>
                    <a:lnB w="12700">
                      <a:solidFill>
                        <a:schemeClr val="tx1"/>
                      </a:solidFill>
                      <a:prstDash val="solid"/>
                    </a:lnB>
                  </a:tcPr>
                </a:tc>
              </a:tr>
            </a:tbl>
          </a:graphicData>
        </a:graphic>
      </p:graphicFrame>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669925" y="1395730"/>
            <a:ext cx="10852150" cy="4941570"/>
          </a:xfrm>
        </p:spPr>
        <p:txBody>
          <a:bodyPr/>
          <a:lstStyle/>
          <a:p>
            <a:pPr marL="0" indent="0">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 </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a:t>
            </a:r>
            <a:r>
              <a:rPr lang="en-US" sz="3600">
                <a:solidFill>
                  <a:srgbClr val="0A4A94"/>
                </a:solidFill>
                <a:latin typeface="Cambria" panose="02040503050406030204" charset="0"/>
                <a:cs typeface="Cambria" panose="02040503050406030204" charset="0"/>
                <a:sym typeface="+mn-ea"/>
              </a:rPr>
              <a:t>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056495" y="6314440"/>
            <a:ext cx="1520825" cy="354330"/>
          </a:xfrm>
        </p:spPr>
        <p:txBody>
          <a:bodyPr/>
          <a:lstStyle/>
          <a:p>
            <a:fld id="{E09368C2-8BE5-4C19-86FB-98954A39BC6E}" type="slidenum">
              <a:rPr lang="zh-CN" altLang="en-US" smtClean="0"/>
            </a:fld>
            <a:endParaRPr lang="zh-CN" altLang="en-US"/>
          </a:p>
        </p:txBody>
      </p:sp>
      <p:pic>
        <p:nvPicPr>
          <p:cNvPr id="3" name="图表 3"/>
          <p:cNvPicPr/>
          <p:nvPr/>
        </p:nvPicPr>
        <p:blipFill>
          <a:blip r:embed="rId5"/>
          <a:stretch>
            <a:fillRect/>
          </a:stretch>
        </p:blipFill>
        <p:spPr>
          <a:xfrm>
            <a:off x="1372870" y="2225675"/>
            <a:ext cx="8151495" cy="4159885"/>
          </a:xfrm>
          <a:prstGeom prst="rect">
            <a:avLst/>
          </a:prstGeom>
          <a:ln>
            <a:solidFill>
              <a:srgbClr val="D9D9D9"/>
            </a:solidFill>
          </a:ln>
          <a:extLst>
            <a:ext uri="{8CAD56D8-0F58-4FB8-B24C-77498146470C}">
              <wpswe:webExtensionRef xmlns:wpswe="http://www.wps.cn/officeDocument/2018/webExtension" r:id="rId4"/>
            </a:ext>
            <wpswe:webExtensionRef xmlns:wpswe="http://www.wps.cn/officeDocument/2018/webExtension" r:id="rId4"/>
          </a:extLst>
        </p:spPr>
      </p:pic>
      <p:sp>
        <p:nvSpPr>
          <p:cNvPr id="5" name="内容占位符 32"/>
          <p:cNvSpPr>
            <a:spLocks noGrp="1"/>
          </p:cNvSpPr>
          <p:nvPr/>
        </p:nvSpPr>
        <p:spPr>
          <a:xfrm>
            <a:off x="716915" y="1226820"/>
            <a:ext cx="10852150" cy="494157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buFont typeface="Wingdings" panose="05000000000000000000" charset="0"/>
              <a:buChar char="p"/>
            </a:pPr>
            <a:r>
              <a:rPr sz="2800" b="1"/>
              <a:t> 71 candidates[1]（44TP[milvus 29, qdrant 7, weaviate 8] + 27FP[milvus 14, qdrant 11, weaviate 2]）
</a:t>
            </a:r>
            <a:endParaRPr lang="en-US" altLang="zh-CN" sz="1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6" name="文本框 5"/>
          <p:cNvSpPr txBox="1"/>
          <p:nvPr/>
        </p:nvSpPr>
        <p:spPr>
          <a:xfrm>
            <a:off x="9859645" y="2484120"/>
            <a:ext cx="2006600" cy="2178050"/>
          </a:xfrm>
          <a:prstGeom prst="rect">
            <a:avLst/>
          </a:prstGeom>
          <a:solidFill>
            <a:schemeClr val="accent1">
              <a:lumMod val="40000"/>
              <a:lumOff val="60000"/>
            </a:schemeClr>
          </a:solidFill>
          <a:ln w="28575" cmpd="thickThin">
            <a:solidFill>
              <a:schemeClr val="accent1">
                <a:shade val="50000"/>
              </a:schemeClr>
            </a:solidFill>
            <a:prstDash val="solid"/>
          </a:ln>
        </p:spPr>
        <p:txBody>
          <a:bodyPr wrap="square" rtlCol="0">
            <a:noAutofit/>
          </a:bodyPr>
          <a:p>
            <a:r>
              <a:rPr lang="en-US" altLang="zh-CN">
                <a:latin typeface="Cambria" panose="02040503050406030204" charset="0"/>
                <a:cs typeface="Cambria" panose="02040503050406030204" charset="0"/>
              </a:rPr>
              <a:t>precision:</a:t>
            </a:r>
            <a:endParaRPr lang="en-US" altLang="zh-CN">
              <a:latin typeface="Cambria" panose="02040503050406030204" charset="0"/>
              <a:cs typeface="Cambria" panose="02040503050406030204" charset="0"/>
            </a:endParaRPr>
          </a:p>
          <a:p>
            <a:r>
              <a:rPr lang="zh-CN" altLang="en-US">
                <a:latin typeface="Cambria" panose="02040503050406030204" charset="0"/>
                <a:cs typeface="Cambria" panose="02040503050406030204" charset="0"/>
              </a:rPr>
              <a:t>整体判断能力</a:t>
            </a:r>
            <a:endParaRPr lang="zh-CN" altLang="en-US">
              <a:latin typeface="Cambria" panose="02040503050406030204" charset="0"/>
              <a:cs typeface="Cambria" panose="02040503050406030204" charset="0"/>
            </a:endParaRPr>
          </a:p>
          <a:p>
            <a:r>
              <a:rPr lang="en-US" altLang="zh-CN">
                <a:latin typeface="Cambria" panose="02040503050406030204" charset="0"/>
                <a:cs typeface="Cambria" panose="02040503050406030204" charset="0"/>
              </a:rPr>
              <a:t>accuracy</a:t>
            </a:r>
            <a:r>
              <a:rPr lang="zh-CN" altLang="en-US">
                <a:latin typeface="Cambria" panose="02040503050406030204" charset="0"/>
                <a:cs typeface="Cambria" panose="02040503050406030204" charset="0"/>
              </a:rPr>
              <a:t>：</a:t>
            </a:r>
            <a:endParaRPr lang="zh-CN" altLang="en-US">
              <a:latin typeface="Cambria" panose="02040503050406030204" charset="0"/>
              <a:cs typeface="Cambria" panose="02040503050406030204" charset="0"/>
            </a:endParaRPr>
          </a:p>
          <a:p>
            <a:r>
              <a:rPr lang="zh-CN" altLang="en-US">
                <a:latin typeface="Cambria" panose="02040503050406030204" charset="0"/>
                <a:cs typeface="Cambria" panose="02040503050406030204" charset="0"/>
              </a:rPr>
              <a:t>剔除</a:t>
            </a:r>
            <a:r>
              <a:rPr lang="zh-CN" altLang="en-US">
                <a:latin typeface="Cambria" panose="02040503050406030204" charset="0"/>
                <a:cs typeface="Cambria" panose="02040503050406030204" charset="0"/>
              </a:rPr>
              <a:t>误报能力</a:t>
            </a:r>
            <a:endParaRPr lang="zh-CN" altLang="en-US">
              <a:latin typeface="Cambria" panose="02040503050406030204" charset="0"/>
              <a:cs typeface="Cambria" panose="02040503050406030204" charset="0"/>
            </a:endParaRPr>
          </a:p>
          <a:p>
            <a:r>
              <a:rPr lang="en-US" altLang="zh-CN">
                <a:latin typeface="Cambria" panose="02040503050406030204" charset="0"/>
                <a:cs typeface="Cambria" panose="02040503050406030204" charset="0"/>
              </a:rPr>
              <a:t>recall</a:t>
            </a:r>
            <a:r>
              <a:rPr lang="zh-CN" altLang="en-US">
                <a:latin typeface="Cambria" panose="02040503050406030204" charset="0"/>
                <a:cs typeface="Cambria" panose="02040503050406030204" charset="0"/>
              </a:rPr>
              <a:t>：</a:t>
            </a:r>
            <a:endParaRPr lang="zh-CN" altLang="en-US">
              <a:latin typeface="Cambria" panose="02040503050406030204" charset="0"/>
              <a:cs typeface="Cambria" panose="02040503050406030204" charset="0"/>
            </a:endParaRPr>
          </a:p>
          <a:p>
            <a:r>
              <a:rPr lang="zh-CN" altLang="en-US">
                <a:latin typeface="Cambria" panose="02040503050406030204" charset="0"/>
                <a:cs typeface="Cambria" panose="02040503050406030204" charset="0"/>
              </a:rPr>
              <a:t>保留真</a:t>
            </a:r>
            <a:r>
              <a:rPr lang="zh-CN" altLang="en-US">
                <a:latin typeface="Cambria" panose="02040503050406030204" charset="0"/>
                <a:cs typeface="Cambria" panose="02040503050406030204" charset="0"/>
              </a:rPr>
              <a:t>缺陷能力</a:t>
            </a:r>
            <a:endParaRPr lang="zh-CN" altLang="en-US">
              <a:latin typeface="Cambria" panose="02040503050406030204" charset="0"/>
              <a:cs typeface="Cambria" panose="02040503050406030204" charset="0"/>
            </a:endParaRPr>
          </a:p>
          <a:p>
            <a:endParaRPr lang="zh-CN" altLang="en-US">
              <a:latin typeface="Cambria" panose="02040503050406030204" charset="0"/>
              <a:cs typeface="Cambria" panose="02040503050406030204" charset="0"/>
            </a:endParaRPr>
          </a:p>
        </p:txBody>
      </p:sp>
      <p:sp>
        <p:nvSpPr>
          <p:cNvPr id="7" name="文本框 6"/>
          <p:cNvSpPr txBox="1"/>
          <p:nvPr/>
        </p:nvSpPr>
        <p:spPr>
          <a:xfrm>
            <a:off x="471170" y="6483350"/>
            <a:ext cx="4531360" cy="469265"/>
          </a:xfrm>
          <a:prstGeom prst="rect">
            <a:avLst/>
          </a:prstGeom>
          <a:noFill/>
        </p:spPr>
        <p:txBody>
          <a:bodyPr wrap="square" rtlCol="0">
            <a:noAutofit/>
          </a:bodyPr>
          <a:p>
            <a:r>
              <a:rPr lang="en-US" altLang="zh-CN" sz="1400" b="1" dirty="0" err="1">
                <a:latin typeface="Cambria" panose="02040503050406030204" charset="0"/>
                <a:ea typeface="Microsoft YaHei" panose="020B0503020204020204" charset="-122"/>
                <a:cs typeface="Cambria" panose="02040503050406030204" charset="0"/>
                <a:sym typeface="+mn-ea"/>
              </a:rPr>
              <a:t>[1] </a:t>
            </a:r>
            <a:r>
              <a:rPr lang="en-US" altLang="zh-CN" sz="1400">
                <a:latin typeface="Cambria" panose="02040503050406030204" charset="0"/>
                <a:cs typeface="Cambria" panose="02040503050406030204" charset="0"/>
              </a:rPr>
              <a:t>sampled from the 71-”TP + FP” pool for experiment</a:t>
            </a:r>
            <a:endParaRPr lang="en-US" altLang="zh-CN" sz="1400">
              <a:latin typeface="Cambria" panose="02040503050406030204" charset="0"/>
              <a:cs typeface="Cambria" panose="02040503050406030204" charset="0"/>
            </a:endParaRPr>
          </a:p>
          <a:p>
            <a:endParaRPr lang="en-US" altLang="zh-CN" sz="1400">
              <a:latin typeface="Cambria" panose="02040503050406030204" charset="0"/>
              <a:cs typeface="Cambria" panose="02040503050406030204" charset="0"/>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b="1" dirty="0">
                <a:latin typeface="Times New Roman" panose="02020603050405020304" charset="0"/>
                <a:sym typeface="+mn-ea"/>
              </a:rPr>
              <a:t>同上，需要考虑</a:t>
            </a:r>
            <a:r>
              <a:rPr lang="en-US" altLang="zh-CN" b="1" dirty="0">
                <a:latin typeface="Times New Roman" panose="02020603050405020304" charset="0"/>
                <a:sym typeface="+mn-ea"/>
              </a:rPr>
              <a:t>TP</a:t>
            </a:r>
            <a:r>
              <a:rPr lang="zh-CN" altLang="en-US" b="1" dirty="0">
                <a:latin typeface="Times New Roman" panose="02020603050405020304" charset="0"/>
                <a:sym typeface="+mn-ea"/>
              </a:rPr>
              <a:t>误判</a:t>
            </a:r>
            <a:r>
              <a:rPr lang="en-US" altLang="zh-CN" b="1" dirty="0">
                <a:latin typeface="Times New Roman" panose="02020603050405020304" charset="0"/>
                <a:sym typeface="+mn-ea"/>
              </a:rPr>
              <a:t>FP</a:t>
            </a:r>
            <a:r>
              <a:rPr lang="zh-CN" altLang="en-US" b="1" dirty="0">
                <a:latin typeface="Times New Roman" panose="02020603050405020304" charset="0"/>
                <a:sym typeface="+mn-ea"/>
              </a:rPr>
              <a:t>过多的问题</a:t>
            </a:r>
            <a:endParaRPr lang="zh-CN" altLang="en-US" b="1" dirty="0">
              <a:latin typeface="Times New Roman" panose="02020603050405020304" charset="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669925" y="1395730"/>
            <a:ext cx="10852150" cy="4941570"/>
          </a:xfrm>
        </p:spPr>
        <p:txBody>
          <a:bodyPr/>
          <a:lstStyle/>
          <a:p>
            <a:pPr marL="0" indent="0">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 </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kumimoji="1" lang="en-US" altLang="zh-CN" sz="3600" dirty="0">
                <a:solidFill>
                  <a:srgbClr val="0A4A94"/>
                </a:solidFill>
                <a:latin typeface="Cambria" panose="02040503050406030204" charset="0"/>
                <a:cs typeface="Cambria" panose="02040503050406030204" charset="0"/>
                <a:sym typeface="+mn-ea"/>
              </a:rPr>
              <a:t>Comparing</a:t>
            </a:r>
            <a:r>
              <a:rPr kumimoji="1" lang="zh-CN" altLang="en-US" sz="3600" dirty="0">
                <a:solidFill>
                  <a:srgbClr val="0A4A94"/>
                </a:solidFill>
                <a:latin typeface="Cambria" panose="02040503050406030204" charset="0"/>
                <a:cs typeface="Cambria" panose="02040503050406030204" charset="0"/>
                <a:sym typeface="+mn-ea"/>
              </a:rPr>
              <a:t> </a:t>
            </a:r>
            <a:r>
              <a:rPr kumimoji="1" lang="en-US" altLang="zh-CN" sz="3600" dirty="0">
                <a:solidFill>
                  <a:srgbClr val="0A4A94"/>
                </a:solidFill>
                <a:latin typeface="Cambria" panose="02040503050406030204" charset="0"/>
                <a:cs typeface="Cambria" panose="02040503050406030204" charset="0"/>
                <a:sym typeface="+mn-ea"/>
              </a:rPr>
              <a:t>with Existing Approach</a:t>
            </a:r>
            <a:endParaRPr kumimoji="1"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102215" y="6314440"/>
            <a:ext cx="1475105" cy="316865"/>
          </a:xfrm>
        </p:spPr>
        <p:txBody>
          <a:bodyPr/>
          <a:lstStyle/>
          <a:p>
            <a:fld id="{E09368C2-8BE5-4C19-86FB-98954A39BC6E}" type="slidenum">
              <a:rPr lang="zh-CN" altLang="en-US" smtClean="0"/>
            </a:fld>
            <a:endParaRPr lang="zh-CN" altLang="en-US"/>
          </a:p>
        </p:txBody>
      </p:sp>
      <p:sp>
        <p:nvSpPr>
          <p:cNvPr id="5" name="内容占位符 32"/>
          <p:cNvSpPr>
            <a:spLocks noGrp="1"/>
          </p:cNvSpPr>
          <p:nvPr/>
        </p:nvSpPr>
        <p:spPr>
          <a:xfrm>
            <a:off x="589915" y="1442720"/>
            <a:ext cx="10852150" cy="494157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nSpc>
                <a:spcPct val="100000"/>
              </a:lnSpc>
              <a:buFont typeface="Wingdings" panose="05000000000000000000" charset="0"/>
              <a:buChar char="p"/>
            </a:pPr>
            <a:r>
              <a:rPr lang="en-US" altLang="zh-CN" sz="2800" dirty="0">
                <a:solidFill>
                  <a:schemeClr val="tx1"/>
                </a:solidFill>
                <a:latin typeface="Cambria" panose="02040503050406030204" charset="0"/>
                <a:cs typeface="Cambria" panose="02040503050406030204" charset="0"/>
                <a:sym typeface="+mn-ea"/>
              </a:rPr>
              <a:t> Investigate whether the 45 TPs</a:t>
            </a:r>
            <a:r>
              <a:rPr kumimoji="1" lang="en-US" altLang="zh-CN" sz="2800" i="1" dirty="0" err="1">
                <a:solidFill>
                  <a:schemeClr val="tx1"/>
                </a:solidFill>
                <a:latin typeface="Cambria" panose="02040503050406030204" charset="0"/>
                <a:cs typeface="Cambria" panose="02040503050406030204" charset="0"/>
                <a:sym typeface="+mn-ea"/>
              </a:rPr>
              <a:t> </a:t>
            </a:r>
            <a:r>
              <a:rPr kumimoji="1" lang="en-US" altLang="zh-CN" sz="2800" i="1" dirty="0" err="1">
                <a:solidFill>
                  <a:schemeClr val="tx1"/>
                </a:solidFill>
                <a:latin typeface="Cambria" panose="02040503050406030204" charset="0"/>
                <a:cs typeface="Cambria" panose="02040503050406030204" charset="0"/>
                <a:sym typeface="+mn-ea"/>
              </a:rPr>
              <a:t>Bug</a:t>
            </a:r>
            <a:r>
              <a:rPr lang="en-US" altLang="zh-CN" sz="2800" dirty="0" err="1">
                <a:solidFill>
                  <a:schemeClr val="tx1"/>
                </a:solidFill>
                <a:latin typeface="Cambria" panose="02040503050406030204" charset="0"/>
                <a:cs typeface="Cambria" panose="02040503050406030204" charset="0"/>
                <a:sym typeface="+mn-ea"/>
              </a:rPr>
              <a:t>s</a:t>
            </a:r>
            <a:r>
              <a:rPr lang="en-US" altLang="zh-CN" sz="2800" dirty="0">
                <a:solidFill>
                  <a:schemeClr val="tx1"/>
                </a:solidFill>
                <a:latin typeface="Cambria" panose="02040503050406030204" charset="0"/>
                <a:cs typeface="Cambria" panose="02040503050406030204" charset="0"/>
                <a:sym typeface="+mn-ea"/>
              </a:rPr>
              <a:t> can be detected by existing approach(VDBFuzz)</a:t>
            </a:r>
            <a:endParaRPr lang="en-US" altLang="zh-CN" sz="2800" dirty="0">
              <a:solidFill>
                <a:schemeClr val="tx1"/>
              </a:solidFill>
              <a:latin typeface="Cambria" panose="02040503050406030204" charset="0"/>
              <a:cs typeface="Cambria" panose="02040503050406030204" charset="0"/>
            </a:endParaRPr>
          </a:p>
          <a:p>
            <a:pPr marL="0" lvl="1">
              <a:buFont typeface="Wingdings" panose="05000000000000000000" charset="0"/>
              <a:buChar char="p"/>
            </a:pPr>
            <a:endParaRPr lang="zh-CN" altLang="en-US"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graphicFrame>
        <p:nvGraphicFramePr>
          <p:cNvPr id="7" name="表格 5"/>
          <p:cNvGraphicFramePr>
            <a:graphicFrameLocks noGrp="1"/>
          </p:cNvGraphicFramePr>
          <p:nvPr>
            <p:custDataLst>
              <p:tags r:id="rId3"/>
            </p:custDataLst>
          </p:nvPr>
        </p:nvGraphicFramePr>
        <p:xfrm>
          <a:off x="1177925" y="3073400"/>
          <a:ext cx="4695825" cy="1993900"/>
        </p:xfrm>
        <a:graphic>
          <a:graphicData uri="http://schemas.openxmlformats.org/drawingml/2006/table">
            <a:tbl>
              <a:tblPr>
                <a:tableStyleId>{5C22544A-7EE6-4342-B048-85BDC9FD1C3A}</a:tableStyleId>
              </a:tblPr>
              <a:tblGrid>
                <a:gridCol w="1369695"/>
                <a:gridCol w="1880235"/>
                <a:gridCol w="1445895"/>
              </a:tblGrid>
              <a:tr h="370840">
                <a:tc>
                  <a:txBody>
                    <a:bodyPr/>
                    <a:lstStyle/>
                    <a:p>
                      <a:r>
                        <a:rPr lang="en-US" altLang="zh-CN" sz="2000" b="1" i="0" dirty="0">
                          <a:latin typeface="Times New Roman" panose="02020603050405020304" charset="0"/>
                        </a:rPr>
                        <a:t>VDBMS</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TestVDB</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VDBFuzz</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8940">
                <a:tc>
                  <a:txBody>
                    <a:bodyPr/>
                    <a:lstStyle/>
                    <a:p>
                      <a:r>
                        <a:rPr lang="en-US" altLang="zh-CN" sz="2000" b="0" i="0" dirty="0">
                          <a:latin typeface="Times New Roman" panose="02020603050405020304" charset="0"/>
                        </a:rPr>
                        <a:t>Milvus</a:t>
                      </a:r>
                      <a:endParaRPr lang="en-US" altLang="zh-CN"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29</a:t>
                      </a:r>
                      <a:endParaRPr lang="zh-CN" altLang="en-US"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0</a:t>
                      </a:r>
                      <a:endParaRPr lang="en-US" altLang="zh-CN"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r>
              <a:tr h="370840">
                <a:tc>
                  <a:txBody>
                    <a:bodyPr/>
                    <a:lstStyle/>
                    <a:p>
                      <a:r>
                        <a:rPr lang="en-US" altLang="zh-CN" sz="2000" b="0" i="0" dirty="0">
                          <a:latin typeface="Times New Roman" panose="02020603050405020304" charset="0"/>
                        </a:rPr>
                        <a:t>Qdrant</a:t>
                      </a:r>
                      <a:endParaRPr lang="en-US" altLang="zh-CN"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8</a:t>
                      </a:r>
                      <a:endParaRPr lang="zh-CN" altLang="en-US"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0</a:t>
                      </a:r>
                      <a:endParaRPr lang="en-US" altLang="zh-CN" sz="2000" b="0" i="0" dirty="0">
                        <a:latin typeface="Times New Roman" panose="02020603050405020304" charset="0"/>
                      </a:endParaRPr>
                    </a:p>
                  </a:txBody>
                  <a:tcPr>
                    <a:noFill/>
                  </a:tcPr>
                </a:tc>
              </a:tr>
              <a:tr h="370840">
                <a:tc>
                  <a:txBody>
                    <a:bodyPr/>
                    <a:lstStyle/>
                    <a:p>
                      <a:r>
                        <a:rPr lang="en-US" altLang="zh-CN" sz="2000" b="0" i="0" dirty="0" err="1">
                          <a:latin typeface="Times New Roman" panose="02020603050405020304" charset="0"/>
                        </a:rPr>
                        <a:t>Weaviate</a:t>
                      </a:r>
                      <a:endParaRPr lang="en-US" altLang="zh-CN" sz="2000" b="0" i="0" dirty="0" err="1">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8</a:t>
                      </a:r>
                      <a:endParaRPr lang="zh-CN" altLang="en-US"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0</a:t>
                      </a:r>
                      <a:endParaRPr lang="en-US" altLang="zh-CN"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r>
              <a:tr h="370840">
                <a:tc>
                  <a:txBody>
                    <a:bodyPr/>
                    <a:lstStyle/>
                    <a:p>
                      <a:r>
                        <a:rPr lang="en-US" altLang="zh-CN" sz="2000" b="1" i="0" dirty="0">
                          <a:latin typeface="Times New Roman" panose="02020603050405020304" charset="0"/>
                        </a:rPr>
                        <a:t>Total</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45</a:t>
                      </a:r>
                      <a:endParaRPr lang="en-US" altLang="zh-CN"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0</a:t>
                      </a:r>
                      <a:endParaRPr lang="en-US" altLang="zh-CN"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圆角矩形 9"/>
          <p:cNvSpPr/>
          <p:nvPr/>
        </p:nvSpPr>
        <p:spPr>
          <a:xfrm>
            <a:off x="6401435" y="2762885"/>
            <a:ext cx="4517390" cy="3060065"/>
          </a:xfrm>
          <a:prstGeom prst="roundRect">
            <a:avLst/>
          </a:prstGeom>
          <a:solidFill>
            <a:schemeClr val="accent2"/>
          </a:solidFill>
          <a:ln w="31750">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6473825" y="2943225"/>
            <a:ext cx="4462780" cy="3130550"/>
          </a:xfrm>
          <a:prstGeom prst="rect">
            <a:avLst/>
          </a:prstGeom>
          <a:noFill/>
        </p:spPr>
        <p:txBody>
          <a:bodyPr wrap="square" rtlCol="0">
            <a:noAutofit/>
          </a:bodyPr>
          <a:p>
            <a:r>
              <a:rPr lang="en-US" altLang="zh-CN" b="1" dirty="0">
                <a:latin typeface="Times New Roman" panose="02020603050405020304" charset="0"/>
                <a:sym typeface="+mn-ea"/>
              </a:rPr>
              <a:t>   </a:t>
            </a:r>
            <a:r>
              <a:rPr lang="en-US" altLang="zh-CN" b="1" dirty="0">
                <a:latin typeface="Cambria" panose="02040503050406030204" charset="0"/>
                <a:cs typeface="Cambria" panose="02040503050406030204" charset="0"/>
                <a:sym typeface="+mn-ea"/>
              </a:rPr>
              <a:t>On Qdrant v1.18.0, TestVDB found a silent-accept defect (#9045: empty vectors accepted via wait=false) ,which later triggers server panic on search,but VDBFuzz missed it—a crash oracle cannot fire on 200 OK. </a:t>
            </a:r>
            <a:endParaRPr lang="en-US" altLang="zh-CN" b="1" dirty="0">
              <a:latin typeface="Cambria" panose="02040503050406030204" charset="0"/>
              <a:cs typeface="Cambria" panose="02040503050406030204" charset="0"/>
              <a:sym typeface="+mn-ea"/>
            </a:endParaRPr>
          </a:p>
          <a:p>
            <a:r>
              <a:rPr lang="en-US" altLang="zh-CN" b="1" dirty="0">
                <a:latin typeface="Cambria" panose="02040503050406030204" charset="0"/>
                <a:cs typeface="Cambria" panose="02040503050406030204" charset="0"/>
                <a:sym typeface="+mn-ea"/>
              </a:rPr>
              <a:t>  Conversely, on </a:t>
            </a:r>
            <a:r>
              <a:rPr lang="en-US" altLang="zh-CN" b="1" dirty="0">
                <a:latin typeface="Cambria" panose="02040503050406030204" charset="0"/>
                <a:cs typeface="Cambria" panose="02040503050406030204" charset="0"/>
                <a:sym typeface="+mn-ea"/>
              </a:rPr>
              <a:t>Qdrant </a:t>
            </a:r>
            <a:r>
              <a:rPr lang="en-US" altLang="zh-CN" b="1" dirty="0">
                <a:latin typeface="Cambria" panose="02040503050406030204" charset="0"/>
                <a:cs typeface="Cambria" panose="02040503050406030204" charset="0"/>
                <a:sym typeface="+mn-ea"/>
              </a:rPr>
              <a:t>v1.4.0, TestVDB reached VDBFuzz's divide-by-zero crash (size=2⁶³) by contract reasoning.</a:t>
            </a:r>
            <a:endParaRPr lang="en-US" altLang="zh-CN" b="1" dirty="0">
              <a:latin typeface="Cambria" panose="02040503050406030204" charset="0"/>
              <a:cs typeface="Cambria" panose="02040503050406030204" charset="0"/>
              <a:sym typeface="+mn-ea"/>
            </a:endParaRPr>
          </a:p>
        </p:txBody>
      </p:sp>
      <p:cxnSp>
        <p:nvCxnSpPr>
          <p:cNvPr id="13" name="直接箭头连接符 12"/>
          <p:cNvCxnSpPr>
            <a:stCxn id="14" idx="3"/>
            <a:endCxn id="10" idx="1"/>
          </p:cNvCxnSpPr>
          <p:nvPr/>
        </p:nvCxnSpPr>
        <p:spPr>
          <a:xfrm>
            <a:off x="5346700" y="4083050"/>
            <a:ext cx="1054735" cy="210185"/>
          </a:xfrm>
          <a:prstGeom prst="straightConnector1">
            <a:avLst/>
          </a:prstGeom>
          <a:ln w="34925">
            <a:tailEnd type="arrow"/>
          </a:ln>
        </p:spPr>
        <p:style>
          <a:lnRef idx="2">
            <a:schemeClr val="accent1"/>
          </a:lnRef>
          <a:fillRef idx="0">
            <a:srgbClr val="FFFFFF"/>
          </a:fillRef>
          <a:effectRef idx="0">
            <a:srgbClr val="FFFFFF"/>
          </a:effectRef>
          <a:fontRef idx="minor">
            <a:schemeClr val="tx1"/>
          </a:fontRef>
        </p:style>
      </p:cxnSp>
      <p:sp>
        <p:nvSpPr>
          <p:cNvPr id="14" name="矩形 13"/>
          <p:cNvSpPr/>
          <p:nvPr/>
        </p:nvSpPr>
        <p:spPr>
          <a:xfrm>
            <a:off x="4984750" y="3883025"/>
            <a:ext cx="361950" cy="400050"/>
          </a:xfrm>
          <a:prstGeom prst="rect">
            <a:avLst/>
          </a:prstGeom>
          <a:noFill/>
          <a:ln w="412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a:t>实现上：</a:t>
            </a:r>
            <a:r>
              <a:rPr lang="zh-CN" altLang="en-US">
                <a:sym typeface="+mn-ea"/>
              </a:rPr>
              <a:t>在最新版上直接跑对比实验，版本一致耗时一致即可，对比挖掘成果。理想情况下，如能获得</a:t>
            </a:r>
            <a:r>
              <a:rPr lang="en-US" altLang="zh-CN">
                <a:sym typeface="+mn-ea"/>
              </a:rPr>
              <a:t>vdbfuzz</a:t>
            </a:r>
            <a:r>
              <a:rPr lang="zh-CN" altLang="en-US">
                <a:sym typeface="+mn-ea"/>
              </a:rPr>
              <a:t>的</a:t>
            </a:r>
            <a:r>
              <a:rPr lang="en-US" altLang="zh-CN">
                <a:sym typeface="+mn-ea"/>
              </a:rPr>
              <a:t>bug list</a:t>
            </a:r>
            <a:r>
              <a:rPr lang="zh-CN" altLang="en-US">
                <a:sym typeface="+mn-ea"/>
              </a:rPr>
              <a:t>，可以再做一下</a:t>
            </a:r>
            <a:r>
              <a:rPr lang="en-US" altLang="zh-CN">
                <a:sym typeface="+mn-ea"/>
              </a:rPr>
              <a:t>testvdb</a:t>
            </a:r>
            <a:r>
              <a:rPr lang="zh-CN" altLang="en-US">
                <a:sym typeface="+mn-ea"/>
              </a:rPr>
              <a:t>挖掘复现尝试或者直接分析？</a:t>
            </a:r>
            <a:endParaRPr lang="zh-CN" altLang="en-US"/>
          </a:p>
          <a:p>
            <a:r>
              <a:rPr lang="zh-CN" altLang="en-US"/>
              <a:t>讲清楚：在最新版上直接跑对比实验，版本一致耗时一致即可，对比</a:t>
            </a:r>
            <a:r>
              <a:rPr lang="zh-CN" altLang="en-US"/>
              <a:t>挖掘成果。</a:t>
            </a: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22568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588963"/>
            <a:ext cx="10708005"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Conclusions </a:t>
            </a:r>
            <a:r>
              <a:rPr lang="en-US"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 </a:t>
            </a:r>
            <a:endParaRPr lang="en-US"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24" name="灯片编号占位符 2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pic>
        <p:nvPicPr>
          <p:cNvPr id="2" name="图片 1"/>
          <p:cNvPicPr>
            <a:picLocks noChangeAspect="1"/>
          </p:cNvPicPr>
          <p:nvPr/>
        </p:nvPicPr>
        <p:blipFill>
          <a:blip r:embed="rId3"/>
          <a:stretch>
            <a:fillRect/>
          </a:stretch>
        </p:blipFill>
        <p:spPr>
          <a:xfrm>
            <a:off x="6135370" y="1741805"/>
            <a:ext cx="4434840" cy="2433320"/>
          </a:xfrm>
          <a:prstGeom prst="rect">
            <a:avLst/>
          </a:prstGeom>
          <a:ln w="28575" cmpd="thickThin">
            <a:solidFill>
              <a:srgbClr val="000000"/>
            </a:solidFill>
            <a:prstDash val="solid"/>
          </a:ln>
        </p:spPr>
      </p:pic>
      <p:pic>
        <p:nvPicPr>
          <p:cNvPr id="3" name="图片 2"/>
          <p:cNvPicPr>
            <a:picLocks noChangeAspect="1"/>
          </p:cNvPicPr>
          <p:nvPr/>
        </p:nvPicPr>
        <p:blipFill>
          <a:blip r:embed="rId4"/>
          <a:stretch>
            <a:fillRect/>
          </a:stretch>
        </p:blipFill>
        <p:spPr>
          <a:xfrm>
            <a:off x="1411605" y="4276090"/>
            <a:ext cx="4424045" cy="2231390"/>
          </a:xfrm>
          <a:prstGeom prst="rect">
            <a:avLst/>
          </a:prstGeom>
          <a:ln w="28575" cmpd="thickThin">
            <a:solidFill>
              <a:srgbClr val="000000"/>
            </a:solidFill>
            <a:prstDash val="solid"/>
          </a:ln>
        </p:spPr>
      </p:pic>
      <p:pic>
        <p:nvPicPr>
          <p:cNvPr id="5" name="图片 4"/>
          <p:cNvPicPr>
            <a:picLocks noChangeAspect="1"/>
          </p:cNvPicPr>
          <p:nvPr/>
        </p:nvPicPr>
        <p:blipFill>
          <a:blip r:embed="rId5"/>
          <a:stretch>
            <a:fillRect/>
          </a:stretch>
        </p:blipFill>
        <p:spPr>
          <a:xfrm>
            <a:off x="1397635" y="1743710"/>
            <a:ext cx="4438015" cy="2432050"/>
          </a:xfrm>
          <a:prstGeom prst="rect">
            <a:avLst/>
          </a:prstGeom>
          <a:ln w="28575" cmpd="thickThin">
            <a:solidFill>
              <a:srgbClr val="000000"/>
            </a:solidFill>
            <a:prstDash val="solid"/>
          </a:ln>
        </p:spPr>
      </p:pic>
      <p:pic>
        <p:nvPicPr>
          <p:cNvPr id="4" name="图片 3"/>
          <p:cNvPicPr>
            <a:picLocks noChangeAspect="1"/>
          </p:cNvPicPr>
          <p:nvPr/>
        </p:nvPicPr>
        <p:blipFill>
          <a:blip r:embed="rId6"/>
          <a:stretch>
            <a:fillRect/>
          </a:stretch>
        </p:blipFill>
        <p:spPr>
          <a:xfrm>
            <a:off x="6135370" y="4276090"/>
            <a:ext cx="4435475" cy="2232025"/>
          </a:xfrm>
          <a:prstGeom prst="rect">
            <a:avLst/>
          </a:prstGeom>
          <a:ln w="28575" cmpd="sng">
            <a:solidFill>
              <a:srgbClr val="000000"/>
            </a:solidFill>
            <a:prstDash val="solid"/>
          </a:ln>
        </p:spPr>
      </p:pic>
    </p:spTree>
  </p:cSld>
  <p:clrMapOvr>
    <a:masterClrMapping/>
  </p:clrMapOvr>
  <p:transition spd="slow"/>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p="http://schemas.openxmlformats.org/presentationml/2006/main">
  <p:tag name="MH" val="20160830110146"/>
  <p:tag name="MH_LIBRARY" val="CONTENTS"/>
  <p:tag name="MH_TYPE" val="OTHERS"/>
  <p:tag name="ID" val="553512"/>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MH" val="20160830110146"/>
  <p:tag name="MH_LIBRARY" val="CONTENTS"/>
  <p:tag name="MH_TYPE" val="OTHERS"/>
  <p:tag name="ID" val="553512"/>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MH" val="20160830110146"/>
  <p:tag name="MH_LIBRARY" val="CONTENTS"/>
  <p:tag name="MH_TYPE" val="OTHERS"/>
  <p:tag name="ID" val="553512"/>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MH" val="20160830110146"/>
  <p:tag name="MH_LIBRARY" val="CONTENTS"/>
  <p:tag name="MH_TYPE" val="OTHERS"/>
  <p:tag name="ID" val="553512"/>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DOCER_RESOURCE_TRACE_INFO" val="{&quot;id&quot;:&quot;50059455&quot;,&quot;origin&quot;:0,&quot;type&quot;:&quot;icons&quot;,&quot;user&quot;:&quot;1619202567&quot;}"/>
</p:tagLst>
</file>

<file path=ppt/tags/tag74.xml><?xml version="1.0" encoding="utf-8"?>
<p:tagLst xmlns:p="http://schemas.openxmlformats.org/presentationml/2006/main">
  <p:tag name="KSO_DOCER_RESOURCE_TRACE_INFO" val="{&quot;id&quot;:&quot;50044699&quot;,&quot;origin&quot;:0,&quot;type&quot;:&quot;icons&quot;,&quot;user&quot;:&quot;1619202567&quot;}"/>
</p:tagLst>
</file>

<file path=ppt/tags/tag75.xml><?xml version="1.0" encoding="utf-8"?>
<p:tagLst xmlns:p="http://schemas.openxmlformats.org/presentationml/2006/main">
  <p:tag name="KSO_DOCER_RESOURCE_TRACE_INFO" val="{&quot;id&quot;:&quot;20280902&quot;,&quot;origin&quot;:0,&quot;type&quot;:&quot;icons&quot;,&quot;user&quot;:&quot;1619202567&quot;}"/>
</p:tagLst>
</file>

<file path=ppt/tags/tag76.xml><?xml version="1.0" encoding="utf-8"?>
<p:tagLst xmlns:p="http://schemas.openxmlformats.org/presentationml/2006/main">
  <p:tag name="KSO_DOCER_RESOURCE_TRACE_INFO" val="{&quot;id&quot;:&quot;50062569&quot;,&quot;origin&quot;:0,&quot;type&quot;:&quot;icons&quot;,&quot;user&quot;:&quot;1619202567&quot;}"/>
</p:tagLst>
</file>

<file path=ppt/tags/tag77.xml><?xml version="1.0" encoding="utf-8"?>
<p:tagLst xmlns:p="http://schemas.openxmlformats.org/presentationml/2006/main">
  <p:tag name="KSO_DOCER_RESOURCE_TRACE_INFO" val="{&quot;id&quot;:&quot;21566523&quot;,&quot;origin&quot;:0,&quot;type&quot;:&quot;icons&quot;,&quot;user&quot;:&quot;1619202567&quot;}"/>
</p:tagLst>
</file>

<file path=ppt/tags/tag78.xml><?xml version="1.0" encoding="utf-8"?>
<p:tagLst xmlns:p="http://schemas.openxmlformats.org/presentationml/2006/main">
  <p:tag name="KSO_DOCER_RESOURCE_TRACE_INFO" val="{&quot;id&quot;:&quot;21558137&quot;,&quot;origin&quot;:0,&quot;type&quot;:&quot;icons&quot;,&quot;user&quot;:&quot;1619202567&quot;}"/>
</p:tagLst>
</file>

<file path=ppt/tags/tag79.xml><?xml version="1.0" encoding="utf-8"?>
<p:tagLst xmlns:p="http://schemas.openxmlformats.org/presentationml/2006/main">
  <p:tag name="KSO_DOCER_RESOURCE_TRACE_INFO" val="{&quot;id&quot;:&quot;3637342&quot;,&quot;origin&quot;:0,&quot;type&quot;:&quot;icons&quot;,&quot;user&quot;:&quot;1619202567&quot;}"/>
</p:tagLst>
</file>

<file path=ppt/tags/tag80.xml><?xml version="1.0" encoding="utf-8"?>
<p:tagLst xmlns:p="http://schemas.openxmlformats.org/presentationml/2006/main">
  <p:tag name="KSO_DOCER_RESOURCE_TRACE_INFO" val="{&quot;id&quot;:&quot;3644795&quot;,&quot;origin&quot;:0,&quot;type&quot;:&quot;icons&quot;,&quot;user&quot;:&quot;1619202567&quot;}"/>
</p:tagLst>
</file>

<file path=ppt/tags/tag81.xml><?xml version="1.0" encoding="utf-8"?>
<p:tagLst xmlns:p="http://schemas.openxmlformats.org/presentationml/2006/main">
  <p:tag name="KSO_DOCER_RESOURCE_TRACE_INFO" val="{&quot;id&quot;:&quot;50026891&quot;,&quot;origin&quot;:0,&quot;type&quot;:&quot;icons&quot;,&quot;user&quot;:&quot;1619202567&quot;}"/>
</p:tagLst>
</file>

<file path=ppt/tags/tag82.xml><?xml version="1.0" encoding="utf-8"?>
<p:tagLst xmlns:p="http://schemas.openxmlformats.org/presentationml/2006/main">
  <p:tag name="KSO_DOCER_RESOURCE_TRACE_INFO" val="{&quot;id&quot;:&quot;50062569&quot;,&quot;origin&quot;:0,&quot;type&quot;:&quot;icons&quot;,&quot;user&quot;:&quot;1619202567&quot;}"/>
</p:tagLst>
</file>

<file path=ppt/tags/tag83.xml><?xml version="1.0" encoding="utf-8"?>
<p:tagLst xmlns:p="http://schemas.openxmlformats.org/presentationml/2006/main">
  <p:tag name="MH" val="20160830110146"/>
  <p:tag name="MH_LIBRARY" val="CONTENTS"/>
  <p:tag name="MH_TYPE" val="OTHERS"/>
  <p:tag name="ID" val="553512"/>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MH" val="20160830110146"/>
  <p:tag name="MH_LIBRARY" val="CONTENTS"/>
  <p:tag name="MH_TYPE" val="OTHERS"/>
  <p:tag name="ID" val="553512"/>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DOCER_RESOURCE_TRACE_INFO" val="{&quot;id&quot;:&quot;50059455&quot;,&quot;origin&quot;:0,&quot;type&quot;:&quot;icons&quot;,&quot;user&quot;:&quot;1619202567&quot;}"/>
</p:tagLst>
</file>

<file path=ppt/tags/tag88.xml><?xml version="1.0" encoding="utf-8"?>
<p:tagLst xmlns:p="http://schemas.openxmlformats.org/presentationml/2006/main">
  <p:tag name="KSO_DOCER_RESOURCE_TRACE_INFO" val="{&quot;id&quot;:&quot;50059455&quot;,&quot;origin&quot;:0,&quot;type&quot;:&quot;icons&quot;,&quot;user&quot;:&quot;1619202567&quot;}"/>
</p:tagLst>
</file>

<file path=ppt/tags/tag89.xml><?xml version="1.0" encoding="utf-8"?>
<p:tagLst xmlns:p="http://schemas.openxmlformats.org/presentationml/2006/main">
  <p:tag name="KSO_DOCER_RESOURCE_TRACE_INFO" val="{&quot;id&quot;:&quot;50059176&quot;,&quot;origin&quot;:0,&quot;type&quot;:&quot;icons&quot;,&quot;user&quot;:&quot;1619202567&quot;}"/>
</p:tagLst>
</file>

<file path=ppt/tags/tag90.xml><?xml version="1.0" encoding="utf-8"?>
<p:tagLst xmlns:p="http://schemas.openxmlformats.org/presentationml/2006/main">
  <p:tag name="KSO_DOCER_RESOURCE_TRACE_INFO" val="{&quot;id&quot;:&quot;21549659&quot;,&quot;origin&quot;:0,&quot;type&quot;:&quot;icons&quot;,&quot;user&quot;:&quot;1619202567&quot;}"/>
</p:tagLst>
</file>

<file path=ppt/tags/tag91.xml><?xml version="1.0" encoding="utf-8"?>
<p:tagLst xmlns:p="http://schemas.openxmlformats.org/presentationml/2006/main">
  <p:tag name="KSO_DOCER_RESOURCE_TRACE_INFO" val="{&quot;id&quot;:&quot;50059176&quot;,&quot;origin&quot;:0,&quot;type&quot;:&quot;icons&quot;,&quot;user&quot;:&quot;1619202567&quot;}"/>
</p:tagLst>
</file>

<file path=ppt/tags/tag92.xml><?xml version="1.0" encoding="utf-8"?>
<p:tagLst xmlns:p="http://schemas.openxmlformats.org/presentationml/2006/main">
  <p:tag name="KSO_DOCER_RESOURCE_TRACE_INFO" val="{&quot;id&quot;:&quot;21549659&quot;,&quot;origin&quot;:0,&quot;type&quot;:&quot;icons&quot;,&quot;user&quot;:&quot;1619202567&quot;}"/>
</p:tagLst>
</file>

<file path=ppt/tags/tag93.xml><?xml version="1.0" encoding="utf-8"?>
<p:tagLst xmlns:p="http://schemas.openxmlformats.org/presentationml/2006/main">
  <p:tag name="KSO_DOCER_RESOURCE_TRACE_INFO" val="{&quot;id&quot;:&quot;21558137&quot;,&quot;origin&quot;:0,&quot;type&quot;:&quot;icons&quot;,&quot;user&quot;:&quot;1619202567&quot;}"/>
</p:tagLst>
</file>

<file path=ppt/tags/tag94.xml><?xml version="1.0" encoding="utf-8"?>
<p:tagLst xmlns:p="http://schemas.openxmlformats.org/presentationml/2006/main">
  <p:tag name="KSO_DOCER_RESOURCE_TRACE_INFO" val="{&quot;id&quot;:&quot;50062675&quot;,&quot;origin&quot;:0,&quot;type&quot;:&quot;icons&quot;,&quot;user&quot;:&quot;1619202567&quot;}"/>
</p:tagLst>
</file>

<file path=ppt/tags/tag95.xml><?xml version="1.0" encoding="utf-8"?>
<p:tagLst xmlns:p="http://schemas.openxmlformats.org/presentationml/2006/main">
  <p:tag name="KSO_WM_DIAGRAM_VIRTUALLY_FRAME" val="{&quot;height&quot;:345.8,&quot;left&quot;:53.4,&quot;top&quot;:164.9,&quot;width&quot;:832.7}"/>
</p:tagLst>
</file>

<file path=ppt/tags/tag96.xml><?xml version="1.0" encoding="utf-8"?>
<p:tagLst xmlns:p="http://schemas.openxmlformats.org/presentationml/2006/main">
  <p:tag name="MH" val="20160830110146"/>
  <p:tag name="MH_LIBRARY" val="CONTENTS"/>
  <p:tag name="MH_TYPE" val="OTHERS"/>
  <p:tag name="ID" val="553512"/>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DIAGRAM_VIRTUALLY_FRAME" val="{&quot;height&quot;:345.8,&quot;left&quot;:53.4,&quot;top&quot;:164.9,&quot;width&quot;:832.7}"/>
</p:tagLst>
</file>

<file path=ppt/tags/tag99.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45.8,&quot;left&quot;:53.4,&quot;top&quot;:164.9,&quot;width&quot;:832.7}"/>
</p:tagLst>
</file>

<file path=ppt/tags/tag100.xml><?xml version="1.0" encoding="utf-8"?>
<p:tagLst xmlns:p="http://schemas.openxmlformats.org/presentationml/2006/main">
  <p:tag name="KSO_WM_DIAGRAM_VIRTUALLY_FRAME" val="{&quot;height&quot;:345.8,&quot;left&quot;:53.4,&quot;top&quot;:164.9,&quot;width&quot;:832.7}"/>
</p:tagLst>
</file>

<file path=ppt/tags/tag101.xml><?xml version="1.0" encoding="utf-8"?>
<p:tagLst xmlns:p="http://schemas.openxmlformats.org/presentationml/2006/main">
  <p:tag name="KSO_WM_DIAGRAM_VIRTUALLY_FRAME" val="{&quot;height&quot;:345.8,&quot;left&quot;:53.4,&quot;top&quot;:164.9,&quot;width&quot;:832.7}"/>
</p:tagLst>
</file>

<file path=ppt/tags/tag102.xml><?xml version="1.0" encoding="utf-8"?>
<p:tagLst xmlns:p="http://schemas.openxmlformats.org/presentationml/2006/main">
  <p:tag name="KSO_WM_DIAGRAM_VIRTUALLY_FRAME" val="{&quot;height&quot;:345.8,&quot;left&quot;:53.4,&quot;top&quot;:164.9,&quot;width&quot;:832.7}"/>
</p:tagLst>
</file>

<file path=ppt/tags/tag103.xml><?xml version="1.0" encoding="utf-8"?>
<p:tagLst xmlns:p="http://schemas.openxmlformats.org/presentationml/2006/main">
  <p:tag name="KSO_WM_DIAGRAM_VIRTUALLY_FRAME" val="{&quot;height&quot;:345.8,&quot;left&quot;:53.4,&quot;top&quot;:164.9,&quot;width&quot;:832.7}"/>
</p:tagLst>
</file>

<file path=ppt/tags/tag104.xml><?xml version="1.0" encoding="utf-8"?>
<p:tagLst xmlns:p="http://schemas.openxmlformats.org/presentationml/2006/main">
  <p:tag name="KSO_WM_DIAGRAM_VIRTUALLY_FRAME" val="{&quot;height&quot;:345.8,&quot;left&quot;:53.4,&quot;top&quot;:164.9,&quot;width&quot;:832.7}"/>
</p:tagLst>
</file>

<file path=ppt/tags/tag105.xml><?xml version="1.0" encoding="utf-8"?>
<p:tagLst xmlns:p="http://schemas.openxmlformats.org/presentationml/2006/main">
  <p:tag name="KSO_WM_DIAGRAM_VIRTUALLY_FRAME" val="{&quot;height&quot;:345.8,&quot;left&quot;:53.4,&quot;top&quot;:164.9,&quot;width&quot;:832.7}"/>
</p:tagLst>
</file>

<file path=ppt/tags/tag106.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53.4,&quot;top&quot;:164.9,&quot;width&quot;:832.7}"/>
</p:tagLst>
</file>

<file path=ppt/tags/tag107.xml><?xml version="1.0" encoding="utf-8"?>
<p:tagLst xmlns:p="http://schemas.openxmlformats.org/presentationml/2006/main">
  <p:tag name="KSO_WM_DIAGRAM_VIRTUALLY_FRAME" val="{&quot;height&quot;:345.8,&quot;left&quot;:53.4,&quot;top&quot;:164.9,&quot;width&quot;:832.7}"/>
</p:tagLst>
</file>

<file path=ppt/tags/tag108.xml><?xml version="1.0" encoding="utf-8"?>
<p:tagLst xmlns:p="http://schemas.openxmlformats.org/presentationml/2006/main">
  <p:tag name="KSO_WM_DIAGRAM_VIRTUALLY_FRAME" val="{&quot;height&quot;:345.8,&quot;left&quot;:53.4,&quot;top&quot;:164.9,&quot;width&quot;:832.7}"/>
</p:tagLst>
</file>

<file path=ppt/tags/tag109.xml><?xml version="1.0" encoding="utf-8"?>
<p:tagLst xmlns:p="http://schemas.openxmlformats.org/presentationml/2006/main">
  <p:tag name="KSO_WM_DIAGRAM_VIRTUALLY_FRAME" val="{&quot;height&quot;:345.8,&quot;left&quot;:53.4,&quot;top&quot;:164.9,&quot;width&quot;:832.7}"/>
</p:tagLst>
</file>

<file path=ppt/tags/tag110.xml><?xml version="1.0" encoding="utf-8"?>
<p:tagLst xmlns:p="http://schemas.openxmlformats.org/presentationml/2006/main">
  <p:tag name="KSO_WM_DIAGRAM_VIRTUALLY_FRAME" val="{&quot;height&quot;:345.8,&quot;left&quot;:53.4,&quot;top&quot;:164.9,&quot;width&quot;:832.7}"/>
</p:tagLst>
</file>

<file path=ppt/tags/tag111.xml><?xml version="1.0" encoding="utf-8"?>
<p:tagLst xmlns:p="http://schemas.openxmlformats.org/presentationml/2006/main">
  <p:tag name="KSO_DOCER_RESOURCE_TRACE_INFO" val="{&quot;id&quot;:&quot;50062581&quot;,&quot;origin&quot;:0,&quot;type&quot;:&quot;icons&quot;,&quot;user&quot;:&quot;1619202567&quot;}"/>
  <p:tag name="KSO_WM_DIAGRAM_VIRTUALLY_FRAME" val="{&quot;height&quot;:345.8,&quot;left&quot;:53.4,&quot;top&quot;:164.9,&quot;width&quot;:832.7}"/>
</p:tagLst>
</file>

<file path=ppt/tags/tag112.xml><?xml version="1.0" encoding="utf-8"?>
<p:tagLst xmlns:p="http://schemas.openxmlformats.org/presentationml/2006/main">
  <p:tag name="KSO_WM_DIAGRAM_VIRTUALLY_FRAME" val="{&quot;height&quot;:345.8,&quot;left&quot;:53.4,&quot;top&quot;:164.9,&quot;width&quot;:832.7}"/>
</p:tagLst>
</file>

<file path=ppt/tags/tag113.xml><?xml version="1.0" encoding="utf-8"?>
<p:tagLst xmlns:p="http://schemas.openxmlformats.org/presentationml/2006/main">
  <p:tag name="KSO_WM_DIAGRAM_VIRTUALLY_FRAME" val="{&quot;height&quot;:345.8,&quot;left&quot;:53.4,&quot;top&quot;:164.9,&quot;width&quot;:832.7}"/>
</p:tagLst>
</file>

<file path=ppt/tags/tag114.xml><?xml version="1.0" encoding="utf-8"?>
<p:tagLst xmlns:p="http://schemas.openxmlformats.org/presentationml/2006/main">
  <p:tag name="KSO_DOCER_RESOURCE_TRACE_INFO" val="{&quot;id&quot;:&quot;21558137&quot;,&quot;origin&quot;:0,&quot;type&quot;:&quot;icons&quot;,&quot;user&quot;:&quot;1619202567&quot;}"/>
</p:tagLst>
</file>

<file path=ppt/tags/tag115.xml><?xml version="1.0" encoding="utf-8"?>
<p:tagLst xmlns:p="http://schemas.openxmlformats.org/presentationml/2006/main">
  <p:tag name="KSO_WM_DIAGRAM_VIRTUALLY_FRAME" val="{&quot;height&quot;:345.8,&quot;left&quot;:53.4,&quot;top&quot;:164.9,&quot;width&quot;:832.7}"/>
</p:tagLst>
</file>

<file path=ppt/tags/tag116.xml><?xml version="1.0" encoding="utf-8"?>
<p:tagLst xmlns:p="http://schemas.openxmlformats.org/presentationml/2006/main">
  <p:tag name="KSO_WM_DIAGRAM_VIRTUALLY_FRAME" val="{&quot;height&quot;:345.8,&quot;left&quot;:53.4,&quot;top&quot;:164.9,&quot;width&quot;:832.7}"/>
</p:tagLst>
</file>

<file path=ppt/tags/tag117.xml><?xml version="1.0" encoding="utf-8"?>
<p:tagLst xmlns:p="http://schemas.openxmlformats.org/presentationml/2006/main">
  <p:tag name="KSO_WM_DIAGRAM_VIRTUALLY_FRAME" val="{&quot;height&quot;:345.8,&quot;left&quot;:53.4,&quot;top&quot;:164.9,&quot;width&quot;:832.7}"/>
</p:tagLst>
</file>

<file path=ppt/tags/tag118.xml><?xml version="1.0" encoding="utf-8"?>
<p:tagLst xmlns:p="http://schemas.openxmlformats.org/presentationml/2006/main">
  <p:tag name="KSO_WM_DIAGRAM_VIRTUALLY_FRAME" val="{&quot;height&quot;:345.8,&quot;left&quot;:53.4,&quot;top&quot;:164.9,&quot;width&quot;:832.7}"/>
</p:tagLst>
</file>

<file path=ppt/tags/tag119.xml><?xml version="1.0" encoding="utf-8"?>
<p:tagLst xmlns:p="http://schemas.openxmlformats.org/presentationml/2006/main">
  <p:tag name="KSO_DOCER_RESOURCE_TRACE_INFO" val="{&quot;id&quot;:&quot;21566523&quot;,&quot;origin&quot;:0,&quot;type&quot;:&quot;icons&quot;,&quot;user&quot;:&quot;1619202567&quot;}"/>
</p:tagLst>
</file>

<file path=ppt/tags/tag120.xml><?xml version="1.0" encoding="utf-8"?>
<p:tagLst xmlns:p="http://schemas.openxmlformats.org/presentationml/2006/main">
  <p:tag name="MH" val="20160830110146"/>
  <p:tag name="MH_LIBRARY" val="CONTENTS"/>
  <p:tag name="MH_TYPE" val="OTHERS"/>
  <p:tag name="ID" val="553512"/>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DOCER_RESOURCE_TRACE_INFO" val="{&quot;id&quot;:&quot;50059455&quot;,&quot;origin&quot;:0,&quot;type&quot;:&quot;icons&quot;,&quot;user&quot;:&quot;1619202567&quot;}"/>
</p:tagLst>
</file>

<file path=ppt/tags/tag123.xml><?xml version="1.0" encoding="utf-8"?>
<p:tagLst xmlns:p="http://schemas.openxmlformats.org/presentationml/2006/main">
  <p:tag name="KSO_DOCER_RESOURCE_TRACE_INFO" val="{&quot;id&quot;:&quot;50059176&quot;,&quot;origin&quot;:0,&quot;type&quot;:&quot;icons&quot;,&quot;user&quot;:&quot;1619202567&quot;}"/>
</p:tagLst>
</file>

<file path=ppt/tags/tag124.xml><?xml version="1.0" encoding="utf-8"?>
<p:tagLst xmlns:p="http://schemas.openxmlformats.org/presentationml/2006/main">
  <p:tag name="KSO_DOCER_RESOURCE_TRACE_INFO" val="{&quot;id&quot;:&quot;50033282&quot;,&quot;origin&quot;:0,&quot;type&quot;:&quot;icons&quot;,&quot;user&quot;:&quot;1619202567&quot;}"/>
</p:tagLst>
</file>

<file path=ppt/tags/tag125.xml><?xml version="1.0" encoding="utf-8"?>
<p:tagLst xmlns:p="http://schemas.openxmlformats.org/presentationml/2006/main">
  <p:tag name="KSO_DOCER_RESOURCE_TRACE_INFO" val="{&quot;id&quot;:&quot;50059455&quot;,&quot;origin&quot;:0,&quot;type&quot;:&quot;icons&quot;,&quot;user&quot;:&quot;1619202567&quot;}"/>
</p:tagLst>
</file>

<file path=ppt/tags/tag126.xml><?xml version="1.0" encoding="utf-8"?>
<p:tagLst xmlns:p="http://schemas.openxmlformats.org/presentationml/2006/main">
  <p:tag name="KSO_DOCER_RESOURCE_TRACE_INFO" val="{&quot;id&quot;:&quot;50059176&quot;,&quot;origin&quot;:0,&quot;type&quot;:&quot;icons&quot;,&quot;user&quot;:&quot;1619202567&quot;}"/>
</p:tagLst>
</file>

<file path=ppt/tags/tag127.xml><?xml version="1.0" encoding="utf-8"?>
<p:tagLst xmlns:p="http://schemas.openxmlformats.org/presentationml/2006/main">
  <p:tag name="KSO_DOCER_RESOURCE_TRACE_INFO" val="{&quot;id&quot;:&quot;21549659&quot;,&quot;origin&quot;:0,&quot;type&quot;:&quot;icons&quot;,&quot;user&quot;:&quot;1619202567&quot;}"/>
</p:tagLst>
</file>

<file path=ppt/tags/tag128.xml><?xml version="1.0" encoding="utf-8"?>
<p:tagLst xmlns:p="http://schemas.openxmlformats.org/presentationml/2006/main">
  <p:tag name="KSO_DOCER_RESOURCE_TRACE_INFO" val="{&quot;id&quot;:&quot;50059176&quot;,&quot;origin&quot;:0,&quot;type&quot;:&quot;icons&quot;,&quot;user&quot;:&quot;1619202567&quot;}"/>
</p:tagLst>
</file>

<file path=ppt/tags/tag129.xml><?xml version="1.0" encoding="utf-8"?>
<p:tagLst xmlns:p="http://schemas.openxmlformats.org/presentationml/2006/main">
  <p:tag name="KSO_DOCER_RESOURCE_TRACE_INFO" val="{&quot;id&quot;:&quot;21549659&quot;,&quot;origin&quot;:0,&quot;type&quot;:&quot;icons&quot;,&quot;user&quot;:&quot;1619202567&quot;}"/>
</p:tagLst>
</file>

<file path=ppt/tags/tag130.xml><?xml version="1.0" encoding="utf-8"?>
<p:tagLst xmlns:p="http://schemas.openxmlformats.org/presentationml/2006/main">
  <p:tag name="KSO_DOCER_RESOURCE_TRACE_INFO" val="{&quot;id&quot;:&quot;50059176&quot;,&quot;origin&quot;:0,&quot;type&quot;:&quot;icons&quot;,&quot;user&quot;:&quot;1619202567&quot;}"/>
</p:tagLst>
</file>

<file path=ppt/tags/tag131.xml><?xml version="1.0" encoding="utf-8"?>
<p:tagLst xmlns:p="http://schemas.openxmlformats.org/presentationml/2006/main">
  <p:tag name="KSO_DOCER_RESOURCE_TRACE_INFO" val="{&quot;id&quot;:&quot;50044699&quot;,&quot;origin&quot;:0,&quot;type&quot;:&quot;icons&quot;,&quot;user&quot;:&quot;1619202567&quot;}"/>
</p:tagLst>
</file>

<file path=ppt/tags/tag132.xml><?xml version="1.0" encoding="utf-8"?>
<p:tagLst xmlns:p="http://schemas.openxmlformats.org/presentationml/2006/main">
  <p:tag name="KSO_DOCER_RESOURCE_TRACE_INFO" val="{&quot;id&quot;:&quot;20280902&quot;,&quot;origin&quot;:0,&quot;type&quot;:&quot;icons&quot;,&quot;user&quot;:&quot;1619202567&quot;}"/>
</p:tagLst>
</file>

<file path=ppt/tags/tag133.xml><?xml version="1.0" encoding="utf-8"?>
<p:tagLst xmlns:p="http://schemas.openxmlformats.org/presentationml/2006/main">
  <p:tag name="KSO_DOCER_RESOURCE_TRACE_INFO" val="{&quot;id&quot;:&quot;50062569&quot;,&quot;origin&quot;:0,&quot;type&quot;:&quot;icons&quot;,&quot;user&quot;:&quot;1619202567&quot;}"/>
</p:tagLst>
</file>

<file path=ppt/tags/tag134.xml><?xml version="1.0" encoding="utf-8"?>
<p:tagLst xmlns:p="http://schemas.openxmlformats.org/presentationml/2006/main">
  <p:tag name="KSO_DOCER_RESOURCE_TRACE_INFO" val="{&quot;id&quot;:&quot;50059455&quot;,&quot;origin&quot;:0,&quot;type&quot;:&quot;icons&quot;,&quot;user&quot;:&quot;1619202567&quot;}"/>
</p:tagLst>
</file>

<file path=ppt/tags/tag135.xml><?xml version="1.0" encoding="utf-8"?>
<p:tagLst xmlns:p="http://schemas.openxmlformats.org/presentationml/2006/main">
  <p:tag name="KSO_DOCER_RESOURCE_TRACE_INFO" val="{&quot;id&quot;:&quot;50044699&quot;,&quot;origin&quot;:0,&quot;type&quot;:&quot;icons&quot;,&quot;user&quot;:&quot;1619202567&quot;}"/>
</p:tagLst>
</file>

<file path=ppt/tags/tag136.xml><?xml version="1.0" encoding="utf-8"?>
<p:tagLst xmlns:p="http://schemas.openxmlformats.org/presentationml/2006/main">
  <p:tag name="KSO_DOCER_RESOURCE_TRACE_INFO" val="{&quot;id&quot;:&quot;20280902&quot;,&quot;origin&quot;:0,&quot;type&quot;:&quot;icons&quot;,&quot;user&quot;:&quot;1619202567&quot;}"/>
</p:tagLst>
</file>

<file path=ppt/tags/tag137.xml><?xml version="1.0" encoding="utf-8"?>
<p:tagLst xmlns:p="http://schemas.openxmlformats.org/presentationml/2006/main">
  <p:tag name="KSO_DOCER_RESOURCE_TRACE_INFO" val="{&quot;id&quot;:&quot;50062569&quot;,&quot;origin&quot;:0,&quot;type&quot;:&quot;icons&quot;,&quot;user&quot;:&quot;1619202567&quot;}"/>
</p:tagLst>
</file>

<file path=ppt/tags/tag138.xml><?xml version="1.0" encoding="utf-8"?>
<p:tagLst xmlns:p="http://schemas.openxmlformats.org/presentationml/2006/main">
  <p:tag name="KSO_DOCER_RESOURCE_TRACE_INFO" val="{&quot;id&quot;:&quot;21566523&quot;,&quot;origin&quot;:0,&quot;type&quot;:&quot;icons&quot;,&quot;user&quot;:&quot;1619202567&quot;}"/>
</p:tagLst>
</file>

<file path=ppt/tags/tag139.xml><?xml version="1.0" encoding="utf-8"?>
<p:tagLst xmlns:p="http://schemas.openxmlformats.org/presentationml/2006/main">
  <p:tag name="KSO_DOCER_RESOURCE_TRACE_INFO" val="{&quot;id&quot;:&quot;21558137&quot;,&quot;origin&quot;:0,&quot;type&quot;:&quot;icons&quot;,&quot;user&quot;:&quot;1619202567&quot;}"/>
</p:tagLst>
</file>

<file path=ppt/tags/tag140.xml><?xml version="1.0" encoding="utf-8"?>
<p:tagLst xmlns:p="http://schemas.openxmlformats.org/presentationml/2006/main">
  <p:tag name="KSO_DOCER_RESOURCE_TRACE_INFO" val="{&quot;id&quot;:&quot;3637342&quot;,&quot;origin&quot;:0,&quot;type&quot;:&quot;icons&quot;,&quot;user&quot;:&quot;1619202567&quot;}"/>
</p:tagLst>
</file>

<file path=ppt/tags/tag141.xml><?xml version="1.0" encoding="utf-8"?>
<p:tagLst xmlns:p="http://schemas.openxmlformats.org/presentationml/2006/main">
  <p:tag name="KSO_DOCER_RESOURCE_TRACE_INFO" val="{&quot;id&quot;:&quot;3644795&quot;,&quot;origin&quot;:0,&quot;type&quot;:&quot;icons&quot;,&quot;user&quot;:&quot;1619202567&quot;}"/>
</p:tagLst>
</file>

<file path=ppt/tags/tag142.xml><?xml version="1.0" encoding="utf-8"?>
<p:tagLst xmlns:p="http://schemas.openxmlformats.org/presentationml/2006/main">
  <p:tag name="KSO_DOCER_RESOURCE_TRACE_INFO" val="{&quot;id&quot;:&quot;50026891&quot;,&quot;origin&quot;:0,&quot;type&quot;:&quot;icons&quot;,&quot;user&quot;:&quot;1619202567&quot;}"/>
</p:tagLst>
</file>

<file path=ppt/tags/tag143.xml><?xml version="1.0" encoding="utf-8"?>
<p:tagLst xmlns:p="http://schemas.openxmlformats.org/presentationml/2006/main">
  <p:tag name="KSO_DOCER_RESOURCE_TRACE_INFO" val="{&quot;id&quot;:&quot;50062569&quot;,&quot;origin&quot;:0,&quot;type&quot;:&quot;icons&quot;,&quot;user&quot;:&quot;1619202567&quot;}"/>
</p:tagLst>
</file>

<file path=ppt/tags/tag144.xml><?xml version="1.0" encoding="utf-8"?>
<p:tagLst xmlns:p="http://schemas.openxmlformats.org/presentationml/2006/main">
  <p:tag name="KSO_DOCER_RESOURCE_TRACE_INFO" val="{&quot;id&quot;:&quot;50026891&quot;,&quot;origin&quot;:0,&quot;type&quot;:&quot;icons&quot;,&quot;user&quot;:&quot;1619202567&quot;}"/>
</p:tagLst>
</file>

<file path=ppt/tags/tag145.xml><?xml version="1.0" encoding="utf-8"?>
<p:tagLst xmlns:p="http://schemas.openxmlformats.org/presentationml/2006/main">
  <p:tag name="KSO_DOCER_RESOURCE_TRACE_INFO" val="{&quot;id&quot;:&quot;50062569&quot;,&quot;origin&quot;:0,&quot;type&quot;:&quot;icons&quot;,&quot;user&quot;:&quot;1619202567&quot;}"/>
</p:tagLst>
</file>

<file path=ppt/tags/tag146.xml><?xml version="1.0" encoding="utf-8"?>
<p:tagLst xmlns:p="http://schemas.openxmlformats.org/presentationml/2006/main">
  <p:tag name="MH" val="20160830110146"/>
  <p:tag name="MH_LIBRARY" val="CONTENTS"/>
  <p:tag name="MH_TYPE" val="OTHERS"/>
  <p:tag name="ID" val="553512"/>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DIAGRAM_VIRTUALLY_FRAME" val="{&quot;height&quot;:345.8,&quot;left&quot;:28.8,&quot;top&quot;:164.9,&quot;width&quot;:857.3}"/>
</p:tagLst>
</file>

<file path=ppt/tags/tag149.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45.8,&quot;left&quot;:28.8,&quot;top&quot;:164.9,&quot;width&quot;:857.3}"/>
</p:tagLst>
</file>

<file path=ppt/tags/tag150.xml><?xml version="1.0" encoding="utf-8"?>
<p:tagLst xmlns:p="http://schemas.openxmlformats.org/presentationml/2006/main">
  <p:tag name="KSO_WM_DIAGRAM_VIRTUALLY_FRAME" val="{&quot;height&quot;:345.8,&quot;left&quot;:28.8,&quot;top&quot;:164.9,&quot;width&quot;:857.3}"/>
</p:tagLst>
</file>

<file path=ppt/tags/tag151.xml><?xml version="1.0" encoding="utf-8"?>
<p:tagLst xmlns:p="http://schemas.openxmlformats.org/presentationml/2006/main">
  <p:tag name="KSO_WM_DIAGRAM_VIRTUALLY_FRAME" val="{&quot;height&quot;:345.8,&quot;left&quot;:28.8,&quot;top&quot;:164.9,&quot;width&quot;:857.3}"/>
</p:tagLst>
</file>

<file path=ppt/tags/tag152.xml><?xml version="1.0" encoding="utf-8"?>
<p:tagLst xmlns:p="http://schemas.openxmlformats.org/presentationml/2006/main">
  <p:tag name="KSO_WM_DIAGRAM_VIRTUALLY_FRAME" val="{&quot;height&quot;:345.8,&quot;left&quot;:28.8,&quot;top&quot;:164.9,&quot;width&quot;:857.3}"/>
</p:tagLst>
</file>

<file path=ppt/tags/tag153.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45.8,&quot;left&quot;:28.8,&quot;top&quot;:164.9,&quot;width&quot;:857.3}"/>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p="http://schemas.openxmlformats.org/presentationml/2006/main">
  <p:tag name="MH" val="20160830110146"/>
  <p:tag name="MH_LIBRARY" val="CONTENTS"/>
  <p:tag name="MH_TYPE" val="OTHERS"/>
  <p:tag name="ID" val="553512"/>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DIAGRAM_VIRTUALLY_FRAME" val="{&quot;height&quot;:384.4,&quot;left&quot;:53.4,&quot;top&quot;:143.9,&quot;width&quot;:837.2}"/>
</p:tagLst>
</file>

<file path=ppt/tags/tag159.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84.4,&quot;left&quot;:53.4,&quot;top&quot;:143.9,&quot;width&quot;:837.2}"/>
</p:tagLst>
</file>

<file path=ppt/tags/tag160.xml><?xml version="1.0" encoding="utf-8"?>
<p:tagLst xmlns:p="http://schemas.openxmlformats.org/presentationml/2006/main">
  <p:tag name="KSO_WM_DIAGRAM_VIRTUALLY_FRAME" val="{&quot;height&quot;:384.4,&quot;left&quot;:53.4,&quot;top&quot;:143.9,&quot;width&quot;:837.2}"/>
</p:tagLst>
</file>

<file path=ppt/tags/tag161.xml><?xml version="1.0" encoding="utf-8"?>
<p:tagLst xmlns:p="http://schemas.openxmlformats.org/presentationml/2006/main">
  <p:tag name="KSO_WM_DIAGRAM_VIRTUALLY_FRAME" val="{&quot;height&quot;:384.4,&quot;left&quot;:53.4,&quot;top&quot;:143.9,&quot;width&quot;:837.2}"/>
</p:tagLst>
</file>

<file path=ppt/tags/tag162.xml><?xml version="1.0" encoding="utf-8"?>
<p:tagLst xmlns:p="http://schemas.openxmlformats.org/presentationml/2006/main">
  <p:tag name="KSO_WM_DIAGRAM_VIRTUALLY_FRAME" val="{&quot;height&quot;:384.4,&quot;left&quot;:53.4,&quot;top&quot;:143.9,&quot;width&quot;:837.2}"/>
</p:tagLst>
</file>

<file path=ppt/tags/tag163.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84.4,&quot;left&quot;:53.4,&quot;top&quot;:143.9,&quot;width&quot;:837.2}"/>
</p:tagLst>
</file>

<file path=ppt/tags/tag164.xml><?xml version="1.0" encoding="utf-8"?>
<p:tagLst xmlns:p="http://schemas.openxmlformats.org/presentationml/2006/main">
  <p:tag name="KSO_WM_DIAGRAM_VIRTUALLY_FRAME" val="{&quot;height&quot;:384.4,&quot;left&quot;:53.4,&quot;top&quot;:143.9,&quot;width&quot;:837.2}"/>
</p:tagLst>
</file>

<file path=ppt/tags/tag165.xml><?xml version="1.0" encoding="utf-8"?>
<p:tagLst xmlns:p="http://schemas.openxmlformats.org/presentationml/2006/main">
  <p:tag name="KSO_WM_DIAGRAM_VIRTUALLY_FRAME" val="{&quot;height&quot;:384.4,&quot;left&quot;:53.4,&quot;top&quot;:143.9,&quot;width&quot;:837.2}"/>
</p:tagLst>
</file>

<file path=ppt/tags/tag166.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167.xml><?xml version="1.0" encoding="utf-8"?>
<p:tagLst xmlns:p="http://schemas.openxmlformats.org/presentationml/2006/main">
  <p:tag name="KSO_WM_DIAGRAM_VIRTUALLY_FRAME" val="{&quot;height&quot;:384.4,&quot;left&quot;:53.4,&quot;top&quot;:143.9,&quot;width&quot;:837.2}"/>
</p:tagLst>
</file>

<file path=ppt/tags/tag168.xml><?xml version="1.0" encoding="utf-8"?>
<p:tagLst xmlns:p="http://schemas.openxmlformats.org/presentationml/2006/main">
  <p:tag name="KSO_WM_DIAGRAM_VIRTUALLY_FRAME" val="{&quot;height&quot;:384.4,&quot;left&quot;:53.4,&quot;top&quot;:143.9,&quot;width&quot;:837.2}"/>
</p:tagLst>
</file>

<file path=ppt/tags/tag169.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170.xml><?xml version="1.0" encoding="utf-8"?>
<p:tagLst xmlns:p="http://schemas.openxmlformats.org/presentationml/2006/main">
  <p:tag name="KSO_WM_DIAGRAM_VIRTUALLY_FRAME" val="{&quot;height&quot;:384.4,&quot;left&quot;:53.4,&quot;top&quot;:143.9,&quot;width&quot;:837.2}"/>
</p:tagLst>
</file>

<file path=ppt/tags/tag171.xml><?xml version="1.0" encoding="utf-8"?>
<p:tagLst xmlns:p="http://schemas.openxmlformats.org/presentationml/2006/main">
  <p:tag name="KSO_WM_DIAGRAM_VIRTUALLY_FRAME" val="{&quot;height&quot;:384.4,&quot;left&quot;:53.4,&quot;top&quot;:143.9,&quot;width&quot;:837.2}"/>
</p:tagLst>
</file>

<file path=ppt/tags/tag172.xml><?xml version="1.0" encoding="utf-8"?>
<p:tagLst xmlns:p="http://schemas.openxmlformats.org/presentationml/2006/main">
  <p:tag name="KSO_DOCER_RESOURCE_TRACE_INFO" val="{&quot;id&quot;:&quot;&quot;,&quot;origin&quot;:0,&quot;type&quot;:&quot;pictures&quot;,&quot;user&quot;:&quot;1619202567&quot;}"/>
</p:tagLst>
</file>

<file path=ppt/tags/tag173.xml><?xml version="1.0" encoding="utf-8"?>
<p:tagLst xmlns:p="http://schemas.openxmlformats.org/presentationml/2006/main">
  <p:tag name="KSO_WM_DIAGRAM_VIRTUALLY_FRAME" val="{&quot;height&quot;:384.4,&quot;left&quot;:53.4,&quot;top&quot;:143.9,&quot;width&quot;:837.2}"/>
</p:tagLst>
</file>

<file path=ppt/tags/tag174.xml><?xml version="1.0" encoding="utf-8"?>
<p:tagLst xmlns:p="http://schemas.openxmlformats.org/presentationml/2006/main">
  <p:tag name="KSO_WM_DIAGRAM_VIRTUALLY_FRAME" val="{&quot;height&quot;:384.4,&quot;left&quot;:53.4,&quot;top&quot;:143.9,&quot;width&quot;:837.2}"/>
</p:tagLst>
</file>

<file path=ppt/tags/tag175.xml><?xml version="1.0" encoding="utf-8"?>
<p:tagLst xmlns:p="http://schemas.openxmlformats.org/presentationml/2006/main">
  <p:tag name="KSO_WM_DIAGRAM_VIRTUALLY_FRAME" val="{&quot;height&quot;:384.4,&quot;left&quot;:53.4,&quot;top&quot;:143.9,&quot;width&quot;:837.2}"/>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8.xml><?xml version="1.0" encoding="utf-8"?>
<p:tagLst xmlns:p="http://schemas.openxmlformats.org/presentationml/2006/main">
  <p:tag name="MH" val="20160830110146"/>
  <p:tag name="MH_LIBRARY" val="CONTENTS"/>
  <p:tag name="MH_TYPE" val="OTHERS"/>
  <p:tag name="ID" val="553512"/>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DIAGRAM_VIRTUALLY_FRAME" val="{&quot;height&quot;:345.8,&quot;left&quot;:28.8,&quot;top&quot;:164.9,&quot;width&quot;:857.3}"/>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DIAGRAM_VIRTUALLY_FRAME" val="{&quot;height&quot;:345.8,&quot;left&quot;:28.8,&quot;top&quot;:164.9,&quot;width&quot;:857.3}"/>
</p:tagLst>
</file>

<file path=ppt/tags/tag183.xml><?xml version="1.0" encoding="utf-8"?>
<p:tagLst xmlns:p="http://schemas.openxmlformats.org/presentationml/2006/main">
  <p:tag name="MH" val="20160830110146"/>
  <p:tag name="MH_LIBRARY" val="CONTENTS"/>
  <p:tag name="MH_TYPE" val="OTHERS"/>
  <p:tag name="ID" val="553512"/>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DIAGRAM_VIRTUALLY_FRAME" val="{&quot;height&quot;:345.8,&quot;left&quot;:28.8,&quot;top&quot;:164.9,&quot;width&quot;:857.3}"/>
</p:tagLst>
</file>

<file path=ppt/tags/tag188.xml><?xml version="1.0" encoding="utf-8"?>
<p:tagLst xmlns:p="http://schemas.openxmlformats.org/presentationml/2006/main">
  <p:tag name="MH" val="20160830110146"/>
  <p:tag name="MH_LIBRARY" val="CONTENTS"/>
  <p:tag name="MH_TYPE" val="OTHERS"/>
  <p:tag name="ID" val="553512"/>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1.xml><?xml version="1.0" encoding="utf-8"?>
<p:tagLst xmlns:p="http://schemas.openxmlformats.org/presentationml/2006/main">
  <p:tag name="MH" val="20160830110146"/>
  <p:tag name="MH_LIBRARY" val="CONTENTS"/>
  <p:tag name="MH_TYPE" val="OTHERS"/>
  <p:tag name="ID" val="553512"/>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DIAGRAM_VIRTUALLY_FRAME" val="{&quot;height&quot;:384.4,&quot;left&quot;:53.4,&quot;top&quot;:143.9,&quot;width&quot;:837.2}"/>
</p:tagLst>
</file>

<file path=ppt/tags/tag194.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84.4,&quot;left&quot;:53.4,&quot;top&quot;:143.9,&quot;width&quot;:837.2}"/>
</p:tagLst>
</file>

<file path=ppt/tags/tag195.xml><?xml version="1.0" encoding="utf-8"?>
<p:tagLst xmlns:p="http://schemas.openxmlformats.org/presentationml/2006/main">
  <p:tag name="KSO_WM_DIAGRAM_VIRTUALLY_FRAME" val="{&quot;height&quot;:384.4,&quot;left&quot;:53.4,&quot;top&quot;:143.9,&quot;width&quot;:837.2}"/>
</p:tagLst>
</file>

<file path=ppt/tags/tag196.xml><?xml version="1.0" encoding="utf-8"?>
<p:tagLst xmlns:p="http://schemas.openxmlformats.org/presentationml/2006/main">
  <p:tag name="KSO_WM_DIAGRAM_VIRTUALLY_FRAME" val="{&quot;height&quot;:384.4,&quot;left&quot;:53.4,&quot;top&quot;:143.9,&quot;width&quot;:837.2}"/>
</p:tagLst>
</file>

<file path=ppt/tags/tag197.xml><?xml version="1.0" encoding="utf-8"?>
<p:tagLst xmlns:p="http://schemas.openxmlformats.org/presentationml/2006/main">
  <p:tag name="KSO_WM_DIAGRAM_VIRTUALLY_FRAME" val="{&quot;height&quot;:384.4,&quot;left&quot;:53.4,&quot;top&quot;:143.9,&quot;width&quot;:837.2}"/>
</p:tagLst>
</file>

<file path=ppt/tags/tag198.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84.4,&quot;left&quot;:53.4,&quot;top&quot;:143.9,&quot;width&quot;:837.2}"/>
</p:tagLst>
</file>

<file path=ppt/tags/tag199.xml><?xml version="1.0" encoding="utf-8"?>
<p:tagLst xmlns:p="http://schemas.openxmlformats.org/presentationml/2006/main">
  <p:tag name="KSO_WM_DIAGRAM_VIRTUALLY_FRAME" val="{&quot;height&quot;:384.4,&quot;left&quot;:53.4,&quot;top&quot;:143.9,&quot;width&quot;:837.2}"/>
</p:tagLst>
</file>

<file path=ppt/tags/tag200.xml><?xml version="1.0" encoding="utf-8"?>
<p:tagLst xmlns:p="http://schemas.openxmlformats.org/presentationml/2006/main">
  <p:tag name="KSO_WM_DIAGRAM_VIRTUALLY_FRAME" val="{&quot;height&quot;:384.4,&quot;left&quot;:53.4,&quot;top&quot;:143.9,&quot;width&quot;:837.2}"/>
</p:tagLst>
</file>

<file path=ppt/tags/tag201.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02.xml><?xml version="1.0" encoding="utf-8"?>
<p:tagLst xmlns:p="http://schemas.openxmlformats.org/presentationml/2006/main">
  <p:tag name="KSO_WM_DIAGRAM_VIRTUALLY_FRAME" val="{&quot;height&quot;:384.4,&quot;left&quot;:53.4,&quot;top&quot;:143.9,&quot;width&quot;:837.2}"/>
</p:tagLst>
</file>

<file path=ppt/tags/tag203.xml><?xml version="1.0" encoding="utf-8"?>
<p:tagLst xmlns:p="http://schemas.openxmlformats.org/presentationml/2006/main">
  <p:tag name="KSO_WM_DIAGRAM_VIRTUALLY_FRAME" val="{&quot;height&quot;:384.4,&quot;left&quot;:53.4,&quot;top&quot;:143.9,&quot;width&quot;:837.2}"/>
</p:tagLst>
</file>

<file path=ppt/tags/tag204.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05.xml><?xml version="1.0" encoding="utf-8"?>
<p:tagLst xmlns:p="http://schemas.openxmlformats.org/presentationml/2006/main">
  <p:tag name="KSO_WM_DIAGRAM_VIRTUALLY_FRAME" val="{&quot;height&quot;:384.4,&quot;left&quot;:53.4,&quot;top&quot;:143.9,&quot;width&quot;:837.2}"/>
</p:tagLst>
</file>

<file path=ppt/tags/tag206.xml><?xml version="1.0" encoding="utf-8"?>
<p:tagLst xmlns:p="http://schemas.openxmlformats.org/presentationml/2006/main">
  <p:tag name="KSO_WM_DIAGRAM_VIRTUALLY_FRAME" val="{&quot;height&quot;:384.4,&quot;left&quot;:53.4,&quot;top&quot;:143.9,&quot;width&quot;:837.2}"/>
</p:tagLst>
</file>

<file path=ppt/tags/tag207.xml><?xml version="1.0" encoding="utf-8"?>
<p:tagLst xmlns:p="http://schemas.openxmlformats.org/presentationml/2006/main">
  <p:tag name="KSO_WM_DIAGRAM_VIRTUALLY_FRAME" val="{&quot;height&quot;:384.4,&quot;left&quot;:53.4,&quot;top&quot;:143.9,&quot;width&quot;:837.2}"/>
</p:tagLst>
</file>

<file path=ppt/tags/tag208.xml><?xml version="1.0" encoding="utf-8"?>
<p:tagLst xmlns:p="http://schemas.openxmlformats.org/presentationml/2006/main">
  <p:tag name="KSO_DOCER_RESOURCE_TRACE_INFO" val="{&quot;id&quot;:&quot;&quot;,&quot;origin&quot;:0,&quot;type&quot;:&quot;pictures&quot;,&quot;user&quot;:&quot;1619202567&quot;}"/>
</p:tagLst>
</file>

<file path=ppt/tags/tag209.xml><?xml version="1.0" encoding="utf-8"?>
<p:tagLst xmlns:p="http://schemas.openxmlformats.org/presentationml/2006/main">
  <p:tag name="KSO_WM_DIAGRAM_VIRTUALLY_FRAME" val="{&quot;height&quot;:384.4,&quot;left&quot;:53.4,&quot;top&quot;:143.9,&quot;width&quot;:837.2}"/>
</p:tagLst>
</file>

<file path=ppt/tags/tag210.xml><?xml version="1.0" encoding="utf-8"?>
<p:tagLst xmlns:p="http://schemas.openxmlformats.org/presentationml/2006/main">
  <p:tag name="KSO_WM_DIAGRAM_VIRTUALLY_FRAME" val="{&quot;height&quot;:384.4,&quot;left&quot;:53.4,&quot;top&quot;:143.9,&quot;width&quot;:837.2}"/>
</p:tagLst>
</file>

<file path=ppt/tags/tag211.xml><?xml version="1.0" encoding="utf-8"?>
<p:tagLst xmlns:p="http://schemas.openxmlformats.org/presentationml/2006/main">
  <p:tag name="MH" val="20160830110146"/>
  <p:tag name="MH_LIBRARY" val="CONTENTS"/>
  <p:tag name="MH_TYPE" val="OTHERS"/>
  <p:tag name="ID" val="553512"/>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DIAGRAM_VIRTUALLY_FRAME" val="{&quot;height&quot;:384.4,&quot;left&quot;:53.4,&quot;top&quot;:143.9,&quot;width&quot;:837.2}"/>
</p:tagLst>
</file>

<file path=ppt/tags/tag214.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84.4,&quot;left&quot;:53.4,&quot;top&quot;:143.9,&quot;width&quot;:837.2}"/>
</p:tagLst>
</file>

<file path=ppt/tags/tag215.xml><?xml version="1.0" encoding="utf-8"?>
<p:tagLst xmlns:p="http://schemas.openxmlformats.org/presentationml/2006/main">
  <p:tag name="KSO_WM_DIAGRAM_VIRTUALLY_FRAME" val="{&quot;height&quot;:384.4,&quot;left&quot;:53.4,&quot;top&quot;:143.9,&quot;width&quot;:837.2}"/>
</p:tagLst>
</file>

<file path=ppt/tags/tag216.xml><?xml version="1.0" encoding="utf-8"?>
<p:tagLst xmlns:p="http://schemas.openxmlformats.org/presentationml/2006/main">
  <p:tag name="KSO_WM_DIAGRAM_VIRTUALLY_FRAME" val="{&quot;height&quot;:384.4,&quot;left&quot;:53.4,&quot;top&quot;:143.9,&quot;width&quot;:837.2}"/>
</p:tagLst>
</file>

<file path=ppt/tags/tag217.xml><?xml version="1.0" encoding="utf-8"?>
<p:tagLst xmlns:p="http://schemas.openxmlformats.org/presentationml/2006/main">
  <p:tag name="KSO_WM_DIAGRAM_VIRTUALLY_FRAME" val="{&quot;height&quot;:384.4,&quot;left&quot;:53.4,&quot;top&quot;:143.9,&quot;width&quot;:837.2}"/>
</p:tagLst>
</file>

<file path=ppt/tags/tag218.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84.4,&quot;left&quot;:53.4,&quot;top&quot;:143.9,&quot;width&quot;:837.2}"/>
</p:tagLst>
</file>

<file path=ppt/tags/tag219.xml><?xml version="1.0" encoding="utf-8"?>
<p:tagLst xmlns:p="http://schemas.openxmlformats.org/presentationml/2006/main">
  <p:tag name="KSO_WM_DIAGRAM_VIRTUALLY_FRAME" val="{&quot;height&quot;:384.4,&quot;left&quot;:53.4,&quot;top&quot;:143.9,&quot;width&quot;:837.2}"/>
</p:tagLst>
</file>

<file path=ppt/tags/tag220.xml><?xml version="1.0" encoding="utf-8"?>
<p:tagLst xmlns:p="http://schemas.openxmlformats.org/presentationml/2006/main">
  <p:tag name="KSO_WM_DIAGRAM_VIRTUALLY_FRAME" val="{&quot;height&quot;:384.4,&quot;left&quot;:53.4,&quot;top&quot;:143.9,&quot;width&quot;:837.2}"/>
</p:tagLst>
</file>

<file path=ppt/tags/tag221.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22.xml><?xml version="1.0" encoding="utf-8"?>
<p:tagLst xmlns:p="http://schemas.openxmlformats.org/presentationml/2006/main">
  <p:tag name="KSO_WM_DIAGRAM_VIRTUALLY_FRAME" val="{&quot;height&quot;:384.4,&quot;left&quot;:53.4,&quot;top&quot;:143.9,&quot;width&quot;:837.2}"/>
</p:tagLst>
</file>

<file path=ppt/tags/tag223.xml><?xml version="1.0" encoding="utf-8"?>
<p:tagLst xmlns:p="http://schemas.openxmlformats.org/presentationml/2006/main">
  <p:tag name="KSO_WM_DIAGRAM_VIRTUALLY_FRAME" val="{&quot;height&quot;:384.4,&quot;left&quot;:53.4,&quot;top&quot;:143.9,&quot;width&quot;:837.2}"/>
</p:tagLst>
</file>

<file path=ppt/tags/tag224.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25.xml><?xml version="1.0" encoding="utf-8"?>
<p:tagLst xmlns:p="http://schemas.openxmlformats.org/presentationml/2006/main">
  <p:tag name="KSO_WM_DIAGRAM_VIRTUALLY_FRAME" val="{&quot;height&quot;:384.4,&quot;left&quot;:53.4,&quot;top&quot;:143.9,&quot;width&quot;:837.2}"/>
</p:tagLst>
</file>

<file path=ppt/tags/tag226.xml><?xml version="1.0" encoding="utf-8"?>
<p:tagLst xmlns:p="http://schemas.openxmlformats.org/presentationml/2006/main">
  <p:tag name="KSO_WM_DIAGRAM_VIRTUALLY_FRAME" val="{&quot;height&quot;:384.4,&quot;left&quot;:53.4,&quot;top&quot;:143.9,&quot;width&quot;:837.2}"/>
</p:tagLst>
</file>

<file path=ppt/tags/tag227.xml><?xml version="1.0" encoding="utf-8"?>
<p:tagLst xmlns:p="http://schemas.openxmlformats.org/presentationml/2006/main">
  <p:tag name="KSO_WM_DIAGRAM_VIRTUALLY_FRAME" val="{&quot;height&quot;:384.4,&quot;left&quot;:53.4,&quot;top&quot;:143.9,&quot;width&quot;:837.2}"/>
</p:tagLst>
</file>

<file path=ppt/tags/tag228.xml><?xml version="1.0" encoding="utf-8"?>
<p:tagLst xmlns:p="http://schemas.openxmlformats.org/presentationml/2006/main">
  <p:tag name="MH" val="20160830110146"/>
  <p:tag name="MH_LIBRARY" val="CONTENTS"/>
  <p:tag name="MH_TYPE" val="OTHERS"/>
  <p:tag name="ID" val="553512"/>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DIAGRAM_VIRTUALLY_FRAME" val="{&quot;height&quot;:345.8,&quot;left&quot;:28.8,&quot;top&quot;:164.9,&quot;width&quot;:857.3}"/>
</p:tagLst>
</file>

<file path=ppt/tags/tag231.xml><?xml version="1.0" encoding="utf-8"?>
<p:tagLst xmlns:p="http://schemas.openxmlformats.org/presentationml/2006/main">
  <p:tag name="KSO_WM_DIAGRAM_VIRTUALLY_FRAME" val="{&quot;height&quot;:345.8,&quot;left&quot;:28.8,&quot;top&quot;:164.9,&quot;width&quot;:857.3}"/>
</p:tagLst>
</file>

<file path=ppt/tags/tag232.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28.8,&quot;top&quot;:164.9,&quot;width&quot;:857.3}"/>
</p:tagLst>
</file>

<file path=ppt/tags/tag233.xml><?xml version="1.0" encoding="utf-8"?>
<p:tagLst xmlns:p="http://schemas.openxmlformats.org/presentationml/2006/main">
  <p:tag name="KSO_WM_DIAGRAM_VIRTUALLY_FRAME" val="{&quot;height&quot;:345.8,&quot;left&quot;:28.8,&quot;top&quot;:164.9,&quot;width&quot;:857.3}"/>
</p:tagLst>
</file>

<file path=ppt/tags/tag234.xml><?xml version="1.0" encoding="utf-8"?>
<p:tagLst xmlns:p="http://schemas.openxmlformats.org/presentationml/2006/main">
  <p:tag name="KSO_WM_DIAGRAM_VIRTUALLY_FRAME" val="{&quot;height&quot;:345.8,&quot;left&quot;:28.8,&quot;top&quot;:164.9,&quot;width&quot;:857.3}"/>
</p:tagLst>
</file>

<file path=ppt/tags/tag235.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45.8,&quot;left&quot;:28.8,&quot;top&quot;:164.9,&quot;width&quot;:857.3}"/>
</p:tagLst>
</file>

<file path=ppt/tags/tag236.xml><?xml version="1.0" encoding="utf-8"?>
<p:tagLst xmlns:p="http://schemas.openxmlformats.org/presentationml/2006/main">
  <p:tag name="MH" val="20160830110146"/>
  <p:tag name="MH_LIBRARY" val="CONTENTS"/>
  <p:tag name="MH_TYPE" val="OTHERS"/>
  <p:tag name="ID" val="553512"/>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DIAGRAM_VIRTUALLY_FRAME" val="{&quot;height&quot;:384.4,&quot;left&quot;:53.4,&quot;top&quot;:143.9,&quot;width&quot;:837.2}"/>
</p:tagLst>
</file>

<file path=ppt/tags/tag239.xml><?xml version="1.0" encoding="utf-8"?>
<p:tagLst xmlns:p="http://schemas.openxmlformats.org/presentationml/2006/main">
  <p:tag name="KSO_WM_DIAGRAM_VIRTUALLY_FRAME" val="{&quot;height&quot;:384.4,&quot;left&quot;:53.4,&quot;top&quot;:143.9,&quot;width&quot;:837.2}"/>
</p:tagLst>
</file>

<file path=ppt/tags/tag240.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84.4,&quot;left&quot;:53.4,&quot;top&quot;:143.9,&quot;width&quot;:837.2}"/>
</p:tagLst>
</file>

<file path=ppt/tags/tag241.xml><?xml version="1.0" encoding="utf-8"?>
<p:tagLst xmlns:p="http://schemas.openxmlformats.org/presentationml/2006/main">
  <p:tag name="KSO_WM_DIAGRAM_VIRTUALLY_FRAME" val="{&quot;height&quot;:384.4,&quot;left&quot;:53.4,&quot;top&quot;:143.9,&quot;width&quot;:837.2}"/>
</p:tagLst>
</file>

<file path=ppt/tags/tag242.xml><?xml version="1.0" encoding="utf-8"?>
<p:tagLst xmlns:p="http://schemas.openxmlformats.org/presentationml/2006/main">
  <p:tag name="KSO_WM_DIAGRAM_VIRTUALLY_FRAME" val="{&quot;height&quot;:384.4,&quot;left&quot;:53.4,&quot;top&quot;:143.9,&quot;width&quot;:837.2}"/>
</p:tagLst>
</file>

<file path=ppt/tags/tag243.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44.xml><?xml version="1.0" encoding="utf-8"?>
<p:tagLst xmlns:p="http://schemas.openxmlformats.org/presentationml/2006/main">
  <p:tag name="KSO_WM_DIAGRAM_VIRTUALLY_FRAME" val="{&quot;height&quot;:384.4,&quot;left&quot;:53.4,&quot;top&quot;:143.9,&quot;width&quot;:837.2}"/>
</p:tagLst>
</file>

<file path=ppt/tags/tag245.xml><?xml version="1.0" encoding="utf-8"?>
<p:tagLst xmlns:p="http://schemas.openxmlformats.org/presentationml/2006/main">
  <p:tag name="KSO_WM_DIAGRAM_VIRTUALLY_FRAME" val="{&quot;height&quot;:384.4,&quot;left&quot;:53.4,&quot;top&quot;:143.9,&quot;width&quot;:837.2}"/>
</p:tagLst>
</file>

<file path=ppt/tags/tag246.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47.xml><?xml version="1.0" encoding="utf-8"?>
<p:tagLst xmlns:p="http://schemas.openxmlformats.org/presentationml/2006/main">
  <p:tag name="KSO_WM_DIAGRAM_VIRTUALLY_FRAME" val="{&quot;height&quot;:384.4,&quot;left&quot;:53.4,&quot;top&quot;:143.9,&quot;width&quot;:837.2}"/>
</p:tagLst>
</file>

<file path=ppt/tags/tag248.xml><?xml version="1.0" encoding="utf-8"?>
<p:tagLst xmlns:p="http://schemas.openxmlformats.org/presentationml/2006/main">
  <p:tag name="KSO_WM_DIAGRAM_VIRTUALLY_FRAME" val="{&quot;height&quot;:384.4,&quot;left&quot;:53.4,&quot;top&quot;:143.9,&quot;width&quot;:837.2}"/>
</p:tagLst>
</file>

<file path=ppt/tags/tag249.xml><?xml version="1.0" encoding="utf-8"?>
<p:tagLst xmlns:p="http://schemas.openxmlformats.org/presentationml/2006/main">
  <p:tag name="KSO_WM_DIAGRAM_VIRTUALLY_FRAME" val="{&quot;height&quot;:384.4,&quot;left&quot;:53.4,&quot;top&quot;:143.9,&quot;width&quot;:837.2}"/>
</p:tagLst>
</file>

<file path=ppt/tags/tag250.xml><?xml version="1.0" encoding="utf-8"?>
<p:tagLst xmlns:p="http://schemas.openxmlformats.org/presentationml/2006/main">
  <p:tag name="KSO_WM_DIAGRAM_VIRTUALLY_FRAME" val="{&quot;height&quot;:384.4,&quot;left&quot;:53.4,&quot;top&quot;:143.9,&quot;width&quot;:837.2}"/>
</p:tagLst>
</file>

<file path=ppt/tags/tag251.xml><?xml version="1.0" encoding="utf-8"?>
<p:tagLst xmlns:p="http://schemas.openxmlformats.org/presentationml/2006/main">
  <p:tag name="KSO_WM_DIAGRAM_VIRTUALLY_FRAME" val="{&quot;height&quot;:384.4,&quot;left&quot;:53.4,&quot;top&quot;:143.9,&quot;width&quot;:837.2}"/>
</p:tagLst>
</file>

<file path=ppt/tags/tag252.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53.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28.8,&quot;top&quot;:164.9,&quot;width&quot;:857.3}"/>
</p:tagLst>
</file>

<file path=ppt/tags/tag254.xml><?xml version="1.0" encoding="utf-8"?>
<p:tagLst xmlns:p="http://schemas.openxmlformats.org/presentationml/2006/main">
  <p:tag name="KSO_WM_DIAGRAM_VIRTUALLY_FRAME" val="{&quot;height&quot;:345.8,&quot;left&quot;:28.8,&quot;top&quot;:164.9,&quot;width&quot;:857.3}"/>
</p:tagLst>
</file>

<file path=ppt/tags/tag255.xml><?xml version="1.0" encoding="utf-8"?>
<p:tagLst xmlns:p="http://schemas.openxmlformats.org/presentationml/2006/main">
  <p:tag name="KSO_WM_DIAGRAM_VIRTUALLY_FRAME" val="{&quot;height&quot;:384.4,&quot;left&quot;:53.4,&quot;top&quot;:143.9,&quot;width&quot;:837.2}"/>
</p:tagLst>
</file>

<file path=ppt/tags/tag256.xml><?xml version="1.0" encoding="utf-8"?>
<p:tagLst xmlns:p="http://schemas.openxmlformats.org/presentationml/2006/main">
  <p:tag name="KSO_DOCER_RESOURCE_TRACE_INFO" val="{&quot;id&quot;:&quot;&quot;,&quot;origin&quot;:0,&quot;type&quot;:&quot;pictures&quot;,&quot;user&quot;:&quot;1619202567&quot;}"/>
</p:tagLst>
</file>

<file path=ppt/tags/tag257.xml><?xml version="1.0" encoding="utf-8"?>
<p:tagLst xmlns:p="http://schemas.openxmlformats.org/presentationml/2006/main">
  <p:tag name="KSO_DOCER_RESOURCE_TRACE_INFO" val="{&quot;id&quot;:&quot;&quot;,&quot;origin&quot;:0,&quot;type&quot;:&quot;pictures&quot;,&quot;user&quot;:&quot;1619202567&quot;}"/>
</p:tagLst>
</file>

<file path=ppt/tags/tag258.xml><?xml version="1.0" encoding="utf-8"?>
<p:tagLst xmlns:p="http://schemas.openxmlformats.org/presentationml/2006/main">
  <p:tag name="KSO_DOCER_RESOURCE_TRACE_INFO" val="{&quot;id&quot;:&quot;&quot;,&quot;origin&quot;:0,&quot;type&quot;:&quot;pictures&quot;,&quot;user&quot;:&quot;1619202567&quot;}"/>
</p:tagLst>
</file>

<file path=ppt/tags/tag259.xml><?xml version="1.0" encoding="utf-8"?>
<p:tagLst xmlns:p="http://schemas.openxmlformats.org/presentationml/2006/main">
  <p:tag name="KSO_WM_DIAGRAM_VIRTUALLY_FRAME" val="{&quot;height&quot;:384.4,&quot;left&quot;:53.4,&quot;top&quot;:143.9,&quot;width&quot;:837.2}"/>
</p:tagLst>
</file>

<file path=ppt/tags/tag260.xml><?xml version="1.0" encoding="utf-8"?>
<p:tagLst xmlns:p="http://schemas.openxmlformats.org/presentationml/2006/main">
  <p:tag name="KSO_WM_DIAGRAM_VIRTUALLY_FRAME" val="{&quot;height&quot;:384.4,&quot;left&quot;:53.4,&quot;top&quot;:143.9,&quot;width&quot;:837.2}"/>
</p:tagLst>
</file>

<file path=ppt/tags/tag261.xml><?xml version="1.0" encoding="utf-8"?>
<p:tagLst xmlns:p="http://schemas.openxmlformats.org/presentationml/2006/main">
  <p:tag name="KSO_WM_DIAGRAM_VIRTUALLY_FRAME" val="{&quot;height&quot;:384.4,&quot;left&quot;:53.4,&quot;top&quot;:143.9,&quot;width&quot;:837.2}"/>
</p:tagLst>
</file>

<file path=ppt/tags/tag262.xml><?xml version="1.0" encoding="utf-8"?>
<p:tagLst xmlns:p="http://schemas.openxmlformats.org/presentationml/2006/main">
  <p:tag name="KSO_WM_DIAGRAM_VIRTUALLY_FRAME" val="{&quot;height&quot;:384.4,&quot;left&quot;:53.4,&quot;top&quot;:143.9,&quot;width&quot;:837.2}"/>
</p:tagLst>
</file>

<file path=ppt/tags/tag263.xml><?xml version="1.0" encoding="utf-8"?>
<p:tagLst xmlns:p="http://schemas.openxmlformats.org/presentationml/2006/main">
  <p:tag name="MH" val="20160830110146"/>
  <p:tag name="MH_LIBRARY" val="CONTENTS"/>
  <p:tag name="MH_TYPE" val="OTHERS"/>
  <p:tag name="ID" val="553512"/>
</p:tagLst>
</file>

<file path=ppt/tags/tag264.xml><?xml version="1.0" encoding="utf-8"?>
<p:tagLst xmlns:p="http://schemas.openxmlformats.org/presentationml/2006/main">
  <p:tag name="KSO_WM_DIAGRAM_VIRTUALLY_FRAME" val="{&quot;height&quot;:384.4,&quot;left&quot;:53.4,&quot;top&quot;:143.9,&quot;width&quot;:837.2}"/>
</p:tagLst>
</file>

<file path=ppt/tags/tag265.xml><?xml version="1.0" encoding="utf-8"?>
<p:tagLst xmlns:p="http://schemas.openxmlformats.org/presentationml/2006/main">
  <p:tag name="KSO_WM_DIAGRAM_VIRTUALLY_FRAME" val="{&quot;height&quot;:384.4,&quot;left&quot;:53.4,&quot;top&quot;:143.9,&quot;width&quot;:837.2}"/>
</p:tagLst>
</file>

<file path=ppt/tags/tag266.xml><?xml version="1.0" encoding="utf-8"?>
<p:tagLst xmlns:p="http://schemas.openxmlformats.org/presentationml/2006/main">
  <p:tag name="KSO_WM_DIAGRAM_VIRTUALLY_FRAME" val="{&quot;height&quot;:384.4,&quot;left&quot;:53.4,&quot;top&quot;:143.9,&quot;width&quot;:837.2}"/>
</p:tagLst>
</file>

<file path=ppt/tags/tag267.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28.8,&quot;top&quot;:164.9,&quot;width&quot;:857.3}"/>
</p:tagLst>
</file>

<file path=ppt/tags/tag268.xml><?xml version="1.0" encoding="utf-8"?>
<p:tagLst xmlns:p="http://schemas.openxmlformats.org/presentationml/2006/main">
  <p:tag name="KSO_WM_DIAGRAM_VIRTUALLY_FRAME" val="{&quot;height&quot;:345.8,&quot;left&quot;:28.8,&quot;top&quot;:164.9,&quot;width&quot;:857.3}"/>
</p:tagLst>
</file>

<file path=ppt/tags/tag269.xml><?xml version="1.0" encoding="utf-8"?>
<p:tagLst xmlns:p="http://schemas.openxmlformats.org/presentationml/2006/main">
  <p:tag name="KSO_DOCER_RESOURCE_TRACE_INFO" val="{&quot;id&quot;:&quot;&quot;,&quot;origin&quot;:0,&quot;type&quot;:&quot;pictures&quot;,&quot;user&quot;:&quot;1619202567&quot;}"/>
</p:tagLst>
</file>

<file path=ppt/tags/tag270.xml><?xml version="1.0" encoding="utf-8"?>
<p:tagLst xmlns:p="http://schemas.openxmlformats.org/presentationml/2006/main">
  <p:tag name="KSO_WM_DIAGRAM_VIRTUALLY_FRAME" val="{&quot;height&quot;:384.4,&quot;left&quot;:53.4,&quot;top&quot;:143.9,&quot;width&quot;:837.2}"/>
</p:tagLst>
</file>

<file path=ppt/tags/tag271.xml><?xml version="1.0" encoding="utf-8"?>
<p:tagLst xmlns:p="http://schemas.openxmlformats.org/presentationml/2006/main">
  <p:tag name="KSO_WM_DIAGRAM_VIRTUALLY_FRAME" val="{&quot;height&quot;:384.4,&quot;left&quot;:53.4,&quot;top&quot;:143.9,&quot;width&quot;:837.2}"/>
</p:tagLst>
</file>

<file path=ppt/tags/tag272.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84.4,&quot;left&quot;:53.4,&quot;top&quot;:143.9,&quot;width&quot;:837.2}"/>
</p:tagLst>
</file>

<file path=ppt/tags/tag273.xml><?xml version="1.0" encoding="utf-8"?>
<p:tagLst xmlns:p="http://schemas.openxmlformats.org/presentationml/2006/main">
  <p:tag name="KSO_WM_DIAGRAM_VIRTUALLY_FRAME" val="{&quot;height&quot;:384.4,&quot;left&quot;:53.4,&quot;top&quot;:143.9,&quot;width&quot;:837.2}"/>
</p:tagLst>
</file>

<file path=ppt/tags/tag274.xml><?xml version="1.0" encoding="utf-8"?>
<p:tagLst xmlns:p="http://schemas.openxmlformats.org/presentationml/2006/main">
  <p:tag name="KSO_WM_DIAGRAM_VIRTUALLY_FRAME" val="{&quot;height&quot;:384.4,&quot;left&quot;:53.4,&quot;top&quot;:143.9,&quot;width&quot;:837.2}"/>
</p:tagLst>
</file>

<file path=ppt/tags/tag275.xml><?xml version="1.0" encoding="utf-8"?>
<p:tagLst xmlns:p="http://schemas.openxmlformats.org/presentationml/2006/main">
  <p:tag name="KSO_WM_DIAGRAM_VIRTUALLY_FRAME" val="{&quot;height&quot;:384.4,&quot;left&quot;:53.4,&quot;top&quot;:143.9,&quot;width&quot;:837.2}"/>
</p:tagLst>
</file>

<file path=ppt/tags/tag276.xml><?xml version="1.0" encoding="utf-8"?>
<p:tagLst xmlns:p="http://schemas.openxmlformats.org/presentationml/2006/main">
  <p:tag name="KSO_WM_DIAGRAM_VIRTUALLY_FRAME" val="{&quot;height&quot;:345.8,&quot;left&quot;:28.8,&quot;top&quot;:164.9,&quot;width&quot;:857.3}"/>
</p:tagLst>
</file>

<file path=ppt/tags/tag277.xml><?xml version="1.0" encoding="utf-8"?>
<p:tagLst xmlns:p="http://schemas.openxmlformats.org/presentationml/2006/main">
  <p:tag name="KSO_WM_DIAGRAM_VIRTUALLY_FRAME" val="{&quot;height&quot;:384.4,&quot;left&quot;:53.4,&quot;top&quot;:143.9,&quot;width&quot;:837.2}"/>
</p:tagLst>
</file>

<file path=ppt/tags/tag278.xml><?xml version="1.0" encoding="utf-8"?>
<p:tagLst xmlns:p="http://schemas.openxmlformats.org/presentationml/2006/main">
  <p:tag name="KSO_WM_DIAGRAM_VIRTUALLY_FRAME" val="{&quot;height&quot;:384.4,&quot;left&quot;:53.4,&quot;top&quot;:143.9,&quot;width&quot;:837.2}"/>
</p:tagLst>
</file>

<file path=ppt/tags/tag279.xml><?xml version="1.0" encoding="utf-8"?>
<p:tagLst xmlns:p="http://schemas.openxmlformats.org/presentationml/2006/main">
  <p:tag name="KSO_WM_DIAGRAM_VIRTUALLY_FRAME" val="{&quot;height&quot;:384.4,&quot;left&quot;:53.4,&quot;top&quot;:143.9,&quot;width&quot;:837.2}"/>
</p:tagLst>
</file>

<file path=ppt/tags/tag280.xml><?xml version="1.0" encoding="utf-8"?>
<p:tagLst xmlns:p="http://schemas.openxmlformats.org/presentationml/2006/main">
  <p:tag name="KSO_WM_DIAGRAM_VIRTUALLY_FRAME" val="{&quot;height&quot;:384.4,&quot;left&quot;:53.4,&quot;top&quot;:143.9,&quot;width&quot;:837.2}"/>
</p:tagLst>
</file>

<file path=ppt/tags/tag281.xml><?xml version="1.0" encoding="utf-8"?>
<p:tagLst xmlns:p="http://schemas.openxmlformats.org/presentationml/2006/main">
  <p:tag name="MH" val="20160830110146"/>
  <p:tag name="MH_LIBRARY" val="CONTENTS"/>
  <p:tag name="MH_TYPE" val="OTHERS"/>
  <p:tag name="ID" val="553512"/>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TABLE_ENDDRAG_ORIGIN_RECT" val="916*384"/>
  <p:tag name="TABLE_ENDDRAG_RECT" val="20*112*916*384"/>
</p:tagLst>
</file>

<file path=ppt/tags/tag284.xml><?xml version="1.0" encoding="utf-8"?>
<p:tagLst xmlns:p="http://schemas.openxmlformats.org/presentationml/2006/main">
  <p:tag name="MH" val="20160830110146"/>
  <p:tag name="MH_LIBRARY" val="CONTENTS"/>
  <p:tag name="MH_TYPE" val="OTHERS"/>
  <p:tag name="ID" val="553512"/>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TABLE_ENDDRAG_ORIGIN_RECT" val="904*399"/>
  <p:tag name="TABLE_ENDDRAG_RECT" val="20*97*904*399"/>
</p:tagLst>
</file>

<file path=ppt/tags/tag287.xml><?xml version="1.0" encoding="utf-8"?>
<p:tagLst xmlns:p="http://schemas.openxmlformats.org/presentationml/2006/main">
  <p:tag name="MH" val="20160830110146"/>
  <p:tag name="MH_LIBRARY" val="CONTENTS"/>
  <p:tag name="MH_TYPE" val="OTHERS"/>
  <p:tag name="ID" val="553512"/>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TABLE_ENDDRAG_ORIGIN_RECT" val="916*384"/>
  <p:tag name="TABLE_ENDDRAG_RECT" val="20*112*916*384"/>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2.xml><?xml version="1.0" encoding="utf-8"?>
<p:tagLst xmlns:p="http://schemas.openxmlformats.org/presentationml/2006/main">
  <p:tag name="MH" val="20160830110146"/>
  <p:tag name="MH_LIBRARY" val="CONTENTS"/>
  <p:tag name="MH_TYPE" val="OTHERS"/>
  <p:tag name="ID" val="553512"/>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DIAGRAM_VIRTUALLY_FRAME" val="{&quot;height&quot;:345.8,&quot;left&quot;:28.8,&quot;top&quot;:164.9,&quot;width&quot;:857.3}"/>
</p:tagLst>
</file>

<file path=ppt/tags/tag295.xml><?xml version="1.0" encoding="utf-8"?>
<p:tagLst xmlns:p="http://schemas.openxmlformats.org/presentationml/2006/main">
  <p:tag name="KSO_WM_DIAGRAM_VIRTUALLY_FRAME" val="{&quot;height&quot;:345.8,&quot;left&quot;:28.8,&quot;top&quot;:164.9,&quot;width&quot;:857.3}"/>
</p:tagLst>
</file>

<file path=ppt/tags/tag296.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28.8,&quot;top&quot;:164.9,&quot;width&quot;:857.3}"/>
</p:tagLst>
</file>

<file path=ppt/tags/tag297.xml><?xml version="1.0" encoding="utf-8"?>
<p:tagLst xmlns:p="http://schemas.openxmlformats.org/presentationml/2006/main">
  <p:tag name="KSO_WM_DIAGRAM_VIRTUALLY_FRAME" val="{&quot;height&quot;:345.8,&quot;left&quot;:28.8,&quot;top&quot;:164.9,&quot;width&quot;:857.3}"/>
</p:tagLst>
</file>

<file path=ppt/tags/tag298.xml><?xml version="1.0" encoding="utf-8"?>
<p:tagLst xmlns:p="http://schemas.openxmlformats.org/presentationml/2006/main">
  <p:tag name="KSO_DOCER_RESOURCE_TRACE_INFO" val="{&quot;id&quot;:&quot;50044699&quot;,&quot;origin&quot;:0,&quot;type&quot;:&quot;icons&quot;,&quot;user&quot;:&quot;1619202567&quot;}"/>
</p:tagLst>
</file>

<file path=ppt/tags/tag299.xml><?xml version="1.0" encoding="utf-8"?>
<p:tagLst xmlns:p="http://schemas.openxmlformats.org/presentationml/2006/main">
  <p:tag name="KSO_DOCER_RESOURCE_TRACE_INFO" val="{&quot;id&quot;:&quot;20280902&quot;,&quot;origin&quot;:0,&quot;type&quot;:&quot;icons&quot;,&quot;user&quot;:&quot;1619202567&quot;}"/>
</p:tagLst>
</file>

<file path=ppt/tags/tag300.xml><?xml version="1.0" encoding="utf-8"?>
<p:tagLst xmlns:p="http://schemas.openxmlformats.org/presentationml/2006/main">
  <p:tag name="KSO_DOCER_RESOURCE_TRACE_INFO" val="{&quot;id&quot;:&quot;50026891&quot;,&quot;origin&quot;:0,&quot;type&quot;:&quot;icons&quot;,&quot;user&quot;:&quot;1619202567&quot;}"/>
</p:tagLst>
</file>

<file path=ppt/tags/tag301.xml><?xml version="1.0" encoding="utf-8"?>
<p:tagLst xmlns:p="http://schemas.openxmlformats.org/presentationml/2006/main">
  <p:tag name="MH" val="20160830110146"/>
  <p:tag name="MH_LIBRARY" val="CONTENTS"/>
  <p:tag name="MH_TYPE" val="OTHERS"/>
  <p:tag name="ID" val="553512"/>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DIAGRAM_VIRTUALLY_FRAME" val="{&quot;height&quot;:384.4,&quot;left&quot;:53.4,&quot;top&quot;:143.9,&quot;width&quot;:837.2}"/>
</p:tagLst>
</file>

<file path=ppt/tags/tag304.xml><?xml version="1.0" encoding="utf-8"?>
<p:tagLst xmlns:p="http://schemas.openxmlformats.org/presentationml/2006/main">
  <p:tag name="KSO_WM_DIAGRAM_VIRTUALLY_FRAME" val="{&quot;height&quot;:384.4,&quot;left&quot;:53.4,&quot;top&quot;:143.9,&quot;width&quot;:837.2}"/>
</p:tagLst>
</file>

<file path=ppt/tags/tag305.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306.xml><?xml version="1.0" encoding="utf-8"?>
<p:tagLst xmlns:p="http://schemas.openxmlformats.org/presentationml/2006/main">
  <p:tag name="KSO_WM_DIAGRAM_VIRTUALLY_FRAME" val="{&quot;height&quot;:384.4,&quot;left&quot;:53.4,&quot;top&quot;:143.9,&quot;width&quot;:837.2}"/>
</p:tagLst>
</file>

<file path=ppt/tags/tag307.xml><?xml version="1.0" encoding="utf-8"?>
<p:tagLst xmlns:p="http://schemas.openxmlformats.org/presentationml/2006/main">
  <p:tag name="KSO_WM_DIAGRAM_VIRTUALLY_FRAME" val="{&quot;height&quot;:384.4,&quot;left&quot;:53.4,&quot;top&quot;:143.9,&quot;width&quot;:837.2}"/>
</p:tagLst>
</file>

<file path=ppt/tags/tag308.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28.8,&quot;top&quot;:164.9,&quot;width&quot;:857.3}"/>
</p:tagLst>
</file>

<file path=ppt/tags/tag309.xml><?xml version="1.0" encoding="utf-8"?>
<p:tagLst xmlns:p="http://schemas.openxmlformats.org/presentationml/2006/main">
  <p:tag name="KSO_WM_DIAGRAM_VIRTUALLY_FRAME" val="{&quot;height&quot;:345.8,&quot;left&quot;:28.8,&quot;top&quot;:164.9,&quot;width&quot;:857.3}"/>
</p:tagLst>
</file>

<file path=ppt/tags/tag310.xml><?xml version="1.0" encoding="utf-8"?>
<p:tagLst xmlns:p="http://schemas.openxmlformats.org/presentationml/2006/main">
  <p:tag name="KSO_DOCER_RESOURCE_TRACE_INFO" val="{&quot;id&quot;:&quot;&quot;,&quot;origin&quot;:0,&quot;type&quot;:&quot;pictures&quot;,&quot;user&quot;:&quot;1619202567&quot;}"/>
</p:tagLst>
</file>

<file path=ppt/tags/tag311.xml><?xml version="1.0" encoding="utf-8"?>
<p:tagLst xmlns:p="http://schemas.openxmlformats.org/presentationml/2006/main">
  <p:tag name="KSO_WM_DIAGRAM_VIRTUALLY_FRAME" val="{&quot;height&quot;:384.4,&quot;left&quot;:53.4,&quot;top&quot;:143.9,&quot;width&quot;:837.2}"/>
</p:tagLst>
</file>

<file path=ppt/tags/tag312.xml><?xml version="1.0" encoding="utf-8"?>
<p:tagLst xmlns:p="http://schemas.openxmlformats.org/presentationml/2006/main">
  <p:tag name="KSO_WM_DIAGRAM_VIRTUALLY_FRAME" val="{&quot;height&quot;:345.8,&quot;left&quot;:28.8,&quot;top&quot;:164.9,&quot;width&quot;:857.3}"/>
</p:tagLst>
</file>

<file path=ppt/tags/tag313.xml><?xml version="1.0" encoding="utf-8"?>
<p:tagLst xmlns:p="http://schemas.openxmlformats.org/presentationml/2006/main">
  <p:tag name="KSO_DOCER_RESOURCE_TRACE_INFO" val="{&quot;id&quot;:&quot;50062581&quot;,&quot;origin&quot;:0,&quot;type&quot;:&quot;icons&quot;,&quot;user&quot;:&quot;1619202567&quot;}"/>
  <p:tag name="KSO_WM_DIAGRAM_VIRTUALLY_FRAME" val="{&quot;height&quot;:384.4,&quot;left&quot;:53.4,&quot;top&quot;:143.9,&quot;width&quot;:837.2}"/>
</p:tagLst>
</file>

<file path=ppt/tags/tag314.xml><?xml version="1.0" encoding="utf-8"?>
<p:tagLst xmlns:p="http://schemas.openxmlformats.org/presentationml/2006/main">
  <p:tag name="KSO_WM_DIAGRAM_VIRTUALLY_FRAME" val="{&quot;height&quot;:384.4,&quot;left&quot;:53.4,&quot;top&quot;:143.9,&quot;width&quot;:837.2}"/>
</p:tagLst>
</file>

<file path=ppt/tags/tag315.xml><?xml version="1.0" encoding="utf-8"?>
<p:tagLst xmlns:p="http://schemas.openxmlformats.org/presentationml/2006/main">
  <p:tag name="MH" val="20160830110146"/>
  <p:tag name="MH_LIBRARY" val="CONTENTS"/>
  <p:tag name="MH_TYPE" val="OTHERS"/>
  <p:tag name="ID" val="553512"/>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DIAGRAM_VIRTUALLY_FRAME" val="{&quot;height&quot;:345.8,&quot;left&quot;:28.8,&quot;top&quot;:164.9,&quot;width&quot;:857.3}"/>
</p:tagLst>
</file>

<file path=ppt/tags/tag318.xml><?xml version="1.0" encoding="utf-8"?>
<p:tagLst xmlns:p="http://schemas.openxmlformats.org/presentationml/2006/main">
  <p:tag name="KSO_DOCER_RESOURCE_TRACE_INFO" val="{&quot;id&quot;:&quot;50044699&quot;,&quot;origin&quot;:0,&quot;type&quot;:&quot;icons&quot;,&quot;user&quot;:&quot;1619202567&quot;}"/>
</p:tagLst>
</file>

<file path=ppt/tags/tag319.xml><?xml version="1.0" encoding="utf-8"?>
<p:tagLst xmlns:p="http://schemas.openxmlformats.org/presentationml/2006/main">
  <p:tag name="KSO_DOCER_RESOURCE_TRACE_INFO" val="{&quot;id&quot;:&quot;20280902&quot;,&quot;origin&quot;:0,&quot;type&quot;:&quot;icons&quot;,&quot;user&quot;:&quot;1619202567&quot;}"/>
</p:tagLst>
</file>

<file path=ppt/tags/tag320.xml><?xml version="1.0" encoding="utf-8"?>
<p:tagLst xmlns:p="http://schemas.openxmlformats.org/presentationml/2006/main">
  <p:tag name="KSO_DOCER_RESOURCE_TRACE_INFO" val="{&quot;id&quot;:&quot;50026891&quot;,&quot;origin&quot;:0,&quot;type&quot;:&quot;icons&quot;,&quot;user&quot;:&quot;1619202567&quot;}"/>
</p:tagLst>
</file>

<file path=ppt/tags/tag321.xml><?xml version="1.0" encoding="utf-8"?>
<p:tagLst xmlns:p="http://schemas.openxmlformats.org/presentationml/2006/main">
  <p:tag name="KSO_WM_DIAGRAM_VIRTUALLY_FRAME" val="{&quot;height&quot;:345.8,&quot;left&quot;:28.8,&quot;top&quot;:164.9,&quot;width&quot;:857.3}"/>
</p:tagLst>
</file>

<file path=ppt/tags/tag322.xml><?xml version="1.0" encoding="utf-8"?>
<p:tagLst xmlns:p="http://schemas.openxmlformats.org/presentationml/2006/main">
  <p:tag name="KSO_WM_DIAGRAM_VIRTUALLY_FRAME" val="{&quot;height&quot;:345.8,&quot;left&quot;:28.8,&quot;top&quot;:164.9,&quot;width&quot;:857.3}"/>
</p:tagLst>
</file>

<file path=ppt/tags/tag323.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45.8,&quot;left&quot;:28.8,&quot;top&quot;:164.9,&quot;width&quot;:857.3}"/>
</p:tagLst>
</file>

<file path=ppt/tags/tag324.xml><?xml version="1.0" encoding="utf-8"?>
<p:tagLst xmlns:p="http://schemas.openxmlformats.org/presentationml/2006/main">
  <p:tag name="KSO_DOCER_RESOURCE_TRACE_INFO" val="{&quot;id&quot;:&quot;21566523&quot;,&quot;origin&quot;:0,&quot;type&quot;:&quot;icons&quot;,&quot;user&quot;:&quot;1619202567&quot;}"/>
</p:tagLst>
</file>

<file path=ppt/tags/tag325.xml><?xml version="1.0" encoding="utf-8"?>
<p:tagLst xmlns:p="http://schemas.openxmlformats.org/presentationml/2006/main">
  <p:tag name="KSO_DOCER_RESOURCE_TRACE_INFO" val="{&quot;id&quot;:&quot;3637342&quot;,&quot;origin&quot;:0,&quot;type&quot;:&quot;icons&quot;,&quot;user&quot;:&quot;1619202567&quot;}"/>
</p:tagLst>
</file>

<file path=ppt/tags/tag326.xml><?xml version="1.0" encoding="utf-8"?>
<p:tagLst xmlns:p="http://schemas.openxmlformats.org/presentationml/2006/main">
  <p:tag name="KSO_DOCER_RESOURCE_TRACE_INFO" val="{&quot;id&quot;:&quot;3644795&quot;,&quot;origin&quot;:0,&quot;type&quot;:&quot;icons&quot;,&quot;user&quot;:&quot;1619202567&quot;}"/>
</p:tagLst>
</file>

<file path=ppt/tags/tag327.xml><?xml version="1.0" encoding="utf-8"?>
<p:tagLst xmlns:p="http://schemas.openxmlformats.org/presentationml/2006/main">
  <p:tag name="KSO_DOCER_RESOURCE_TRACE_INFO" val="{&quot;id&quot;:&quot;21558137&quot;,&quot;origin&quot;:0,&quot;type&quot;:&quot;icons&quot;,&quot;user&quot;:&quot;1619202567&quot;}"/>
</p:tagLst>
</file>

<file path=ppt/tags/tag328.xml><?xml version="1.0" encoding="utf-8"?>
<p:tagLst xmlns:p="http://schemas.openxmlformats.org/presentationml/2006/main">
  <p:tag name="KSO_WM_DIAGRAM_VIRTUALLY_FRAME" val="{&quot;height&quot;:345.8,&quot;left&quot;:28.8,&quot;top&quot;:164.9,&quot;width&quot;:857.3}"/>
</p:tagLst>
</file>

<file path=ppt/tags/tag329.xml><?xml version="1.0" encoding="utf-8"?>
<p:tagLst xmlns:p="http://schemas.openxmlformats.org/presentationml/2006/main">
  <p:tag name="MH" val="20160830110146"/>
  <p:tag name="MH_LIBRARY" val="CONTENTS"/>
  <p:tag name="MH_TYPE" val="OTHERS"/>
  <p:tag name="ID" val="553512"/>
</p:tagLst>
</file>

<file path=ppt/tags/tag330.xml><?xml version="1.0" encoding="utf-8"?>
<p:tagLst xmlns:p="http://schemas.openxmlformats.org/presentationml/2006/main">
  <p:tag name="KSO_WM_DIAGRAM_VIRTUALLY_FRAME" val="{&quot;height&quot;:302.5,&quot;left&quot;:53.4,&quot;top&quot;:113.65,&quot;width&quot;:289.7000000000001}"/>
</p:tagLst>
</file>

<file path=ppt/tags/tag331.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02.5,&quot;left&quot;:53.4,&quot;top&quot;:113.65,&quot;width&quot;:289.7000000000001}"/>
</p:tagLst>
</file>

<file path=ppt/tags/tag332.xml><?xml version="1.0" encoding="utf-8"?>
<p:tagLst xmlns:p="http://schemas.openxmlformats.org/presentationml/2006/main">
  <p:tag name="KSO_WM_DIAGRAM_VIRTUALLY_FRAME" val="{&quot;height&quot;:302.5,&quot;left&quot;:53.4,&quot;top&quot;:113.65,&quot;width&quot;:289.7000000000001}"/>
</p:tagLst>
</file>

<file path=ppt/tags/tag333.xml><?xml version="1.0" encoding="utf-8"?>
<p:tagLst xmlns:p="http://schemas.openxmlformats.org/presentationml/2006/main">
  <p:tag name="KSO_WM_DIAGRAM_VIRTUALLY_FRAME" val="{&quot;height&quot;:302.5,&quot;left&quot;:53.4,&quot;top&quot;:113.65,&quot;width&quot;:289.7000000000001}"/>
</p:tagLst>
</file>

<file path=ppt/tags/tag334.xml><?xml version="1.0" encoding="utf-8"?>
<p:tagLst xmlns:p="http://schemas.openxmlformats.org/presentationml/2006/main">
  <p:tag name="KSO_WM_DIAGRAM_VIRTUALLY_FRAME" val="{&quot;height&quot;:302.5,&quot;left&quot;:53.4,&quot;top&quot;:113.65,&quot;width&quot;:289.7000000000001}"/>
</p:tagLst>
</file>

<file path=ppt/tags/tag335.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02.5,&quot;left&quot;:53.4,&quot;top&quot;:113.65,&quot;width&quot;:289.7000000000001}"/>
</p:tagLst>
</file>

<file path=ppt/tags/tag336.xml><?xml version="1.0" encoding="utf-8"?>
<p:tagLst xmlns:p="http://schemas.openxmlformats.org/presentationml/2006/main">
  <p:tag name="KSO_WM_DIAGRAM_VIRTUALLY_FRAME" val="{&quot;height&quot;:302.5,&quot;left&quot;:53.4,&quot;top&quot;:113.65,&quot;width&quot;:289.7000000000001}"/>
</p:tagLst>
</file>

<file path=ppt/tags/tag337.xml><?xml version="1.0" encoding="utf-8"?>
<p:tagLst xmlns:p="http://schemas.openxmlformats.org/presentationml/2006/main">
  <p:tag name="KSO_WM_DIAGRAM_VIRTUALLY_FRAME" val="{&quot;height&quot;:302.5,&quot;left&quot;:53.4,&quot;top&quot;:113.65,&quot;width&quot;:289.7000000000001}"/>
</p:tagLst>
</file>

<file path=ppt/tags/tag338.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02.5,&quot;left&quot;:53.4,&quot;top&quot;:113.65,&quot;width&quot;:289.7000000000001}"/>
</p:tagLst>
</file>

<file path=ppt/tags/tag339.xml><?xml version="1.0" encoding="utf-8"?>
<p:tagLst xmlns:p="http://schemas.openxmlformats.org/presentationml/2006/main">
  <p:tag name="KSO_WM_DIAGRAM_VIRTUALLY_FRAME" val="{&quot;height&quot;:302.5,&quot;left&quot;:53.4,&quot;top&quot;:113.65,&quot;width&quot;:289.7000000000001}"/>
</p:tagLst>
</file>

<file path=ppt/tags/tag340.xml><?xml version="1.0" encoding="utf-8"?>
<p:tagLst xmlns:p="http://schemas.openxmlformats.org/presentationml/2006/main">
  <p:tag name="KSO_WM_DIAGRAM_VIRTUALLY_FRAME" val="{&quot;height&quot;:302.5,&quot;left&quot;:53.4,&quot;top&quot;:113.65,&quot;width&quot;:289.7000000000001}"/>
</p:tagLst>
</file>

<file path=ppt/tags/tag341.xml><?xml version="1.0" encoding="utf-8"?>
<p:tagLst xmlns:p="http://schemas.openxmlformats.org/presentationml/2006/main">
  <p:tag name="KSO_DOCER_RESOURCE_TRACE_INFO" val="{&quot;id&quot;:&quot;50062581&quot;,&quot;origin&quot;:0,&quot;type&quot;:&quot;icons&quot;,&quot;user&quot;:&quot;1619202567&quot;}"/>
  <p:tag name="KSO_WM_DIAGRAM_VIRTUALLY_FRAME" val="{&quot;height&quot;:302.5,&quot;left&quot;:53.4,&quot;top&quot;:113.65,&quot;width&quot;:289.7000000000001}"/>
</p:tagLst>
</file>

<file path=ppt/tags/tag342.xml><?xml version="1.0" encoding="utf-8"?>
<p:tagLst xmlns:p="http://schemas.openxmlformats.org/presentationml/2006/main">
  <p:tag name="KSO_WM_DIAGRAM_VIRTUALLY_FRAME" val="{&quot;height&quot;:384.4,&quot;left&quot;:53.4,&quot;top&quot;:143.9,&quot;width&quot;:837.2}"/>
</p:tagLst>
</file>

<file path=ppt/tags/tag343.xml><?xml version="1.0" encoding="utf-8"?>
<p:tagLst xmlns:p="http://schemas.openxmlformats.org/presentationml/2006/main">
  <p:tag name="KSO_WM_DIAGRAM_VIRTUALLY_FRAME" val="{&quot;height&quot;:345.8,&quot;left&quot;:53.4,&quot;top&quot;:164.9,&quot;width&quot;:832.7}"/>
</p:tagLst>
</file>

<file path=ppt/tags/tag344.xml><?xml version="1.0" encoding="utf-8"?>
<p:tagLst xmlns:p="http://schemas.openxmlformats.org/presentationml/2006/main">
  <p:tag name="KSO_WM_DIAGRAM_VIRTUALLY_FRAME" val="{&quot;height&quot;:345.8,&quot;left&quot;:53.4,&quot;top&quot;:164.9,&quot;width&quot;:832.7}"/>
</p:tagLst>
</file>

<file path=ppt/tags/tag345.xml><?xml version="1.0" encoding="utf-8"?>
<p:tagLst xmlns:p="http://schemas.openxmlformats.org/presentationml/2006/main">
  <p:tag name="KSO_DOCER_RESOURCE_TRACE_INFO" val="{&quot;id&quot;:&quot;50062345&quot;,&quot;origin&quot;:0,&quot;type&quot;:&quot;icons&quot;,&quot;user&quot;:&quot;1619202567&quot;}"/>
</p:tagLst>
</file>

<file path=ppt/tags/tag346.xml><?xml version="1.0" encoding="utf-8"?>
<p:tagLst xmlns:p="http://schemas.openxmlformats.org/presentationml/2006/main">
  <p:tag name="KSO_WM_DIAGRAM_VIRTUALLY_FRAME" val="{&quot;height&quot;:345.8,&quot;left&quot;:28.8,&quot;top&quot;:164.9,&quot;width&quot;:857.3}"/>
</p:tagLst>
</file>

<file path=ppt/tags/tag347.xml><?xml version="1.0" encoding="utf-8"?>
<p:tagLst xmlns:p="http://schemas.openxmlformats.org/presentationml/2006/main">
  <p:tag name="KSO_DOCER_RESOURCE_TRACE_INFO" val="{&quot;id&quot;:&quot;50047996&quot;,&quot;origin&quot;:0,&quot;type&quot;:&quot;icons&quot;,&quot;user&quot;:&quot;1619202567&quot;}"/>
</p:tagLst>
</file>

<file path=ppt/tags/tag348.xml><?xml version="1.0" encoding="utf-8"?>
<p:tagLst xmlns:p="http://schemas.openxmlformats.org/presentationml/2006/main">
  <p:tag name="KSO_DOCER_RESOURCE_TRACE_INFO" val="{&quot;id&quot;:&quot;50062345&quot;,&quot;origin&quot;:0,&quot;type&quot;:&quot;icons&quot;,&quot;user&quot;:&quot;1619202567&quot;}"/>
</p:tagLst>
</file>

<file path=ppt/tags/tag349.xml><?xml version="1.0" encoding="utf-8"?>
<p:tagLst xmlns:p="http://schemas.openxmlformats.org/presentationml/2006/main">
  <p:tag name="KSO_DOCER_RESOURCE_TRACE_INFO" val="{&quot;id&quot;:&quot;3644795&quot;,&quot;origin&quot;:0,&quot;type&quot;:&quot;icons&quot;,&quot;user&quot;:&quot;1619202567&quot;}"/>
</p:tagLst>
</file>

<file path=ppt/tags/tag350.xml><?xml version="1.0" encoding="utf-8"?>
<p:tagLst xmlns:p="http://schemas.openxmlformats.org/presentationml/2006/main">
  <p:tag name="KSO_DOCER_RESOURCE_TRACE_INFO" val="{&quot;id&quot;:&quot;21558137&quot;,&quot;origin&quot;:0,&quot;type&quot;:&quot;icons&quot;,&quot;user&quot;:&quot;1619202567&quot;}"/>
</p:tagLst>
</file>

<file path=ppt/tags/tag351.xml><?xml version="1.0" encoding="utf-8"?>
<p:tagLst xmlns:p="http://schemas.openxmlformats.org/presentationml/2006/main">
  <p:tag name="KSO_WM_DIAGRAM_VIRTUALLY_FRAME" val="{&quot;height&quot;:384.4,&quot;left&quot;:53.4,&quot;top&quot;:143.9,&quot;width&quot;:837.2}"/>
</p:tagLst>
</file>

<file path=ppt/tags/tag352.xml><?xml version="1.0" encoding="utf-8"?>
<p:tagLst xmlns:p="http://schemas.openxmlformats.org/presentationml/2006/main">
  <p:tag name="KSO_DOCER_RESOURCE_TRACE_INFO" val="{&quot;id&quot;:&quot;50062345&quot;,&quot;origin&quot;:0,&quot;type&quot;:&quot;icons&quot;,&quot;user&quot;:&quot;1619202567&quot;}"/>
</p:tagLst>
</file>

<file path=ppt/tags/tag353.xml><?xml version="1.0" encoding="utf-8"?>
<p:tagLst xmlns:p="http://schemas.openxmlformats.org/presentationml/2006/main">
  <p:tag name="KSO_WM_DIAGRAM_VIRTUALLY_FRAME" val="{&quot;height&quot;:345.8,&quot;left&quot;:53.4,&quot;top&quot;:164.9,&quot;width&quot;:832.7}"/>
</p:tagLst>
</file>

<file path=ppt/tags/tag354.xml><?xml version="1.0" encoding="utf-8"?>
<p:tagLst xmlns:p="http://schemas.openxmlformats.org/presentationml/2006/main">
  <p:tag name="KSO_WM_DIAGRAM_VIRTUALLY_FRAME" val="{&quot;height&quot;:384.4,&quot;left&quot;:53.4,&quot;top&quot;:143.9,&quot;width&quot;:837.2}"/>
</p:tagLst>
</file>

<file path=ppt/tags/tag355.xml><?xml version="1.0" encoding="utf-8"?>
<p:tagLst xmlns:p="http://schemas.openxmlformats.org/presentationml/2006/main">
  <p:tag name="MH" val="20160830110146"/>
  <p:tag name="MH_LIBRARY" val="CONTENTS"/>
  <p:tag name="MH_TYPE" val="OTHERS"/>
  <p:tag name="ID" val="553512"/>
</p:tagLst>
</file>

<file path=ppt/tags/tag356.xml><?xml version="1.0" encoding="utf-8"?>
<p:tagLst xmlns:p="http://schemas.openxmlformats.org/presentationml/2006/main">
  <p:tag name="KSO_WM_DIAGRAM_VIRTUALLY_FRAME" val="{&quot;height&quot;:323.65,&quot;left&quot;:43.35,&quot;top&quot;:113.65,&quot;width&quot;:299.7500000000001}"/>
</p:tagLst>
</file>

<file path=ppt/tags/tag357.xml><?xml version="1.0" encoding="utf-8"?>
<p:tagLst xmlns:p="http://schemas.openxmlformats.org/presentationml/2006/main">
  <p:tag name="KSO_WM_DIAGRAM_VIRTUALLY_FRAME" val="{&quot;height&quot;:323.65,&quot;left&quot;:43.35,&quot;top&quot;:113.65,&quot;width&quot;:299.7500000000001}"/>
</p:tagLst>
</file>

<file path=ppt/tags/tag358.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23.65,&quot;left&quot;:43.35,&quot;top&quot;:113.65,&quot;width&quot;:299.7500000000001}"/>
</p:tagLst>
</file>

<file path=ppt/tags/tag359.xml><?xml version="1.0" encoding="utf-8"?>
<p:tagLst xmlns:p="http://schemas.openxmlformats.org/presentationml/2006/main">
  <p:tag name="KSO_WM_DIAGRAM_VIRTUALLY_FRAME" val="{&quot;height&quot;:323.65,&quot;left&quot;:43.35,&quot;top&quot;:113.65,&quot;width&quot;:299.7500000000001}"/>
</p:tagLst>
</file>

<file path=ppt/tags/tag360.xml><?xml version="1.0" encoding="utf-8"?>
<p:tagLst xmlns:p="http://schemas.openxmlformats.org/presentationml/2006/main">
  <p:tag name="KSO_WM_DIAGRAM_VIRTUALLY_FRAME" val="{&quot;height&quot;:323.65,&quot;left&quot;:43.35,&quot;top&quot;:113.65,&quot;width&quot;:299.7500000000001}"/>
</p:tagLst>
</file>

<file path=ppt/tags/tag361.xml><?xml version="1.0" encoding="utf-8"?>
<p:tagLst xmlns:p="http://schemas.openxmlformats.org/presentationml/2006/main">
  <p:tag name="KSO_WM_DIAGRAM_VIRTUALLY_FRAME" val="{&quot;height&quot;:323.65,&quot;left&quot;:43.35,&quot;top&quot;:113.65,&quot;width&quot;:299.7500000000001}"/>
</p:tagLst>
</file>

<file path=ppt/tags/tag362.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23.65,&quot;left&quot;:43.35,&quot;top&quot;:113.65,&quot;width&quot;:299.7500000000001}"/>
</p:tagLst>
</file>

<file path=ppt/tags/tag363.xml><?xml version="1.0" encoding="utf-8"?>
<p:tagLst xmlns:p="http://schemas.openxmlformats.org/presentationml/2006/main">
  <p:tag name="KSO_WM_DIAGRAM_VIRTUALLY_FRAME" val="{&quot;height&quot;:323.65,&quot;left&quot;:43.35,&quot;top&quot;:113.65,&quot;width&quot;:299.7500000000001}"/>
</p:tagLst>
</file>

<file path=ppt/tags/tag364.xml><?xml version="1.0" encoding="utf-8"?>
<p:tagLst xmlns:p="http://schemas.openxmlformats.org/presentationml/2006/main">
  <p:tag name="KSO_WM_DIAGRAM_VIRTUALLY_FRAME" val="{&quot;height&quot;:323.65,&quot;left&quot;:43.35,&quot;top&quot;:113.65,&quot;width&quot;:299.7500000000001}"/>
</p:tagLst>
</file>

<file path=ppt/tags/tag365.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23.65,&quot;left&quot;:43.35,&quot;top&quot;:113.65,&quot;width&quot;:299.7500000000001}"/>
</p:tagLst>
</file>

<file path=ppt/tags/tag366.xml><?xml version="1.0" encoding="utf-8"?>
<p:tagLst xmlns:p="http://schemas.openxmlformats.org/presentationml/2006/main">
  <p:tag name="KSO_WM_DIAGRAM_VIRTUALLY_FRAME" val="{&quot;height&quot;:323.65,&quot;left&quot;:43.35,&quot;top&quot;:113.65,&quot;width&quot;:299.7500000000001}"/>
</p:tagLst>
</file>

<file path=ppt/tags/tag367.xml><?xml version="1.0" encoding="utf-8"?>
<p:tagLst xmlns:p="http://schemas.openxmlformats.org/presentationml/2006/main">
  <p:tag name="KSO_WM_DIAGRAM_VIRTUALLY_FRAME" val="{&quot;height&quot;:323.65,&quot;left&quot;:43.35,&quot;top&quot;:113.65,&quot;width&quot;:299.7500000000001}"/>
</p:tagLst>
</file>

<file path=ppt/tags/tag368.xml><?xml version="1.0" encoding="utf-8"?>
<p:tagLst xmlns:p="http://schemas.openxmlformats.org/presentationml/2006/main">
  <p:tag name="KSO_DOCER_RESOURCE_TRACE_INFO" val="{&quot;id&quot;:&quot;50062581&quot;,&quot;origin&quot;:0,&quot;type&quot;:&quot;icons&quot;,&quot;user&quot;:&quot;1619202567&quot;}"/>
  <p:tag name="KSO_WM_DIAGRAM_VIRTUALLY_FRAME" val="{&quot;height&quot;:323.65,&quot;left&quot;:43.35,&quot;top&quot;:113.65,&quot;width&quot;:299.7500000000001}"/>
</p:tagLst>
</file>

<file path=ppt/tags/tag369.xml><?xml version="1.0" encoding="utf-8"?>
<p:tagLst xmlns:p="http://schemas.openxmlformats.org/presentationml/2006/main">
  <p:tag name="KSO_WM_DIAGRAM_VIRTUALLY_FRAME" val="{&quot;height&quot;:345.8,&quot;left&quot;:53.4,&quot;top&quot;:164.9,&quot;width&quot;:832.7}"/>
</p:tagLst>
</file>

<file path=ppt/tags/tag370.xml><?xml version="1.0" encoding="utf-8"?>
<p:tagLst xmlns:p="http://schemas.openxmlformats.org/presentationml/2006/main">
  <p:tag name="KSO_DOCER_RESOURCE_TRACE_INFO" val="{&quot;id&quot;:&quot;50062345&quot;,&quot;origin&quot;:0,&quot;type&quot;:&quot;icons&quot;,&quot;user&quot;:&quot;1619202567&quot;}"/>
</p:tagLst>
</file>

<file path=ppt/tags/tag371.xml><?xml version="1.0" encoding="utf-8"?>
<p:tagLst xmlns:p="http://schemas.openxmlformats.org/presentationml/2006/main">
  <p:tag name="KSO_WM_DIAGRAM_VIRTUALLY_FRAME" val="{&quot;height&quot;:345.8,&quot;left&quot;:28.8,&quot;top&quot;:164.9,&quot;width&quot;:857.3}"/>
</p:tagLst>
</file>

<file path=ppt/tags/tag372.xml><?xml version="1.0" encoding="utf-8"?>
<p:tagLst xmlns:p="http://schemas.openxmlformats.org/presentationml/2006/main">
  <p:tag name="KSO_DOCER_RESOURCE_TRACE_INFO" val="{&quot;id&quot;:&quot;50047996&quot;,&quot;origin&quot;:0,&quot;type&quot;:&quot;icons&quot;,&quot;user&quot;:&quot;1619202567&quot;}"/>
</p:tagLst>
</file>

<file path=ppt/tags/tag373.xml><?xml version="1.0" encoding="utf-8"?>
<p:tagLst xmlns:p="http://schemas.openxmlformats.org/presentationml/2006/main">
  <p:tag name="KSO_WM_DIAGRAM_VIRTUALLY_FRAME" val="{&quot;height&quot;:384.4,&quot;left&quot;:53.4,&quot;top&quot;:143.9,&quot;width&quot;:837.2}"/>
</p:tagLst>
</file>

<file path=ppt/tags/tag374.xml><?xml version="1.0" encoding="utf-8"?>
<p:tagLst xmlns:p="http://schemas.openxmlformats.org/presentationml/2006/main">
  <p:tag name="KSO_WM_DIAGRAM_VIRTUALLY_FRAME" val="{&quot;height&quot;:384.4,&quot;left&quot;:53.4,&quot;top&quot;:143.9,&quot;width&quot;:837.2}"/>
</p:tagLst>
</file>

<file path=ppt/tags/tag375.xml><?xml version="1.0" encoding="utf-8"?>
<p:tagLst xmlns:p="http://schemas.openxmlformats.org/presentationml/2006/main">
  <p:tag name="KSO_WM_DIAGRAM_VIRTUALLY_FRAME" val="{&quot;height&quot;:384.4,&quot;left&quot;:53.4,&quot;top&quot;:143.9,&quot;width&quot;:837.2}"/>
</p:tagLst>
</file>

<file path=ppt/tags/tag376.xml><?xml version="1.0" encoding="utf-8"?>
<p:tagLst xmlns:p="http://schemas.openxmlformats.org/presentationml/2006/main">
  <p:tag name="KSO_WM_DIAGRAM_VIRTUALLY_FRAME" val="{&quot;height&quot;:384.4,&quot;left&quot;:53.4,&quot;top&quot;:143.9,&quot;width&quot;:837.2}"/>
</p:tagLst>
</file>

<file path=ppt/tags/tag377.xml><?xml version="1.0" encoding="utf-8"?>
<p:tagLst xmlns:p="http://schemas.openxmlformats.org/presentationml/2006/main">
  <p:tag name="KSO_WM_DIAGRAM_VIRTUALLY_FRAME" val="{&quot;height&quot;:384.4,&quot;left&quot;:53.4,&quot;top&quot;:143.9,&quot;width&quot;:837.2}"/>
</p:tagLst>
</file>

<file path=ppt/tags/tag378.xml><?xml version="1.0" encoding="utf-8"?>
<p:tagLst xmlns:p="http://schemas.openxmlformats.org/presentationml/2006/main">
  <p:tag name="MH" val="20160830110146"/>
  <p:tag name="MH_LIBRARY" val="CONTENTS"/>
  <p:tag name="MH_TYPE" val="OTHERS"/>
  <p:tag name="ID" val="553512"/>
</p:tagLst>
</file>

<file path=ppt/tags/tag379.xml><?xml version="1.0" encoding="utf-8"?>
<p:tagLst xmlns:p="http://schemas.openxmlformats.org/presentationml/2006/main">
  <p:tag name="KSO_WM_DIAGRAM_VIRTUALLY_FRAME" val="{&quot;height&quot;:384.4,&quot;left&quot;:53.4,&quot;top&quot;:143.9,&quot;width&quot;:837.2}"/>
</p:tagLst>
</file>

<file path=ppt/tags/tag380.xml><?xml version="1.0" encoding="utf-8"?>
<p:tagLst xmlns:p="http://schemas.openxmlformats.org/presentationml/2006/main">
  <p:tag name="MH" val="20160830110146"/>
  <p:tag name="MH_LIBRARY" val="CONTENTS"/>
  <p:tag name="MH_TYPE" val="OTHERS"/>
  <p:tag name="ID" val="553512"/>
</p:tagLst>
</file>

<file path=ppt/tags/tag381.xml><?xml version="1.0" encoding="utf-8"?>
<p:tagLst xmlns:p="http://schemas.openxmlformats.org/presentationml/2006/main">
  <p:tag name="KSO_WM_DIAGRAM_VIRTUALLY_FRAME" val="{&quot;height&quot;:323.65,&quot;left&quot;:43.35,&quot;top&quot;:113.65,&quot;width&quot;:299.7500000000001}"/>
</p:tagLst>
</file>

<file path=ppt/tags/tag382.xml><?xml version="1.0" encoding="utf-8"?>
<p:tagLst xmlns:p="http://schemas.openxmlformats.org/presentationml/2006/main">
  <p:tag name="KSO_WM_DIAGRAM_VIRTUALLY_FRAME" val="{&quot;height&quot;:323.65,&quot;left&quot;:43.35,&quot;top&quot;:113.65,&quot;width&quot;:299.7500000000001}"/>
</p:tagLst>
</file>

<file path=ppt/tags/tag383.xml><?xml version="1.0" encoding="utf-8"?>
<p:tagLst xmlns:p="http://schemas.openxmlformats.org/presentationml/2006/main">
  <p:tag name="KSO_WM_DIAGRAM_VIRTUALLY_FRAME" val="{&quot;height&quot;:323.65,&quot;left&quot;:43.35,&quot;top&quot;:113.65,&quot;width&quot;:299.7500000000001}"/>
</p:tagLst>
</file>

<file path=ppt/tags/tag384.xml><?xml version="1.0" encoding="utf-8"?>
<p:tagLst xmlns:p="http://schemas.openxmlformats.org/presentationml/2006/main">
  <p:tag name="KSO_WM_DIAGRAM_VIRTUALLY_FRAME" val="{&quot;height&quot;:323.65,&quot;left&quot;:43.35,&quot;top&quot;:113.65,&quot;width&quot;:299.7500000000001}"/>
</p:tagLst>
</file>

<file path=ppt/tags/tag385.xml><?xml version="1.0" encoding="utf-8"?>
<p:tagLst xmlns:p="http://schemas.openxmlformats.org/presentationml/2006/main">
  <p:tag name="KSO_WM_DIAGRAM_VIRTUALLY_FRAME" val="{&quot;height&quot;:323.65,&quot;left&quot;:43.35,&quot;top&quot;:113.65,&quot;width&quot;:299.7500000000001}"/>
</p:tagLst>
</file>

<file path=ppt/tags/tag386.xml><?xml version="1.0" encoding="utf-8"?>
<p:tagLst xmlns:p="http://schemas.openxmlformats.org/presentationml/2006/main">
  <p:tag name="KSO_WM_DIAGRAM_VIRTUALLY_FRAME" val="{&quot;height&quot;:323.65,&quot;left&quot;:43.35,&quot;top&quot;:113.65,&quot;width&quot;:299.7500000000001}"/>
</p:tagLst>
</file>

<file path=ppt/tags/tag387.xml><?xml version="1.0" encoding="utf-8"?>
<p:tagLst xmlns:p="http://schemas.openxmlformats.org/presentationml/2006/main">
  <p:tag name="KSO_WM_DIAGRAM_VIRTUALLY_FRAME" val="{&quot;height&quot;:323.65,&quot;left&quot;:43.35,&quot;top&quot;:113.65,&quot;width&quot;:299.7500000000001}"/>
</p:tagLst>
</file>

<file path=ppt/tags/tag388.xml><?xml version="1.0" encoding="utf-8"?>
<p:tagLst xmlns:p="http://schemas.openxmlformats.org/presentationml/2006/main">
  <p:tag name="KSO_WM_DIAGRAM_VIRTUALLY_FRAME" val="{&quot;height&quot;:323.65,&quot;left&quot;:43.35,&quot;top&quot;:113.65,&quot;width&quot;:299.7500000000001}"/>
</p:tagLst>
</file>

<file path=ppt/tags/tag389.xml><?xml version="1.0" encoding="utf-8"?>
<p:tagLst xmlns:p="http://schemas.openxmlformats.org/presentationml/2006/main">
  <p:tag name="KSO_DOCER_RESOURCE_TRACE_INFO" val="{&quot;id&quot;:&quot;50062345&quot;,&quot;origin&quot;:0,&quot;type&quot;:&quot;icons&quot;,&quot;user&quot;:&quot;1619202567&quot;}"/>
</p:tagLst>
</file>

<file path=ppt/tags/tag390.xml><?xml version="1.0" encoding="utf-8"?>
<p:tagLst xmlns:p="http://schemas.openxmlformats.org/presentationml/2006/main">
  <p:tag name="KSO_WM_DIAGRAM_VIRTUALLY_FRAME" val="{&quot;height&quot;:345.8,&quot;left&quot;:53.4,&quot;top&quot;:164.9,&quot;width&quot;:832.7}"/>
</p:tagLst>
</file>

<file path=ppt/tags/tag391.xml><?xml version="1.0" encoding="utf-8"?>
<p:tagLst xmlns:p="http://schemas.openxmlformats.org/presentationml/2006/main">
  <p:tag name="KSO_WM_DIAGRAM_VIRTUALLY_FRAME" val="{&quot;height&quot;:323.65,&quot;left&quot;:43.35,&quot;top&quot;:113.65,&quot;width&quot;:299.7500000000001}"/>
</p:tagLst>
</file>

<file path=ppt/tags/tag392.xml><?xml version="1.0" encoding="utf-8"?>
<p:tagLst xmlns:p="http://schemas.openxmlformats.org/presentationml/2006/main">
  <p:tag name="KSO_WM_DIAGRAM_VIRTUALLY_FRAME" val="{&quot;height&quot;:323.65,&quot;left&quot;:43.35,&quot;top&quot;:113.65,&quot;width&quot;:299.7500000000001}"/>
</p:tagLst>
</file>

<file path=ppt/tags/tag393.xml><?xml version="1.0" encoding="utf-8"?>
<p:tagLst xmlns:p="http://schemas.openxmlformats.org/presentationml/2006/main">
  <p:tag name="KSO_DOCER_RESOURCE_TRACE_INFO" val="{&quot;id&quot;:&quot;21558137&quot;,&quot;origin&quot;:0,&quot;type&quot;:&quot;icons&quot;,&quot;user&quot;:&quot;1619202567&quot;}"/>
</p:tagLst>
</file>

<file path=ppt/tags/tag394.xml><?xml version="1.0" encoding="utf-8"?>
<p:tagLst xmlns:p="http://schemas.openxmlformats.org/presentationml/2006/main">
  <p:tag name="KSO_DOCER_RESOURCE_TRACE_INFO" val="{&quot;id&quot;:&quot;3644795&quot;,&quot;origin&quot;:0,&quot;type&quot;:&quot;icons&quot;,&quot;user&quot;:&quot;1619202567&quot;}"/>
</p:tagLst>
</file>

<file path=ppt/tags/tag395.xml><?xml version="1.0" encoding="utf-8"?>
<p:tagLst xmlns:p="http://schemas.openxmlformats.org/presentationml/2006/main">
  <p:tag name="KSO_WM_DIAGRAM_VIRTUALLY_FRAME" val="{&quot;height&quot;:323.65,&quot;left&quot;:43.35,&quot;top&quot;:113.65,&quot;width&quot;:299.7500000000001}"/>
</p:tagLst>
</file>

<file path=ppt/tags/tag396.xml><?xml version="1.0" encoding="utf-8"?>
<p:tagLst xmlns:p="http://schemas.openxmlformats.org/presentationml/2006/main">
  <p:tag name="KSO_DOCER_RESOURCE_TRACE_INFO" val="{&quot;id&quot;:&quot;21558137&quot;,&quot;origin&quot;:0,&quot;type&quot;:&quot;icons&quot;,&quot;user&quot;:&quot;1619202567&quot;}"/>
</p:tagLst>
</file>

<file path=ppt/tags/tag397.xml><?xml version="1.0" encoding="utf-8"?>
<p:tagLst xmlns:p="http://schemas.openxmlformats.org/presentationml/2006/main">
  <p:tag name="KSO_WM_DIAGRAM_VIRTUALLY_FRAME" val="{&quot;height&quot;:323.65,&quot;left&quot;:43.35,&quot;top&quot;:113.65,&quot;width&quot;:299.7500000000001}"/>
</p:tagLst>
</file>

<file path=ppt/tags/tag398.xml><?xml version="1.0" encoding="utf-8"?>
<p:tagLst xmlns:p="http://schemas.openxmlformats.org/presentationml/2006/main">
  <p:tag name="KSO_DOCER_RESOURCE_TRACE_INFO" val="{&quot;id&quot;:&quot;21558137&quot;,&quot;origin&quot;:0,&quot;type&quot;:&quot;icons&quot;,&quot;user&quot;:&quot;1619202567&quot;}"/>
</p:tagLst>
</file>

<file path=ppt/tags/tag399.xml><?xml version="1.0" encoding="utf-8"?>
<p:tagLst xmlns:p="http://schemas.openxmlformats.org/presentationml/2006/main">
  <p:tag name="KSO_DOCER_RESOURCE_TRACE_INFO" val="{&quot;id&quot;:&quot;3644795&quot;,&quot;origin&quot;:0,&quot;type&quot;:&quot;icons&quot;,&quot;user&quot;:&quot;1619202567&quot;}"/>
</p:tagLst>
</file>

<file path=ppt/tags/tag400.xml><?xml version="1.0" encoding="utf-8"?>
<p:tagLst xmlns:p="http://schemas.openxmlformats.org/presentationml/2006/main">
  <p:tag name="KSO_WM_DIAGRAM_VIRTUALLY_FRAME" val="{&quot;height&quot;:323.65,&quot;left&quot;:43.35,&quot;top&quot;:113.65,&quot;width&quot;:299.7500000000001}"/>
</p:tagLst>
</file>

<file path=ppt/tags/tag401.xml><?xml version="1.0" encoding="utf-8"?>
<p:tagLst xmlns:p="http://schemas.openxmlformats.org/presentationml/2006/main">
  <p:tag name="KSO_DOCER_RESOURCE_TRACE_INFO" val="{&quot;id&quot;:&quot;3644795&quot;,&quot;origin&quot;:0,&quot;type&quot;:&quot;icons&quot;,&quot;user&quot;:&quot;1619202567&quot;}"/>
</p:tagLst>
</file>

<file path=ppt/tags/tag402.xml><?xml version="1.0" encoding="utf-8"?>
<p:tagLst xmlns:p="http://schemas.openxmlformats.org/presentationml/2006/main">
  <p:tag name="KSO_DOCER_RESOURCE_TRACE_INFO" val="{&quot;id&quot;:&quot;21558137&quot;,&quot;origin&quot;:0,&quot;type&quot;:&quot;icons&quot;,&quot;user&quot;:&quot;1619202567&quot;}"/>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5.xml><?xml version="1.0" encoding="utf-8"?>
<p:tagLst xmlns:p="http://schemas.openxmlformats.org/presentationml/2006/main">
  <p:tag name="MH" val="20160830110146"/>
  <p:tag name="MH_LIBRARY" val="CONTENTS"/>
  <p:tag name="MH_TYPE" val="OTHERS"/>
  <p:tag name="ID" val="553512"/>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MH" val="20160830110146"/>
  <p:tag name="MH_LIBRARY" val="CONTENTS"/>
  <p:tag name="MH_TYPE" val="OTHERS"/>
  <p:tag name="ID" val="553512"/>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TABLE_ENDDRAG_ORIGIN_RECT" val="781*180"/>
  <p:tag name="TABLE_ENDDRAG_RECT" val="77*263*781*180"/>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2.xml><?xml version="1.0" encoding="utf-8"?>
<p:tagLst xmlns:p="http://schemas.openxmlformats.org/presentationml/2006/main">
  <p:tag name="MH" val="20160830110146"/>
  <p:tag name="MH_LIBRARY" val="CONTENTS"/>
  <p:tag name="MH_TYPE" val="OTHERS"/>
  <p:tag name="ID" val="553512"/>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MH" val="20160830110146"/>
  <p:tag name="MH_LIBRARY" val="CONTENTS"/>
  <p:tag name="MH_TYPE" val="OTHERS"/>
  <p:tag name="ID" val="553512"/>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TABLE_ENDDRAG_ORIGIN_RECT" val="599*256"/>
  <p:tag name="TABLE_ENDDRAG_RECT" val="275*235*599*256"/>
</p:tagLst>
</file>

<file path=ppt/tags/tag417.xml><?xml version="1.0" encoding="utf-8"?>
<p:tagLst xmlns:p="http://schemas.openxmlformats.org/presentationml/2006/main">
  <p:tag name="MH" val="20160830110146"/>
  <p:tag name="MH_LIBRARY" val="CONTENTS"/>
  <p:tag name="MH_TYPE" val="OTHERS"/>
  <p:tag name="ID" val="553512"/>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TABLE_ENDDRAG_ORIGIN_RECT" val="599*256"/>
  <p:tag name="TABLE_ENDDRAG_RECT" val="275*235*599*256"/>
</p:tagLst>
</file>

<file path=ppt/tags/tag420.xml><?xml version="1.0" encoding="utf-8"?>
<p:tagLst xmlns:p="http://schemas.openxmlformats.org/presentationml/2006/main">
  <p:tag name="TABLE_ENDDRAG_ORIGIN_RECT" val="469*120"/>
  <p:tag name="TABLE_ENDDRAG_RECT" val="276*368*469*120"/>
</p:tagLst>
</file>

<file path=ppt/tags/tag421.xml><?xml version="1.0" encoding="utf-8"?>
<p:tagLst xmlns:p="http://schemas.openxmlformats.org/presentationml/2006/main">
  <p:tag name="MH" val="20160830110146"/>
  <p:tag name="MH_LIBRARY" val="CONTENTS"/>
  <p:tag name="MH_TYPE" val="OTHERS"/>
  <p:tag name="ID" val="553512"/>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TABLE_ENDDRAG_ORIGIN_RECT" val="599*256"/>
  <p:tag name="TABLE_ENDDRAG_RECT" val="275*235*599*256"/>
</p:tagLst>
</file>

<file path=ppt/tags/tag424.xml><?xml version="1.0" encoding="utf-8"?>
<p:tagLst xmlns:p="http://schemas.openxmlformats.org/presentationml/2006/main">
  <p:tag name="MH" val="20160830110146"/>
  <p:tag name="MH_LIBRARY" val="CONTENTS"/>
  <p:tag name="MH_TYPE" val="OTHERS"/>
  <p:tag name="ID" val="553512"/>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TABLE_ENDDRAG_ORIGIN_RECT" val="399*140"/>
  <p:tag name="TABLE_ENDDRAG_RECT" val="335*294*399*140"/>
</p:tagLst>
</file>

<file path=ppt/tags/tag427.xml><?xml version="1.0" encoding="utf-8"?>
<p:tagLst xmlns:p="http://schemas.openxmlformats.org/presentationml/2006/main">
  <p:tag name="MH" val="20160830110146"/>
  <p:tag name="MH_LIBRARY" val="CONTENTS"/>
  <p:tag name="MH_TYPE" val="OTHERS"/>
  <p:tag name="ID" val="553512"/>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1.xml><?xml version="1.0" encoding="utf-8"?>
<p:tagLst xmlns:p="http://schemas.openxmlformats.org/presentationml/2006/main">
  <p:tag name="MH" val="20160830110146"/>
  <p:tag name="MH_LIBRARY" val="CONTENTS"/>
  <p:tag name="MH_TYPE" val="OTHERS"/>
  <p:tag name="ID" val="553512"/>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TABLE_ENDDRAG_ORIGIN_RECT" val="369*157"/>
  <p:tag name="TABLE_ENDDRAG_RECT" val="142*260*369*157"/>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6.xml><?xml version="1.0" encoding="utf-8"?>
<p:tagLst xmlns:p="http://schemas.openxmlformats.org/presentationml/2006/main">
  <p:tag name="MH" val="20160830110146"/>
  <p:tag name="MH_LIBRARY" val="CONTENTS"/>
  <p:tag name="MH_TYPE" val="OTHERS"/>
  <p:tag name="ID" val="553512"/>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COMMONDATA" val="eyJoZGlkIjoiYWRmMjU0ZGJjNThjMWRkNGI2YjEwOTgxZjEzMjY5MGMifQ=="/>
  <p:tag name="resource_record_key" val="{&quot;10&quot;:[50059293,50063269,50062581,21558137,4714250,3633003,50001843,21540673,50062345,50059295,50063645,20265191,50045270,21566523,50059455,50059176,50033282,21549659,4523423,50044699,20280902,50062569,21570797,3637342,3644795,50026891,50047996,50062675],&quot;29&quot;:[50053052,50053008,50053044,50052445,50000090,50053017,50049407]}"/>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package" Target="../embeddings/Workbook1.xlsx"/><Relationship Id="rId2" Type="http://schemas.openxmlformats.org/officeDocument/2006/relationships/image" Target="../media/image103.png"/></Relationships>
</file>

<file path=ppt/webExtensions/webExtension1.xml><?xml version="1.0" encoding="utf-8"?>
<wpswe:webExtension xmlns:wpswe="http://www.wps.cn/officeDocument/2018/webExtension" xmlns:webet="https://web.wps.cn/et/2018/main" webet:type="Normal" type="0" webet:id="">
  <wpswe:extSource id="webchart" version="3.0"/>
  <wpswe:properties>
    <wpswe:property key="demoData" value="{&quot;category&quot;:[&quot;系列1&quot;,&quot;系列2&quot;,&quot;系列3&quot;],&quot;data&quot;:[[&quot;&quot;,&quot;类别1&quot;,&quot;类别2&quot;,&quot;类别3&quot;],[&quot;系列1&quot;,43,65,52],[&quot;系列2&quot;,80,116,91],[&quot;系列3&quot;,71,91,65]],&quot;series&quot;:[&quot;&quot;,&quot;类别1&quot;,&quot;类别2&quot;,&quot;类别3&quot;]}"/>
    <wpswe:property key="extStyle" value="{&quot;series&quot;:[{&quot;barGap&quot;:&quot;28%&quot;,&quot;hoverAnimation&quot;:true,&quot;itemStyle&quot;:{&quot;borderColor&quot;:&quot;#ffffff&quot;},&quot;type&quot;:&quot;bar&quot;}],&quot;tooltip&quot;:{&quot;backgroundColor&quot;:{&quot;rgb&quot;:&quot;rgba(51,51,51,0.7)&quot;,&quot;row&quot;:-1,&quot;themeIndex&quot;:-1,&quot;type&quot;:0},&quot;borderWidth&quot;:0,&quot;confine&quot;:true,&quot;extraCssText&quot;:&quot;max-width: calc(100vw - 36px); overflow: hidden; white-space: nowrap; text-overflow: ellipsis; margin-left: 8px;&quot;},&quot;xAxis&quot;:{&quot;axisLabel&quot;:{&quot;margin&quot;:14}},&quot;yAxis&quot;:{&quot;axisLabel&quot;:{&quot;margin&quot;:8}}}"/>
    <wpswe:property key="isUseCommonErrorPage" value="false"/>
    <wpswe:property key="loadingImage" value="res:/icons/WebChartLoading.svg"/>
    <wpswe:property key="renderer" value="echarts"/>
    <wpswe:property key="resId" value="40000025"/>
    <wpswe:property key="sourceTheme" value="{&quot;colors&quot;:[&quot;#000000&quot;,&quot;#ffffff&quot;,&quot;#0f1423&quot;,&quot;#ffffff&quot;,&quot;#6096e6&quot;,&quot;#58b6e5&quot;,&quot;#56ca95&quot;,&quot;#ffba55&quot;,&quot;#f18870&quot;,&quot;#ec5f74&quot;,&quot;#0563c1&quot;,&quot;#954d72&quot;,&quot;#000000&quot;,&quot;#ffffff&quot;,&quot;#0f1423&quot;,&quot;#ffffff&quot;],&quot;fonts&quot;:[&quot;Arial&quot;,&quot;微软雅黑&quot;,&quot;Arial&quot;,&quot;微软雅黑&quot;]}"/>
    <wpswe:property key="style" value="{&quot;animation&quot;:true,&quot;backgroundColor&quot;:{&quot;rgb&quot;:&quot;#FFFFFF&quot;,&quot;row&quot;:0,&quot;themeIndex&quot;:13,&quot;type&quot;:1},&quot;borderColor&quot;:{&quot;rgb&quot;:&quot;#D9D9D9&quot;,&quot;row&quot;:2,&quot;themeIndex&quot;:13,&quot;type&quot;:1},&quot;global&quot;:{&quot;text&quot;:{&quot;bold&quot;:0,&quot;font&quot;:{&quot;name&quot;:&quot;微软雅黑&quot;,&quot;nameType&quot;:2,&quot;langType&quot;:3},&quot;fontSize&quot;:10,&quot;italic&quot;:0}},&quot;interval&quot;:0.1,&quot;isTransformDateAxis&quot;:0,&quot;label&quot;:{&quot;position&quot;:&quot;outsideDataLabel&quot;,&quot;show&quot;:false,&quot;textStyle&quot;:{&quot;color&quot;:{&quot;rgb&quot;:&quot;#404040&quot;,&quot;row&quot;:3,&quot;themeIndex&quot;:12,&quot;type&quot;:1},&quot;fontFamily&quot;:{&quot;name&quot;:&quot;宋体&quot;,&quot;themeIndex&quot;:3,&quot;type&quot;:1},&quot;fontSize&quot;:9,&quot;fontStyle&quot;:&quot;normal&quot;,&quot;fontWeight&quot;:&quot;normal&quot;}},&quot;legend&quot;:{&quot;position&quot;:&quot;bottomCenter&quot;,&quot;show&quot;:true,&quot;textStyle&quot;:{&quot;color&quot;:{&quot;rgb&quot;:&quot;#595959&quot;,&quot;row&quot;:2,&quot;themeIndex&quot;:12,&quot;type&quot;:1},&quot;fontFamily&quot;:{&quot;name&quot;:&quot;宋体&quot;,&quot;themeIndex&quot;:3,&quot;type&quot;:1},&quot;fontSize&quot;:9,&quot;fontStyle&quot;:&quot;normal&quot;,&quot;fontWeight&quot;:&quot;normal&quot;}},&quot;max&quot;:1,&quot;min&quot;:0,&quot;seriesColorType&quot;:&quot;linear-gradient&quot;,&quot;seriesThemeColor&quot;:[&quot;#3F7BF9&quot;,&quot;#31BE61&quot;,&quot;#FFC800&quot;,&quot;#FF920C&quot;,&quot;#FF5F69&quot;,&quot;#B16EFB&quot;],&quot;title&quot;:{&quot;position&quot;:&quot;topCenter&quot;,&quot;show&quot;:true,&quot;text&quot;:&quot;Single-LLM vs voting vs chain_builder+auditor&quot;,&quot;textStyle&quot;:{&quot;color&quot;:{&quot;rgb&quot;:&quot;#404040&quot;,&quot;row&quot;:3,&quot;themeIndex&quot;:12,&quot;type&quot;:1},&quot;fontFamily&quot;:{&quot;name&quot;:&quot;宋体&quot;,&quot;themeIndex&quot;:3,&quot;type&quot;:1},&quot;fontSize&quot;:14,&quot;fontStyle&quot;:&quot;normal&quot;,&quot;fontWeight&quot;:&quot;bold&quot;}},&quot;tooltip&quot;:{&quot;show&quot;:true,&quot;textStyle&quot;:{&quot;color&quot;:{&quot;rgb&quot;:&quot;#FFFFFF&quot;,&quot;row&quot;:-1,&quot;themeIndex&quot;:-1,&quot;type&quot;:0},&quot;fontFamily&quot;:{&quot;name&quot;:&quot;宋体&quot;,&quot;themeIndex&quot;:3,&quot;type&quot;:1},&quot;fontSize&quot;:9,&quot;fontStyle&quot;:&quot;normal&quot;,&quot;fontWeight&quot;:&quot;normal&quot;}},&quot;xAxis&quot;:{&quot;axisLabel&quot;:{&quot;show&quot;:true,&quot;textStyle&quot;:{&quot;color&quot;:{&quot;rgb&quot;:&quot;#595959&quot;,&quot;row&quot;:2,&quot;themeIndex&quot;:12,&quot;type&quot;:1},&quot;fontFamily&quot;:{&quot;name&quot;:&quot;宋体&quot;,&quot;themeIndex&quot;:3,&quot;type&quot;:1},&quot;fontSize&quot;:9,&quot;fontStyle&quot;:&quot;normal&quot;,&quot;fontWeight&quot;:&quot;normal&quot;}},&quot;axisLine&quot;:{&quot;lineStyle&quot;:{&quot;color&quot;:{&quot;rgb&quot;:&quot;#D9D9D9&quot;,&quot;row&quot;:2,&quot;themeIndex&quot;:13,&quot;type&quot;:1},&quot;width&quot;:1},&quot;show&quot;:true},&quot;axisTick&quot;:{&quot;alignWithLabel&quot;:true,&quot;show&quot;:true},&quot;name&quot;:{&quot;show&quot;:false,&quot;text&quot;:&quot;X轴&quot;,&quot;textStyle&quot;:{&quot;color&quot;:{&quot;rgb&quot;:&quot;#595959&quot;,&quot;row&quot;:2,&quot;themeIndex&quot;:12,&quot;type&quot;:1},&quot;fontFamily&quot;:{&quot;name&quot;:&quot;宋体&quot;,&quot;themeIndex&quot;:3,&quot;type&quot;:1},&quot;fontSize&quot;:9,&quot;fontStyle&quot;:&quot;normal&quot;,&quot;fontWeight&quot;:&quot;normal&quot;}},&quot;splitLine&quot;:{&quot;lineStyle&quot;:{&quot;color&quot;:{&quot;rgb&quot;:&quot;#E6E6E6&quot;,&quot;row&quot;:-1,&quot;themeIndex&quot;:-1,&quot;type&quot;:0},&quot;width&quot;:1},&quot;show&quot;:false},&quot;type&quot;:&quot;category&quot;},&quot;yAxis&quot;:{&quot;axisLabel&quot;:{&quot;show&quot;:true,&quot;textStyle&quot;:{&quot;color&quot;:{&quot;rgb&quot;:&quot;#595959&quot;,&quot;row&quot;:2,&quot;themeIndex&quot;:12,&quot;type&quot;:1},&quot;fontFamily&quot;:{&quot;name&quot;:&quot;宋体&quot;,&quot;themeIndex&quot;:3,&quot;type&quot;:1},&quot;fontSize&quot;:9,&quot;fontStyle&quot;:&quot;normal&quot;,&quot;fontWeight&quot;:&quot;normal&quot;}},&quot;axisLine&quot;:{&quot;lineStyle&quot;:{&quot;color&quot;:{&quot;rgb&quot;:&quot;#D9D9D9&quot;,&quot;row&quot;:2,&quot;themeIndex&quot;:13,&quot;type&quot;:1},&quot;width&quot;:1},&quot;show&quot;:false},&quot;axisTick&quot;:{&quot;show&quot;:false},&quot;name&quot;:{&quot;show&quot;:false,&quot;text&quot;:&quot;Y轴&quot;,&quot;textStyle&quot;:{&quot;color&quot;:{&quot;rgb&quot;:&quot;#595959&quot;,&quot;row&quot;:2,&quot;themeIndex&quot;:12,&quot;type&quot;:1},&quot;fontFamily&quot;:{&quot;name&quot;:&quot;宋体&quot;,&quot;themeIndex&quot;:3,&quot;type&quot;:1},&quot;fontSize&quot;:9,&quot;fontStyle&quot;:&quot;normal&quot;,&quot;fontWeight&quot;:&quot;normal&quot;}},&quot;splitLine&quot;:{&quot;lineStyle&quot;:{&quot;color&quot;:{&quot;rgb&quot;:&quot;#E6E6E6&quot;,&quot;row&quot;:-1,&quot;themeIndex&quot;:-1,&quot;type&quot;:0},&quot;width&quot;:1},&quot;show&quot;:false},&quot;type&quot;:&quot;value&quot;},&quot;animationLoop&quot;:false,&quot;animationDurationUpdate&quot;:1500,&quot;animationDuration&quot;:1500,&quot;max_origin&quot;:1,&quot;min_origin&quot;:0,&quot;interval_origin&quot;:0.1,&quot;seriesDir&quot;:&quot;col&quot;,&quot;divideType&quot;:&quot;leftTop&quot;,&quot;selectedSeriesData&quot;:[0,1,2],&quot;selectedCategoryData&quot;:[0,1,2],&quot;deletedSeriesData&quot;:[],&quot;orderSeriesData&quot;:[0,1,2]}"/>
    <wpswe:property key="themeOverride" value="false"/>
    <wpswe:property key="type" value="2d-column"/>
    <wpswe:property key="useSourceFormat" value="true"/>
  </wpswe:properties>
  <wpswe:watchingCache>
    <wpswe:linkPath>C:/Users/11428/AppData/Local/Temp/wps.kGwAPn/Workbook1.xlsx</wpswe:linkPath>
    <wpswe:dataRange>
      <wpswe:key>webchart</wpswe:key>
      <wpswe:context>Sheet1!$A$1:$D$4</wpswe:context>
      <wpswe:count>4</wpswe:count>
      <wpswe:cells wpswe:idx="0">
        <wpswe:count>4</wpswe:count>
        <wpswe:formatCode>General</wpswe:formatCode>
        <wpswe:cell wpswe:idx="1" wpswe:formatCode="General">
          <wpswe:value>precision</wpswe:value>
        </wpswe:cell>
        <wpswe:cell wpswe:idx="2" wpswe:formatCode="General">
          <wpswe:value>accuracy</wpswe:value>
        </wpswe:cell>
        <wpswe:cell wpswe:idx="3" wpswe:formatCode="General">
          <wpswe:value>recall</wpswe:value>
        </wpswe:cell>
      </wpswe:cells>
      <wpswe:cells wpswe:idx="1">
        <wpswe:count>4</wpswe:count>
        <wpswe:formatCode>General</wpswe:formatCode>
        <wpswe:cell wpswe:idx="0">
          <wpswe:value>Single-LLM self-judgment</wpswe:value>
        </wpswe:cell>
        <wpswe:cell wpswe:idx="1">
          <wpswe:value>0.885</wpswe:value>
        </wpswe:cell>
        <wpswe:cell wpswe:idx="2">
          <wpswe:value>0.662</wpswe:value>
        </wpswe:cell>
        <wpswe:cell wpswe:idx="3">
          <wpswe:value>0.523</wpswe:value>
        </wpswe:cell>
      </wpswe:cells>
      <wpswe:cells wpswe:idx="2">
        <wpswe:count>4</wpswe:count>
        <wpswe:formatCode>General</wpswe:formatCode>
        <wpswe:cell wpswe:idx="0">
          <wpswe:value>Multi-perspective voting</wpswe:value>
        </wpswe:cell>
        <wpswe:cell wpswe:idx="1">
          <wpswe:value>0.913</wpswe:value>
        </wpswe:cell>
        <wpswe:cell wpswe:idx="2">
          <wpswe:value>0.648</wpswe:value>
        </wpswe:cell>
        <wpswe:cell wpswe:idx="3">
          <wpswe:value>0.477</wpswe:value>
        </wpswe:cell>
      </wpswe:cells>
      <wpswe:cells wpswe:idx="3">
        <wpswe:count>4</wpswe:count>
        <wpswe:formatCode>General</wpswe:formatCode>
        <wpswe:cell wpswe:idx="0">
          <wpswe:value>chain_builder+chain_auditor</wpswe:value>
        </wpswe:cell>
        <wpswe:cell wpswe:idx="1">
          <wpswe:value>0.881</wpswe:value>
        </wpswe:cell>
        <wpswe:cell wpswe:idx="2">
          <wpswe:value>0.831</wpswe:value>
        </wpswe:cell>
        <wpswe:cell wpswe:idx="3">
          <wpswe:value>0.841</wpswe:value>
        </wpswe:cell>
      </wpswe:cells>
    </wpswe:dataRange>
  </wpswe:watchingCache>
  <wpswe:snapshot xmlns:r="http://schemas.openxmlformats.org/officeDocument/2006/relationships" r:embed="rId2"/>
  <wpswe:externalData xmlns:r="http://schemas.openxmlformats.org/officeDocument/2006/relationships" r:id="rId1"/>
  <wpswe:url>https://clientweb.docer.wps.cn/web-chart/v1/web-shape.html#/home</wpswe:url>
  <wpswe:constantSnapshot>false</wpswe:constantSnapshot>
</wpswe:webExtension>
</file>

<file path=docProps/app.xml><?xml version="1.0" encoding="utf-8"?>
<Properties xmlns="http://schemas.openxmlformats.org/officeDocument/2006/extended-properties" xmlns:vt="http://schemas.openxmlformats.org/officeDocument/2006/docPropsVTypes">
  <TotalTime>0</TotalTime>
  <Words>23145</Words>
  <Application>WPS 演示</Application>
  <PresentationFormat>宽屏</PresentationFormat>
  <Paragraphs>1623</Paragraphs>
  <Slides>49</Slides>
  <Notes>48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49</vt:i4>
      </vt:variant>
    </vt:vector>
  </HeadingPairs>
  <TitlesOfParts>
    <vt:vector size="64" baseType="lpstr">
      <vt:lpstr>Arial</vt:lpstr>
      <vt:lpstr>SimSun</vt:lpstr>
      <vt:lpstr>Wingdings</vt:lpstr>
      <vt:lpstr>Wingdings</vt:lpstr>
      <vt:lpstr>Cambria</vt:lpstr>
      <vt:lpstr>Microsoft YaHei</vt:lpstr>
      <vt:lpstr>Comic Sans MS</vt:lpstr>
      <vt:lpstr>FangSong</vt:lpstr>
      <vt:lpstr>Segoe UI</vt:lpstr>
      <vt:lpstr>Times New Roman</vt:lpstr>
      <vt:lpstr>Linux Libertine O</vt:lpstr>
      <vt:lpstr>MV Boli</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123</dc:creator>
  <cp:lastModifiedBy>Ratio</cp:lastModifiedBy>
  <cp:revision>2455</cp:revision>
  <dcterms:created xsi:type="dcterms:W3CDTF">2023-11-29T06:50:00Z</dcterms:created>
  <dcterms:modified xsi:type="dcterms:W3CDTF">2026-08-25T08:53:00Z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2052-12.1.0.28022</vt:lpwstr>
  </property>
  <property fmtid="{D5CDD505-2E9C-101B-9397-08002B2CF9AE}" pid="3" name="ICV">
    <vt:lpwstr/>
  </property>
</Properties>
</file>