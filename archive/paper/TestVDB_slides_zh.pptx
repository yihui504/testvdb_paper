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微软雅黑"/>
              </a:defRPr>
            </a:pPr>
            <a:r>
              <a:t>TestVDB</a:t>
            </a:r>
          </a:p>
          <a:p>
            <a:pPr>
              <a:defRPr sz="2200" b="0">
                <a:solidFill>
                  <a:srgbClr val="CCDDEE"/>
                </a:solidFill>
                <a:latin typeface="微软雅黑"/>
              </a:defRPr>
            </a:pPr>
            <a:r>
              <a:t>用 LLM 发现实际行为偏离文档的缺陷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AACCDD"/>
                </a:solidFill>
                <a:latin typeface="微软雅黑"/>
              </a:defRPr>
            </a:pPr>
            <a:r>
              <a:t>作者（待定）</a:t>
            </a:r>
          </a:p>
          <a:p>
            <a:pPr>
              <a:defRPr sz="1600" b="0">
                <a:solidFill>
                  <a:srgbClr val="AACCDD"/>
                </a:solidFill>
                <a:latin typeface="微软雅黑"/>
              </a:defRPr>
            </a:pPr>
            <a:r>
              <a:t>单位</a:t>
            </a:r>
          </a:p>
          <a:p>
            <a:pPr>
              <a:defRPr sz="1600" b="0">
                <a:solidFill>
                  <a:srgbClr val="AACCDD"/>
                </a:solidFill>
                <a:latin typeface="微软雅黑"/>
              </a:defRPr>
            </a:pPr>
            <a:r>
              <a:t>会议/Session（待定）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01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VDBMS 缺陷代价高 —— 多数为功能性失败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BBCCDD"/>
                </a:solidFill>
                <a:latin typeface="微软雅黑"/>
              </a:defRPr>
            </a:pPr>
            <a:r>
              <a:t>P2/20 开场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98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1_rag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188720"/>
            <a:ext cx="7589520" cy="3037081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11064240" cy="20116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来源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发现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bug 研究 (Xie 2025)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&gt; 50% 功能性失败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测试 roadmap (Wang 2025)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~43% 错误行为；oracle 挑战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VDBFuzz (Wang 2026)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首个 fuzzer —— crash oracle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01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文档-实现缺陷：实际行为偏离文档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BBCCDD"/>
                </a:solidFill>
                <a:latin typeface="微软雅黑"/>
              </a:defRPr>
            </a:pPr>
            <a:r>
              <a:t>P3/20 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98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t>•  文档-实现一致性 —— API accept/reject 匹配文档？</a:t>
            </a:r>
          </a:p>
          <a:p>
            <a:pPr>
              <a:spcAft>
                <a:spcPts val="100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t>•  正确性 —— 结果数学正确？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4114800" cy="201168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4A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A8C5C"/>
                </a:solidFill>
                <a:latin typeface="微软雅黑"/>
              </a:defRPr>
            </a:pPr>
            <a:r>
              <a:t>文档</a:t>
            </a:r>
          </a:p>
          <a:p>
            <a:pPr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"nprobe (int):</a:t>
            </a:r>
            <a:br/>
            <a:r>
              <a:t> 范围 0-16384"</a:t>
            </a:r>
          </a:p>
          <a:p>
            <a:pPr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（应拒绝 nprobe=0）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54880" y="3383280"/>
            <a:ext cx="731520" cy="457200"/>
          </a:xfrm>
          <a:prstGeom prst="rightArrow">
            <a:avLst/>
          </a:prstGeom>
          <a:solidFill>
            <a:srgbClr val="B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0" y="2743200"/>
            <a:ext cx="5029200" cy="201168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B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05050"/>
                </a:solidFill>
                <a:latin typeface="微软雅黑"/>
              </a:defRPr>
            </a:pPr>
            <a:r>
              <a:t>API 实际行为</a:t>
            </a:r>
          </a:p>
          <a:p>
            <a:pPr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接受 nprobe=0</a:t>
            </a:r>
          </a:p>
          <a:p>
            <a:pPr>
              <a:defRPr sz="1300" b="0">
                <a:solidFill>
                  <a:srgbClr val="B05050"/>
                </a:solidFill>
                <a:latin typeface="微软雅黑"/>
              </a:defRPr>
            </a:pPr>
            <a:r>
              <a:t>→ 搜索执行（错误结果）</a:t>
            </a:r>
          </a:p>
          <a:p>
            <a:pPr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无 crash，无错误码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0292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05050"/>
                </a:solidFill>
                <a:latin typeface="微软雅黑"/>
              </a:defRPr>
            </a:pPr>
            <a:r>
              <a:t>偏离 → 查询语义被破坏；38 个中 37 个不 crash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01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只有 LLM 能触及文档-实现残差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BBCCDD"/>
                </a:solidFill>
                <a:latin typeface="微软雅黑"/>
              </a:defRPr>
            </a:pPr>
            <a:r>
              <a:t>P4/20 朴素 oracle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98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4754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67926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候选 oracle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触及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为何触及不了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Crash (VDBFuzz)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crash/hang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38 个中 37 个不 crash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差分测试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跨厂商不变量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accept/reject 设计上分叉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蜕变关系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结果正确性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输出关系，非输入接受性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属性测试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数学+schema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需可检查 property+OpenAPI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REST 文档 oracle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状态/字段断言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从低歧义源可靠提取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LLM oracle (TestVDB)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accept/reject vs 文档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残差需语义判断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01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TestVDB：LLM 提取 claim 并裁决一致性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BBCCDD"/>
                </a:solidFill>
                <a:latin typeface="微软雅黑"/>
              </a:defRPr>
            </a:pPr>
            <a:r>
              <a:t>P5/20 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98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2926080" cy="201168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E5C8A"/>
                </a:solidFill>
                <a:latin typeface="微软雅黑"/>
              </a:defRPr>
            </a:pPr>
            <a:r>
              <a:t>1. 提取</a:t>
            </a:r>
          </a:p>
          <a:p>
            <a:pPr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LLM 读文档</a:t>
            </a:r>
            <a:br/>
            <a:r>
              <a:t>→ 行为 claim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286000"/>
            <a:ext cx="2926080" cy="201168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E5C8A"/>
                </a:solidFill>
                <a:latin typeface="微软雅黑"/>
              </a:defRPr>
            </a:pPr>
            <a:r>
              <a:t>2. 攻击</a:t>
            </a:r>
          </a:p>
          <a:p>
            <a:pPr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边界输入</a:t>
            </a:r>
            <a:br/>
            <a:r>
              <a:t>针对每个 claim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286000"/>
            <a:ext cx="2926080" cy="201168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D98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98E48"/>
                </a:solidFill>
                <a:latin typeface="微软雅黑"/>
              </a:defRPr>
            </a:pPr>
            <a:r>
              <a:t>3. 裁决</a:t>
            </a:r>
          </a:p>
          <a:p>
            <a:pPr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LLM 检查响应</a:t>
            </a:r>
            <a:br/>
            <a:r>
              <a:t>→ 符合或违反？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566160" y="3017520"/>
            <a:ext cx="548640" cy="365760"/>
          </a:xfrm>
          <a:prstGeom prst="rightArrow">
            <a:avLst/>
          </a:prstGeom>
          <a:solidFill>
            <a:srgbClr val="D98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7406640" y="3017520"/>
            <a:ext cx="548640" cy="365760"/>
          </a:xfrm>
          <a:prstGeom prst="rightArrow">
            <a:avLst/>
          </a:prstGeom>
          <a:solidFill>
            <a:srgbClr val="D98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448056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05050"/>
                </a:solidFill>
                <a:latin typeface="微软雅黑"/>
              </a:defRPr>
            </a:pPr>
            <a:r>
              <a:t>→ 裁决（可能错误）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这个朴素 pipeline 会产生误报 —— LLM judge 不可靠（下页）。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01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源歧义鸿沟：断言 vs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BBCCDD"/>
                </a:solidFill>
                <a:latin typeface="微软雅黑"/>
              </a:defRPr>
            </a:pPr>
            <a:r>
              <a:t>P6/20 核心洞察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98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3_source_ambiguity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698480" cy="52178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01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家族特定错误：judge 确认 extractor 偏差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BBCCDD"/>
                </a:solidFill>
                <a:latin typeface="微软雅黑"/>
              </a:defRPr>
            </a:pPr>
            <a:r>
              <a:t>P7/20 核心洞察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98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t>•  一个 LLM 家族同时提取 claim 和裁决，共享偏差</a:t>
            </a:r>
          </a:p>
          <a:p>
            <a:pPr>
              <a:spcAft>
                <a:spcPts val="100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t>•  judge 确认 extractor 错误 —— self-preference</a:t>
            </a:r>
          </a:p>
          <a:p>
            <a:pPr>
              <a:spcAft>
                <a:spcPts val="100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t>•  Panickssery (2024); Wataoka (2024)</a:t>
            </a:r>
          </a:p>
          <a:p>
            <a:pPr>
              <a:spcAft>
                <a:spcPts val="1000"/>
              </a:spcAft>
              <a:defRPr sz="1600" b="0">
                <a:solidFill>
                  <a:srgbClr val="4A8C5C"/>
                </a:solidFill>
                <a:latin typeface="微软雅黑"/>
              </a:defRPr>
            </a:pPr>
            <a:r>
              <a:t>•  缓解：跨模型验证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01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任务内在错误：不同家族推断相同错误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BBCCDD"/>
                </a:solidFill>
                <a:latin typeface="微软雅黑"/>
              </a:defRPr>
            </a:pPr>
            <a:r>
              <a:t>P8/20 核心洞察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98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4_two_layer_ve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88720"/>
            <a:ext cx="10515600" cy="59846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01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跨模型验证覆盖家族特定，不覆盖任务内在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BBCCDD"/>
                </a:solidFill>
                <a:latin typeface="微软雅黑"/>
              </a:defRPr>
            </a:pPr>
            <a:r>
              <a:t>P9/20 核心洞察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98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5C8A"/>
                </a:solidFill>
                <a:latin typeface="微软雅黑"/>
              </a:defRPr>
            </a:pPr>
            <a:r>
              <a:t>家族特定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 consistencyLevel —— GLM/DeepSeek 说法不同</a:t>
            </a:r>
          </a:p>
          <a:p>
            <a:pPr>
              <a:spcAft>
                <a:spcPts val="100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 跨模型能发现分歧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463040"/>
            <a:ext cx="36576" cy="4572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280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98E48"/>
                </a:solidFill>
                <a:latin typeface="微软雅黑"/>
              </a:defRPr>
            </a:pPr>
            <a:r>
              <a:t>任务内在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 timeout —— 都提取 '&gt;= 1'（同错）</a:t>
            </a:r>
          </a:p>
          <a:p>
            <a:pPr>
              <a:spcAft>
                <a:spcPts val="100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 跨模型看到一致</a:t>
            </a:r>
          </a:p>
          <a:p>
            <a:pPr>
              <a:spcAft>
                <a:spcPts val="100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 只有源码能证伪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01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完整 pipeline：源码证伪解决跨模型解决不了的问题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BBCCDD"/>
                </a:solidFill>
                <a:latin typeface="微软雅黑"/>
              </a:defRPr>
            </a:pPr>
            <a:r>
              <a:t>P10/20 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98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5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55047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加到朴素 pipeline（P6）：dev-reviewer 读源码证伪。12 子句 pilot：跨模型 7/12，源码 12/12（n=29 见 P17）。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01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证伪规则：shardsNum=0 选默认值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BBCCDD"/>
                </a:solidFill>
                <a:latin typeface="微软雅黑"/>
              </a:defRPr>
            </a:pPr>
            <a:r>
              <a:t>P11/20 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98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05050"/>
                </a:solidFill>
                <a:latin typeface="微软雅黑"/>
              </a:defRPr>
            </a:pPr>
            <a:r>
              <a:t>Over-strict 子句（LLM）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 shardsNum &gt;= 1</a:t>
            </a:r>
          </a:p>
          <a:p>
            <a:pPr>
              <a:spcAft>
                <a:spcPts val="100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 probe: shardsNum=0 → API 200</a:t>
            </a:r>
          </a:p>
          <a:p>
            <a:pPr>
              <a:spcAft>
                <a:spcPts val="100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 LLM 裁决：'违规'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463040"/>
            <a:ext cx="36576" cy="4572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280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A8C5C"/>
                </a:solidFill>
                <a:latin typeface="微软雅黑"/>
              </a:defRPr>
            </a:pPr>
            <a:r>
              <a:t>源码证伪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 源码: if shardsNum==0 { use default }</a:t>
            </a:r>
          </a:p>
          <a:p>
            <a:pPr>
              <a:spcAft>
                <a:spcPts val="100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 0 选默认 —— over-strict</a:t>
            </a:r>
          </a:p>
          <a:p>
            <a:pPr>
              <a:spcAft>
                <a:spcPts val="100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 FP 消除</a:t>
            </a:r>
          </a:p>
          <a:p>
            <a:pPr>
              <a:spcAft>
                <a:spcPts val="100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 与 MASTOR (as designed) 反向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+ dev-reviewer 读源码证伪；novelty gate 去重。抑制朴素 pipeline 误报（P6）。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01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四个 RQ；提交 111，确认 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BBCCDD"/>
                </a:solidFill>
                <a:latin typeface="微软雅黑"/>
              </a:defRPr>
            </a:pPr>
            <a:r>
              <a:t>P12/20 实验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98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71600"/>
          <a:ext cx="5303520" cy="34747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69494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RQ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问题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RQ1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多少 doc-impl 缺陷？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RQ2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源码是否抑制 FP？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RQ3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跨模型 vs 源码？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RQ4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无模型子类？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371600"/>
          <a:ext cx="5577840" cy="4114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</a:tblGrid>
              <a:tr h="58782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VDBMS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提交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确认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Milvus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51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Weaviate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Qdrant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MeiliSearch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Chroma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合计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01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~85% doc-impl 缺陷；VDBFuzz: 0 crash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BBCCDD"/>
                </a:solidFill>
                <a:latin typeface="微软雅黑"/>
              </a:defRPr>
            </a:pPr>
            <a:r>
              <a:t>P13/20 实验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98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5C8A"/>
                </a:solidFill>
                <a:latin typeface="微软雅黑"/>
              </a:defRPr>
            </a:pPr>
            <a:r>
              <a:t>组成（非普遍率）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 ~85% 文档-实现缺陷</a:t>
            </a:r>
          </a:p>
          <a:p>
            <a:pPr>
              <a:spcAft>
                <a:spcPts val="100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 ~10% 经典</a:t>
            </a:r>
          </a:p>
          <a:p>
            <a:pPr>
              <a:spcAft>
                <a:spcPts val="100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 ~5% 并发</a:t>
            </a:r>
          </a:p>
          <a:p>
            <a:pPr>
              <a:spcAft>
                <a:spcPts val="100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 确认子集 89%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463040"/>
            <a:ext cx="36576" cy="4572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280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A8C5C"/>
                </a:solidFill>
                <a:latin typeface="微软雅黑"/>
              </a:defRPr>
            </a:pPr>
            <a:r>
              <a:t>VDBFuzz (Qdrant v1.18.2)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 我们跑了 VDBFuzz: 26,000 请求</a:t>
            </a:r>
          </a:p>
          <a:p>
            <a:pPr>
              <a:spcAft>
                <a:spcPts val="100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 0 crash, 0 非-200</a:t>
            </a:r>
          </a:p>
          <a:p>
            <a:pPr>
              <a:spcAft>
                <a:spcPts val="100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 TestVDB 发现 doc-impl 缺陷</a:t>
            </a:r>
          </a:p>
          <a:p>
            <a:pPr>
              <a:spcAft>
                <a:spcPts val="100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 不相交缺陷类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01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源码 anchor: 81% FP 抑制（从 31%）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BBCCDD"/>
                </a:solidFill>
                <a:latin typeface="微软雅黑"/>
              </a:defRPr>
            </a:pPr>
            <a:r>
              <a:t>P14/20 实验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98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332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D98E48"/>
                </a:solidFill>
              </a:defRPr>
            </a:pPr>
            <a:r>
              <a:t>81%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源码 anchor 抑制的误报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相比 31%；真阳性 96.7%（n=30）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01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精度随源码 anchor 扩展：25.5% → 45.6% → 69.2%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BBCCDD"/>
                </a:solidFill>
                <a:latin typeface="微软雅黑"/>
              </a:defRPr>
            </a:pPr>
            <a:r>
              <a:t>P15/20 实验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98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7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7589520" cy="469197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01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RQ3 n=29: 源码 16/16; 显式边界 0/13; κ=1.0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BBCCDD"/>
                </a:solidFill>
                <a:latin typeface="微软雅黑"/>
              </a:defRPr>
            </a:pPr>
            <a:r>
              <a:t>P16/20 实验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98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4754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792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子型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任务内在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跨模型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源码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参数 over-strict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5/12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7/12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12/12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行为 over-strict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4/4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0/4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4/4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显式边界 negative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0/13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厂商内对比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56% vs 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跨模型 κ (n=20)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κ=1.0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01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无模型不变量子类独立发现缺陷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BBCCDD"/>
                </a:solidFill>
                <a:latin typeface="微软雅黑"/>
              </a:defRPr>
            </a:pPr>
            <a:r>
              <a:t>P17/20 实验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98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4754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11887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不变量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观测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跨厂商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COSINE 距离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相同向量距离 &gt; 1.0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Milvus+Qdrant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索引完整性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索引返回 25 中 2 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Milvus+Qdrant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Payload 过滤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过滤缺失字段返回点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Milvus+Qdrant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01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已有工作: 低歧义; TestVDB: 歧义领域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BBCCDD"/>
                </a:solidFill>
                <a:latin typeface="微软雅黑"/>
              </a:defRPr>
            </a:pPr>
            <a:r>
              <a:t>P18/20 相关工作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98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80160"/>
          <a:ext cx="11064240" cy="51206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8534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工作线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代表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差异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VDBMS 测试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VDBFuzz/roadmap/bug study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crash vs doc-impl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REST oracle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AGORA+/SATORI/MASTOR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低歧义；我们用 NL 文档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文档 oracle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Toradocu/Doc2OracLL/AugmenTest/Konstantinou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信任 LLM；我们证伪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DB 正确性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NoREC/TLP/DQE/DDLCheck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有参考语义；我们没有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LLM-judge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Panickssery/Wataoka/Haldar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正交 —— source grounding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01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威胁与结论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BBCCDD"/>
                </a:solidFill>
                <a:latin typeface="微软雅黑"/>
              </a:defRPr>
            </a:pPr>
            <a:r>
              <a:t>P19/20 收尾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98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05050"/>
                </a:solidFill>
                <a:latin typeface="微软雅黑"/>
              </a:defRPr>
            </a:pPr>
            <a:r>
              <a:t>威胁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 over-strict (n=16) 最 contingent</a:t>
            </a:r>
          </a:p>
          <a:p>
            <a:pPr>
              <a:spcAft>
                <a:spcPts val="100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 限 Milvus+Qdrant</a:t>
            </a:r>
          </a:p>
          <a:p>
            <a:pPr>
              <a:spcAft>
                <a:spcPts val="100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 机制相关非因果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463040"/>
            <a:ext cx="36576" cy="4572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280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A8C5C"/>
                </a:solidFill>
                <a:latin typeface="微软雅黑"/>
              </a:defRPr>
            </a:pPr>
            <a:r>
              <a:t>结论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 doc-impl 抗确定性检查</a:t>
            </a:r>
          </a:p>
          <a:p>
            <a:pPr>
              <a:spcAft>
                <a:spcPts val="100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 LLM: 家族特定+任务内在</a:t>
            </a:r>
          </a:p>
          <a:p>
            <a:pPr>
              <a:spcAft>
                <a:spcPts val="100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 超越 VDBMS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01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TestVDB —— 四个核心结果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BBCCDD"/>
                </a:solidFill>
                <a:latin typeface="微软雅黑"/>
              </a:defRPr>
            </a:pPr>
            <a:r>
              <a:t>P20/20 收尾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D98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8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80160"/>
            <a:ext cx="9418320" cy="51597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