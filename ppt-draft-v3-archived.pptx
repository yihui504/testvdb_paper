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0" r:id="rId10"/>
    <p:sldId id="263" r:id="rId11"/>
    <p:sldId id="264" r:id="rId12"/>
    <p:sldId id="265" r:id="rId13"/>
    <p:sldId id="266" r:id="rId14"/>
    <p:sldId id="279" r:id="rId15"/>
    <p:sldId id="267" r:id="rId16"/>
    <p:sldId id="268" r:id="rId17"/>
    <p:sldId id="269" r:id="rId18"/>
    <p:sldId id="270" r:id="rId19"/>
    <p:sldId id="272" r:id="rId20"/>
    <p:sldId id="273" r:id="rId21"/>
    <p:sldId id="276" r:id="rId22"/>
    <p:sldId id="278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arxiv.org/abs/2506.0261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weaviate/weaviate/issues/11335" TargetMode="External"/><Relationship Id="rId3" Type="http://schemas.openxmlformats.org/officeDocument/2006/relationships/hyperlink" Target="https://github.com/weaviate/weaviate/issues/11401" TargetMode="External"/><Relationship Id="rId2" Type="http://schemas.openxmlformats.org/officeDocument/2006/relationships/hyperlink" Target="https://github.com/milvus-io/milvus/issues/49823" TargetMode="External"/><Relationship Id="rId1" Type="http://schemas.openxmlformats.org/officeDocument/2006/relationships/hyperlink" Target="https://github.com/qdrant/qdrant/issues/901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qdrant/qdrant/issues/9520" TargetMode="External"/><Relationship Id="rId1" Type="http://schemas.openxmlformats.org/officeDocument/2006/relationships/hyperlink" Target="https://github.com/qdrant/qdrant/issues/952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qdrant/qdrant/issues/8688" TargetMode="External"/><Relationship Id="rId1" Type="http://schemas.openxmlformats.org/officeDocument/2006/relationships/hyperlink" Target="https://github.com/milvus-io/milvus/issues/49059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76885" y="1275715"/>
            <a:ext cx="10972800" cy="1451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200" b="1">
                <a:solidFill>
                  <a:srgbClr val="1A1A1A"/>
                </a:solidFill>
                <a:latin typeface="Microsoft YaHei" panose="020B0503020204020204" charset="-122"/>
              </a:rPr>
              <a:t>TestVDB：通过 Contract-Truth </a:t>
            </a:r>
            <a:r>
              <a:rPr lang="zh-CN" sz="3200" b="1">
                <a:solidFill>
                  <a:srgbClr val="1A1A1A"/>
                </a:solidFill>
                <a:latin typeface="Microsoft YaHei" panose="020B0503020204020204" charset="-122"/>
              </a:rPr>
              <a:t>分层</a:t>
            </a:r>
            <a:r>
              <a:rPr lang="zh-CN" altLang="en-US" sz="3200" b="1">
                <a:solidFill>
                  <a:srgbClr val="1A1A1A"/>
                </a:solidFill>
                <a:latin typeface="Microsoft YaHei" panose="020B0503020204020204" charset="-122"/>
              </a:rPr>
              <a:t>的</a:t>
            </a:r>
            <a:endParaRPr lang="zh-CN" altLang="en-US" sz="3200" b="1">
              <a:solidFill>
                <a:srgbClr val="1A1A1A"/>
              </a:solidFill>
              <a:latin typeface="Microsoft YaHei" panose="020B0503020204020204" charset="-122"/>
            </a:endParaRPr>
          </a:p>
          <a:p>
            <a:pPr algn="ctr"/>
            <a:r>
              <a:rPr lang="zh-CN" altLang="en-US" sz="3200" b="1">
                <a:solidFill>
                  <a:srgbClr val="1A1A1A"/>
                </a:solidFill>
                <a:latin typeface="Microsoft YaHei" panose="020B0503020204020204" charset="-122"/>
              </a:rPr>
              <a:t>向量库 </a:t>
            </a:r>
            <a:r>
              <a:rPr lang="en-US" altLang="zh-CN" sz="3200" b="1">
                <a:solidFill>
                  <a:srgbClr val="1A1A1A"/>
                </a:solidFill>
                <a:latin typeface="Microsoft YaHei" panose="020B0503020204020204" charset="-122"/>
              </a:rPr>
              <a:t>API </a:t>
            </a:r>
            <a:r>
              <a:rPr lang="zh-CN" altLang="en-US" sz="3200" b="1">
                <a:solidFill>
                  <a:srgbClr val="1A1A1A"/>
                </a:solidFill>
                <a:latin typeface="Microsoft YaHei" panose="020B0503020204020204" charset="-122"/>
              </a:rPr>
              <a:t>合规缺陷挖掘</a:t>
            </a:r>
            <a:endParaRPr lang="zh-CN" altLang="en-US" sz="32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59930" y="38811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黄译辉</a:t>
            </a:r>
            <a:endParaRPr lang="zh-CN" altLang="en-US"/>
          </a:p>
          <a:p>
            <a:pPr algn="r"/>
            <a:endParaRPr lang="zh-CN" altLang="en-US"/>
          </a:p>
          <a:p>
            <a:pPr algn="r"/>
            <a:r>
              <a:rPr lang="en-US" altLang="zh-CN"/>
              <a:t>2026.7.7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背景 · 动机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向量数据库已成为承重 AI 基础设施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404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生成式 AI 爆发 → 向量库成为 LLM 应用的数据骨架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支撑语义检索、RAG、推荐、agentic 工作流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  <a:hlinkClick r:id="rId1" tooltip="" action="ppaction://hlinkfile"/>
              </a:rPr>
              <a:t>Toward Understanding Bugs in Vector Database Management Systems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实证：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15 个开源 VDBMS，2 年内 1671 个 bug-fix PR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主流系统：Milvus / Qdrant / Weaviate / Chroma 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背景 · 差异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VDBMS 与传统数据库的根本差异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1805" y="1614170"/>
            <a:ext cx="5621655" cy="44850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数据类型：结构化 → 高维向量（128-4096 维）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查询语义：精确匹配 → 近似最近邻（ANN）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算法特性：确定性 → 近似算法（结果可接受偏差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，且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具体容忍度随应用场景变化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状态管理：无状态 → 有状态（collection 生命周期）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错误诊断：明确错误 → 模糊"内部错误"常见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→ 传统 DB 测试方法不直接适用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pic>
        <p:nvPicPr>
          <p:cNvPr id="6" name="Picture 3" descr="db-di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305" y="1205230"/>
            <a:ext cx="5774690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566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问题定义 · Type 1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Type 1：API 合规缺陷（Illegal Success / Rejection）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16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Type 1 = 输入与 contract 不一致地被处理（两个方向）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方向 a · Illegal Success：非法输入被静默接受（应 4xx 但返 2xx）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hnsw_ef=0 (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1" tooltip="" action="ppaction://hlinkfile"/>
              </a:rPr>
              <a:t>Qdrant #9017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)、nprobe=0 (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2" tooltip="" action="ppaction://hlinkfile"/>
              </a:rPr>
              <a:t>Milvus #49823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)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replicationFactor=-1 被静默归一化 (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3" tooltip="" action="ppaction://hlinkfile"/>
              </a:rPr>
              <a:t>Weaviate #11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  <a:hlinkClick r:id="rId3" tooltip="" action="ppaction://hlinkfile"/>
              </a:rPr>
              <a:t>401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)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方向 b · Illegal Rejection：合法输入被拒（应 2xx 但返 4xx）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（当前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testvdb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未测）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TestVDB 决策树第 1 步检测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 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rejects valid multi-target targetVectors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（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  <a:hlinkClick r:id="rId4" tooltip="" action="ppaction://hlinkfile"/>
              </a:rPr>
              <a:t>Weaviate#11335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）</a:t>
            </a:r>
            <a:endParaRPr lang="en-US" altLang="zh-CN">
              <a:solidFill>
                <a:srgbClr val="1A1A1A"/>
              </a:solidFill>
              <a:latin typeface="Microsoft YaHei" panose="020B0503020204020204" charset="-122"/>
              <a:sym typeface="+mn-ea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危害：返回成功但语义 corrupt；只通过下游模型行为间接显现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在 1671 个 VDB bug 中占相当比例 [arXiv:2506.02617]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问题定义 · Type 2 / Type 3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Type 2 / Type 3：诊断不足 与 运行时崩溃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Type 2 · Poor Diagnostics：非法输入被正确拒绝（4xx/5xx）但错误差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3 分制 rubric（参数名 / 正确格式 / 可操作修复），&lt; 2 分即 Type 2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例：Qdrant serde 错误透出 Rust 内部类型名（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1" tooltip="" action="ppaction://hlinkfile"/>
              </a:rPr>
              <a:t>#9525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Type 3 · Runtime Failure：合法输入触发崩溃 / 500 / 异常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例：shard_number=INT_MAX 触发 Qdrant 崩溃（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2" tooltip="" action="ppaction://hlinkfile"/>
              </a:rPr>
              <a:t>#9520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</a:t>
            </a: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纯 PF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（脚本前置条件未满足）不是 DB bug，是脚本 bug</a:t>
            </a:r>
            <a:r>
              <a:rPr lang="zh-CN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，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sym typeface="+mn-ea"/>
              </a:rPr>
              <a:t>实测由 Dev-Reviewer 反证</a:t>
            </a:r>
            <a:endParaRPr sz="180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566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问题定义 · Type 4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Type 4：状态/逻辑违规（State/Logic Violation）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Type 4 = API 正确返回 200，但数据状态或语义结果不一致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例 a · 状态不一致：INSERT 3 rows 但 COUNT 返 2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例 b · 状态残留：DELETE collection 后 search 仍返回数据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例 c · 排序不一致：排序结果与向量距离不一致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案例：相同向量的 cosine 距离 &gt; 1.0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数学上不可能（cosine 距离 ∈ [0, 2]）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TestVDB 在 Milvus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1" tooltip="" action="ppaction://hlinkfile"/>
              </a:rPr>
              <a:t>#49059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（已修复）+ Qdrant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  <a:hlinkClick r:id="rId2" tooltip="" action="ppaction://hlinkfile"/>
              </a:rPr>
              <a:t>#8688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（已确认）发现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→ 结果"逻辑不一致"归 Type 4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Gap · 现有方法的真实局限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现有方法无法可靠检测此类</a:t>
            </a:r>
            <a:r>
              <a:rPr lang="en-US" sz="3000" b="1">
                <a:solidFill>
                  <a:srgbClr val="1A1A1A"/>
                </a:solidFill>
                <a:latin typeface="Microsoft YaHei" panose="020B0503020204020204" charset="-122"/>
              </a:rPr>
              <a:t>API</a:t>
            </a:r>
            <a:r>
              <a:rPr lang="zh-CN" altLang="en-US" sz="3000" b="1">
                <a:solidFill>
                  <a:srgbClr val="1A1A1A"/>
                </a:solidFill>
                <a:latin typeface="Microsoft YaHei" panose="020B0503020204020204" charset="-122"/>
              </a:rPr>
              <a:t>合规性</a:t>
            </a:r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缺陷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8965" y="1554480"/>
            <a:ext cx="10972800" cy="3943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NoREC / DQP / Radar：针对 SQL SELECT 优化 bug，要求等价 SQL 变换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  → VDBMS REST/gRPC 接口不暴露 SQL 形态，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难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适用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通用 fuzzing：产出语法非法输入，无 oracle 判断"应否被拒"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纯 LLM-as-oracle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（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极高的假阳性率）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：幻觉 + 缺版本上下文 + 无反证机制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Contract-based testing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（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vdbfuzz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使用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：把 contract 当真相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→ 但 contract 本身常含糊 / 不完整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/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依赖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contract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构建者自身认知（不一定与数据库开发者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一致）</a:t>
            </a:r>
            <a:endParaRPr lang="zh-CN" altLang="en-US"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ipeline-fu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2390" y="-168910"/>
            <a:ext cx="12191365" cy="6138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Insight · Part 1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Insight Part 1：断言层本身不可靠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4975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contract（文档）可能 不全、被误读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粗略统计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：~30% contract 层结论被维护者权威反标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Pipeline 内：11 次（BY_DESIGN + COVERED_BY_PR + KNOWN_OPEN）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提交层：12 次（维护者标 by-design）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合计 ~23 次反标 / ~70 个去重候选 ≈ 30%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→ LLM 对着错误 contract 判定，从构造上就是错的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→ 根因不在 LLM 本身，在 contract 与真相被混为一层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Insight · Part 2（核心）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Insight Part 2：Contract-Truth 分层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602740"/>
            <a:ext cx="10972800" cy="384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断言层（assertion）：contract / threat model / LLM 判定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真相层（truth）：维护者权威 — 源码 / PR / issue / by-design 注释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原则：用断言层生成候选，用真相层逐级反证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每层反证 = 独立的、可审计的、可证伪的机会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方法 · Overview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TestVDB 概述：四层反证 oracle 链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26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Threat Model → Attack Agents → 4-Judge 辩论 → Dev-Reviewer → Novelty Gate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3.2 Attack：用 Docker 实测反证 contract 断言（~1834 候选/库/run）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3.3 4-Judge：用四视角辩论反证完整性（→ ~33 Debate-Confirmed）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3.4 Dev-Reviewer：用源码 + 沙箱反证 Debate-Confirmed（→ ~4 confirmed）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3.5 Gate：用历史 + GitHub API 反证已知/by-design（→ NOVEL 子集）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方法 · §3.1 离线情报层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icrosoft YaHei" panose="020B0503020204020204" charset="-122"/>
              </a:rPr>
              <a:t>Offline Intelligence Layer（/mine + /intel + /contract）</a:t>
            </a:r>
            <a:endParaRPr sz="28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pic>
        <p:nvPicPr>
          <p:cNvPr id="4" name="Picture 3" descr="pipeline-off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0" y="1379220"/>
            <a:ext cx="9332595" cy="53670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1465" y="147955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方法 · §3.2-3.5 在线攻击 pipeline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1465" y="604520"/>
            <a:ext cx="44634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Microsoft YaHei" panose="020B0503020204020204" charset="-122"/>
              </a:rPr>
              <a:t>Online Attack Pipeline</a:t>
            </a:r>
            <a:endParaRPr sz="2800" b="1">
              <a:solidFill>
                <a:srgbClr val="1A1A1A"/>
              </a:solidFill>
              <a:latin typeface="Microsoft YaHei" panose="020B0503020204020204" charset="-122"/>
            </a:endParaRPr>
          </a:p>
          <a:p>
            <a:r>
              <a:rPr sz="2800" b="1">
                <a:solidFill>
                  <a:srgbClr val="1A1A1A"/>
                </a:solidFill>
                <a:latin typeface="Microsoft YaHei" panose="020B0503020204020204" charset="-122"/>
              </a:rPr>
              <a:t>（四层反证 oracle 链）</a:t>
            </a:r>
            <a:endParaRPr sz="28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pic>
        <p:nvPicPr>
          <p:cNvPr id="4" name="Picture 3" descr="pipeline-on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7075" y="147955"/>
            <a:ext cx="7654290" cy="66401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方法 · §3.3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4-Judge 多视角辩论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judge-evidence：响应是否真违反 contract（反证工具 bug）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judge-severity：违规严重性是否值得报告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judge-novelty：是否与已知重合（5 级标注，不 kill）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judge-doc：文档证据是否支撑 contract 断言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四视角独立投票 → Debate-Confirmed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注意：辩论层不反标 contract，只判断"是否被违反"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contract 反标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（标记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contract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特定条目为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contract_misread / contract_formalizer_hallucination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发生在 Dev-Reviewer 与 Gate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377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方法 · §3.4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Dev-Reviewer 反证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24635"/>
            <a:ext cx="11337925" cy="423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实测：独自剔除 80.6% 假阳性</a:t>
            </a:r>
            <a:br>
              <a:rPr sz="1800">
                <a:solidFill>
                  <a:srgbClr val="1A1A1A"/>
                </a:solidFill>
                <a:latin typeface="Microsoft YaHei" panose="020B0503020204020204" charset="-122"/>
              </a:rPr>
            </a:b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模拟目标 VDBMS 维护者，是"是否真缺陷"的唯一出口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四步反证流程：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1. 干净复现（重构最小脚本，反证 Attack 脚本工具 bug）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2. 假设审计（列隐含假设，逐一核对源码/文档）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3. 源码锚定（grep 关键函数，反证 already-fixed 或确认缺失）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4. Threat Model 核对（命中 by-design 即反证）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root_cause =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crosoft YaHei" panose="020B0503020204020204" charset="-122"/>
              </a:rPr>
              <a:t>assertion_depends_on_unrequested_field | contract_misread | approximate_by_design | env_noise | concurrency_race | eventual_consistency  | request_param_typo | mundane_api_semantics | non_deterministic_unreproducible</a:t>
            </a:r>
            <a:r>
              <a:rPr lang="zh-CN" altLang="en-US">
                <a:solidFill>
                  <a:schemeClr val="tx1"/>
                </a:solidFill>
                <a:latin typeface="Microsoft YaHei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回写到 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experience_handoff.json 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的 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rejection_patterns，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作为下轮 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attack agent 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改进断言质量的信号。</a:t>
            </a:r>
            <a:endParaRPr lang="zh-CN" altLang="en-US">
              <a:solidFill>
                <a:srgbClr val="1A1A1A"/>
              </a:solidFill>
              <a:latin typeface="Microsoft YaHei" panose="020B0503020204020204" charset="-122"/>
              <a:sym typeface="+mn-ea"/>
            </a:endParaRPr>
          </a:p>
          <a:p>
            <a:pPr indent="457200" algn="l"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方法 · §3.5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Novelty Gate 双层查重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404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L1 Consumer：Threat Model + 本地语料（含自家历史 issue 草稿）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L2 Corrector：GitHub Search API（精确到 PR / commit）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六级分级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NOVEL → 升级 Gate-Endorsed，进入可提交列表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KNOWN_OPEN / COVERED_BY_PR → 内部存档，不提交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•   BY_DESIGN →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内部存档不提交（与 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KNOWN_OPEN / COVERED_BY_PR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同级）</a:t>
            </a:r>
            <a:endParaRPr lang="zh-CN" altLang="en-US"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POSSIBLY_FIXED → 进 Dev-Reviewer 重测队列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UNVERIFIED → 不背书但不 kill（fail-closed 不丢数据）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Gate 不产生提交许可 — 提交始终人工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评估 · RQ 集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研究问题（RQ Overview）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12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RQ1（能力）：TestVDB 能否发现真实向量库合规缺陷？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RQ2（insight 验证）：Contract-Truth 分层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是否有效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？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RQ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3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（对比）：现有方法能发现这些缺陷吗？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评估 · RQ1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RQ1：缺陷检测能力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827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提交 1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10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个 issue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，（</a:t>
            </a: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Milvus </a:t>
            </a:r>
            <a:r>
              <a:rPr 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51</a:t>
            </a: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/ Qdrant 26 / Weaviate 29 / Meilisearch 3 / Chroma 1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 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维护者明确承认 3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3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个（2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5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fixed + 8 accepted）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12 个被标 by-design（实证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单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contract 不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够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可靠）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4 个 wontfix / not_planned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评估 · RQ2（insight 验证）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RQ2：</a:t>
            </a:r>
            <a:r>
              <a:rPr sz="3000" b="1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Contract-Truth 分层</a:t>
            </a:r>
            <a:r>
              <a:rPr lang="zh-CN" sz="3000" b="1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是否有效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64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纯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contract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产出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issue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被拒绝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12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次（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wont fix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by_design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documented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endParaRPr lang="en-US" altLang="zh-CN"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</a:t>
            </a:r>
            <a:r>
              <a:rPr 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但</a:t>
            </a: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Contract-Truth 分层</a:t>
            </a:r>
            <a:r>
              <a:rPr 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后，其去除假阳性能力还没被量化评估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BY_DESIGN 案例：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Milvus #47767：empty query vector accepted（实为 documented 行为）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Milvus #49928：maxDimension=32768（实为文档化上限）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5811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评估 · RQ</a:t>
            </a:r>
            <a:r>
              <a:rPr lang="en-US" sz="1200" b="1">
                <a:solidFill>
                  <a:srgbClr val="C0392B"/>
                </a:solidFill>
                <a:latin typeface="Microsoft YaHei" panose="020B0503020204020204" charset="-122"/>
              </a:rPr>
              <a:t>3</a:t>
            </a:r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（对比）</a:t>
            </a:r>
            <a:endParaRPr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RQ</a:t>
            </a:r>
            <a:r>
              <a:rPr lang="en-US" sz="3000" b="1">
                <a:solidFill>
                  <a:srgbClr val="1A1A1A"/>
                </a:solidFill>
                <a:latin typeface="Microsoft YaHei" panose="020B0503020204020204" charset="-122"/>
              </a:rPr>
              <a:t>3</a:t>
            </a:r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：对比现有方法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16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NoREC / DQP / Radar：针对 SQL SELECT，结构上不适用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纯 LLM-as-oracle = TestVDB 去掉 truth layer= Stage 2 单层 precision = 12.9%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 → 不可接受（每 10 个判定 8.7 个错）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传统 fuzzing：无 contract 理解，无 oracle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既有 VDB benchmark（vector-db-benchmark 等）：测性能不测正确性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</a:t>
            </a:r>
            <a:r>
              <a:rPr 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VDBFuzz: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纯手写</a:t>
            </a:r>
            <a:r>
              <a:rPr 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contract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，无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llm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的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fuzz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，其代码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4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个月前刚刚开源，还没看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8895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Microsoft YaHei" panose="020B0503020204020204" charset="-122"/>
              </a:rPr>
              <a:t>结</a:t>
            </a:r>
            <a:r>
              <a:rPr lang="zh-CN" sz="1200" b="1">
                <a:solidFill>
                  <a:srgbClr val="C0392B"/>
                </a:solidFill>
                <a:latin typeface="Microsoft YaHei" panose="020B0503020204020204" charset="-122"/>
              </a:rPr>
              <a:t>尾</a:t>
            </a:r>
            <a:endParaRPr lang="zh-CN" sz="1200" b="1">
              <a:solidFill>
                <a:srgbClr val="C0392B"/>
              </a:solidFill>
              <a:latin typeface="Microsoft YaHei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3000" b="1">
                <a:solidFill>
                  <a:srgbClr val="1A1A1A"/>
                </a:solidFill>
                <a:latin typeface="Microsoft YaHei" panose="020B0503020204020204" charset="-122"/>
              </a:rPr>
              <a:t>小</a:t>
            </a:r>
            <a:r>
              <a:rPr sz="3000" b="1">
                <a:solidFill>
                  <a:srgbClr val="1A1A1A"/>
                </a:solidFill>
                <a:latin typeface="Microsoft YaHei" panose="020B0503020204020204" charset="-122"/>
              </a:rPr>
              <a:t>结</a:t>
            </a:r>
            <a:endParaRPr sz="3000" b="1">
              <a:solidFill>
                <a:srgbClr val="1A1A1A"/>
              </a:solidFill>
              <a:latin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主张：Contract-Truth separation 是向量库合规测试的可信 oracle 设计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把断言与真相分层，让每层都成为反证机会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Dev-Reviewer 用维护者权威反证，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有效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剔除假阳性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贡献：理论（四型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缺陷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分类 + 双层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反证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方法论（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Contract-Truth separation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原则）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技术（4 层链）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有效增量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（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历史驱动 </a:t>
            </a:r>
            <a:r>
              <a:rPr lang="en-US" altLang="zh-CN" sz="1800">
                <a:solidFill>
                  <a:srgbClr val="1A1A1A"/>
                </a:solidFill>
                <a:latin typeface="Microsoft YaHei" panose="020B0503020204020204" charset="-122"/>
              </a:rPr>
              <a:t>Threat Model + </a:t>
            </a:r>
            <a:r>
              <a:rPr lang="zh-CN" altLang="en-US" sz="1800">
                <a:solidFill>
                  <a:srgbClr val="1A1A1A"/>
                </a:solidFill>
                <a:latin typeface="Microsoft YaHei" panose="020B0503020204020204" charset="-122"/>
              </a:rPr>
              <a:t>认知盲点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实证（</a:t>
            </a:r>
            <a:r>
              <a:rPr lang="en-US" sz="1800">
                <a:solidFill>
                  <a:srgbClr val="1A1A1A"/>
                </a:solidFill>
                <a:latin typeface="Microsoft YaHei" panose="020B0503020204020204" charset="-122"/>
              </a:rPr>
              <a:t>32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缺陷）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、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 工程（开源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插件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接下来做什么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：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  </a:t>
            </a:r>
            <a:r>
              <a:rPr 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实验怎么设计？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•   Type-4 语义（</a:t>
            </a:r>
            <a:r>
              <a:rPr lang="zh-CN" sz="1800">
                <a:solidFill>
                  <a:srgbClr val="1A1A1A"/>
                </a:solidFill>
                <a:latin typeface="Microsoft YaHei" panose="020B0503020204020204" charset="-122"/>
              </a:rPr>
              <a:t>没有显著的成果</a:t>
            </a:r>
            <a:r>
              <a:rPr sz="1800">
                <a:solidFill>
                  <a:srgbClr val="1A1A1A"/>
                </a:solidFill>
                <a:latin typeface="Microsoft YaHei" panose="020B0503020204020204" charset="-122"/>
              </a:rPr>
              <a:t>）</a:t>
            </a:r>
            <a:endParaRPr sz="1800">
              <a:solidFill>
                <a:srgbClr val="1A1A1A"/>
              </a:solidFill>
              <a:latin typeface="Microsoft YaHei" panose="020B0503020204020204" charset="-122"/>
            </a:endParaRPr>
          </a:p>
          <a:p>
            <a:pPr indent="457200"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 </a:t>
            </a:r>
            <a:r>
              <a:rPr 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统计已确认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issue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的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缺陷分类</a:t>
            </a:r>
            <a:endParaRPr lang="zh-CN" altLang="en-US">
              <a:solidFill>
                <a:srgbClr val="1A1A1A"/>
              </a:solidFill>
              <a:latin typeface="Microsoft YaHei" panose="020B0503020204020204" charset="-122"/>
              <a:sym typeface="+mn-ea"/>
            </a:endParaRPr>
          </a:p>
          <a:p>
            <a:pPr indent="457200">
              <a:spcAft>
                <a:spcPts val="800"/>
              </a:spcAft>
            </a:pPr>
            <a:r>
              <a:rPr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•  </a:t>
            </a:r>
            <a:r>
              <a:rPr 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分析并尝试</a:t>
            </a:r>
            <a:r>
              <a:rPr 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部署运行</a:t>
            </a:r>
            <a:r>
              <a:rPr lang="en-US" altLang="zh-CN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vdbfuzz</a:t>
            </a:r>
            <a:r>
              <a:rPr lang="zh-CN" altLang="en-US">
                <a:solidFill>
                  <a:srgbClr val="1A1A1A"/>
                </a:solidFill>
                <a:latin typeface="Microsoft YaHei" panose="020B0503020204020204" charset="-122"/>
                <a:sym typeface="+mn-ea"/>
              </a:rPr>
              <a:t>源码</a:t>
            </a:r>
            <a:endParaRPr lang="zh-CN" altLang="en-US">
              <a:solidFill>
                <a:srgbClr val="1A1A1A"/>
              </a:solidFill>
              <a:latin typeface="Microsoft YaHei" panose="020B0503020204020204" charset="-122"/>
              <a:sym typeface="+mn-ea"/>
            </a:endParaRPr>
          </a:p>
          <a:p>
            <a:pPr indent="457200">
              <a:spcAft>
                <a:spcPts val="800"/>
              </a:spcAft>
            </a:pPr>
            <a:endParaRPr lang="zh-CN" altLang="en-US">
              <a:solidFill>
                <a:srgbClr val="1A1A1A"/>
              </a:solidFill>
              <a:latin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5307</Words>
  <Application>WPS 演示</Application>
  <PresentationFormat>On-screen Show (4:3)</PresentationFormat>
  <Paragraphs>251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Arial</vt:lpstr>
      <vt:lpstr>Microsoft YaHei</vt:lpstr>
      <vt:lpstr>Calibri</vt:lpstr>
      <vt:lpstr>Arial Unicode MS</vt:lpstr>
      <vt:lpstr>Microsoft YaHei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Ratio</cp:lastModifiedBy>
  <cp:revision>8</cp:revision>
  <dcterms:created xsi:type="dcterms:W3CDTF">2013-01-27T09:14:00Z</dcterms:created>
  <dcterms:modified xsi:type="dcterms:W3CDTF">2026-07-07T07:13:01Z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0ACC67D7A95849B4B16682E86032B825_12</vt:lpwstr>
  </property>
</Properties>
</file>