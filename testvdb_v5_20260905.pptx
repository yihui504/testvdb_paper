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media/image106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1.svg" ContentType="image/svg+xml"/>
  <Override PartName="/ppt/media/image62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8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4.svg" ContentType="image/svg+xml"/>
  <Override PartName="/ppt/media/image76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webExtension1.xml" ContentType="application/vnd.wps-officedocument.webExtensio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1"/>
  </p:handoutMasterIdLst>
  <p:sldIdLst>
    <p:sldId id="257" r:id="rId3"/>
    <p:sldId id="1671" r:id="rId5"/>
    <p:sldId id="1685" r:id="rId6"/>
    <p:sldId id="1603" r:id="rId7"/>
    <p:sldId id="1683" r:id="rId8"/>
    <p:sldId id="1682" r:id="rId9"/>
    <p:sldId id="1684" r:id="rId10"/>
    <p:sldId id="1672" r:id="rId11"/>
    <p:sldId id="1674" r:id="rId12"/>
    <p:sldId id="1687" r:id="rId13"/>
    <p:sldId id="1688" r:id="rId14"/>
    <p:sldId id="1701" r:id="rId15"/>
    <p:sldId id="1703" r:id="rId16"/>
    <p:sldId id="1702" r:id="rId17"/>
    <p:sldId id="1690" r:id="rId18"/>
    <p:sldId id="1740" r:id="rId19"/>
    <p:sldId id="1704" r:id="rId20"/>
    <p:sldId id="1734" r:id="rId21"/>
    <p:sldId id="1675" r:id="rId22"/>
    <p:sldId id="1691" r:id="rId23"/>
    <p:sldId id="1707" r:id="rId24"/>
    <p:sldId id="1739" r:id="rId25"/>
    <p:sldId id="1731" r:id="rId26"/>
    <p:sldId id="1712" r:id="rId27"/>
    <p:sldId id="1713" r:id="rId28"/>
    <p:sldId id="1714" r:id="rId29"/>
    <p:sldId id="1735" r:id="rId30"/>
    <p:sldId id="1676" r:id="rId31"/>
    <p:sldId id="1692" r:id="rId32"/>
    <p:sldId id="1736" r:id="rId33"/>
    <p:sldId id="1677" r:id="rId34"/>
    <p:sldId id="1641" r:id="rId35"/>
    <p:sldId id="1715" r:id="rId36"/>
    <p:sldId id="1718" r:id="rId37"/>
    <p:sldId id="1716" r:id="rId38"/>
    <p:sldId id="1737" r:id="rId39"/>
    <p:sldId id="1678" r:id="rId40"/>
    <p:sldId id="1680" r:id="rId41"/>
    <p:sldId id="1670" r:id="rId42"/>
    <p:sldId id="1720" r:id="rId43"/>
    <p:sldId id="1721" r:id="rId44"/>
    <p:sldId id="1722" r:id="rId45"/>
    <p:sldId id="1723" r:id="rId46"/>
    <p:sldId id="1719" r:id="rId47"/>
    <p:sldId id="1681" r:id="rId48"/>
    <p:sldId id="1700" r:id="rId49"/>
    <p:sldId id="1634" r:id="rId50"/>
  </p:sldIdLst>
  <p:sldSz cx="12192000" cy="6858000"/>
  <p:notesSz cx="6858000" cy="9144000"/>
  <p:custDataLst>
    <p:tags r:id="rId5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fef4b316-ed89-441a-9814-4960af9721f8}">
          <p14:sldIdLst>
            <p14:sldId id="257"/>
          </p14:sldIdLst>
        </p14:section>
        <p14:section name="Background" id="{cf5c8e1d-d87d-45d8-80f4-930d29565566}">
          <p14:sldIdLst>
            <p14:sldId id="1671"/>
            <p14:sldId id="1685"/>
            <p14:sldId id="1603"/>
            <p14:sldId id="1683"/>
            <p14:sldId id="1682"/>
            <p14:sldId id="1684"/>
          </p14:sldIdLst>
        </p14:section>
        <p14:section name="Approach" id="{7421b5e1-6752-4fbb-8f76-9a7a7a7d95ac}">
          <p14:sldIdLst>
            <p14:sldId id="1672"/>
            <p14:sldId id="1674"/>
            <p14:sldId id="1687"/>
            <p14:sldId id="1688"/>
            <p14:sldId id="1701"/>
            <p14:sldId id="1703"/>
            <p14:sldId id="1702"/>
            <p14:sldId id="1690"/>
            <p14:sldId id="1740"/>
            <p14:sldId id="1704"/>
            <p14:sldId id="1734"/>
            <p14:sldId id="1675"/>
            <p14:sldId id="1691"/>
            <p14:sldId id="1707"/>
            <p14:sldId id="1739"/>
            <p14:sldId id="1731"/>
            <p14:sldId id="1712"/>
            <p14:sldId id="1713"/>
            <p14:sldId id="1714"/>
            <p14:sldId id="1735"/>
            <p14:sldId id="1676"/>
            <p14:sldId id="1692"/>
            <p14:sldId id="1736"/>
            <p14:sldId id="1677"/>
            <p14:sldId id="1641"/>
            <p14:sldId id="1715"/>
            <p14:sldId id="1718"/>
            <p14:sldId id="1716"/>
            <p14:sldId id="1737"/>
          </p14:sldIdLst>
        </p14:section>
        <p14:section name="Evaluation" id="{8825967f-3848-405a-8b67-39765f8fb698}">
          <p14:sldIdLst>
            <p14:sldId id="1678"/>
            <p14:sldId id="1680"/>
            <p14:sldId id="1670"/>
            <p14:sldId id="1720"/>
            <p14:sldId id="1721"/>
            <p14:sldId id="1722"/>
            <p14:sldId id="1723"/>
            <p14:sldId id="1719"/>
            <p14:sldId id="1681"/>
            <p14:sldId id="1700"/>
            <p14:sldId id="16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18" userDrawn="1">
          <p15:clr>
            <a:srgbClr val="A4A3A4"/>
          </p15:clr>
        </p15:guide>
        <p15:guide id="2" pos="394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n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A8F"/>
    <a:srgbClr val="000000"/>
    <a:srgbClr val="0A4A94"/>
    <a:srgbClr val="0062DD"/>
    <a:srgbClr val="006DE2"/>
    <a:srgbClr val="FF0000"/>
    <a:srgbClr val="AA5D07"/>
    <a:srgbClr val="D2DDF5"/>
    <a:srgbClr val="00ABD7"/>
    <a:srgbClr val="DB38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AD3BE4B-A6D7-48CB-9B43-7D7AF80F7AFF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  <a:tblStyle styleId="{7BA7714E-D7FD-4C82-9671-EAE3478D38F4}" styleName="表样式 1 14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4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2E476ED-E556-45B5-8BDD-68916C002191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5">
              <a:lumMod val="40000"/>
              <a:lumOff val="60000"/>
              <a:alpha val="25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/>
              </a:solidFill>
              <a:prstDash val="solid"/>
            </a:ln>
          </a:top>
          <a:bottom>
            <a:ln w="9525" cmpd="sng">
              <a:solidFill>
                <a:schemeClr val="accent5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49217015-400D-4278-81E5-65789FCF5C13}" styleName="表样式 1 25 3 2 3 2">
    <a:wholeTbl>
      <a:tcTxStyle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5">
                  <a:lumMod val="80000"/>
                  <a:lumOff val="2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5">
                  <a:lumMod val="80000"/>
                  <a:lumOff val="20000"/>
                </a:schemeClr>
              </a:solidFill>
              <a:prstDash val="solid"/>
            </a:ln>
          </a:insideV>
        </a:tcBdr>
        <a:fill>
          <a:solidFill>
            <a:schemeClr val="accent5">
              <a:lumMod val="98000"/>
            </a:schemeClr>
          </a:solidFill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top>
          <a:bottom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bottom>
          <a:insideH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98000"/>
            </a:schemeClr>
          </a:solidFill>
        </a:fill>
      </a:tcStyle>
    </a:band1H>
    <a:band2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top>
          <a:bottom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bottom>
          <a:insideH>
            <a:ln w="9525" cmpd="sng">
              <a:solidFill>
                <a:schemeClr val="accent5">
                  <a:lumMod val="75000"/>
                  <a:lumOff val="25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90000"/>
            </a:schemeClr>
          </a:solidFill>
        </a:fill>
      </a:tcStyle>
    </a:band2H>
    <a:band1V>
      <a:tcTxStyle>
        <a:fontRef idx="none">
          <a:srgbClr val="FFFFFF"/>
        </a:fontRef>
      </a:tcTxStyle>
      <a:tcStyle>
        <a:tcBdr/>
        <a:fill>
          <a:solidFill>
            <a:schemeClr val="accent5">
              <a:lumMod val="90000"/>
            </a:schemeClr>
          </a:solidFill>
        </a:fill>
      </a:tcStyle>
    </a:band1V>
    <a:band2V>
      <a:tcStyle>
        <a:tcBdr/>
        <a:fill>
          <a:solidFill>
            <a:schemeClr val="accent5">
              <a:lumMod val="98000"/>
            </a:schemeClr>
          </a:solidFill>
        </a:fill>
      </a:tcStyle>
    </a:band2V>
    <a:lastCol>
      <a:tcTxStyle b="on">
        <a:fontRef idx="none">
          <a:srgbClr val="FFFFFF"/>
        </a:fontRef>
      </a:tcTxStyle>
      <a:tcStyle>
        <a:tcBdr/>
        <a:fill>
          <a:solidFill>
            <a:schemeClr val="accent5">
              <a:lumMod val="87000"/>
            </a:schemeClr>
          </a:solidFill>
        </a:fill>
      </a:tcStyle>
    </a:lastCol>
    <a:firstCol>
      <a:tcTxStyle b="on">
        <a:fontRef idx="none">
          <a:srgbClr val="FFFFFF"/>
        </a:fontRef>
      </a:tcTxStyle>
      <a:tcStyle>
        <a:tcBdr/>
        <a:fill>
          <a:solidFill>
            <a:schemeClr val="accent5">
              <a:lumMod val="87000"/>
            </a:schemeClr>
          </a:solidFill>
        </a:fill>
      </a:tcStyle>
    </a:firstCol>
    <a:la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5">
                  <a:lumMod val="10000"/>
                  <a:lumOff val="90000"/>
                </a:schemeClr>
              </a:solidFill>
              <a:prstDash val="solid"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65000"/>
            </a:schemeClr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9050" cmpd="sng">
              <a:solidFill>
                <a:schemeClr val="accent5">
                  <a:lumMod val="10000"/>
                  <a:lumOff val="9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lumMod val="65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7825" autoAdjust="0"/>
  </p:normalViewPr>
  <p:slideViewPr>
    <p:cSldViewPr snapToGrid="0" showGuides="1">
      <p:cViewPr varScale="1">
        <p:scale>
          <a:sx n="91" d="100"/>
          <a:sy n="91" d="100"/>
        </p:scale>
        <p:origin x="432" y="57"/>
      </p:cViewPr>
      <p:guideLst>
        <p:guide orient="horz" pos="2718"/>
        <p:guide pos="39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tags" Target="tags/tag521.xml"/><Relationship Id="rId55" Type="http://schemas.openxmlformats.org/officeDocument/2006/relationships/commentAuthors" Target="commentAuthors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tags" Target="../tags/tag7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80.xml"/><Relationship Id="rId3" Type="http://schemas.openxmlformats.org/officeDocument/2006/relationships/tags" Target="../tags/tag71.xml"/><Relationship Id="rId29" Type="http://schemas.openxmlformats.org/officeDocument/2006/relationships/image" Target="../media/image28.svg"/><Relationship Id="rId28" Type="http://schemas.openxmlformats.org/officeDocument/2006/relationships/image" Target="../media/image27.png"/><Relationship Id="rId27" Type="http://schemas.openxmlformats.org/officeDocument/2006/relationships/tags" Target="../tags/tag79.xml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tags" Target="../tags/tag78.xml"/><Relationship Id="rId23" Type="http://schemas.openxmlformats.org/officeDocument/2006/relationships/image" Target="../media/image24.svg"/><Relationship Id="rId22" Type="http://schemas.openxmlformats.org/officeDocument/2006/relationships/image" Target="../media/image23.png"/><Relationship Id="rId21" Type="http://schemas.openxmlformats.org/officeDocument/2006/relationships/tags" Target="../tags/tag77.xml"/><Relationship Id="rId20" Type="http://schemas.openxmlformats.org/officeDocument/2006/relationships/image" Target="../media/image22.svg"/><Relationship Id="rId2" Type="http://schemas.openxmlformats.org/officeDocument/2006/relationships/tags" Target="../tags/tag70.xml"/><Relationship Id="rId19" Type="http://schemas.openxmlformats.org/officeDocument/2006/relationships/image" Target="../media/image21.png"/><Relationship Id="rId18" Type="http://schemas.openxmlformats.org/officeDocument/2006/relationships/tags" Target="../tags/tag76.xml"/><Relationship Id="rId17" Type="http://schemas.openxmlformats.org/officeDocument/2006/relationships/image" Target="../media/image20.svg"/><Relationship Id="rId16" Type="http://schemas.openxmlformats.org/officeDocument/2006/relationships/image" Target="../media/image19.png"/><Relationship Id="rId15" Type="http://schemas.openxmlformats.org/officeDocument/2006/relationships/tags" Target="../tags/tag75.xml"/><Relationship Id="rId14" Type="http://schemas.openxmlformats.org/officeDocument/2006/relationships/image" Target="../media/image18.svg"/><Relationship Id="rId13" Type="http://schemas.openxmlformats.org/officeDocument/2006/relationships/image" Target="../media/image17.png"/><Relationship Id="rId12" Type="http://schemas.openxmlformats.org/officeDocument/2006/relationships/tags" Target="../tags/tag74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png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85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7.svg"/><Relationship Id="rId2" Type="http://schemas.openxmlformats.org/officeDocument/2006/relationships/tags" Target="../tags/tag84.xml"/><Relationship Id="rId19" Type="http://schemas.openxmlformats.org/officeDocument/2006/relationships/image" Target="../media/image36.png"/><Relationship Id="rId18" Type="http://schemas.openxmlformats.org/officeDocument/2006/relationships/tags" Target="../tags/tag92.xml"/><Relationship Id="rId17" Type="http://schemas.openxmlformats.org/officeDocument/2006/relationships/image" Target="../media/image22.svg"/><Relationship Id="rId16" Type="http://schemas.openxmlformats.org/officeDocument/2006/relationships/image" Target="../media/image21.png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tags" Target="../tags/tag88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7" Type="http://schemas.openxmlformats.org/officeDocument/2006/relationships/notesSlide" Target="../notesSlides/notesSlide8.x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20.svg"/><Relationship Id="rId34" Type="http://schemas.openxmlformats.org/officeDocument/2006/relationships/image" Target="../media/image19.png"/><Relationship Id="rId33" Type="http://schemas.openxmlformats.org/officeDocument/2006/relationships/tags" Target="../tags/tag117.xml"/><Relationship Id="rId32" Type="http://schemas.openxmlformats.org/officeDocument/2006/relationships/tags" Target="../tags/tag116.xml"/><Relationship Id="rId31" Type="http://schemas.openxmlformats.org/officeDocument/2006/relationships/tags" Target="../tags/tag115.xml"/><Relationship Id="rId30" Type="http://schemas.openxmlformats.org/officeDocument/2006/relationships/tags" Target="../tags/tag114.xml"/><Relationship Id="rId3" Type="http://schemas.openxmlformats.org/officeDocument/2006/relationships/tags" Target="../tags/tag95.xml"/><Relationship Id="rId29" Type="http://schemas.openxmlformats.org/officeDocument/2006/relationships/tags" Target="../tags/tag113.xml"/><Relationship Id="rId28" Type="http://schemas.openxmlformats.org/officeDocument/2006/relationships/image" Target="../media/image22.svg"/><Relationship Id="rId27" Type="http://schemas.openxmlformats.org/officeDocument/2006/relationships/image" Target="../media/image21.png"/><Relationship Id="rId26" Type="http://schemas.openxmlformats.org/officeDocument/2006/relationships/tags" Target="../tags/tag112.xml"/><Relationship Id="rId25" Type="http://schemas.openxmlformats.org/officeDocument/2006/relationships/tags" Target="../tags/tag111.xml"/><Relationship Id="rId24" Type="http://schemas.openxmlformats.org/officeDocument/2006/relationships/tags" Target="../tags/tag110.xml"/><Relationship Id="rId23" Type="http://schemas.openxmlformats.org/officeDocument/2006/relationships/image" Target="../media/image43.svg"/><Relationship Id="rId22" Type="http://schemas.openxmlformats.org/officeDocument/2006/relationships/image" Target="../media/image42.png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4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image" Target="../media/image41.svg"/><Relationship Id="rId15" Type="http://schemas.openxmlformats.org/officeDocument/2006/relationships/image" Target="../media/image40.png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tags" Target="../tags/tag121.xml"/><Relationship Id="rId52" Type="http://schemas.openxmlformats.org/officeDocument/2006/relationships/notesSlide" Target="../notesSlides/notesSlide9.xml"/><Relationship Id="rId51" Type="http://schemas.openxmlformats.org/officeDocument/2006/relationships/slideLayout" Target="../slideLayouts/slideLayout2.xml"/><Relationship Id="rId50" Type="http://schemas.openxmlformats.org/officeDocument/2006/relationships/tags" Target="../tags/tag143.xml"/><Relationship Id="rId5" Type="http://schemas.openxmlformats.org/officeDocument/2006/relationships/image" Target="../media/image12.svg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image" Target="../media/image28.svg"/><Relationship Id="rId46" Type="http://schemas.openxmlformats.org/officeDocument/2006/relationships/image" Target="../media/image50.png"/><Relationship Id="rId45" Type="http://schemas.openxmlformats.org/officeDocument/2006/relationships/tags" Target="../tags/tag140.xml"/><Relationship Id="rId44" Type="http://schemas.openxmlformats.org/officeDocument/2006/relationships/image" Target="../media/image26.svg"/><Relationship Id="rId43" Type="http://schemas.openxmlformats.org/officeDocument/2006/relationships/image" Target="../media/image49.png"/><Relationship Id="rId42" Type="http://schemas.openxmlformats.org/officeDocument/2006/relationships/tags" Target="../tags/tag139.xml"/><Relationship Id="rId41" Type="http://schemas.openxmlformats.org/officeDocument/2006/relationships/image" Target="../media/image24.svg"/><Relationship Id="rId40" Type="http://schemas.openxmlformats.org/officeDocument/2006/relationships/image" Target="../media/image48.png"/><Relationship Id="rId4" Type="http://schemas.openxmlformats.org/officeDocument/2006/relationships/image" Target="../media/image11.png"/><Relationship Id="rId39" Type="http://schemas.openxmlformats.org/officeDocument/2006/relationships/tags" Target="../tags/tag138.xml"/><Relationship Id="rId38" Type="http://schemas.openxmlformats.org/officeDocument/2006/relationships/image" Target="../media/image22.svg"/><Relationship Id="rId37" Type="http://schemas.openxmlformats.org/officeDocument/2006/relationships/image" Target="../media/image21.png"/><Relationship Id="rId36" Type="http://schemas.openxmlformats.org/officeDocument/2006/relationships/tags" Target="../tags/tag137.xml"/><Relationship Id="rId35" Type="http://schemas.openxmlformats.org/officeDocument/2006/relationships/image" Target="../media/image20.svg"/><Relationship Id="rId34" Type="http://schemas.openxmlformats.org/officeDocument/2006/relationships/image" Target="../media/image19.png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20.xml"/><Relationship Id="rId29" Type="http://schemas.openxmlformats.org/officeDocument/2006/relationships/tags" Target="../tags/tag132.xml"/><Relationship Id="rId28" Type="http://schemas.openxmlformats.org/officeDocument/2006/relationships/image" Target="../media/image18.svg"/><Relationship Id="rId27" Type="http://schemas.openxmlformats.org/officeDocument/2006/relationships/image" Target="../media/image17.png"/><Relationship Id="rId26" Type="http://schemas.openxmlformats.org/officeDocument/2006/relationships/tags" Target="../tags/tag131.xml"/><Relationship Id="rId25" Type="http://schemas.openxmlformats.org/officeDocument/2006/relationships/image" Target="../media/image16.svg"/><Relationship Id="rId24" Type="http://schemas.openxmlformats.org/officeDocument/2006/relationships/image" Target="../media/image47.png"/><Relationship Id="rId23" Type="http://schemas.openxmlformats.org/officeDocument/2006/relationships/tags" Target="../tags/tag130.xml"/><Relationship Id="rId22" Type="http://schemas.openxmlformats.org/officeDocument/2006/relationships/image" Target="../media/image14.svg"/><Relationship Id="rId21" Type="http://schemas.openxmlformats.org/officeDocument/2006/relationships/image" Target="../media/image46.png"/><Relationship Id="rId20" Type="http://schemas.openxmlformats.org/officeDocument/2006/relationships/tags" Target="../tags/tag129.xml"/><Relationship Id="rId2" Type="http://schemas.openxmlformats.org/officeDocument/2006/relationships/tags" Target="../tags/tag119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image" Target="../media/image35.svg"/><Relationship Id="rId15" Type="http://schemas.openxmlformats.org/officeDocument/2006/relationships/image" Target="../media/image34.png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3.png"/><Relationship Id="rId12" Type="http://schemas.openxmlformats.org/officeDocument/2006/relationships/image" Target="../media/image52.svg"/><Relationship Id="rId11" Type="http://schemas.openxmlformats.org/officeDocument/2006/relationships/image" Target="../media/image51.png"/><Relationship Id="rId10" Type="http://schemas.openxmlformats.org/officeDocument/2006/relationships/tags" Target="../tags/tag151.xml"/><Relationship Id="rId1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image" Target="../media/image54.svg"/><Relationship Id="rId5" Type="http://schemas.openxmlformats.org/officeDocument/2006/relationships/image" Target="../media/image38.png"/><Relationship Id="rId4" Type="http://schemas.openxmlformats.org/officeDocument/2006/relationships/tags" Target="../tags/tag155.xml"/><Relationship Id="rId30" Type="http://schemas.openxmlformats.org/officeDocument/2006/relationships/notesSlide" Target="../notesSlides/notesSlide11.xml"/><Relationship Id="rId3" Type="http://schemas.openxmlformats.org/officeDocument/2006/relationships/tags" Target="../tags/tag154.xml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60.png"/><Relationship Id="rId27" Type="http://schemas.openxmlformats.org/officeDocument/2006/relationships/tags" Target="../tags/tag171.xml"/><Relationship Id="rId26" Type="http://schemas.openxmlformats.org/officeDocument/2006/relationships/tags" Target="../tags/tag170.xml"/><Relationship Id="rId25" Type="http://schemas.openxmlformats.org/officeDocument/2006/relationships/tags" Target="../tags/tag169.xml"/><Relationship Id="rId24" Type="http://schemas.openxmlformats.org/officeDocument/2006/relationships/image" Target="../media/image59.png"/><Relationship Id="rId23" Type="http://schemas.openxmlformats.org/officeDocument/2006/relationships/tags" Target="../tags/tag168.xml"/><Relationship Id="rId22" Type="http://schemas.openxmlformats.org/officeDocument/2006/relationships/tags" Target="../tags/tag167.xml"/><Relationship Id="rId21" Type="http://schemas.openxmlformats.org/officeDocument/2006/relationships/tags" Target="../tags/tag166.xml"/><Relationship Id="rId20" Type="http://schemas.openxmlformats.org/officeDocument/2006/relationships/tags" Target="../tags/tag165.xml"/><Relationship Id="rId2" Type="http://schemas.openxmlformats.org/officeDocument/2006/relationships/tags" Target="../tags/tag153.xml"/><Relationship Id="rId19" Type="http://schemas.openxmlformats.org/officeDocument/2006/relationships/tags" Target="../tags/tag164.xml"/><Relationship Id="rId18" Type="http://schemas.openxmlformats.org/officeDocument/2006/relationships/tags" Target="../tags/tag163.xml"/><Relationship Id="rId17" Type="http://schemas.openxmlformats.org/officeDocument/2006/relationships/image" Target="../media/image58.svg"/><Relationship Id="rId16" Type="http://schemas.openxmlformats.org/officeDocument/2006/relationships/image" Target="../media/image57.png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image" Target="../media/image56.svg"/><Relationship Id="rId11" Type="http://schemas.openxmlformats.org/officeDocument/2006/relationships/image" Target="../media/image55.png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image" Target="../media/image61.svg"/><Relationship Id="rId5" Type="http://schemas.openxmlformats.org/officeDocument/2006/relationships/image" Target="../media/image38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9" Type="http://schemas.openxmlformats.org/officeDocument/2006/relationships/notesSlide" Target="../notesSlides/notesSlide15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00.xml"/><Relationship Id="rId26" Type="http://schemas.openxmlformats.org/officeDocument/2006/relationships/tags" Target="../tags/tag199.xml"/><Relationship Id="rId25" Type="http://schemas.openxmlformats.org/officeDocument/2006/relationships/image" Target="../media/image59.png"/><Relationship Id="rId24" Type="http://schemas.openxmlformats.org/officeDocument/2006/relationships/tags" Target="../tags/tag198.xml"/><Relationship Id="rId23" Type="http://schemas.openxmlformats.org/officeDocument/2006/relationships/tags" Target="../tags/tag197.xml"/><Relationship Id="rId22" Type="http://schemas.openxmlformats.org/officeDocument/2006/relationships/tags" Target="../tags/tag196.xml"/><Relationship Id="rId21" Type="http://schemas.openxmlformats.org/officeDocument/2006/relationships/tags" Target="../tags/tag195.xml"/><Relationship Id="rId20" Type="http://schemas.openxmlformats.org/officeDocument/2006/relationships/tags" Target="../tags/tag194.xml"/><Relationship Id="rId2" Type="http://schemas.openxmlformats.org/officeDocument/2006/relationships/tags" Target="../tags/tag182.xml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image" Target="../media/image64.svg"/><Relationship Id="rId16" Type="http://schemas.openxmlformats.org/officeDocument/2006/relationships/image" Target="../media/image63.png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image" Target="../media/image62.svg"/><Relationship Id="rId11" Type="http://schemas.openxmlformats.org/officeDocument/2006/relationships/image" Target="../media/image55.png"/><Relationship Id="rId10" Type="http://schemas.openxmlformats.org/officeDocument/2006/relationships/tags" Target="../tags/tag188.xml"/><Relationship Id="rId1" Type="http://schemas.openxmlformats.org/officeDocument/2006/relationships/tags" Target="../tags/tag18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65.svg"/><Relationship Id="rId5" Type="http://schemas.openxmlformats.org/officeDocument/2006/relationships/image" Target="../media/image38.png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5" Type="http://schemas.openxmlformats.org/officeDocument/2006/relationships/notesSlide" Target="../notesSlides/notesSlide17.xml"/><Relationship Id="rId24" Type="http://schemas.openxmlformats.org/officeDocument/2006/relationships/slideLayout" Target="../slideLayouts/slideLayout2.xml"/><Relationship Id="rId23" Type="http://schemas.openxmlformats.org/officeDocument/2006/relationships/tags" Target="../tags/tag220.xml"/><Relationship Id="rId22" Type="http://schemas.openxmlformats.org/officeDocument/2006/relationships/tags" Target="../tags/tag219.xml"/><Relationship Id="rId21" Type="http://schemas.openxmlformats.org/officeDocument/2006/relationships/tags" Target="../tags/tag218.xml"/><Relationship Id="rId20" Type="http://schemas.openxmlformats.org/officeDocument/2006/relationships/tags" Target="../tags/tag217.xml"/><Relationship Id="rId2" Type="http://schemas.openxmlformats.org/officeDocument/2006/relationships/tags" Target="../tags/tag205.xml"/><Relationship Id="rId19" Type="http://schemas.openxmlformats.org/officeDocument/2006/relationships/tags" Target="../tags/tag216.xml"/><Relationship Id="rId18" Type="http://schemas.openxmlformats.org/officeDocument/2006/relationships/tags" Target="../tags/tag215.xml"/><Relationship Id="rId17" Type="http://schemas.openxmlformats.org/officeDocument/2006/relationships/image" Target="../media/image68.svg"/><Relationship Id="rId16" Type="http://schemas.openxmlformats.org/officeDocument/2006/relationships/image" Target="../media/image67.png"/><Relationship Id="rId15" Type="http://schemas.openxmlformats.org/officeDocument/2006/relationships/tags" Target="../tags/tag214.xml"/><Relationship Id="rId14" Type="http://schemas.openxmlformats.org/officeDocument/2006/relationships/tags" Target="../tags/tag213.xml"/><Relationship Id="rId13" Type="http://schemas.openxmlformats.org/officeDocument/2006/relationships/tags" Target="../tags/tag212.xml"/><Relationship Id="rId12" Type="http://schemas.openxmlformats.org/officeDocument/2006/relationships/image" Target="../media/image66.svg"/><Relationship Id="rId11" Type="http://schemas.openxmlformats.org/officeDocument/2006/relationships/image" Target="../media/image55.png"/><Relationship Id="rId10" Type="http://schemas.openxmlformats.org/officeDocument/2006/relationships/tags" Target="../tags/tag211.xml"/><Relationship Id="rId1" Type="http://schemas.openxmlformats.org/officeDocument/2006/relationships/tags" Target="../tags/tag20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27.xml"/><Relationship Id="rId8" Type="http://schemas.openxmlformats.org/officeDocument/2006/relationships/tags" Target="../tags/tag226.xml"/><Relationship Id="rId7" Type="http://schemas.openxmlformats.org/officeDocument/2006/relationships/image" Target="../media/image68.svg"/><Relationship Id="rId6" Type="http://schemas.openxmlformats.org/officeDocument/2006/relationships/image" Target="../media/image67.png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7" Type="http://schemas.openxmlformats.org/officeDocument/2006/relationships/notesSlide" Target="../notesSlides/notesSlide18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image" Target="../media/image64.svg"/><Relationship Id="rId11" Type="http://schemas.openxmlformats.org/officeDocument/2006/relationships/image" Target="../media/image63.png"/><Relationship Id="rId10" Type="http://schemas.openxmlformats.org/officeDocument/2006/relationships/tags" Target="../tags/tag228.xml"/><Relationship Id="rId1" Type="http://schemas.openxmlformats.org/officeDocument/2006/relationships/tags" Target="../tags/tag22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38.xml"/><Relationship Id="rId8" Type="http://schemas.openxmlformats.org/officeDocument/2006/relationships/tags" Target="../tags/tag237.xml"/><Relationship Id="rId7" Type="http://schemas.openxmlformats.org/officeDocument/2006/relationships/image" Target="../media/image69.svg"/><Relationship Id="rId6" Type="http://schemas.openxmlformats.org/officeDocument/2006/relationships/image" Target="../media/image40.png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4" Type="http://schemas.openxmlformats.org/officeDocument/2006/relationships/notesSlide" Target="../notesSlides/notesSlide19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1.svg"/><Relationship Id="rId11" Type="http://schemas.openxmlformats.org/officeDocument/2006/relationships/image" Target="../media/image70.png"/><Relationship Id="rId10" Type="http://schemas.openxmlformats.org/officeDocument/2006/relationships/tags" Target="../tags/tag239.xml"/><Relationship Id="rId1" Type="http://schemas.openxmlformats.org/officeDocument/2006/relationships/tags" Target="../tags/tag23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image" Target="../media/image62.svg"/><Relationship Id="rId6" Type="http://schemas.openxmlformats.org/officeDocument/2006/relationships/image" Target="../media/image55.png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8" Type="http://schemas.openxmlformats.org/officeDocument/2006/relationships/notesSlide" Target="../notesSlides/notesSlide20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image" Target="../media/image73.svg"/><Relationship Id="rId33" Type="http://schemas.openxmlformats.org/officeDocument/2006/relationships/image" Target="../media/image72.png"/><Relationship Id="rId32" Type="http://schemas.openxmlformats.org/officeDocument/2006/relationships/tags" Target="../tags/tag264.xml"/><Relationship Id="rId31" Type="http://schemas.openxmlformats.org/officeDocument/2006/relationships/tags" Target="../tags/tag263.xml"/><Relationship Id="rId30" Type="http://schemas.openxmlformats.org/officeDocument/2006/relationships/tags" Target="../tags/tag262.xml"/><Relationship Id="rId3" Type="http://schemas.openxmlformats.org/officeDocument/2006/relationships/tags" Target="../tags/tag242.xml"/><Relationship Id="rId29" Type="http://schemas.openxmlformats.org/officeDocument/2006/relationships/tags" Target="../tags/tag261.xml"/><Relationship Id="rId28" Type="http://schemas.openxmlformats.org/officeDocument/2006/relationships/image" Target="../media/image59.png"/><Relationship Id="rId27" Type="http://schemas.openxmlformats.org/officeDocument/2006/relationships/tags" Target="../tags/tag260.xml"/><Relationship Id="rId26" Type="http://schemas.openxmlformats.org/officeDocument/2006/relationships/tags" Target="../tags/tag259.xml"/><Relationship Id="rId25" Type="http://schemas.openxmlformats.org/officeDocument/2006/relationships/tags" Target="../tags/tag258.xml"/><Relationship Id="rId24" Type="http://schemas.openxmlformats.org/officeDocument/2006/relationships/image" Target="../media/image69.svg"/><Relationship Id="rId23" Type="http://schemas.openxmlformats.org/officeDocument/2006/relationships/image" Target="../media/image40.png"/><Relationship Id="rId22" Type="http://schemas.openxmlformats.org/officeDocument/2006/relationships/tags" Target="../tags/tag257.xml"/><Relationship Id="rId21" Type="http://schemas.openxmlformats.org/officeDocument/2006/relationships/tags" Target="../tags/tag256.xml"/><Relationship Id="rId20" Type="http://schemas.openxmlformats.org/officeDocument/2006/relationships/tags" Target="../tags/tag255.xml"/><Relationship Id="rId2" Type="http://schemas.openxmlformats.org/officeDocument/2006/relationships/tags" Target="../tags/tag241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tags" Target="../tags/tag250.xml"/><Relationship Id="rId14" Type="http://schemas.openxmlformats.org/officeDocument/2006/relationships/tags" Target="../tags/tag249.xml"/><Relationship Id="rId13" Type="http://schemas.openxmlformats.org/officeDocument/2006/relationships/tags" Target="../tags/tag248.xml"/><Relationship Id="rId12" Type="http://schemas.openxmlformats.org/officeDocument/2006/relationships/image" Target="../media/image64.svg"/><Relationship Id="rId11" Type="http://schemas.openxmlformats.org/officeDocument/2006/relationships/image" Target="../media/image63.png"/><Relationship Id="rId10" Type="http://schemas.openxmlformats.org/officeDocument/2006/relationships/tags" Target="../tags/tag247.xml"/><Relationship Id="rId1" Type="http://schemas.openxmlformats.org/officeDocument/2006/relationships/tags" Target="../tags/tag24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3" Type="http://schemas.openxmlformats.org/officeDocument/2006/relationships/tags" Target="../tags/tag269.xml"/><Relationship Id="rId24" Type="http://schemas.openxmlformats.org/officeDocument/2006/relationships/notesSlide" Target="../notesSlides/notesSlide21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281.xml"/><Relationship Id="rId21" Type="http://schemas.openxmlformats.org/officeDocument/2006/relationships/image" Target="../media/image76.svg"/><Relationship Id="rId20" Type="http://schemas.openxmlformats.org/officeDocument/2006/relationships/image" Target="../media/image75.png"/><Relationship Id="rId2" Type="http://schemas.openxmlformats.org/officeDocument/2006/relationships/tags" Target="../tags/tag268.xml"/><Relationship Id="rId19" Type="http://schemas.openxmlformats.org/officeDocument/2006/relationships/tags" Target="../tags/tag280.xml"/><Relationship Id="rId18" Type="http://schemas.openxmlformats.org/officeDocument/2006/relationships/tags" Target="../tags/tag279.xml"/><Relationship Id="rId17" Type="http://schemas.openxmlformats.org/officeDocument/2006/relationships/tags" Target="../tags/tag278.xml"/><Relationship Id="rId16" Type="http://schemas.openxmlformats.org/officeDocument/2006/relationships/tags" Target="../tags/tag277.xml"/><Relationship Id="rId15" Type="http://schemas.openxmlformats.org/officeDocument/2006/relationships/image" Target="../media/image74.svg"/><Relationship Id="rId14" Type="http://schemas.openxmlformats.org/officeDocument/2006/relationships/image" Target="../media/image55.png"/><Relationship Id="rId13" Type="http://schemas.openxmlformats.org/officeDocument/2006/relationships/tags" Target="../tags/tag276.xml"/><Relationship Id="rId12" Type="http://schemas.openxmlformats.org/officeDocument/2006/relationships/tags" Target="../tags/tag275.xml"/><Relationship Id="rId11" Type="http://schemas.openxmlformats.org/officeDocument/2006/relationships/tags" Target="../tags/tag274.xml"/><Relationship Id="rId10" Type="http://schemas.openxmlformats.org/officeDocument/2006/relationships/image" Target="../media/image59.png"/><Relationship Id="rId1" Type="http://schemas.openxmlformats.org/officeDocument/2006/relationships/tags" Target="../tags/tag26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image" Target="../media/image74.svg"/><Relationship Id="rId5" Type="http://schemas.openxmlformats.org/officeDocument/2006/relationships/image" Target="../media/image77.png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6" Type="http://schemas.openxmlformats.org/officeDocument/2006/relationships/notesSlide" Target="../notesSlides/notesSlide22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99.xml"/><Relationship Id="rId23" Type="http://schemas.openxmlformats.org/officeDocument/2006/relationships/image" Target="../media/image69.svg"/><Relationship Id="rId22" Type="http://schemas.openxmlformats.org/officeDocument/2006/relationships/image" Target="../media/image40.png"/><Relationship Id="rId21" Type="http://schemas.openxmlformats.org/officeDocument/2006/relationships/tags" Target="../tags/tag298.xml"/><Relationship Id="rId20" Type="http://schemas.openxmlformats.org/officeDocument/2006/relationships/tags" Target="../tags/tag297.xml"/><Relationship Id="rId2" Type="http://schemas.openxmlformats.org/officeDocument/2006/relationships/tags" Target="../tags/tag283.xml"/><Relationship Id="rId19" Type="http://schemas.openxmlformats.org/officeDocument/2006/relationships/tags" Target="../tags/tag296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image" Target="../media/image76.svg"/><Relationship Id="rId14" Type="http://schemas.openxmlformats.org/officeDocument/2006/relationships/image" Target="../media/image78.png"/><Relationship Id="rId13" Type="http://schemas.openxmlformats.org/officeDocument/2006/relationships/tags" Target="../tags/tag292.xml"/><Relationship Id="rId12" Type="http://schemas.openxmlformats.org/officeDocument/2006/relationships/tags" Target="../tags/tag29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tags" Target="../tags/tag28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04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tags" Target="../tags/tag305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tags" Target="../tags/tag311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320.xml"/><Relationship Id="rId8" Type="http://schemas.openxmlformats.org/officeDocument/2006/relationships/tags" Target="../tags/tag319.xml"/><Relationship Id="rId7" Type="http://schemas.openxmlformats.org/officeDocument/2006/relationships/tags" Target="../tags/tag318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1" Type="http://schemas.openxmlformats.org/officeDocument/2006/relationships/notesSlide" Target="../notesSlides/notesSlide2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15.xml"/><Relationship Id="rId19" Type="http://schemas.openxmlformats.org/officeDocument/2006/relationships/tags" Target="../tags/tag325.xml"/><Relationship Id="rId18" Type="http://schemas.openxmlformats.org/officeDocument/2006/relationships/image" Target="../media/image69.svg"/><Relationship Id="rId17" Type="http://schemas.openxmlformats.org/officeDocument/2006/relationships/image" Target="../media/image40.png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image" Target="../media/image59.png"/><Relationship Id="rId12" Type="http://schemas.openxmlformats.org/officeDocument/2006/relationships/tags" Target="../tags/tag321.xml"/><Relationship Id="rId11" Type="http://schemas.openxmlformats.org/officeDocument/2006/relationships/image" Target="../media/image80.svg"/><Relationship Id="rId10" Type="http://schemas.openxmlformats.org/officeDocument/2006/relationships/image" Target="../media/image79.png"/><Relationship Id="rId1" Type="http://schemas.openxmlformats.org/officeDocument/2006/relationships/tags" Target="../tags/tag31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9" Type="http://schemas.openxmlformats.org/officeDocument/2006/relationships/notesSlide" Target="../notesSlides/notesSlide28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8.svg"/><Relationship Id="rId16" Type="http://schemas.openxmlformats.org/officeDocument/2006/relationships/image" Target="../media/image50.png"/><Relationship Id="rId15" Type="http://schemas.openxmlformats.org/officeDocument/2006/relationships/tags" Target="../tags/tag334.xml"/><Relationship Id="rId14" Type="http://schemas.openxmlformats.org/officeDocument/2006/relationships/image" Target="../media/image16.svg"/><Relationship Id="rId13" Type="http://schemas.openxmlformats.org/officeDocument/2006/relationships/image" Target="../media/image47.png"/><Relationship Id="rId12" Type="http://schemas.openxmlformats.org/officeDocument/2006/relationships/tags" Target="../tags/tag333.xml"/><Relationship Id="rId11" Type="http://schemas.openxmlformats.org/officeDocument/2006/relationships/image" Target="../media/image14.svg"/><Relationship Id="rId10" Type="http://schemas.openxmlformats.org/officeDocument/2006/relationships/image" Target="../media/image46.png"/><Relationship Id="rId1" Type="http://schemas.openxmlformats.org/officeDocument/2006/relationships/tags" Target="../tags/tag326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image" Target="../media/image64.svg"/><Relationship Id="rId7" Type="http://schemas.openxmlformats.org/officeDocument/2006/relationships/image" Target="../media/image63.png"/><Relationship Id="rId6" Type="http://schemas.openxmlformats.org/officeDocument/2006/relationships/tags" Target="../tags/tag339.xml"/><Relationship Id="rId5" Type="http://schemas.openxmlformats.org/officeDocument/2006/relationships/tags" Target="../tags/tag338.xml"/><Relationship Id="rId4" Type="http://schemas.openxmlformats.org/officeDocument/2006/relationships/tags" Target="../tags/tag337.xml"/><Relationship Id="rId3" Type="http://schemas.openxmlformats.org/officeDocument/2006/relationships/image" Target="../media/image60.png"/><Relationship Id="rId24" Type="http://schemas.openxmlformats.org/officeDocument/2006/relationships/notesSlide" Target="../notesSlides/notesSlide29.xml"/><Relationship Id="rId23" Type="http://schemas.openxmlformats.org/officeDocument/2006/relationships/slideLayout" Target="../slideLayouts/slideLayout2.xml"/><Relationship Id="rId22" Type="http://schemas.openxmlformats.org/officeDocument/2006/relationships/tags" Target="../tags/tag348.xml"/><Relationship Id="rId21" Type="http://schemas.openxmlformats.org/officeDocument/2006/relationships/image" Target="../media/image81.svg"/><Relationship Id="rId20" Type="http://schemas.openxmlformats.org/officeDocument/2006/relationships/image" Target="../media/image42.png"/><Relationship Id="rId2" Type="http://schemas.openxmlformats.org/officeDocument/2006/relationships/tags" Target="../tags/tag336.xml"/><Relationship Id="rId19" Type="http://schemas.openxmlformats.org/officeDocument/2006/relationships/tags" Target="../tags/tag347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image" Target="../media/image59.png"/><Relationship Id="rId15" Type="http://schemas.openxmlformats.org/officeDocument/2006/relationships/tags" Target="../tags/tag344.xml"/><Relationship Id="rId14" Type="http://schemas.openxmlformats.org/officeDocument/2006/relationships/tags" Target="../tags/tag343.xml"/><Relationship Id="rId13" Type="http://schemas.openxmlformats.org/officeDocument/2006/relationships/image" Target="../media/image69.svg"/><Relationship Id="rId12" Type="http://schemas.openxmlformats.org/officeDocument/2006/relationships/image" Target="../media/image40.png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tags" Target="../tags/tag352.xml"/><Relationship Id="rId3" Type="http://schemas.openxmlformats.org/officeDocument/2006/relationships/tags" Target="../tags/tag351.xml"/><Relationship Id="rId29" Type="http://schemas.openxmlformats.org/officeDocument/2006/relationships/notesSlide" Target="../notesSlides/notesSlide30.xml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60.png"/><Relationship Id="rId26" Type="http://schemas.openxmlformats.org/officeDocument/2006/relationships/tags" Target="../tags/tag365.xml"/><Relationship Id="rId25" Type="http://schemas.openxmlformats.org/officeDocument/2006/relationships/image" Target="../media/image69.svg"/><Relationship Id="rId24" Type="http://schemas.openxmlformats.org/officeDocument/2006/relationships/tags" Target="../tags/tag364.xml"/><Relationship Id="rId23" Type="http://schemas.openxmlformats.org/officeDocument/2006/relationships/tags" Target="../tags/tag363.xml"/><Relationship Id="rId22" Type="http://schemas.openxmlformats.org/officeDocument/2006/relationships/tags" Target="../tags/tag362.xml"/><Relationship Id="rId21" Type="http://schemas.openxmlformats.org/officeDocument/2006/relationships/tags" Target="../tags/tag361.xml"/><Relationship Id="rId20" Type="http://schemas.openxmlformats.org/officeDocument/2006/relationships/image" Target="../media/image81.svg"/><Relationship Id="rId2" Type="http://schemas.openxmlformats.org/officeDocument/2006/relationships/tags" Target="../tags/tag350.xml"/><Relationship Id="rId19" Type="http://schemas.openxmlformats.org/officeDocument/2006/relationships/image" Target="../media/image42.png"/><Relationship Id="rId18" Type="http://schemas.openxmlformats.org/officeDocument/2006/relationships/tags" Target="../tags/tag360.xml"/><Relationship Id="rId17" Type="http://schemas.openxmlformats.org/officeDocument/2006/relationships/tags" Target="../tags/tag359.xml"/><Relationship Id="rId16" Type="http://schemas.openxmlformats.org/officeDocument/2006/relationships/tags" Target="../tags/tag358.xml"/><Relationship Id="rId15" Type="http://schemas.openxmlformats.org/officeDocument/2006/relationships/image" Target="../media/image64.svg"/><Relationship Id="rId14" Type="http://schemas.openxmlformats.org/officeDocument/2006/relationships/image" Target="../media/image63.png"/><Relationship Id="rId13" Type="http://schemas.openxmlformats.org/officeDocument/2006/relationships/tags" Target="../tags/tag357.xml"/><Relationship Id="rId12" Type="http://schemas.openxmlformats.org/officeDocument/2006/relationships/tags" Target="../tags/tag356.xml"/><Relationship Id="rId11" Type="http://schemas.openxmlformats.org/officeDocument/2006/relationships/tags" Target="../tags/tag355.xml"/><Relationship Id="rId10" Type="http://schemas.openxmlformats.org/officeDocument/2006/relationships/image" Target="../media/image76.svg"/><Relationship Id="rId1" Type="http://schemas.openxmlformats.org/officeDocument/2006/relationships/tags" Target="../tags/tag349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3.svg"/><Relationship Id="rId8" Type="http://schemas.openxmlformats.org/officeDocument/2006/relationships/image" Target="../media/image15.png"/><Relationship Id="rId7" Type="http://schemas.openxmlformats.org/officeDocument/2006/relationships/tags" Target="../tags/tag370.xml"/><Relationship Id="rId6" Type="http://schemas.openxmlformats.org/officeDocument/2006/relationships/image" Target="../media/image82.svg"/><Relationship Id="rId5" Type="http://schemas.openxmlformats.org/officeDocument/2006/relationships/image" Target="../media/image13.png"/><Relationship Id="rId4" Type="http://schemas.openxmlformats.org/officeDocument/2006/relationships/tags" Target="../tags/tag369.xml"/><Relationship Id="rId31" Type="http://schemas.openxmlformats.org/officeDocument/2006/relationships/notesSlide" Target="../notesSlides/notesSlide31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368.xml"/><Relationship Id="rId29" Type="http://schemas.openxmlformats.org/officeDocument/2006/relationships/image" Target="../media/image22.svg"/><Relationship Id="rId28" Type="http://schemas.openxmlformats.org/officeDocument/2006/relationships/image" Target="../media/image21.png"/><Relationship Id="rId27" Type="http://schemas.openxmlformats.org/officeDocument/2006/relationships/tags" Target="../tags/tag378.xml"/><Relationship Id="rId26" Type="http://schemas.openxmlformats.org/officeDocument/2006/relationships/image" Target="../media/image26.svg"/><Relationship Id="rId25" Type="http://schemas.openxmlformats.org/officeDocument/2006/relationships/image" Target="../media/image49.png"/><Relationship Id="rId24" Type="http://schemas.openxmlformats.org/officeDocument/2006/relationships/tags" Target="../tags/tag377.xml"/><Relationship Id="rId23" Type="http://schemas.openxmlformats.org/officeDocument/2006/relationships/image" Target="../media/image24.svg"/><Relationship Id="rId22" Type="http://schemas.openxmlformats.org/officeDocument/2006/relationships/image" Target="../media/image48.png"/><Relationship Id="rId21" Type="http://schemas.openxmlformats.org/officeDocument/2006/relationships/tags" Target="../tags/tag376.xml"/><Relationship Id="rId20" Type="http://schemas.openxmlformats.org/officeDocument/2006/relationships/image" Target="../media/image20.svg"/><Relationship Id="rId2" Type="http://schemas.openxmlformats.org/officeDocument/2006/relationships/tags" Target="../tags/tag367.xml"/><Relationship Id="rId19" Type="http://schemas.openxmlformats.org/officeDocument/2006/relationships/image" Target="../media/image19.png"/><Relationship Id="rId18" Type="http://schemas.openxmlformats.org/officeDocument/2006/relationships/tags" Target="../tags/tag375.xml"/><Relationship Id="rId17" Type="http://schemas.openxmlformats.org/officeDocument/2006/relationships/image" Target="../media/image71.svg"/><Relationship Id="rId16" Type="http://schemas.openxmlformats.org/officeDocument/2006/relationships/image" Target="../media/image70.png"/><Relationship Id="rId15" Type="http://schemas.openxmlformats.org/officeDocument/2006/relationships/tags" Target="../tags/tag374.xml"/><Relationship Id="rId14" Type="http://schemas.openxmlformats.org/officeDocument/2006/relationships/tags" Target="../tags/tag373.xml"/><Relationship Id="rId13" Type="http://schemas.openxmlformats.org/officeDocument/2006/relationships/tags" Target="../tags/tag372.xml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tags" Target="../tags/tag371.xml"/><Relationship Id="rId1" Type="http://schemas.openxmlformats.org/officeDocument/2006/relationships/tags" Target="../tags/tag366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85.xml"/><Relationship Id="rId8" Type="http://schemas.openxmlformats.org/officeDocument/2006/relationships/tags" Target="../tags/tag384.xml"/><Relationship Id="rId7" Type="http://schemas.openxmlformats.org/officeDocument/2006/relationships/tags" Target="../tags/tag383.xml"/><Relationship Id="rId6" Type="http://schemas.openxmlformats.org/officeDocument/2006/relationships/image" Target="../media/image87.svg"/><Relationship Id="rId5" Type="http://schemas.openxmlformats.org/officeDocument/2006/relationships/image" Target="../media/image86.png"/><Relationship Id="rId47" Type="http://schemas.openxmlformats.org/officeDocument/2006/relationships/notesSlide" Target="../notesSlides/notesSlide32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404.xml"/><Relationship Id="rId44" Type="http://schemas.openxmlformats.org/officeDocument/2006/relationships/tags" Target="../tags/tag403.xml"/><Relationship Id="rId43" Type="http://schemas.openxmlformats.org/officeDocument/2006/relationships/tags" Target="../tags/tag402.xml"/><Relationship Id="rId42" Type="http://schemas.openxmlformats.org/officeDocument/2006/relationships/image" Target="../media/image100.png"/><Relationship Id="rId41" Type="http://schemas.openxmlformats.org/officeDocument/2006/relationships/image" Target="../media/image22.svg"/><Relationship Id="rId40" Type="http://schemas.openxmlformats.org/officeDocument/2006/relationships/image" Target="../media/image21.png"/><Relationship Id="rId4" Type="http://schemas.openxmlformats.org/officeDocument/2006/relationships/tags" Target="../tags/tag382.xml"/><Relationship Id="rId39" Type="http://schemas.openxmlformats.org/officeDocument/2006/relationships/tags" Target="../tags/tag401.xml"/><Relationship Id="rId38" Type="http://schemas.openxmlformats.org/officeDocument/2006/relationships/image" Target="../media/image26.svg"/><Relationship Id="rId37" Type="http://schemas.openxmlformats.org/officeDocument/2006/relationships/image" Target="../media/image49.png"/><Relationship Id="rId36" Type="http://schemas.openxmlformats.org/officeDocument/2006/relationships/tags" Target="../tags/tag400.xml"/><Relationship Id="rId35" Type="http://schemas.openxmlformats.org/officeDocument/2006/relationships/tags" Target="../tags/tag399.xml"/><Relationship Id="rId34" Type="http://schemas.openxmlformats.org/officeDocument/2006/relationships/image" Target="../media/image99.svg"/><Relationship Id="rId33" Type="http://schemas.openxmlformats.org/officeDocument/2006/relationships/image" Target="../media/image98.png"/><Relationship Id="rId32" Type="http://schemas.openxmlformats.org/officeDocument/2006/relationships/image" Target="../media/image97.svg"/><Relationship Id="rId31" Type="http://schemas.openxmlformats.org/officeDocument/2006/relationships/image" Target="../media/image96.png"/><Relationship Id="rId30" Type="http://schemas.openxmlformats.org/officeDocument/2006/relationships/tags" Target="../tags/tag398.xml"/><Relationship Id="rId3" Type="http://schemas.openxmlformats.org/officeDocument/2006/relationships/tags" Target="../tags/tag381.xml"/><Relationship Id="rId29" Type="http://schemas.openxmlformats.org/officeDocument/2006/relationships/tags" Target="../tags/tag397.xml"/><Relationship Id="rId28" Type="http://schemas.openxmlformats.org/officeDocument/2006/relationships/image" Target="../media/image95.svg"/><Relationship Id="rId27" Type="http://schemas.openxmlformats.org/officeDocument/2006/relationships/image" Target="../media/image94.png"/><Relationship Id="rId26" Type="http://schemas.openxmlformats.org/officeDocument/2006/relationships/tags" Target="../tags/tag396.xml"/><Relationship Id="rId25" Type="http://schemas.openxmlformats.org/officeDocument/2006/relationships/tags" Target="../tags/tag395.xml"/><Relationship Id="rId24" Type="http://schemas.openxmlformats.org/officeDocument/2006/relationships/tags" Target="../tags/tag394.xml"/><Relationship Id="rId23" Type="http://schemas.openxmlformats.org/officeDocument/2006/relationships/tags" Target="../tags/tag393.xml"/><Relationship Id="rId22" Type="http://schemas.openxmlformats.org/officeDocument/2006/relationships/image" Target="../media/image93.svg"/><Relationship Id="rId21" Type="http://schemas.openxmlformats.org/officeDocument/2006/relationships/image" Target="../media/image92.png"/><Relationship Id="rId20" Type="http://schemas.openxmlformats.org/officeDocument/2006/relationships/tags" Target="../tags/tag392.xml"/><Relationship Id="rId2" Type="http://schemas.openxmlformats.org/officeDocument/2006/relationships/tags" Target="../tags/tag380.xml"/><Relationship Id="rId19" Type="http://schemas.openxmlformats.org/officeDocument/2006/relationships/tags" Target="../tags/tag391.xml"/><Relationship Id="rId18" Type="http://schemas.openxmlformats.org/officeDocument/2006/relationships/tags" Target="../tags/tag390.xml"/><Relationship Id="rId17" Type="http://schemas.openxmlformats.org/officeDocument/2006/relationships/image" Target="../media/image91.svg"/><Relationship Id="rId16" Type="http://schemas.openxmlformats.org/officeDocument/2006/relationships/image" Target="../media/image90.png"/><Relationship Id="rId15" Type="http://schemas.openxmlformats.org/officeDocument/2006/relationships/tags" Target="../tags/tag389.xml"/><Relationship Id="rId14" Type="http://schemas.openxmlformats.org/officeDocument/2006/relationships/tags" Target="../tags/tag388.xml"/><Relationship Id="rId13" Type="http://schemas.openxmlformats.org/officeDocument/2006/relationships/tags" Target="../tags/tag387.xml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tags" Target="../tags/tag386.xml"/><Relationship Id="rId1" Type="http://schemas.openxmlformats.org/officeDocument/2006/relationships/tags" Target="../tags/tag37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411.xml"/><Relationship Id="rId8" Type="http://schemas.openxmlformats.org/officeDocument/2006/relationships/tags" Target="../tags/tag410.xml"/><Relationship Id="rId7" Type="http://schemas.openxmlformats.org/officeDocument/2006/relationships/image" Target="../media/image101.svg"/><Relationship Id="rId6" Type="http://schemas.openxmlformats.org/officeDocument/2006/relationships/image" Target="../media/image86.png"/><Relationship Id="rId5" Type="http://schemas.openxmlformats.org/officeDocument/2006/relationships/tags" Target="../tags/tag409.xml"/><Relationship Id="rId4" Type="http://schemas.openxmlformats.org/officeDocument/2006/relationships/tags" Target="../tags/tag408.xml"/><Relationship Id="rId39" Type="http://schemas.openxmlformats.org/officeDocument/2006/relationships/notesSlide" Target="../notesSlides/notesSlide33.xml"/><Relationship Id="rId38" Type="http://schemas.openxmlformats.org/officeDocument/2006/relationships/slideLayout" Target="../slideLayouts/slideLayout2.xml"/><Relationship Id="rId37" Type="http://schemas.openxmlformats.org/officeDocument/2006/relationships/tags" Target="../tags/tag427.xml"/><Relationship Id="rId36" Type="http://schemas.openxmlformats.org/officeDocument/2006/relationships/tags" Target="../tags/tag426.xml"/><Relationship Id="rId35" Type="http://schemas.openxmlformats.org/officeDocument/2006/relationships/tags" Target="../tags/tag425.xml"/><Relationship Id="rId34" Type="http://schemas.openxmlformats.org/officeDocument/2006/relationships/tags" Target="../tags/tag424.xml"/><Relationship Id="rId33" Type="http://schemas.openxmlformats.org/officeDocument/2006/relationships/image" Target="../media/image106.svg"/><Relationship Id="rId32" Type="http://schemas.openxmlformats.org/officeDocument/2006/relationships/image" Target="../media/image98.png"/><Relationship Id="rId31" Type="http://schemas.openxmlformats.org/officeDocument/2006/relationships/image" Target="../media/image105.svg"/><Relationship Id="rId30" Type="http://schemas.openxmlformats.org/officeDocument/2006/relationships/image" Target="../media/image96.png"/><Relationship Id="rId3" Type="http://schemas.openxmlformats.org/officeDocument/2006/relationships/tags" Target="../tags/tag407.xml"/><Relationship Id="rId29" Type="http://schemas.openxmlformats.org/officeDocument/2006/relationships/tags" Target="../tags/tag423.xml"/><Relationship Id="rId28" Type="http://schemas.openxmlformats.org/officeDocument/2006/relationships/tags" Target="../tags/tag422.xml"/><Relationship Id="rId27" Type="http://schemas.openxmlformats.org/officeDocument/2006/relationships/image" Target="../media/image58.svg"/><Relationship Id="rId26" Type="http://schemas.openxmlformats.org/officeDocument/2006/relationships/image" Target="../media/image57.png"/><Relationship Id="rId25" Type="http://schemas.openxmlformats.org/officeDocument/2006/relationships/tags" Target="../tags/tag421.xml"/><Relationship Id="rId24" Type="http://schemas.openxmlformats.org/officeDocument/2006/relationships/tags" Target="../tags/tag420.xml"/><Relationship Id="rId23" Type="http://schemas.openxmlformats.org/officeDocument/2006/relationships/image" Target="../media/image104.svg"/><Relationship Id="rId22" Type="http://schemas.openxmlformats.org/officeDocument/2006/relationships/image" Target="../media/image92.png"/><Relationship Id="rId21" Type="http://schemas.openxmlformats.org/officeDocument/2006/relationships/tags" Target="../tags/tag419.xml"/><Relationship Id="rId20" Type="http://schemas.openxmlformats.org/officeDocument/2006/relationships/tags" Target="../tags/tag418.xml"/><Relationship Id="rId2" Type="http://schemas.openxmlformats.org/officeDocument/2006/relationships/tags" Target="../tags/tag406.xml"/><Relationship Id="rId19" Type="http://schemas.openxmlformats.org/officeDocument/2006/relationships/tags" Target="../tags/tag417.xml"/><Relationship Id="rId18" Type="http://schemas.openxmlformats.org/officeDocument/2006/relationships/image" Target="../media/image103.svg"/><Relationship Id="rId17" Type="http://schemas.openxmlformats.org/officeDocument/2006/relationships/image" Target="../media/image90.png"/><Relationship Id="rId16" Type="http://schemas.openxmlformats.org/officeDocument/2006/relationships/tags" Target="../tags/tag416.xml"/><Relationship Id="rId15" Type="http://schemas.openxmlformats.org/officeDocument/2006/relationships/tags" Target="../tags/tag415.xml"/><Relationship Id="rId14" Type="http://schemas.openxmlformats.org/officeDocument/2006/relationships/tags" Target="../tags/tag414.xml"/><Relationship Id="rId13" Type="http://schemas.openxmlformats.org/officeDocument/2006/relationships/image" Target="../media/image102.svg"/><Relationship Id="rId12" Type="http://schemas.openxmlformats.org/officeDocument/2006/relationships/image" Target="../media/image88.png"/><Relationship Id="rId11" Type="http://schemas.openxmlformats.org/officeDocument/2006/relationships/tags" Target="../tags/tag413.xml"/><Relationship Id="rId10" Type="http://schemas.openxmlformats.org/officeDocument/2006/relationships/tags" Target="../tags/tag412.xml"/><Relationship Id="rId1" Type="http://schemas.openxmlformats.org/officeDocument/2006/relationships/tags" Target="../tags/tag40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9.xml"/><Relationship Id="rId1" Type="http://schemas.openxmlformats.org/officeDocument/2006/relationships/tags" Target="../tags/tag428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4" Type="http://schemas.openxmlformats.org/officeDocument/2006/relationships/notesSlide" Target="../notesSlides/notesSlide35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453.xml"/><Relationship Id="rId31" Type="http://schemas.openxmlformats.org/officeDocument/2006/relationships/tags" Target="../tags/tag452.xml"/><Relationship Id="rId30" Type="http://schemas.openxmlformats.org/officeDocument/2006/relationships/tags" Target="../tags/tag451.xml"/><Relationship Id="rId3" Type="http://schemas.openxmlformats.org/officeDocument/2006/relationships/tags" Target="../tags/tag432.xml"/><Relationship Id="rId29" Type="http://schemas.openxmlformats.org/officeDocument/2006/relationships/tags" Target="../tags/tag450.xml"/><Relationship Id="rId28" Type="http://schemas.openxmlformats.org/officeDocument/2006/relationships/tags" Target="../tags/tag449.xml"/><Relationship Id="rId27" Type="http://schemas.openxmlformats.org/officeDocument/2006/relationships/tags" Target="../tags/tag448.xml"/><Relationship Id="rId26" Type="http://schemas.openxmlformats.org/officeDocument/2006/relationships/tags" Target="../tags/tag447.xml"/><Relationship Id="rId25" Type="http://schemas.openxmlformats.org/officeDocument/2006/relationships/tags" Target="../tags/tag446.xml"/><Relationship Id="rId24" Type="http://schemas.openxmlformats.org/officeDocument/2006/relationships/image" Target="../media/image26.svg"/><Relationship Id="rId23" Type="http://schemas.openxmlformats.org/officeDocument/2006/relationships/image" Target="../media/image49.png"/><Relationship Id="rId22" Type="http://schemas.openxmlformats.org/officeDocument/2006/relationships/tags" Target="../tags/tag445.xml"/><Relationship Id="rId21" Type="http://schemas.openxmlformats.org/officeDocument/2006/relationships/image" Target="../media/image22.svg"/><Relationship Id="rId20" Type="http://schemas.openxmlformats.org/officeDocument/2006/relationships/image" Target="../media/image21.png"/><Relationship Id="rId2" Type="http://schemas.openxmlformats.org/officeDocument/2006/relationships/tags" Target="../tags/tag431.xml"/><Relationship Id="rId19" Type="http://schemas.openxmlformats.org/officeDocument/2006/relationships/tags" Target="../tags/tag444.xml"/><Relationship Id="rId18" Type="http://schemas.openxmlformats.org/officeDocument/2006/relationships/image" Target="../media/image76.svg"/><Relationship Id="rId17" Type="http://schemas.openxmlformats.org/officeDocument/2006/relationships/image" Target="../media/image75.png"/><Relationship Id="rId16" Type="http://schemas.openxmlformats.org/officeDocument/2006/relationships/tags" Target="../tags/tag443.xml"/><Relationship Id="rId15" Type="http://schemas.openxmlformats.org/officeDocument/2006/relationships/tags" Target="../tags/tag442.xml"/><Relationship Id="rId14" Type="http://schemas.openxmlformats.org/officeDocument/2006/relationships/tags" Target="../tags/tag441.xml"/><Relationship Id="rId13" Type="http://schemas.openxmlformats.org/officeDocument/2006/relationships/image" Target="../media/image64.svg"/><Relationship Id="rId12" Type="http://schemas.openxmlformats.org/officeDocument/2006/relationships/image" Target="../media/image63.png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tags" Target="../tags/tag430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image" Target="../media/image106.svg"/><Relationship Id="rId7" Type="http://schemas.openxmlformats.org/officeDocument/2006/relationships/image" Target="../media/image98.png"/><Relationship Id="rId60" Type="http://schemas.openxmlformats.org/officeDocument/2006/relationships/notesSlide" Target="../notesSlides/notesSlide36.xml"/><Relationship Id="rId6" Type="http://schemas.openxmlformats.org/officeDocument/2006/relationships/image" Target="../media/image58.svg"/><Relationship Id="rId59" Type="http://schemas.openxmlformats.org/officeDocument/2006/relationships/slideLayout" Target="../slideLayouts/slideLayout2.xml"/><Relationship Id="rId58" Type="http://schemas.openxmlformats.org/officeDocument/2006/relationships/tags" Target="../tags/tag491.xml"/><Relationship Id="rId57" Type="http://schemas.openxmlformats.org/officeDocument/2006/relationships/tags" Target="../tags/tag490.xml"/><Relationship Id="rId56" Type="http://schemas.openxmlformats.org/officeDocument/2006/relationships/tags" Target="../tags/tag489.xml"/><Relationship Id="rId55" Type="http://schemas.openxmlformats.org/officeDocument/2006/relationships/image" Target="../media/image22.svg"/><Relationship Id="rId54" Type="http://schemas.openxmlformats.org/officeDocument/2006/relationships/image" Target="../media/image21.png"/><Relationship Id="rId53" Type="http://schemas.openxmlformats.org/officeDocument/2006/relationships/tags" Target="../tags/tag488.xml"/><Relationship Id="rId52" Type="http://schemas.openxmlformats.org/officeDocument/2006/relationships/image" Target="../media/image76.svg"/><Relationship Id="rId51" Type="http://schemas.openxmlformats.org/officeDocument/2006/relationships/image" Target="../media/image75.png"/><Relationship Id="rId50" Type="http://schemas.openxmlformats.org/officeDocument/2006/relationships/tags" Target="../tags/tag487.xml"/><Relationship Id="rId5" Type="http://schemas.openxmlformats.org/officeDocument/2006/relationships/image" Target="../media/image57.png"/><Relationship Id="rId49" Type="http://schemas.openxmlformats.org/officeDocument/2006/relationships/tags" Target="../tags/tag486.xml"/><Relationship Id="rId48" Type="http://schemas.openxmlformats.org/officeDocument/2006/relationships/tags" Target="../tags/tag485.xml"/><Relationship Id="rId47" Type="http://schemas.openxmlformats.org/officeDocument/2006/relationships/tags" Target="../tags/tag484.xml"/><Relationship Id="rId46" Type="http://schemas.openxmlformats.org/officeDocument/2006/relationships/tags" Target="../tags/tag483.xml"/><Relationship Id="rId45" Type="http://schemas.openxmlformats.org/officeDocument/2006/relationships/tags" Target="../tags/tag482.xml"/><Relationship Id="rId44" Type="http://schemas.openxmlformats.org/officeDocument/2006/relationships/tags" Target="../tags/tag481.xml"/><Relationship Id="rId43" Type="http://schemas.openxmlformats.org/officeDocument/2006/relationships/tags" Target="../tags/tag480.xml"/><Relationship Id="rId42" Type="http://schemas.openxmlformats.org/officeDocument/2006/relationships/tags" Target="../tags/tag479.xml"/><Relationship Id="rId41" Type="http://schemas.openxmlformats.org/officeDocument/2006/relationships/tags" Target="../tags/tag478.xml"/><Relationship Id="rId40" Type="http://schemas.openxmlformats.org/officeDocument/2006/relationships/tags" Target="../tags/tag477.xml"/><Relationship Id="rId4" Type="http://schemas.openxmlformats.org/officeDocument/2006/relationships/tags" Target="../tags/tag457.xml"/><Relationship Id="rId39" Type="http://schemas.openxmlformats.org/officeDocument/2006/relationships/tags" Target="../tags/tag476.xml"/><Relationship Id="rId38" Type="http://schemas.openxmlformats.org/officeDocument/2006/relationships/tags" Target="../tags/tag475.xml"/><Relationship Id="rId37" Type="http://schemas.openxmlformats.org/officeDocument/2006/relationships/image" Target="../media/image95.svg"/><Relationship Id="rId36" Type="http://schemas.openxmlformats.org/officeDocument/2006/relationships/image" Target="../media/image94.png"/><Relationship Id="rId35" Type="http://schemas.openxmlformats.org/officeDocument/2006/relationships/tags" Target="../tags/tag474.xml"/><Relationship Id="rId34" Type="http://schemas.openxmlformats.org/officeDocument/2006/relationships/tags" Target="../tags/tag473.xml"/><Relationship Id="rId33" Type="http://schemas.openxmlformats.org/officeDocument/2006/relationships/image" Target="../media/image105.svg"/><Relationship Id="rId32" Type="http://schemas.openxmlformats.org/officeDocument/2006/relationships/image" Target="../media/image96.png"/><Relationship Id="rId31" Type="http://schemas.openxmlformats.org/officeDocument/2006/relationships/tags" Target="../tags/tag472.xml"/><Relationship Id="rId30" Type="http://schemas.openxmlformats.org/officeDocument/2006/relationships/tags" Target="../tags/tag471.xml"/><Relationship Id="rId3" Type="http://schemas.openxmlformats.org/officeDocument/2006/relationships/tags" Target="../tags/tag456.xml"/><Relationship Id="rId29" Type="http://schemas.openxmlformats.org/officeDocument/2006/relationships/image" Target="../media/image104.svg"/><Relationship Id="rId28" Type="http://schemas.openxmlformats.org/officeDocument/2006/relationships/image" Target="../media/image92.png"/><Relationship Id="rId27" Type="http://schemas.openxmlformats.org/officeDocument/2006/relationships/tags" Target="../tags/tag470.xml"/><Relationship Id="rId26" Type="http://schemas.openxmlformats.org/officeDocument/2006/relationships/tags" Target="../tags/tag469.xml"/><Relationship Id="rId25" Type="http://schemas.openxmlformats.org/officeDocument/2006/relationships/tags" Target="../tags/tag468.xml"/><Relationship Id="rId24" Type="http://schemas.openxmlformats.org/officeDocument/2006/relationships/image" Target="../media/image103.svg"/><Relationship Id="rId23" Type="http://schemas.openxmlformats.org/officeDocument/2006/relationships/image" Target="../media/image90.png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55.xml"/><Relationship Id="rId19" Type="http://schemas.openxmlformats.org/officeDocument/2006/relationships/image" Target="../media/image102.svg"/><Relationship Id="rId18" Type="http://schemas.openxmlformats.org/officeDocument/2006/relationships/image" Target="../media/image88.png"/><Relationship Id="rId17" Type="http://schemas.openxmlformats.org/officeDocument/2006/relationships/tags" Target="../tags/tag464.xml"/><Relationship Id="rId16" Type="http://schemas.openxmlformats.org/officeDocument/2006/relationships/tags" Target="../tags/tag463.xml"/><Relationship Id="rId15" Type="http://schemas.openxmlformats.org/officeDocument/2006/relationships/tags" Target="../tags/tag462.xml"/><Relationship Id="rId14" Type="http://schemas.openxmlformats.org/officeDocument/2006/relationships/tags" Target="../tags/tag461.xml"/><Relationship Id="rId13" Type="http://schemas.openxmlformats.org/officeDocument/2006/relationships/image" Target="../media/image101.svg"/><Relationship Id="rId12" Type="http://schemas.openxmlformats.org/officeDocument/2006/relationships/image" Target="../media/image86.png"/><Relationship Id="rId11" Type="http://schemas.openxmlformats.org/officeDocument/2006/relationships/tags" Target="../tags/tag460.xml"/><Relationship Id="rId10" Type="http://schemas.openxmlformats.org/officeDocument/2006/relationships/tags" Target="../tags/tag459.xml"/><Relationship Id="rId1" Type="http://schemas.openxmlformats.org/officeDocument/2006/relationships/tags" Target="../tags/tag454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3.xml"/><Relationship Id="rId1" Type="http://schemas.openxmlformats.org/officeDocument/2006/relationships/tags" Target="../tags/tag492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496.xml"/><Relationship Id="rId2" Type="http://schemas.openxmlformats.org/officeDocument/2006/relationships/tags" Target="../tags/tag495.xml"/><Relationship Id="rId1" Type="http://schemas.openxmlformats.org/officeDocument/2006/relationships/tags" Target="../tags/tag494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8.xml"/><Relationship Id="rId1" Type="http://schemas.openxmlformats.org/officeDocument/2006/relationships/tags" Target="../tags/tag497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" Type="http://schemas.openxmlformats.org/officeDocument/2006/relationships/tags" Target="../tags/tag499.xml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05.xml"/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08.xml"/><Relationship Id="rId2" Type="http://schemas.openxmlformats.org/officeDocument/2006/relationships/tags" Target="../tags/tag507.xml"/><Relationship Id="rId1" Type="http://schemas.openxmlformats.org/officeDocument/2006/relationships/tags" Target="../tags/tag506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11.xml"/><Relationship Id="rId2" Type="http://schemas.openxmlformats.org/officeDocument/2006/relationships/tags" Target="../tags/tag510.xml"/><Relationship Id="rId1" Type="http://schemas.openxmlformats.org/officeDocument/2006/relationships/tags" Target="../tags/tag509.xml"/></Relationships>
</file>

<file path=ppt/slides/_rels/slide4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www.wps.cn/officeDocument/2018/webExtension" Target="../webExtensions/webExtension1.xml" TargetMode="External"/><Relationship Id="rId3" Type="http://www.wps.cn/officeDocument/2018/webExtension" Target="../webExtensions/webExtension1.xml"/><Relationship Id="rId2" Type="http://schemas.openxmlformats.org/officeDocument/2006/relationships/tags" Target="../tags/tag513.xml"/><Relationship Id="rId1" Type="http://schemas.openxmlformats.org/officeDocument/2006/relationships/tags" Target="../tags/tag512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" Type="http://schemas.openxmlformats.org/officeDocument/2006/relationships/tags" Target="../tags/tag514.xml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8.xml"/><Relationship Id="rId1" Type="http://schemas.openxmlformats.org/officeDocument/2006/relationships/tags" Target="../tags/tag51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tags" Target="../tags/tag520.xml"/><Relationship Id="rId1" Type="http://schemas.openxmlformats.org/officeDocument/2006/relationships/tags" Target="../tags/tag5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965835" y="3326765"/>
            <a:ext cx="10260330" cy="0"/>
          </a:xfrm>
          <a:prstGeom prst="line">
            <a:avLst/>
          </a:prstGeom>
          <a:ln w="63500">
            <a:solidFill>
              <a:srgbClr val="0A4A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65835" y="3472180"/>
            <a:ext cx="10260330" cy="0"/>
          </a:xfrm>
          <a:prstGeom prst="line">
            <a:avLst/>
          </a:prstGeom>
          <a:ln w="63500">
            <a:solidFill>
              <a:srgbClr val="ED6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794385" y="1697990"/>
            <a:ext cx="106330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CCDDEE"/>
                </a:solidFill>
              </a:defRPr>
            </a:pPr>
            <a:r>
              <a:rPr lang="en-US" altLang="zh-CN" sz="4000" b="1" dirty="0">
                <a:solidFill>
                  <a:schemeClr val="tx1"/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+mn-ea"/>
              </a:rPr>
              <a:t>Detecting Logic Bug</a:t>
            </a:r>
            <a:r>
              <a:rPr lang="en-US" altLang="zh-CN" sz="4000" b="1" dirty="0">
                <a:solidFill>
                  <a:schemeClr val="tx1"/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+mn-ea"/>
              </a:rPr>
              <a:t>s in VDBMS with LLMs</a:t>
            </a:r>
            <a:endParaRPr lang="en-US" altLang="zh-CN" sz="4000" b="1" dirty="0">
              <a:solidFill>
                <a:schemeClr val="tx1"/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/>
        </p:nvSpPr>
        <p:spPr bwMode="auto">
          <a:xfrm>
            <a:off x="2516505" y="3759200"/>
            <a:ext cx="7158990" cy="460375"/>
          </a:xfrm>
          <a:prstGeom prst="rect">
            <a:avLst/>
          </a:prstGeom>
          <a:noFill/>
          <a:ln w="9525" algn="ctr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marL="0" indent="0" algn="l" defTabSz="1219200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0AD47"/>
              </a:buClr>
              <a:buFont typeface="Wingdings" panose="05000000000000000000" pitchFamily="2" charset="2"/>
              <a:buNone/>
              <a:defRPr lang="en-US" sz="2935" b="1" i="1" kern="1200" baseline="0" smtClean="0">
                <a:solidFill>
                  <a:srgbClr val="70AD47"/>
                </a:solidFill>
                <a:latin typeface="Cambria" panose="02040503050406030204" charset="0"/>
                <a:ea typeface="+mn-ea"/>
                <a:cs typeface="+mn-ea"/>
              </a:defRPr>
            </a:lvl1pPr>
            <a:lvl2pPr marL="6096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SzPct val="90000"/>
              <a:buFont typeface="Wingdings" panose="05000000000000000000" pitchFamily="2" charset="2"/>
              <a:buNone/>
              <a:defRPr lang="en-US" sz="20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2pPr>
            <a:lvl3pPr marL="12192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8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3pPr>
            <a:lvl4pPr marL="18288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6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4pPr>
            <a:lvl5pPr marL="24384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400" b="0" kern="1200" dirty="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5pPr>
            <a:lvl6pPr marL="30480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6pPr>
            <a:lvl7pPr marL="3657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7pPr>
            <a:lvl8pPr marL="4267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8pPr>
            <a:lvl9pPr marL="4876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Cambria" panose="02040503050406030204" charset="0"/>
                <a:ea typeface="Cambria" panose="02040503050406030204" charset="0"/>
              </a:rPr>
              <a:t>Yihui Huang</a:t>
            </a:r>
            <a:endParaRPr kumimoji="0" lang="zh-CN" altLang="en-US" sz="2400" b="0" i="0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Cambria" panose="02040503050406030204" charset="0"/>
              <a:ea typeface="SimSun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9410" y="2762250"/>
            <a:ext cx="639254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2200" b="0">
                <a:solidFill>
                  <a:srgbClr val="CCDDEE"/>
                </a:solidFill>
                <a:latin typeface="Microsoft YaHei" panose="020B0503020204020204" charset="-122"/>
              </a:defRPr>
            </a:pP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用 LLM 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检测向量数据库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的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逻辑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缺陷</a:t>
            </a:r>
            <a:endParaRPr lang="zh-CN" altLang="en-US" sz="1800" b="1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250315"/>
            <a:ext cx="10852150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 are widely used to store and retrieve vector embeddings.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39598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0910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44481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Vector Database Management System(VDBMS)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2" name="图片 1" descr="chro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575" y="3867150"/>
            <a:ext cx="1156335" cy="1092835"/>
          </a:xfrm>
          <a:prstGeom prst="rect">
            <a:avLst/>
          </a:prstGeom>
        </p:spPr>
      </p:pic>
      <p:pic>
        <p:nvPicPr>
          <p:cNvPr id="9" name="图片 8" descr="Fai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570" y="3757295"/>
            <a:ext cx="1202690" cy="869950"/>
          </a:xfrm>
          <a:prstGeom prst="rect">
            <a:avLst/>
          </a:prstGeom>
        </p:spPr>
      </p:pic>
      <p:pic>
        <p:nvPicPr>
          <p:cNvPr id="10" name="图片 9" descr="milv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045" y="2400935"/>
            <a:ext cx="1466215" cy="1466215"/>
          </a:xfrm>
          <a:prstGeom prst="rect">
            <a:avLst/>
          </a:prstGeom>
        </p:spPr>
      </p:pic>
      <p:pic>
        <p:nvPicPr>
          <p:cNvPr id="18" name="图片 17" descr="qdra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575" y="2699385"/>
            <a:ext cx="2605405" cy="688975"/>
          </a:xfrm>
          <a:prstGeom prst="rect">
            <a:avLst/>
          </a:prstGeom>
        </p:spPr>
      </p:pic>
      <p:pic>
        <p:nvPicPr>
          <p:cNvPr id="29" name="图片 28" descr="weavi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90" y="3771265"/>
            <a:ext cx="1377315" cy="1377315"/>
          </a:xfrm>
          <a:prstGeom prst="rect">
            <a:avLst/>
          </a:prstGeom>
        </p:spPr>
      </p:pic>
      <p:pic>
        <p:nvPicPr>
          <p:cNvPr id="31" name="图片 30" descr="rankings"/>
          <p:cNvPicPr>
            <a:picLocks noChangeAspect="1"/>
          </p:cNvPicPr>
          <p:nvPr/>
        </p:nvPicPr>
        <p:blipFill>
          <a:blip r:embed="rId7"/>
          <a:srcRect r="25794"/>
          <a:stretch>
            <a:fillRect/>
          </a:stretch>
        </p:blipFill>
        <p:spPr>
          <a:xfrm>
            <a:off x="1508125" y="2004060"/>
            <a:ext cx="4569460" cy="369316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9932035" y="4601210"/>
            <a:ext cx="873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62DD"/>
                </a:solidFill>
                <a:latin typeface="Comic Sans MS" panose="030F0702030302020204" charset="0"/>
                <a:cs typeface="Comic Sans MS" panose="030F0702030302020204" charset="0"/>
              </a:rPr>
              <a:t>Faiss</a:t>
            </a:r>
            <a:endParaRPr lang="en-US" altLang="zh-CN" sz="2000" b="1">
              <a:solidFill>
                <a:srgbClr val="0062DD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571750" y="5767070"/>
            <a:ext cx="2580005" cy="386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VDB-Engines Ranking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[1]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charset="0"/>
              <a:ea typeface="FangSong" panose="02010609060101010101" charset="-122"/>
              <a:cs typeface="Cambria" panose="0204050305040603020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715510" y="3630295"/>
            <a:ext cx="492760" cy="2025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715510" y="4233545"/>
            <a:ext cx="492760" cy="5073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4714875" y="5147945"/>
            <a:ext cx="492760" cy="2146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16915" y="6370955"/>
            <a:ext cx="7014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[1] https://db-engines.com/en/ranking/vector+dbms (26 systems in ranking, July 2026)</a:t>
            </a:r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257300"/>
            <a:ext cx="10852150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 bugs can lead to serious consequences, ranging from "unexpected results" to "service unavailability".</a:t>
            </a:r>
            <a:endParaRPr lang="en-US" altLang="zh-CN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39598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0910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44481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What Happens 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When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Bugs 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Occur</a:t>
            </a:r>
            <a:endParaRPr lang="en-US" sz="3600" b="1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looking-to-the-future-of-vector-database-and-rag"/>
          <p:cNvPicPr>
            <a:picLocks noChangeAspect="1"/>
          </p:cNvPicPr>
          <p:nvPr/>
        </p:nvPicPr>
        <p:blipFill>
          <a:blip r:embed="rId3"/>
          <a:srcRect b="8933"/>
          <a:stretch>
            <a:fillRect/>
          </a:stretch>
        </p:blipFill>
        <p:spPr>
          <a:xfrm>
            <a:off x="1024255" y="2045335"/>
            <a:ext cx="10152380" cy="4382770"/>
          </a:xfrm>
          <a:prstGeom prst="rect">
            <a:avLst/>
          </a:prstGeom>
        </p:spPr>
      </p:pic>
      <p:pic>
        <p:nvPicPr>
          <p:cNvPr id="2" name="图片 1" descr="警告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6830" y="4204970"/>
            <a:ext cx="372110" cy="372110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6213475" y="4876800"/>
            <a:ext cx="2540" cy="78486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6758940" y="4126230"/>
            <a:ext cx="1477645" cy="127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5049520" y="4422775"/>
            <a:ext cx="734060" cy="3175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6803390" y="6047105"/>
            <a:ext cx="1102995" cy="3175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8764905" y="4686935"/>
            <a:ext cx="5080" cy="104267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218295" y="4348480"/>
            <a:ext cx="711200" cy="0"/>
          </a:xfrm>
          <a:prstGeom prst="straightConnector1">
            <a:avLst/>
          </a:prstGeom>
          <a:ln w="3492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5276850" y="2689860"/>
            <a:ext cx="2176145" cy="6388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①</a:t>
            </a:r>
            <a:r>
              <a:rPr lang="en-US" altLang="zh-CN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service unavailability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5700395" y="3380740"/>
            <a:ext cx="167005" cy="937895"/>
          </a:xfrm>
          <a:prstGeom prst="straightConnector1">
            <a:avLst/>
          </a:prstGeom>
          <a:ln w="31750"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6814820" y="3394710"/>
            <a:ext cx="147955" cy="638175"/>
          </a:xfrm>
          <a:prstGeom prst="straightConnector1">
            <a:avLst/>
          </a:prstGeom>
          <a:ln w="31750"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7941945" y="2689860"/>
            <a:ext cx="2176145" cy="6388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②</a:t>
            </a:r>
            <a:r>
              <a:rPr lang="en-US" altLang="zh-CN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en-US" altLang="zh-CN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unexpected results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 flipH="1" flipV="1">
            <a:off x="9758045" y="3390265"/>
            <a:ext cx="171450" cy="878840"/>
          </a:xfrm>
          <a:prstGeom prst="straightConnector1">
            <a:avLst/>
          </a:prstGeom>
          <a:ln w="31750"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0"/>
          <p:cNvGrpSpPr/>
          <p:nvPr/>
        </p:nvGrpSpPr>
        <p:grpSpPr>
          <a:xfrm>
            <a:off x="7060565" y="2342515"/>
            <a:ext cx="4798060" cy="2905760"/>
            <a:chOff x="7048500" y="1905000"/>
            <a:chExt cx="4533900" cy="2638425"/>
          </a:xfrm>
        </p:grpSpPr>
        <p:pic>
          <p:nvPicPr>
            <p:cNvPr id="39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52473" y="1905000"/>
              <a:ext cx="4525953" cy="2638425"/>
            </a:xfrm>
            <a:prstGeom prst="rect">
              <a:avLst/>
            </a:prstGeom>
          </p:spPr>
        </p:pic>
        <p:sp>
          <p:nvSpPr>
            <p:cNvPr id="40" name="Rectangle 29"/>
            <p:cNvSpPr/>
            <p:nvPr/>
          </p:nvSpPr>
          <p:spPr>
            <a:xfrm>
              <a:off x="7048500" y="1905000"/>
              <a:ext cx="4533900" cy="2638425"/>
            </a:xfrm>
            <a:prstGeom prst="rect">
              <a:avLst/>
            </a:prstGeom>
            <a:noFill/>
            <a:ln w="9525">
              <a:solidFill>
                <a:srgbClr val="D9D9D9"/>
              </a:solidFill>
            </a:ln>
          </p:spPr>
          <p:txBody>
            <a:bodyPr/>
            <a:p/>
          </p:txBody>
        </p:sp>
      </p:grp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420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bugs are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mostly </a:t>
            </a:r>
            <a:r>
              <a:rPr lang="en-US" sz="214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non-</a:t>
            </a:r>
            <a:r>
              <a:rPr lang="en-US" sz="214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crashing bugs</a:t>
            </a:r>
            <a:endParaRPr lang="en-US" altLang="zh-CN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 Distribution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27"/>
          <p:cNvGrpSpPr/>
          <p:nvPr/>
        </p:nvGrpSpPr>
        <p:grpSpPr>
          <a:xfrm>
            <a:off x="1161415" y="2292350"/>
            <a:ext cx="5431790" cy="2875915"/>
            <a:chOff x="602742" y="1759268"/>
            <a:chExt cx="5079177" cy="2660332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1759268"/>
              <a:ext cx="4313203" cy="192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Previous</a:t>
              </a:r>
              <a:r>
                <a:rPr 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 VDBMS bug </a:t>
              </a:r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symptom distribution research</a:t>
              </a:r>
              <a:endParaRPr lang="en-US" altLang="zh-CN" sz="1350" b="1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endParaRPr>
            </a:p>
          </p:txBody>
        </p:sp>
        <p:grpSp>
          <p:nvGrpSpPr>
            <p:cNvPr id="6" name="Group 26"/>
            <p:cNvGrpSpPr/>
            <p:nvPr/>
          </p:nvGrpSpPr>
          <p:grpSpPr>
            <a:xfrm>
              <a:off x="921542" y="2038350"/>
              <a:ext cx="4760377" cy="2381250"/>
              <a:chOff x="921542" y="2038350"/>
              <a:chExt cx="4760377" cy="2381250"/>
            </a:xfrm>
          </p:grpSpPr>
          <p:sp>
            <p:nvSpPr>
              <p:cNvPr id="7" name="Line 9"/>
              <p:cNvSpPr/>
              <p:nvPr/>
            </p:nvSpPr>
            <p:spPr>
              <a:xfrm>
                <a:off x="2324100" y="20383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21542" y="2258378"/>
                <a:ext cx="1312642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Incorrect Behavior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3" name="Rectangle 11"/>
              <p:cNvSpPr/>
              <p:nvPr/>
            </p:nvSpPr>
            <p:spPr>
              <a:xfrm>
                <a:off x="2324100" y="2190750"/>
                <a:ext cx="2857500" cy="2667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5233416" y="2258378"/>
                <a:ext cx="44850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C00000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43.0%</a:t>
                </a:r>
                <a:endParaRPr lang="en-US" sz="1050" b="1" dirty="0">
                  <a:solidFill>
                    <a:srgbClr val="C0000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5" name="TextBox 13"/>
              <p:cNvSpPr txBox="1"/>
              <p:nvPr/>
            </p:nvSpPr>
            <p:spPr>
              <a:xfrm>
                <a:off x="1436306" y="2734628"/>
                <a:ext cx="79787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Crash/Hang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6" name="Rectangle 14"/>
              <p:cNvSpPr/>
              <p:nvPr/>
            </p:nvSpPr>
            <p:spPr>
              <a:xfrm>
                <a:off x="2324100" y="2667000"/>
                <a:ext cx="1533525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7" name="TextBox 15"/>
              <p:cNvSpPr txBox="1"/>
              <p:nvPr/>
            </p:nvSpPr>
            <p:spPr>
              <a:xfrm>
                <a:off x="3915964" y="2734418"/>
                <a:ext cx="420989" cy="167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23.1%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0" name="TextBox 17"/>
              <p:cNvSpPr txBox="1"/>
              <p:nvPr/>
            </p:nvSpPr>
            <p:spPr>
              <a:xfrm>
                <a:off x="1724120" y="3210878"/>
                <a:ext cx="510064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Others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1" name="Rectangle 18"/>
              <p:cNvSpPr/>
              <p:nvPr/>
            </p:nvSpPr>
            <p:spPr>
              <a:xfrm>
                <a:off x="2324100" y="3143250"/>
                <a:ext cx="1000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" name="TextBox 19"/>
              <p:cNvSpPr txBox="1"/>
              <p:nvPr/>
            </p:nvSpPr>
            <p:spPr>
              <a:xfrm>
                <a:off x="3376041" y="3210878"/>
                <a:ext cx="42765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15.0%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3" name="TextBox 20"/>
              <p:cNvSpPr txBox="1"/>
              <p:nvPr/>
            </p:nvSpPr>
            <p:spPr>
              <a:xfrm>
                <a:off x="1381677" y="3687128"/>
                <a:ext cx="852507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Build Failure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4" name="Rectangle 21"/>
              <p:cNvSpPr/>
              <p:nvPr/>
            </p:nvSpPr>
            <p:spPr>
              <a:xfrm>
                <a:off x="2324100" y="3619500"/>
                <a:ext cx="647700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5" name="TextBox 22"/>
              <p:cNvSpPr txBox="1"/>
              <p:nvPr/>
            </p:nvSpPr>
            <p:spPr>
              <a:xfrm>
                <a:off x="3023616" y="368712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9.7%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8" name="TextBox 23"/>
              <p:cNvSpPr txBox="1"/>
              <p:nvPr/>
            </p:nvSpPr>
            <p:spPr>
              <a:xfrm>
                <a:off x="1335526" y="4163378"/>
                <a:ext cx="89865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Performance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36" name="Rectangle 24"/>
              <p:cNvSpPr/>
              <p:nvPr/>
            </p:nvSpPr>
            <p:spPr>
              <a:xfrm>
                <a:off x="2324100" y="4095750"/>
                <a:ext cx="619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2995041" y="416337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9.3%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</p:grpSp>
      </p:grpSp>
      <p:sp>
        <p:nvSpPr>
          <p:cNvPr id="41" name="TextBox 32"/>
          <p:cNvSpPr txBox="1"/>
          <p:nvPr/>
        </p:nvSpPr>
        <p:spPr>
          <a:xfrm>
            <a:off x="813753" y="6126480"/>
            <a:ext cx="65836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[1]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Towards Reliable Vector Database Management Systems: A Software Testing Roadmap for 2030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2" name="TextBox 33"/>
          <p:cNvSpPr txBox="1"/>
          <p:nvPr/>
        </p:nvSpPr>
        <p:spPr>
          <a:xfrm>
            <a:off x="813753" y="6310630"/>
            <a:ext cx="49263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[2]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 Understanding Bugs in Vector Database Management Systems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103995" y="557593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[2]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36315" y="562546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[1]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031095" y="3507740"/>
            <a:ext cx="1764000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717675" y="2782570"/>
            <a:ext cx="1228725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>
            <a:stCxn id="53" idx="3"/>
          </p:cNvCxnSpPr>
          <p:nvPr/>
        </p:nvCxnSpPr>
        <p:spPr>
          <a:xfrm>
            <a:off x="7440295" y="3370580"/>
            <a:ext cx="727075" cy="1714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8" idx="1"/>
            <a:endCxn id="17" idx="3"/>
          </p:cNvCxnSpPr>
          <p:nvPr/>
        </p:nvCxnSpPr>
        <p:spPr>
          <a:xfrm flipH="1">
            <a:off x="5154930" y="3390265"/>
            <a:ext cx="755650" cy="4699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4667250" y="3320415"/>
            <a:ext cx="404495" cy="211455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194040" y="3306445"/>
            <a:ext cx="414020" cy="22098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TextBox 16"/>
          <p:cNvSpPr txBox="1"/>
          <p:nvPr/>
        </p:nvSpPr>
        <p:spPr>
          <a:xfrm>
            <a:off x="5910580" y="3179445"/>
            <a:ext cx="1529715" cy="382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VDBFuzz </a:t>
            </a:r>
            <a:r>
              <a:rPr lang="en-US" alt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[3]only covers crash bugs</a:t>
            </a:r>
            <a:endParaRPr lang="en-US" altLang="zh-CN" sz="1400" dirty="0">
              <a:solidFill>
                <a:srgbClr val="1F4E79"/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3" name="TextBox 33"/>
          <p:cNvSpPr txBox="1"/>
          <p:nvPr/>
        </p:nvSpPr>
        <p:spPr>
          <a:xfrm>
            <a:off x="814070" y="6494780"/>
            <a:ext cx="735266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 VDBFuzz: Understanding and Detecting Crash Bugs in Vector Database Management Systems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我们选择从官方文档（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documentation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）提取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预先给定的行为声明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，问题变成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如何找出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真实行为与文档描述不一致之处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，即</a:t>
            </a:r>
            <a:r>
              <a:rPr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zh-CN" altLang="en-US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。</a:t>
            </a:r>
            <a:br>
              <a:rPr lang="zh-CN" altLang="en-US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endParaRPr lang="zh-CN" altLang="en-US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374333"/>
            <a:ext cx="10571480" cy="11074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Target: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074535" y="311150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6905" y="319913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9100" y="334581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635" y="332549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6525" y="357568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694295" y="403860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781935" y="311150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781300" y="391223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267325" y="343090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16270" y="366204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284980" y="383095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01715" y="383095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5979795" y="411353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5355" y="4815840"/>
            <a:ext cx="648970" cy="66421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6864985" y="496379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668645" y="345122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32095" y="366268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071745" y="411353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29480" y="481584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557905" y="5035550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 a 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11920" y="3325495"/>
            <a:ext cx="758825" cy="758825"/>
          </a:xfrm>
          <a:prstGeom prst="rect">
            <a:avLst/>
          </a:prstGeom>
        </p:spPr>
      </p:pic>
      <p:pic>
        <p:nvPicPr>
          <p:cNvPr id="2" name="图片 1" descr="加号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72195" y="3575685"/>
            <a:ext cx="356870" cy="3568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80720" y="1377950"/>
            <a:ext cx="10888345" cy="502031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Mostly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natural-language docs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:Hard to structure</a:t>
            </a:r>
            <a:endParaRPr lang="en-US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Different VDBMS,different standards: Hard to do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differential testing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Documentation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18685"/>
          <a:stretch>
            <a:fillRect/>
          </a:stretch>
        </p:blipFill>
        <p:spPr>
          <a:xfrm>
            <a:off x="5541010" y="4094480"/>
            <a:ext cx="5844540" cy="221996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1802" r="26303"/>
          <a:stretch>
            <a:fillRect/>
          </a:stretch>
        </p:blipFill>
        <p:spPr>
          <a:xfrm>
            <a:off x="1130300" y="2519045"/>
            <a:ext cx="4229735" cy="379539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8" name="矩形 17"/>
          <p:cNvSpPr/>
          <p:nvPr/>
        </p:nvSpPr>
        <p:spPr>
          <a:xfrm>
            <a:off x="7952105" y="5457825"/>
            <a:ext cx="3358515" cy="75565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955415" y="3359150"/>
            <a:ext cx="1334770" cy="5784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910" y="2486660"/>
            <a:ext cx="5882640" cy="150495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108315" y="2715260"/>
            <a:ext cx="718820" cy="36576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Existing approach(VDBFuzz) focuses on detecting crash bugs</a:t>
            </a:r>
            <a:endParaRPr lang="en-US" altLang="zh-CN" sz="2000" b="1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793115"/>
            <a:ext cx="10571480" cy="483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Existing Approach</a:t>
            </a:r>
            <a:endParaRPr lang="zh-CN" altLang="en-US" sz="3600" b="1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2335" y="2210435"/>
            <a:ext cx="713105" cy="713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39595" y="3286760"/>
            <a:ext cx="163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Templates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" name="直接箭头连接符 9"/>
          <p:cNvCxnSpPr>
            <a:endCxn id="16" idx="1"/>
          </p:cNvCxnSpPr>
          <p:nvPr/>
        </p:nvCxnSpPr>
        <p:spPr>
          <a:xfrm flipV="1">
            <a:off x="2885654" y="2636643"/>
            <a:ext cx="1648460" cy="889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245610" y="3286760"/>
            <a:ext cx="2592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Pattern-based Input Mutation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845" y="2153920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6685" y="2302510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4533900" y="2063750"/>
            <a:ext cx="1892300" cy="1145540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4045" y="2153285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8834120" y="215328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>
            <a:off x="6426414" y="2636643"/>
            <a:ext cx="1050925" cy="63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2630" y="2334260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7477125" y="2064385"/>
            <a:ext cx="2223135" cy="114490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3175" y="2153920"/>
            <a:ext cx="648335" cy="71374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531100" y="3328035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0" name="图片 79" descr="BUG问题修复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9860" y="4456430"/>
            <a:ext cx="648970" cy="664210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7733665" y="4001135"/>
            <a:ext cx="1941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Crash Oracle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257290" y="527748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533900" y="278574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Templates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58927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53110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758555" y="286702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0" name="直接箭头连接符 99"/>
          <p:cNvCxnSpPr>
            <a:stCxn id="103" idx="1"/>
            <a:endCxn id="80" idx="3"/>
          </p:cNvCxnSpPr>
          <p:nvPr/>
        </p:nvCxnSpPr>
        <p:spPr>
          <a:xfrm flipH="1">
            <a:off x="7149044" y="4775958"/>
            <a:ext cx="1193800" cy="127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曲线连接符 100"/>
          <p:cNvCxnSpPr>
            <a:stCxn id="22" idx="3"/>
            <a:endCxn id="103" idx="3"/>
          </p:cNvCxnSpPr>
          <p:nvPr/>
        </p:nvCxnSpPr>
        <p:spPr>
          <a:xfrm flipH="1">
            <a:off x="9155430" y="2637155"/>
            <a:ext cx="544830" cy="2138680"/>
          </a:xfrm>
          <a:prstGeom prst="curvedConnector3">
            <a:avLst>
              <a:gd name="adj1" fmla="val -43706"/>
            </a:avLst>
          </a:prstGeom>
          <a:ln w="381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3" name="图片 102" descr="感叹号-圆环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42630" y="4369435"/>
            <a:ext cx="812800" cy="81280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1083945" y="5788025"/>
            <a:ext cx="9608185" cy="754380"/>
          </a:xfrm>
          <a:prstGeom prst="roundRect">
            <a:avLst/>
          </a:prstGeom>
          <a:solidFill>
            <a:srgbClr val="FFCDCD"/>
          </a:solid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VDBFuzz cannot be effectively applied to detect </a:t>
            </a:r>
            <a:r>
              <a:rPr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en-US" altLang="zh-CN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bugs</a:t>
            </a:r>
            <a:endParaRPr lang="en-US" altLang="zh-CN" b="1" dirty="0" err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664210" y="1819275"/>
            <a:ext cx="2702560" cy="20313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39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How a bug that “silently accepts queries with nprobe=0”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is discovered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914400" lvl="2" indent="0">
              <a:buFont typeface="Wingdings" panose="05000000000000000000" charset="0"/>
              <a:buNone/>
            </a:pP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6006" y="10529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Observation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81415" y="6276975"/>
            <a:ext cx="2700020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64210" y="6339205"/>
            <a:ext cx="3797300" cy="362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52095" indent="-347980" eaLnBrk="1" hangingPunct="1">
              <a:lnSpc>
                <a:spcPct val="125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 https://github.com/milvus-io/milvus/issues/49823</a:t>
            </a:r>
            <a:endParaRPr lang="en-US" altLang="zh-CN" sz="1300" dirty="0">
              <a:solidFill>
                <a:srgbClr val="00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664210" y="1755775"/>
            <a:ext cx="2702560" cy="4959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895" y="1755775"/>
            <a:ext cx="445770" cy="44577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355090" y="181737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738505" y="2108835"/>
            <a:ext cx="2513965" cy="179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 (int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,must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):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range: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[1,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16384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]</a:t>
            </a:r>
            <a:endParaRPr sz="16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2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sz="1400" b="1">
                <a:solidFill>
                  <a:schemeClr val="bg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（</a:t>
            </a:r>
            <a:r>
              <a:rPr lang="zh-CN" sz="1400" b="1">
                <a:solidFill>
                  <a:schemeClr val="bg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推测：</a:t>
            </a:r>
            <a:r>
              <a:rPr sz="1400" b="1">
                <a:solidFill>
                  <a:schemeClr val="bg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应拒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绝</a:t>
            </a:r>
            <a:r>
              <a:rPr sz="1400" b="1">
                <a:solidFill>
                  <a:schemeClr val="bg2">
                    <a:lumMod val="50000"/>
                  </a:schemeClr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nprobe=0）</a:t>
            </a:r>
            <a:endParaRPr lang="zh-CN" altLang="en-US" b="1">
              <a:solidFill>
                <a:schemeClr val="bg2">
                  <a:lumMod val="50000"/>
                </a:schemeClr>
              </a:solidFill>
              <a:effectLst/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endParaRPr lang="en-US" altLang="zh-CN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676275" y="3945255"/>
            <a:ext cx="2702560" cy="2350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676275" y="3883660"/>
            <a:ext cx="2702560" cy="4953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355090" y="3961130"/>
            <a:ext cx="198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user’s operation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730885" y="4343400"/>
            <a:ext cx="2527300" cy="1952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 /v2/vectordb/entities/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 localhost:19530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200" b="1">
              <a:solidFill>
                <a:srgbClr val="FF0000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8830" y="3919220"/>
            <a:ext cx="457835" cy="42418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17"/>
            </p:custDataLst>
          </p:nvPr>
        </p:nvSpPr>
        <p:spPr>
          <a:xfrm>
            <a:off x="8712200" y="2686050"/>
            <a:ext cx="2957830" cy="34988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>
            <p:custDataLst>
              <p:tags r:id="rId18"/>
            </p:custDataLst>
          </p:nvPr>
        </p:nvSpPr>
        <p:spPr>
          <a:xfrm>
            <a:off x="8712200" y="2108835"/>
            <a:ext cx="2957830" cy="628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9444990" y="2225675"/>
            <a:ext cx="225107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8846185" y="2919730"/>
            <a:ext cx="2748280" cy="32550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HTTP/1.1 200 OK</a:t>
            </a:r>
            <a:endParaRPr lang="en-US" altLang="zh-CN" sz="1400" b="1">
              <a:solidFill>
                <a:srgbClr val="FF0000"/>
              </a:solidFill>
              <a:effectLst/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Content-Type: application/json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</a:t>
            </a: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"code":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"cost":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"1", "distance": 0.834},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"2", "distance": 0.721},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"3", "distance": 0.655}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]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68715" y="2120900"/>
            <a:ext cx="783590" cy="599440"/>
          </a:xfrm>
          <a:prstGeom prst="rect">
            <a:avLst/>
          </a:prstGeom>
        </p:spPr>
      </p:pic>
      <p:sp>
        <p:nvSpPr>
          <p:cNvPr id="54" name="右箭头 53"/>
          <p:cNvSpPr/>
          <p:nvPr>
            <p:custDataLst>
              <p:tags r:id="rId24"/>
            </p:custDataLst>
          </p:nvPr>
        </p:nvSpPr>
        <p:spPr>
          <a:xfrm>
            <a:off x="3390900" y="4946650"/>
            <a:ext cx="5308600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6615430" y="1936115"/>
            <a:ext cx="1874520" cy="21539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680835" y="2015490"/>
            <a:ext cx="1756410" cy="206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endParaRPr lang="zh-CN" altLang="en-US" sz="1400" b="1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400" b="1"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sz="1400" b="1">
                <a:latin typeface="Cambria" panose="02040503050406030204" charset="0"/>
                <a:cs typeface="Cambria" panose="02040503050406030204" charset="0"/>
                <a:sym typeface="+mn-ea"/>
              </a:rPr>
              <a:t>实际行为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br>
              <a:rPr lang="en-US" altLang="zh-CN" sz="14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code: 0 +HTTP 200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:</a:t>
            </a:r>
            <a:br>
              <a:rPr lang="en-US" altLang="zh-CN" sz="20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VDBMS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报告查询操作成功，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nprobe=0 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被静默接受,返回了"结果"。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7" name="直接箭头连接符 66"/>
          <p:cNvCxnSpPr>
            <a:endCxn id="70" idx="1"/>
          </p:cNvCxnSpPr>
          <p:nvPr>
            <p:custDataLst>
              <p:tags r:id="rId25"/>
            </p:custDataLst>
          </p:nvPr>
        </p:nvCxnSpPr>
        <p:spPr>
          <a:xfrm>
            <a:off x="2962910" y="4679315"/>
            <a:ext cx="491490" cy="125793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3454400" y="5592445"/>
            <a:ext cx="2580640" cy="7029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454400" y="5753100"/>
            <a:ext cx="257810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尝试进行</a:t>
            </a:r>
            <a:r>
              <a:rPr lang="en-US" altLang="zh-CN" sz="1600">
                <a:latin typeface="Cambria" panose="02040503050406030204" charset="0"/>
                <a:cs typeface="Cambria" panose="02040503050406030204" charset="0"/>
              </a:rPr>
              <a:t>nprobe=0</a:t>
            </a:r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的查询</a:t>
            </a:r>
            <a:endParaRPr lang="zh-CN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9950" y="4116070"/>
            <a:ext cx="520065" cy="532130"/>
          </a:xfrm>
          <a:prstGeom prst="rect">
            <a:avLst/>
          </a:prstGeom>
        </p:spPr>
      </p:pic>
      <p:sp>
        <p:nvSpPr>
          <p:cNvPr id="72" name="圆角矩形 71"/>
          <p:cNvSpPr/>
          <p:nvPr/>
        </p:nvSpPr>
        <p:spPr>
          <a:xfrm>
            <a:off x="3859530" y="1935480"/>
            <a:ext cx="1906905" cy="21647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3855720" y="1983740"/>
            <a:ext cx="196278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br>
              <a:rPr lang="zh-CN" altLang="en-US" sz="1400" b="1">
                <a:latin typeface="Cambria" panose="02040503050406030204" charset="0"/>
                <a:cs typeface="Cambria" panose="02040503050406030204" charset="0"/>
              </a:rPr>
            </a:br>
            <a:r>
              <a:rPr lang="zh-CN" altLang="en-US" sz="1400" b="1">
                <a:latin typeface="Cambria" panose="02040503050406030204" charset="0"/>
                <a:cs typeface="Cambria" panose="02040503050406030204" charset="0"/>
              </a:rPr>
              <a:t>预期正确行为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  <a:p>
            <a:br>
              <a:rPr lang="en-US" altLang="zh-CN" sz="12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HTTP/1.1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400 Bad Request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"code": 1100,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"message": "nprobe must be in [1, 16384]; got 0"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6" name="直接箭头连接符 65"/>
          <p:cNvCxnSpPr>
            <a:endCxn id="70" idx="1"/>
          </p:cNvCxnSpPr>
          <p:nvPr>
            <p:custDataLst>
              <p:tags r:id="rId29"/>
            </p:custDataLst>
          </p:nvPr>
        </p:nvCxnSpPr>
        <p:spPr>
          <a:xfrm>
            <a:off x="2719070" y="5769610"/>
            <a:ext cx="735330" cy="16764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右箭头 4"/>
          <p:cNvSpPr/>
          <p:nvPr>
            <p:custDataLst>
              <p:tags r:id="rId30"/>
            </p:custDataLst>
          </p:nvPr>
        </p:nvSpPr>
        <p:spPr>
          <a:xfrm>
            <a:off x="3356610" y="2771140"/>
            <a:ext cx="499745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31"/>
            </p:custDataLst>
          </p:nvPr>
        </p:nvCxnSpPr>
        <p:spPr>
          <a:xfrm flipH="1" flipV="1">
            <a:off x="8497570" y="3016250"/>
            <a:ext cx="429260" cy="361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3" idx="3"/>
          </p:cNvCxnSpPr>
          <p:nvPr>
            <p:custDataLst>
              <p:tags r:id="rId32"/>
            </p:custDataLst>
          </p:nvPr>
        </p:nvCxnSpPr>
        <p:spPr>
          <a:xfrm flipH="1" flipV="1">
            <a:off x="8489950" y="3013075"/>
            <a:ext cx="499110" cy="9124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11850" y="2738120"/>
            <a:ext cx="558165" cy="558165"/>
          </a:xfrm>
          <a:prstGeom prst="rect">
            <a:avLst/>
          </a:prstGeom>
        </p:spPr>
      </p:pic>
      <p:sp>
        <p:nvSpPr>
          <p:cNvPr id="22" name="下箭头 21"/>
          <p:cNvSpPr/>
          <p:nvPr/>
        </p:nvSpPr>
        <p:spPr>
          <a:xfrm>
            <a:off x="6014720" y="3311525"/>
            <a:ext cx="391160" cy="76327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4965" y="5123815"/>
            <a:ext cx="1296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Execution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73" grpId="0"/>
      <p:bldP spid="5" grpId="0" bldLvl="0" animBg="1"/>
      <p:bldP spid="69" grpId="0" bldLvl="0" animBg="1"/>
      <p:bldP spid="70" grpId="0"/>
      <p:bldP spid="54" grpId="0" bldLvl="0" animBg="1"/>
      <p:bldP spid="23" grpId="0"/>
      <p:bldP spid="31" grpId="0" bldLvl="0" animBg="1"/>
      <p:bldP spid="37" grpId="0" bldLvl="0" animBg="1"/>
      <p:bldP spid="38" grpId="0"/>
      <p:bldP spid="43" grpId="0"/>
      <p:bldP spid="63" grpId="0" bldLvl="0" animBg="1"/>
      <p:bldP spid="64" grpId="0"/>
      <p:bldP spid="2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58545"/>
            <a:ext cx="10852150" cy="55352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propose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TestVDB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detect </a:t>
            </a:r>
            <a:r>
              <a:rPr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logic bugs in VDBMSs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Approach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" y="2252345"/>
            <a:ext cx="713105" cy="71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-64770" y="3429000"/>
            <a:ext cx="3105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Behavioral Specification Extraction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5" name="图片 4" descr="箭头-直角-向右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1760" y="2400300"/>
            <a:ext cx="415925" cy="415925"/>
          </a:xfrm>
          <a:prstGeom prst="rect">
            <a:avLst/>
          </a:prstGeom>
        </p:spPr>
      </p:pic>
      <p:pic>
        <p:nvPicPr>
          <p:cNvPr id="6" name="图片 5" descr="书本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310" y="2255520"/>
            <a:ext cx="668655" cy="712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3085" y="2161540"/>
            <a:ext cx="200152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  <a:endCxn id="16" idx="1"/>
          </p:cNvCxnSpPr>
          <p:nvPr/>
        </p:nvCxnSpPr>
        <p:spPr>
          <a:xfrm>
            <a:off x="2554819" y="2736338"/>
            <a:ext cx="87884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433445" y="3429000"/>
            <a:ext cx="1945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G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eneration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2840" y="2254885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7680" y="2403475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433445" y="2164715"/>
            <a:ext cx="206375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765040" y="2254250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7557770" y="220916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 flipV="1">
            <a:off x="5497409" y="2736338"/>
            <a:ext cx="703580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6280" y="2435225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200775" y="2161540"/>
            <a:ext cx="5353685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1110" y="2255520"/>
            <a:ext cx="648335" cy="713740"/>
          </a:xfrm>
          <a:prstGeom prst="rect">
            <a:avLst/>
          </a:prstGeom>
        </p:spPr>
      </p:pic>
      <p:pic>
        <p:nvPicPr>
          <p:cNvPr id="24" name="图片 23" descr="箭头-直角-向右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8025" y="2435225"/>
            <a:ext cx="415925" cy="4159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02855" y="3387725"/>
            <a:ext cx="2007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文件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99625" y="2255520"/>
            <a:ext cx="693420" cy="692785"/>
          </a:xfrm>
          <a:prstGeom prst="rect">
            <a:avLst/>
          </a:prstGeom>
        </p:spPr>
      </p:pic>
      <p:pic>
        <p:nvPicPr>
          <p:cNvPr id="31" name="图片 30" descr="文件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90940" y="2235200"/>
            <a:ext cx="693420" cy="713105"/>
          </a:xfrm>
          <a:prstGeom prst="rect">
            <a:avLst/>
          </a:prstGeom>
        </p:spPr>
      </p:pic>
      <p:pic>
        <p:nvPicPr>
          <p:cNvPr id="32" name="图片 31" descr="加号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441180" y="2462530"/>
            <a:ext cx="356870" cy="3568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66725" y="2861945"/>
            <a:ext cx="1106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573530" y="2883535"/>
            <a:ext cx="1021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01390" y="2886710"/>
            <a:ext cx="1028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60265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47130" y="288480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482205" y="2923540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93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27870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51570" y="2009140"/>
            <a:ext cx="284988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1601470" y="2009775"/>
            <a:ext cx="102298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134860" y="417195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230" y="425958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99425" y="440626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2960" y="438594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16850" y="463613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754620" y="509905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42260" y="417195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841625" y="497268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9" name="曲线连接符 58"/>
          <p:cNvCxnSpPr/>
          <p:nvPr/>
        </p:nvCxnSpPr>
        <p:spPr>
          <a:xfrm rot="5400000">
            <a:off x="9634220" y="3710940"/>
            <a:ext cx="1452880" cy="92710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5" idx="2"/>
            <a:endCxn id="55" idx="1"/>
          </p:cNvCxnSpPr>
          <p:nvPr/>
        </p:nvCxnSpPr>
        <p:spPr>
          <a:xfrm rot="5400000" flipV="1">
            <a:off x="1756093" y="3805238"/>
            <a:ext cx="1443355" cy="72898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5327650" y="449135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76595" y="472249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345305" y="489140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62040" y="489140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6040120" y="517398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075680" y="5876290"/>
            <a:ext cx="648970" cy="66421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4345305" y="4123055"/>
            <a:ext cx="274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Bug Confirmation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95160" y="602424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728970" y="451167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2420" y="472313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132070" y="517398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789805" y="587629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827145" y="609600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" name="图片 6" descr="数据库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722610" y="2209165"/>
            <a:ext cx="758825" cy="758825"/>
          </a:xfrm>
          <a:prstGeom prst="rect">
            <a:avLst/>
          </a:prstGeom>
        </p:spPr>
      </p:pic>
      <p:pic>
        <p:nvPicPr>
          <p:cNvPr id="15" name="图片 14" descr="加号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42880" y="2459355"/>
            <a:ext cx="356870" cy="356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529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072245" y="4385945"/>
            <a:ext cx="758825" cy="758825"/>
          </a:xfrm>
          <a:prstGeom prst="rect">
            <a:avLst/>
          </a:prstGeom>
        </p:spPr>
      </p:pic>
      <p:pic>
        <p:nvPicPr>
          <p:cNvPr id="34" name="图片 33" descr="加号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732520" y="4636135"/>
            <a:ext cx="356870" cy="3568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/>
      <p:bldP spid="44" grpId="0" bldLvl="0" animBg="1"/>
      <p:bldP spid="47" grpId="0" bldLvl="0" animBg="1"/>
      <p:bldP spid="52" grpId="0"/>
      <p:bldP spid="65" grpId="0" bldLvl="0" animBg="1"/>
      <p:bldP spid="72" grpId="0"/>
      <p:bldP spid="73" grpId="0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554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specifications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specifications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88" name="圆角矩形 187"/>
          <p:cNvSpPr/>
          <p:nvPr>
            <p:custDataLst>
              <p:tags r:id="rId3"/>
            </p:custDataLst>
          </p:nvPr>
        </p:nvSpPr>
        <p:spPr>
          <a:xfrm>
            <a:off x="455930" y="2687955"/>
            <a:ext cx="4914265" cy="3584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189" name="图片 18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285" y="2756535"/>
            <a:ext cx="603885" cy="603885"/>
          </a:xfrm>
          <a:prstGeom prst="rect">
            <a:avLst/>
          </a:prstGeom>
        </p:spPr>
      </p:pic>
      <p:sp>
        <p:nvSpPr>
          <p:cNvPr id="190" name="文本框 189"/>
          <p:cNvSpPr txBox="1"/>
          <p:nvPr>
            <p:custDataLst>
              <p:tags r:id="rId7"/>
            </p:custDataLst>
          </p:nvPr>
        </p:nvSpPr>
        <p:spPr>
          <a:xfrm>
            <a:off x="2019935" y="2873375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91" name="圆角矩形 190"/>
          <p:cNvSpPr/>
          <p:nvPr>
            <p:custDataLst>
              <p:tags r:id="rId8"/>
            </p:custDataLst>
          </p:nvPr>
        </p:nvSpPr>
        <p:spPr>
          <a:xfrm>
            <a:off x="6471920" y="2688590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9"/>
            </p:custDataLst>
          </p:nvPr>
        </p:nvSpPr>
        <p:spPr>
          <a:xfrm>
            <a:off x="7722235" y="2876550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30060" y="2798445"/>
            <a:ext cx="699770" cy="603885"/>
          </a:xfrm>
          <a:prstGeom prst="rect">
            <a:avLst/>
          </a:prstGeom>
        </p:spPr>
      </p:pic>
      <p:pic>
        <p:nvPicPr>
          <p:cNvPr id="209" name="图片 208"/>
          <p:cNvPicPr>
            <a:picLocks noChangeAspect="1"/>
          </p:cNvPicPr>
          <p:nvPr/>
        </p:nvPicPr>
        <p:blipFill>
          <a:blip r:embed="rId13"/>
          <a:srcRect r="26800" b="26871"/>
          <a:stretch>
            <a:fillRect/>
          </a:stretch>
        </p:blipFill>
        <p:spPr>
          <a:xfrm>
            <a:off x="680085" y="3572510"/>
            <a:ext cx="4527550" cy="2378710"/>
          </a:xfrm>
          <a:prstGeom prst="rect">
            <a:avLst/>
          </a:prstGeom>
          <a:ln w="25400" cmpd="thickThin">
            <a:solidFill>
              <a:srgbClr val="000000"/>
            </a:solidFill>
            <a:prstDash val="solid"/>
          </a:ln>
        </p:spPr>
      </p:pic>
      <p:cxnSp>
        <p:nvCxnSpPr>
          <p:cNvPr id="210" name="直接箭头连接符 209"/>
          <p:cNvCxnSpPr>
            <a:stCxn id="188" idx="3"/>
            <a:endCxn id="191" idx="1"/>
          </p:cNvCxnSpPr>
          <p:nvPr/>
        </p:nvCxnSpPr>
        <p:spPr>
          <a:xfrm>
            <a:off x="5370195" y="4480560"/>
            <a:ext cx="110172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24625" y="3573145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44905"/>
            <a:ext cx="10852150" cy="85153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specifications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specifications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733915" y="6467475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293370" y="201739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5" name="图片 4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480" y="2017395"/>
            <a:ext cx="603885" cy="60388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113790" y="2110105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335915" y="566420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979170" y="5757545"/>
            <a:ext cx="20961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5765" y="5682615"/>
            <a:ext cx="699770" cy="603885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13"/>
            </p:custDataLst>
          </p:nvPr>
        </p:nvSpPr>
        <p:spPr>
          <a:xfrm>
            <a:off x="335915" y="3189605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1200785" y="3340100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knowledge e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xtractor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5765" y="3213735"/>
            <a:ext cx="708025" cy="592455"/>
          </a:xfrm>
          <a:prstGeom prst="rect">
            <a:avLst/>
          </a:prstGeom>
        </p:spPr>
      </p:pic>
      <p:sp>
        <p:nvSpPr>
          <p:cNvPr id="21" name="圆角矩形 20"/>
          <p:cNvSpPr/>
          <p:nvPr>
            <p:custDataLst>
              <p:tags r:id="rId18"/>
            </p:custDataLst>
          </p:nvPr>
        </p:nvSpPr>
        <p:spPr>
          <a:xfrm>
            <a:off x="335915" y="4514215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979170" y="4664710"/>
            <a:ext cx="280606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specification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extractor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3" name="图片 22" descr="机器人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5765" y="4538345"/>
            <a:ext cx="708025" cy="592455"/>
          </a:xfrm>
          <a:prstGeom prst="rect">
            <a:avLst/>
          </a:prstGeom>
        </p:spPr>
      </p:pic>
      <p:sp>
        <p:nvSpPr>
          <p:cNvPr id="34" name="下箭头 33"/>
          <p:cNvSpPr/>
          <p:nvPr>
            <p:custDataLst>
              <p:tags r:id="rId21"/>
            </p:custDataLst>
          </p:nvPr>
        </p:nvSpPr>
        <p:spPr>
          <a:xfrm>
            <a:off x="1374140" y="3867150"/>
            <a:ext cx="379095" cy="61341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>
            <p:custDataLst>
              <p:tags r:id="rId22"/>
            </p:custDataLst>
          </p:nvPr>
        </p:nvSpPr>
        <p:spPr>
          <a:xfrm>
            <a:off x="1374140" y="5187950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流程图: 过程 35"/>
          <p:cNvSpPr/>
          <p:nvPr/>
        </p:nvSpPr>
        <p:spPr>
          <a:xfrm>
            <a:off x="4114165" y="2017395"/>
            <a:ext cx="4436745" cy="332232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ai_picture_gb_1786506268724_hteockqc_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rcRect l="29593" t="21757" r="29843" b="21520"/>
          <a:stretch>
            <a:fillRect/>
          </a:stretch>
        </p:blipFill>
        <p:spPr>
          <a:xfrm>
            <a:off x="4208780" y="2095500"/>
            <a:ext cx="718820" cy="794385"/>
          </a:xfrm>
          <a:prstGeom prst="rect">
            <a:avLst/>
          </a:prstGeom>
          <a:ln w="19050">
            <a:noFill/>
          </a:ln>
        </p:spPr>
      </p:pic>
      <p:sp>
        <p:nvSpPr>
          <p:cNvPr id="38" name="矩形 37"/>
          <p:cNvSpPr/>
          <p:nvPr/>
        </p:nvSpPr>
        <p:spPr>
          <a:xfrm>
            <a:off x="5039360" y="2999740"/>
            <a:ext cx="3215005" cy="391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2.extract information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046980" y="3770630"/>
            <a:ext cx="3215005" cy="37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3.write knowledge.json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881870" y="1790700"/>
            <a:ext cx="2112010" cy="13995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lnSpc>
                <a:spcPct val="150000"/>
              </a:lnSpc>
            </a:pP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>
              <a:lnSpc>
                <a:spcPct val="150000"/>
              </a:lnSpc>
            </a:pP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Crawl4AI 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Docker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Container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lnSpc>
                <a:spcPct val="150000"/>
              </a:lnSpc>
            </a:pP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53235" y="3941445"/>
            <a:ext cx="1958340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4" name="下箭头 43"/>
          <p:cNvSpPr/>
          <p:nvPr>
            <p:custDataLst>
              <p:tags r:id="rId25"/>
            </p:custDataLst>
          </p:nvPr>
        </p:nvSpPr>
        <p:spPr>
          <a:xfrm>
            <a:off x="6450965" y="1769110"/>
            <a:ext cx="378460" cy="40068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408420" y="1715770"/>
            <a:ext cx="2051050" cy="322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target + version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48" name="直接箭头连接符 47"/>
          <p:cNvCxnSpPr>
            <a:stCxn id="38" idx="2"/>
            <a:endCxn id="39" idx="0"/>
          </p:cNvCxnSpPr>
          <p:nvPr/>
        </p:nvCxnSpPr>
        <p:spPr>
          <a:xfrm>
            <a:off x="6647180" y="3390900"/>
            <a:ext cx="7620" cy="379730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8300720" y="2241550"/>
            <a:ext cx="1533525" cy="635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 flipV="1">
            <a:off x="8312785" y="2472690"/>
            <a:ext cx="1483360" cy="6350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4051300" y="2863850"/>
            <a:ext cx="1057910" cy="650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 extractor 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64" name="直接连接符 63"/>
          <p:cNvCxnSpPr>
            <a:stCxn id="18" idx="3"/>
            <a:endCxn id="36" idx="1"/>
          </p:cNvCxnSpPr>
          <p:nvPr/>
        </p:nvCxnSpPr>
        <p:spPr>
          <a:xfrm>
            <a:off x="3711575" y="3567430"/>
            <a:ext cx="402590" cy="1111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1689100" y="5262245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specification.json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5430" y="5407025"/>
            <a:ext cx="205105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" name="下箭头 6"/>
          <p:cNvSpPr/>
          <p:nvPr>
            <p:custDataLst>
              <p:tags r:id="rId26"/>
            </p:custDataLst>
          </p:nvPr>
        </p:nvSpPr>
        <p:spPr>
          <a:xfrm>
            <a:off x="6455410" y="5052060"/>
            <a:ext cx="379095" cy="64198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562100" y="2767965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Web pages crawling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4" name="下箭头 13"/>
          <p:cNvSpPr/>
          <p:nvPr>
            <p:custDataLst>
              <p:tags r:id="rId27"/>
            </p:custDataLst>
          </p:nvPr>
        </p:nvSpPr>
        <p:spPr>
          <a:xfrm>
            <a:off x="1374140" y="2711450"/>
            <a:ext cx="379095" cy="44069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046980" y="2190750"/>
            <a:ext cx="3215005" cy="391160"/>
          </a:xfrm>
          <a:prstGeom prst="rect">
            <a:avLst/>
          </a:prstGeom>
          <a:ln>
            <a:solidFill>
              <a:srgbClr val="DB380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1.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Web pages crawling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81870" y="1790700"/>
            <a:ext cx="549910" cy="4965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550910" y="1978660"/>
            <a:ext cx="1163320" cy="22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webpage URL</a:t>
            </a:r>
            <a:endParaRPr lang="en-US" altLang="zh-CN" sz="12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516620" y="2435860"/>
            <a:ext cx="1279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documentation</a:t>
            </a:r>
            <a:endParaRPr lang="en-US" altLang="zh-CN" sz="12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0" name="直接箭头连接符 19"/>
          <p:cNvCxnSpPr>
            <a:stCxn id="25" idx="2"/>
          </p:cNvCxnSpPr>
          <p:nvPr/>
        </p:nvCxnSpPr>
        <p:spPr>
          <a:xfrm>
            <a:off x="6654800" y="2581910"/>
            <a:ext cx="2540" cy="417830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706870" y="2614295"/>
            <a:ext cx="12795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documentation</a:t>
            </a:r>
            <a:endParaRPr lang="en-US" altLang="zh-CN" sz="12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038725" y="4478655"/>
            <a:ext cx="3223260" cy="573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4. Endpoint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coverage 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self-check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9" name="直接箭头连接符 28"/>
          <p:cNvCxnSpPr>
            <a:stCxn id="39" idx="2"/>
            <a:endCxn id="28" idx="0"/>
          </p:cNvCxnSpPr>
          <p:nvPr/>
        </p:nvCxnSpPr>
        <p:spPr>
          <a:xfrm flipH="1">
            <a:off x="6650355" y="4147820"/>
            <a:ext cx="4445" cy="330835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6642735" y="5052060"/>
            <a:ext cx="4445" cy="330835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6615430" y="5024755"/>
            <a:ext cx="666115" cy="25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41" name="肘形连接符 40"/>
          <p:cNvCxnSpPr>
            <a:stCxn id="28" idx="3"/>
            <a:endCxn id="38" idx="3"/>
          </p:cNvCxnSpPr>
          <p:nvPr/>
        </p:nvCxnSpPr>
        <p:spPr>
          <a:xfrm flipH="1" flipV="1">
            <a:off x="8254365" y="3195320"/>
            <a:ext cx="7620" cy="1570355"/>
          </a:xfrm>
          <a:prstGeom prst="bentConnector3">
            <a:avLst>
              <a:gd name="adj1" fmla="val -5925000"/>
            </a:avLst>
          </a:prstGeom>
          <a:ln w="254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8634095" y="3736975"/>
            <a:ext cx="666115" cy="487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not 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51" grpId="0"/>
      <p:bldP spid="40" grpId="0" animBg="1"/>
      <p:bldP spid="44" grpId="0" animBg="1"/>
      <p:bldP spid="46" grpId="0"/>
      <p:bldP spid="25" grpId="0" animBg="1"/>
      <p:bldP spid="11" grpId="0"/>
      <p:bldP spid="17" grpId="0"/>
      <p:bldP spid="24" grpId="0"/>
      <p:bldP spid="38" grpId="0" animBg="1"/>
      <p:bldP spid="39" grpId="0" animBg="1"/>
      <p:bldP spid="2" grpId="0"/>
      <p:bldP spid="7" grpId="0" animBg="1"/>
      <p:bldP spid="28" grpId="0" bldLvl="0" animBg="1"/>
      <p:bldP spid="3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77991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174625"/>
            <a:ext cx="651256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Knowledge </a:t>
            </a:r>
            <a:r>
              <a:rPr lang="en-US" altLang="zh-CN" sz="3600" b="1" dirty="0" err="1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template</a:t>
            </a:r>
            <a:endParaRPr lang="en-US" altLang="zh-CN" sz="3600" b="1" dirty="0" err="1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349355" y="6354445"/>
            <a:ext cx="440690" cy="3536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3"/>
            </p:custDataLst>
          </p:nvPr>
        </p:nvSpPr>
        <p:spPr>
          <a:xfrm>
            <a:off x="362585" y="934085"/>
            <a:ext cx="11282680" cy="56476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8185" y="1039495"/>
            <a:ext cx="5303520" cy="5443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latin typeface="Cambria" panose="02040503050406030204" charset="0"/>
                <a:cs typeface="Cambria" panose="02040503050406030204" charset="0"/>
                <a:sym typeface="+mn-ea"/>
              </a:rPr>
              <a:t>文件命名：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{target} v{version} API Knowledge</a:t>
            </a:r>
            <a:endParaRPr lang="en-US" altLang="zh-CN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6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6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Document Metadata</a:t>
            </a:r>
            <a:endParaRPr lang="en-US" altLang="zh-CN" sz="14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doc_version: {actual_document_version}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target_version: {target_version}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version_match: {major.minor 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匹配结果: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matched | mismatched}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source_url: {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文档首页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URL}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fetched_at: {ISO 8601 timestamp}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 b="1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 Sources</a:t>
            </a:r>
            <a:endParaRPr lang="en-US" altLang="zh-CN" sz="1400" b="1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# | URL | Doc Version | Fetched At | Version Match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|---|-----|-------------|------------|---------------|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1 | {url_1} | {version_1} | {timestamp_1} | matched/mismatched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2 | {url_2} | {version_2} | {timestamp_2} | matched/mismatched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...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7315" y="1039495"/>
            <a:ext cx="4939030" cy="5668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API Endpoints / SQL Operations</a:t>
            </a:r>
            <a:endParaRPr lang="en-US" altLang="zh-CN" sz="16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{category_name}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 b="1">
                <a:latin typeface="Cambria" panose="02040503050406030204" charset="0"/>
                <a:cs typeface="Cambria" panose="02040503050406030204" charset="0"/>
                <a:sym typeface="+mn-ea"/>
              </a:rPr>
              <a:t>{endpoint_name}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Method: {HTTP_METHOD}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Path: {path}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Source URL: {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该端点文档的具体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URL}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Doc Version: {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该页面的文档版本}</a:t>
            </a:r>
            <a:endParaRPr lang="zh-CN" altLang="en-US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Parameters: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{param_name} ({type}, required={true/false}): {description}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Constraints: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type: {type_constraint}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range: {range_constraint}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state: {state_constraint}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behavioral: {behavioral_contract}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others: {others_constraint}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Expected Responses: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- 200: {description}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- 400: {description}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- 404: {description}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- ...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Data Types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{type_name}: {description}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005830" y="1033780"/>
            <a:ext cx="9525" cy="5440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77991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349355" y="6354445"/>
            <a:ext cx="440690" cy="3536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2"/>
            </p:custDataLst>
          </p:nvPr>
        </p:nvSpPr>
        <p:spPr>
          <a:xfrm>
            <a:off x="362585" y="934085"/>
            <a:ext cx="11477625" cy="56476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18185" y="1039495"/>
            <a:ext cx="5437505" cy="5443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latin typeface="Cambria" panose="02040503050406030204" charset="0"/>
                <a:cs typeface="Cambria" panose="02040503050406030204" charset="0"/>
                <a:sym typeface="+mn-ea"/>
              </a:rPr>
              <a:t>文件命名：</a:t>
            </a:r>
            <a:r>
              <a:rPr lang="en-US" altLang="zh-CN" sz="2000" b="1">
                <a:latin typeface="Cambria" panose="02040503050406030204" charset="0"/>
                <a:cs typeface="Cambria" panose="02040503050406030204" charset="0"/>
                <a:sym typeface="+mn-ea"/>
              </a:rPr>
              <a:t>{target} v{version} API Knowledge</a:t>
            </a:r>
            <a:endParaRPr lang="en-US" altLang="zh-CN" sz="20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20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6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Document Metadata</a:t>
            </a:r>
            <a:endParaRPr lang="en-US" altLang="zh-CN" sz="14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doc_version: {actual_document_version}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target_version: {target_version}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version_match: {major.minor 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匹配结果: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matched | mismatched}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source_url: {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文档首页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URL}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- fetched_at: {ISO 8601 timestamp}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 b="1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1600" b="1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 Sources</a:t>
            </a:r>
            <a:endParaRPr lang="en-US" altLang="zh-CN" sz="1400" b="1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# | URL | Doc Version | Fetched At | Version Match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|---|-----|-------------|------------|---------------|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1 | {url_1} | {version_1} | {timestamp_1} | matched/mismatched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2 | {url_2} | {version_2} | {timestamp_2} | matched/mismatched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| ... |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cxnSp>
        <p:nvCxnSpPr>
          <p:cNvPr id="5" name="直接连接符 4"/>
          <p:cNvCxnSpPr>
            <a:stCxn id="6" idx="3"/>
            <a:endCxn id="7" idx="1"/>
          </p:cNvCxnSpPr>
          <p:nvPr/>
        </p:nvCxnSpPr>
        <p:spPr>
          <a:xfrm>
            <a:off x="2756535" y="2340610"/>
            <a:ext cx="3734435" cy="116459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18185" y="2181860"/>
            <a:ext cx="2038350" cy="317500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490970" y="2390775"/>
            <a:ext cx="4991735" cy="22282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000" b="1">
                <a:solidFill>
                  <a:schemeClr val="tx2"/>
                </a:solidFill>
              </a:rPr>
              <a:t>Check</a:t>
            </a:r>
            <a:r>
              <a:rPr lang="en-US" altLang="zh-CN" sz="2000">
                <a:solidFill>
                  <a:schemeClr val="tx2"/>
                </a:solidFill>
              </a:rPr>
              <a:t> whether the </a:t>
            </a:r>
            <a:r>
              <a:rPr lang="en-US" altLang="zh-CN" sz="2000" b="1">
                <a:solidFill>
                  <a:schemeClr val="tx2"/>
                </a:solidFill>
              </a:rPr>
              <a:t>document version</a:t>
            </a:r>
            <a:r>
              <a:rPr lang="en-US" altLang="zh-CN" sz="2000">
                <a:solidFill>
                  <a:schemeClr val="tx2"/>
                </a:solidFill>
              </a:rPr>
              <a:t> aligns with our </a:t>
            </a:r>
            <a:r>
              <a:rPr lang="en-US" altLang="zh-CN" sz="2000" b="1">
                <a:solidFill>
                  <a:schemeClr val="tx2"/>
                </a:solidFill>
              </a:rPr>
              <a:t>target version</a:t>
            </a:r>
            <a:r>
              <a:rPr lang="en-US" altLang="zh-CN" sz="2000">
                <a:solidFill>
                  <a:schemeClr val="tx2"/>
                </a:solidFill>
              </a:rPr>
              <a:t>, which is the </a:t>
            </a:r>
            <a:r>
              <a:rPr lang="en-US" altLang="zh-CN" sz="2000" b="1">
                <a:solidFill>
                  <a:schemeClr val="tx2"/>
                </a:solidFill>
              </a:rPr>
              <a:t>precondition</a:t>
            </a:r>
            <a:r>
              <a:rPr lang="en-US" altLang="zh-CN" sz="2000">
                <a:solidFill>
                  <a:schemeClr val="tx2"/>
                </a:solidFill>
              </a:rPr>
              <a:t> for the behavioral specifications to be effectively used to test the target VDBMS.</a:t>
            </a:r>
            <a:endParaRPr lang="en-US" altLang="zh-CN" sz="2000">
              <a:solidFill>
                <a:schemeClr val="tx2"/>
              </a:solidFill>
            </a:endParaRPr>
          </a:p>
        </p:txBody>
      </p:sp>
      <p:sp>
        <p:nvSpPr>
          <p:cNvPr id="10" name="MH_Others_1"/>
          <p:cNvSpPr txBox="1"/>
          <p:nvPr>
            <p:custDataLst>
              <p:tags r:id="rId3"/>
            </p:custDataLst>
          </p:nvPr>
        </p:nvSpPr>
        <p:spPr>
          <a:xfrm>
            <a:off x="718185" y="174625"/>
            <a:ext cx="651256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Knowledge </a:t>
            </a:r>
            <a:r>
              <a:rPr lang="en-US" altLang="zh-CN" sz="3600" b="1" dirty="0" err="1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template</a:t>
            </a:r>
            <a:endParaRPr lang="en-US" altLang="zh-CN" sz="3600" b="1" dirty="0" err="1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cxnSp>
        <p:nvCxnSpPr>
          <p:cNvPr id="11" name="直接连接符 10"/>
          <p:cNvCxnSpPr>
            <a:stCxn id="13" idx="3"/>
            <a:endCxn id="7" idx="1"/>
          </p:cNvCxnSpPr>
          <p:nvPr/>
        </p:nvCxnSpPr>
        <p:spPr>
          <a:xfrm flipV="1">
            <a:off x="2756535" y="3505200"/>
            <a:ext cx="3734435" cy="36639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18185" y="3712845"/>
            <a:ext cx="2038350" cy="317500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005830" y="1033780"/>
            <a:ext cx="9525" cy="5440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77991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349355" y="6354445"/>
            <a:ext cx="440690" cy="3536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2"/>
            </p:custDataLst>
          </p:nvPr>
        </p:nvSpPr>
        <p:spPr>
          <a:xfrm>
            <a:off x="121920" y="934085"/>
            <a:ext cx="11605260" cy="57613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457315" y="1039495"/>
            <a:ext cx="4939030" cy="5239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API Endpoints / SQL Operations</a:t>
            </a:r>
            <a:endParaRPr lang="en-US" altLang="zh-CN" sz="16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400" b="1">
                <a:latin typeface="Cambria" panose="02040503050406030204" charset="0"/>
                <a:cs typeface="Cambria" panose="02040503050406030204" charset="0"/>
                <a:sym typeface="+mn-ea"/>
              </a:rPr>
              <a:t>{category_name}</a:t>
            </a:r>
            <a:endParaRPr lang="en-US" altLang="zh-CN" sz="14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 b="1">
                <a:latin typeface="Cambria" panose="02040503050406030204" charset="0"/>
                <a:cs typeface="Cambria" panose="02040503050406030204" charset="0"/>
                <a:sym typeface="+mn-ea"/>
              </a:rPr>
              <a:t>{endpoint_name}</a:t>
            </a:r>
            <a:endParaRPr lang="en-US" altLang="zh-CN" sz="1200" b="1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Method: {HTTP_METHOD}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Path: {path}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Source URL: {</a:t>
            </a:r>
            <a:r>
              <a:rPr lang="zh-CN" altLang="en-US" sz="1200">
                <a:latin typeface="Cambria" panose="02040503050406030204" charset="0"/>
                <a:cs typeface="Cambria" panose="02040503050406030204" charset="0"/>
                <a:sym typeface="+mn-ea"/>
              </a:rPr>
              <a:t>该端点文档的具体 </a:t>
            </a:r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URL}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Doc Version: {</a:t>
            </a:r>
            <a:r>
              <a:rPr lang="zh-CN" altLang="en-US" sz="1200">
                <a:latin typeface="Cambria" panose="02040503050406030204" charset="0"/>
                <a:cs typeface="Cambria" panose="02040503050406030204" charset="0"/>
                <a:sym typeface="+mn-ea"/>
              </a:rPr>
              <a:t>该页面的文档版本}</a:t>
            </a:r>
            <a:endParaRPr lang="zh-CN" altLang="en-US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Parameters: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{param_name} ({type}, required={true/false}): {description}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Constraints: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type: {type_constraint}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range: {range_constraint}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state: {state_constraint}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behavioral: {behavioral_contract}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others: {others_constraint}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Expected Responses: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- 200: {description}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- 404: {description}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  - ...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600" b="1">
                <a:latin typeface="Cambria" panose="02040503050406030204" charset="0"/>
                <a:cs typeface="Cambria" panose="02040503050406030204" charset="0"/>
                <a:sym typeface="+mn-ea"/>
              </a:rPr>
              <a:t>Data Types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  <a:sym typeface="+mn-ea"/>
              </a:rPr>
              <a:t>- {type_name}: {description}</a:t>
            </a:r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endParaRPr lang="en-US" altLang="zh-CN" sz="12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3" name="MH_Others_1"/>
          <p:cNvSpPr txBox="1"/>
          <p:nvPr>
            <p:custDataLst>
              <p:tags r:id="rId3"/>
            </p:custDataLst>
          </p:nvPr>
        </p:nvSpPr>
        <p:spPr>
          <a:xfrm>
            <a:off x="718185" y="174625"/>
            <a:ext cx="651256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Knowledge </a:t>
            </a:r>
            <a:r>
              <a:rPr lang="en-US" altLang="zh-CN" sz="3600" b="1" dirty="0" err="1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template</a:t>
            </a:r>
            <a:endParaRPr lang="en-US" altLang="zh-CN" sz="3600" b="1" dirty="0" err="1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1820" y="1130300"/>
            <a:ext cx="4897120" cy="108648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2000" b="1">
              <a:solidFill>
                <a:schemeClr val="tx2"/>
              </a:solidFill>
            </a:endParaRPr>
          </a:p>
          <a:p>
            <a:pPr algn="l"/>
            <a:r>
              <a:rPr lang="en-US" altLang="zh-CN">
                <a:solidFill>
                  <a:schemeClr val="tx2"/>
                </a:solidFill>
              </a:rPr>
              <a:t>1. Group by the way the</a:t>
            </a:r>
            <a:r>
              <a:rPr lang="en-US" altLang="zh-CN" b="1">
                <a:solidFill>
                  <a:schemeClr val="tx2"/>
                </a:solidFill>
              </a:rPr>
              <a:t> official documentation organizes document information.</a:t>
            </a:r>
            <a:endParaRPr lang="en-US" altLang="zh-CN" b="1">
              <a:solidFill>
                <a:schemeClr val="tx2"/>
              </a:solidFill>
            </a:endParaRPr>
          </a:p>
          <a:p>
            <a:pPr algn="l"/>
            <a:endParaRPr lang="en-US" altLang="zh-CN" b="1">
              <a:solidFill>
                <a:schemeClr val="tx2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57315" y="1510030"/>
            <a:ext cx="2038350" cy="269875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6" idx="1"/>
            <a:endCxn id="7" idx="3"/>
          </p:cNvCxnSpPr>
          <p:nvPr/>
        </p:nvCxnSpPr>
        <p:spPr>
          <a:xfrm flipH="1">
            <a:off x="5488940" y="1645285"/>
            <a:ext cx="968375" cy="2857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457315" y="1869440"/>
            <a:ext cx="2038350" cy="247650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4835" y="2307590"/>
            <a:ext cx="4904105" cy="58547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tx2"/>
                </a:solidFill>
              </a:rPr>
              <a:t>2.</a:t>
            </a:r>
            <a:r>
              <a:rPr lang="en-US" altLang="zh-CN">
                <a:solidFill>
                  <a:schemeClr val="tx2"/>
                </a:solidFill>
              </a:rPr>
              <a:t>G</a:t>
            </a:r>
            <a:r>
              <a:rPr lang="en-US" altLang="zh-CN">
                <a:solidFill>
                  <a:schemeClr val="tx2"/>
                </a:solidFill>
              </a:rPr>
              <a:t>roup by </a:t>
            </a:r>
            <a:r>
              <a:rPr lang="en-US" altLang="zh-CN" b="1">
                <a:solidFill>
                  <a:schemeClr val="tx2"/>
                </a:solidFill>
              </a:rPr>
              <a:t>API endpoint.</a:t>
            </a:r>
            <a:endParaRPr lang="en-US" altLang="zh-CN" b="1">
              <a:solidFill>
                <a:schemeClr val="tx2"/>
              </a:solidFill>
            </a:endParaRPr>
          </a:p>
        </p:txBody>
      </p:sp>
      <p:cxnSp>
        <p:nvCxnSpPr>
          <p:cNvPr id="11" name="直接连接符 10"/>
          <p:cNvCxnSpPr>
            <a:stCxn id="9" idx="1"/>
            <a:endCxn id="10" idx="3"/>
          </p:cNvCxnSpPr>
          <p:nvPr/>
        </p:nvCxnSpPr>
        <p:spPr>
          <a:xfrm flipH="1">
            <a:off x="5488940" y="1993265"/>
            <a:ext cx="968375" cy="60706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457315" y="2249805"/>
            <a:ext cx="5016500" cy="2941955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连接符 13"/>
          <p:cNvCxnSpPr>
            <a:endCxn id="15" idx="3"/>
          </p:cNvCxnSpPr>
          <p:nvPr/>
        </p:nvCxnSpPr>
        <p:spPr>
          <a:xfrm flipH="1">
            <a:off x="5488940" y="3655060"/>
            <a:ext cx="968375" cy="41529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86105" y="2988945"/>
            <a:ext cx="4902835" cy="21628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tx2"/>
                </a:solidFill>
              </a:rPr>
              <a:t>3.</a:t>
            </a:r>
            <a:r>
              <a:rPr lang="en-US" altLang="zh-CN">
                <a:solidFill>
                  <a:schemeClr val="tx2"/>
                </a:solidFill>
              </a:rPr>
              <a:t>Record:</a:t>
            </a:r>
            <a:br>
              <a:rPr lang="en-US" altLang="zh-CN">
                <a:solidFill>
                  <a:schemeClr val="tx2"/>
                </a:solidFill>
              </a:rPr>
            </a:br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①</a:t>
            </a:r>
            <a:r>
              <a:rPr lang="en-US" altLang="zh-CN" b="1">
                <a:solidFill>
                  <a:schemeClr val="tx2"/>
                </a:solidFill>
              </a:rPr>
              <a:t>parameter requirements</a:t>
            </a:r>
            <a:r>
              <a:rPr lang="zh-CN" altLang="en-US">
                <a:solidFill>
                  <a:schemeClr val="tx2"/>
                </a:solidFill>
              </a:rPr>
              <a:t>；</a:t>
            </a:r>
            <a:r>
              <a:rPr lang="en-US" altLang="zh-CN">
                <a:solidFill>
                  <a:schemeClr val="tx2"/>
                </a:solidFill>
              </a:rPr>
              <a:t> </a:t>
            </a:r>
            <a:endParaRPr lang="en-US" altLang="zh-CN">
              <a:solidFill>
                <a:schemeClr val="tx2"/>
              </a:solidFill>
            </a:endParaRPr>
          </a:p>
          <a:p>
            <a:pPr algn="l"/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②</a:t>
            </a:r>
            <a:r>
              <a:rPr lang="en-US" altLang="zh-CN" b="1">
                <a:solidFill>
                  <a:schemeClr val="tx2"/>
                </a:solidFill>
              </a:rPr>
              <a:t>constraint information</a:t>
            </a:r>
            <a:r>
              <a:rPr lang="en-US" altLang="zh-CN">
                <a:solidFill>
                  <a:schemeClr val="tx2"/>
                </a:solidFill>
              </a:rPr>
              <a:t> (categorized by type, range, state, and behavioral)</a:t>
            </a:r>
            <a:r>
              <a:rPr lang="zh-CN" altLang="en-US">
                <a:solidFill>
                  <a:schemeClr val="tx2"/>
                </a:solidFill>
              </a:rPr>
              <a:t>；</a:t>
            </a:r>
            <a:endParaRPr lang="en-US" altLang="zh-CN">
              <a:solidFill>
                <a:schemeClr val="tx2"/>
              </a:solidFill>
            </a:endParaRPr>
          </a:p>
          <a:p>
            <a:pPr algn="l"/>
            <a:r>
              <a:rPr lang="en-US" altLang="zh-CN">
                <a:solidFill>
                  <a:schemeClr val="tx2"/>
                </a:solidFill>
              </a:rPr>
              <a:t> </a:t>
            </a:r>
            <a:r>
              <a:rPr lang="zh-CN" altLang="en-US">
                <a:solidFill>
                  <a:schemeClr val="tx2"/>
                </a:solidFill>
              </a:rPr>
              <a:t>③</a:t>
            </a:r>
            <a:r>
              <a:rPr lang="en-US" altLang="zh-CN" b="1">
                <a:solidFill>
                  <a:schemeClr val="tx2"/>
                </a:solidFill>
              </a:rPr>
              <a:t>response code conventions</a:t>
            </a:r>
            <a:r>
              <a:rPr lang="zh-CN" altLang="en-US">
                <a:solidFill>
                  <a:schemeClr val="tx2"/>
                </a:solidFill>
              </a:rPr>
              <a:t>；</a:t>
            </a:r>
            <a:endParaRPr lang="en-US" altLang="zh-CN">
              <a:solidFill>
                <a:schemeClr val="tx2"/>
              </a:solidFill>
            </a:endParaRPr>
          </a:p>
          <a:p>
            <a:pPr algn="l"/>
            <a:r>
              <a:rPr lang="en-US" altLang="zh-CN">
                <a:solidFill>
                  <a:schemeClr val="tx2"/>
                </a:solidFill>
              </a:rPr>
              <a:t>and bind this information to the </a:t>
            </a:r>
            <a:r>
              <a:rPr lang="en-US" altLang="zh-CN" b="1">
                <a:solidFill>
                  <a:schemeClr val="tx2"/>
                </a:solidFill>
              </a:rPr>
              <a:t>source webpage link</a:t>
            </a:r>
            <a:r>
              <a:rPr lang="en-US" altLang="zh-CN">
                <a:solidFill>
                  <a:schemeClr val="tx2"/>
                </a:solidFill>
              </a:rPr>
              <a:t>.</a:t>
            </a:r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1820" y="5247640"/>
            <a:ext cx="4902835" cy="12306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b="1">
                <a:solidFill>
                  <a:schemeClr val="tx2"/>
                </a:solidFill>
              </a:rPr>
              <a:t>4.</a:t>
            </a:r>
            <a:r>
              <a:rPr lang="en-US" altLang="zh-CN">
                <a:solidFill>
                  <a:schemeClr val="tx2"/>
                </a:solidFill>
              </a:rPr>
              <a:t>Record the </a:t>
            </a:r>
            <a:r>
              <a:rPr lang="en-US" altLang="zh-CN" b="1">
                <a:solidFill>
                  <a:schemeClr val="tx2"/>
                </a:solidFill>
              </a:rPr>
              <a:t>definitions</a:t>
            </a:r>
            <a:r>
              <a:rPr lang="en-US" altLang="zh-CN">
                <a:solidFill>
                  <a:schemeClr val="tx2"/>
                </a:solidFill>
              </a:rPr>
              <a:t> of the database's </a:t>
            </a:r>
            <a:r>
              <a:rPr lang="en-US" altLang="zh-CN" b="1">
                <a:solidFill>
                  <a:schemeClr val="tx2"/>
                </a:solidFill>
              </a:rPr>
              <a:t>custom or specific types</a:t>
            </a:r>
            <a:r>
              <a:rPr lang="en-US" altLang="zh-CN">
                <a:solidFill>
                  <a:schemeClr val="tx2"/>
                </a:solidFill>
              </a:rPr>
              <a:t>, which can be used as a reference for organizing “</a:t>
            </a:r>
            <a:r>
              <a:rPr lang="en-US" altLang="zh-CN" b="1">
                <a:solidFill>
                  <a:schemeClr val="tx2"/>
                </a:solidFill>
              </a:rPr>
              <a:t>type boundary attacks</a:t>
            </a:r>
            <a:r>
              <a:rPr lang="en-US" altLang="zh-CN">
                <a:solidFill>
                  <a:schemeClr val="tx2"/>
                </a:solidFill>
              </a:rPr>
              <a:t>”.</a:t>
            </a:r>
            <a:endParaRPr lang="en-US" altLang="zh-CN">
              <a:solidFill>
                <a:schemeClr val="tx2"/>
              </a:solidFill>
            </a:endParaRPr>
          </a:p>
        </p:txBody>
      </p:sp>
      <p:cxnSp>
        <p:nvCxnSpPr>
          <p:cNvPr id="17" name="直接连接符 16"/>
          <p:cNvCxnSpPr>
            <a:stCxn id="18" idx="1"/>
            <a:endCxn id="16" idx="3"/>
          </p:cNvCxnSpPr>
          <p:nvPr/>
        </p:nvCxnSpPr>
        <p:spPr>
          <a:xfrm flipH="1">
            <a:off x="5494655" y="5638800"/>
            <a:ext cx="962660" cy="224155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457315" y="5324475"/>
            <a:ext cx="2038350" cy="628015"/>
          </a:xfrm>
          <a:prstGeom prst="rect">
            <a:avLst/>
          </a:prstGeom>
          <a:noFill/>
          <a:ln w="28575" cmpd="sng">
            <a:solidFill>
              <a:srgbClr val="DB380E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>
            <a:off x="6005830" y="1033780"/>
            <a:ext cx="9525" cy="5440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" grpId="0" bldLvl="0" animBg="1"/>
      <p:bldP spid="10" grpId="0" animBg="1"/>
      <p:bldP spid="9" grpId="0" bldLvl="0" animBg="1"/>
      <p:bldP spid="13" grpId="0" bldLvl="0" animBg="1"/>
      <p:bldP spid="15" grpId="0" animBg="1"/>
      <p:bldP spid="16" grpId="0" animBg="1"/>
      <p:bldP spid="1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2685"/>
            <a:ext cx="10852150" cy="85153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specifications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specifications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341100" y="6467475"/>
            <a:ext cx="327660" cy="307975"/>
          </a:xfrm>
        </p:spPr>
        <p:txBody>
          <a:bodyPr>
            <a:normAutofit/>
          </a:bodyPr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92405" y="218567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5" name="图片 4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515" y="2185670"/>
            <a:ext cx="603885" cy="60388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012825" y="2278380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192405" y="563816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835660" y="5656580"/>
            <a:ext cx="20961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255" y="5656580"/>
            <a:ext cx="699770" cy="603885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13"/>
            </p:custDataLst>
          </p:nvPr>
        </p:nvSpPr>
        <p:spPr>
          <a:xfrm>
            <a:off x="192405" y="3163570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1057275" y="3314065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knowledge e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xtractor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255" y="3187700"/>
            <a:ext cx="708025" cy="592455"/>
          </a:xfrm>
          <a:prstGeom prst="rect">
            <a:avLst/>
          </a:prstGeom>
        </p:spPr>
      </p:pic>
      <p:sp>
        <p:nvSpPr>
          <p:cNvPr id="21" name="圆角矩形 20"/>
          <p:cNvSpPr/>
          <p:nvPr>
            <p:custDataLst>
              <p:tags r:id="rId18"/>
            </p:custDataLst>
          </p:nvPr>
        </p:nvSpPr>
        <p:spPr>
          <a:xfrm>
            <a:off x="192405" y="4488180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057275" y="4512310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specification extractor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3" name="图片 22" descr="机器人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255" y="4512310"/>
            <a:ext cx="708025" cy="592455"/>
          </a:xfrm>
          <a:prstGeom prst="rect">
            <a:avLst/>
          </a:prstGeom>
        </p:spPr>
      </p:pic>
      <p:sp>
        <p:nvSpPr>
          <p:cNvPr id="32" name="下箭头 31"/>
          <p:cNvSpPr/>
          <p:nvPr>
            <p:custDataLst>
              <p:tags r:id="rId21"/>
            </p:custDataLst>
          </p:nvPr>
        </p:nvSpPr>
        <p:spPr>
          <a:xfrm>
            <a:off x="1230630" y="286004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下箭头 33"/>
          <p:cNvSpPr/>
          <p:nvPr>
            <p:custDataLst>
              <p:tags r:id="rId22"/>
            </p:custDataLst>
          </p:nvPr>
        </p:nvSpPr>
        <p:spPr>
          <a:xfrm>
            <a:off x="1230630" y="3841115"/>
            <a:ext cx="379095" cy="61341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>
            <p:custDataLst>
              <p:tags r:id="rId23"/>
            </p:custDataLst>
          </p:nvPr>
        </p:nvSpPr>
        <p:spPr>
          <a:xfrm>
            <a:off x="1230630" y="5161915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344930" y="3915410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479540" y="1685925"/>
            <a:ext cx="1933575" cy="328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52" name="流程图: 过程 51"/>
          <p:cNvSpPr/>
          <p:nvPr/>
        </p:nvSpPr>
        <p:spPr>
          <a:xfrm>
            <a:off x="3893820" y="2031365"/>
            <a:ext cx="3672205" cy="424688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 descr="ai_picture_gb_1786506268724_hteockqc_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rcRect l="29593" t="21757" r="29843" b="21520"/>
          <a:stretch>
            <a:fillRect/>
          </a:stretch>
        </p:blipFill>
        <p:spPr>
          <a:xfrm>
            <a:off x="4133850" y="2092325"/>
            <a:ext cx="718820" cy="794385"/>
          </a:xfrm>
          <a:prstGeom prst="rect">
            <a:avLst/>
          </a:prstGeom>
          <a:ln w="19050">
            <a:noFill/>
          </a:ln>
        </p:spPr>
      </p:pic>
      <p:sp>
        <p:nvSpPr>
          <p:cNvPr id="55" name="矩形 54"/>
          <p:cNvSpPr/>
          <p:nvPr/>
        </p:nvSpPr>
        <p:spPr>
          <a:xfrm>
            <a:off x="5266055" y="2204720"/>
            <a:ext cx="2052955" cy="638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1.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constraints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categor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ization  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266055" y="4843780"/>
            <a:ext cx="2052955" cy="7943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3.Source verification check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893820" y="2860675"/>
            <a:ext cx="1246505" cy="650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 extractor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65" name="直接连接符 64"/>
          <p:cNvCxnSpPr>
            <a:stCxn id="22" idx="3"/>
            <a:endCxn id="52" idx="1"/>
          </p:cNvCxnSpPr>
          <p:nvPr/>
        </p:nvCxnSpPr>
        <p:spPr>
          <a:xfrm flipV="1">
            <a:off x="3568065" y="4154805"/>
            <a:ext cx="325755" cy="5848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下箭头 44"/>
          <p:cNvSpPr/>
          <p:nvPr>
            <p:custDataLst>
              <p:tags r:id="rId26"/>
            </p:custDataLst>
          </p:nvPr>
        </p:nvSpPr>
        <p:spPr>
          <a:xfrm>
            <a:off x="6099810" y="1779270"/>
            <a:ext cx="379095" cy="37655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5266055" y="3511550"/>
            <a:ext cx="2052955" cy="734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2. Evidence level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ing + filter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46530" y="5128260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69" name="直接箭头连接符 68"/>
          <p:cNvCxnSpPr>
            <a:stCxn id="66" idx="2"/>
            <a:endCxn id="56" idx="0"/>
          </p:cNvCxnSpPr>
          <p:nvPr/>
        </p:nvCxnSpPr>
        <p:spPr>
          <a:xfrm>
            <a:off x="6292850" y="4246245"/>
            <a:ext cx="0" cy="597535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stCxn id="55" idx="2"/>
            <a:endCxn id="66" idx="0"/>
          </p:cNvCxnSpPr>
          <p:nvPr/>
        </p:nvCxnSpPr>
        <p:spPr>
          <a:xfrm>
            <a:off x="6292850" y="2843530"/>
            <a:ext cx="0" cy="668020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下箭头 10"/>
          <p:cNvSpPr/>
          <p:nvPr>
            <p:custDataLst>
              <p:tags r:id="rId27"/>
            </p:custDataLst>
          </p:nvPr>
        </p:nvSpPr>
        <p:spPr>
          <a:xfrm>
            <a:off x="6099810" y="6272530"/>
            <a:ext cx="379730" cy="37655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479540" y="6346190"/>
            <a:ext cx="2271395" cy="302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25" name="流程图: 过程 24"/>
          <p:cNvSpPr/>
          <p:nvPr/>
        </p:nvSpPr>
        <p:spPr>
          <a:xfrm>
            <a:off x="9070340" y="1685925"/>
            <a:ext cx="2476500" cy="1711325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9146540" y="1779270"/>
            <a:ext cx="2324735" cy="900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constraints: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(type/range/state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/behavior/</a:t>
            </a: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others)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9" name="流程图: 过程 28"/>
          <p:cNvSpPr/>
          <p:nvPr/>
        </p:nvSpPr>
        <p:spPr>
          <a:xfrm>
            <a:off x="9070340" y="3511550"/>
            <a:ext cx="2477135" cy="1386205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146540" y="3596640"/>
            <a:ext cx="2324735" cy="12134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evidence_</a:t>
            </a: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labels: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  explicit/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inferred_from_example/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inferred_from_behavior/convention  ) 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流程图: 过程 37"/>
          <p:cNvSpPr/>
          <p:nvPr/>
        </p:nvSpPr>
        <p:spPr>
          <a:xfrm>
            <a:off x="9070340" y="5002530"/>
            <a:ext cx="2477135" cy="1367790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146540" y="5087620"/>
            <a:ext cx="2324735" cy="11195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For each constraint: fetch source_url + verify genuine containment of the assertion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40" name="直接箭头连接符 39"/>
          <p:cNvCxnSpPr>
            <a:endCxn id="11" idx="0"/>
          </p:cNvCxnSpPr>
          <p:nvPr/>
        </p:nvCxnSpPr>
        <p:spPr>
          <a:xfrm flipH="1">
            <a:off x="6289675" y="5638165"/>
            <a:ext cx="3175" cy="634365"/>
          </a:xfrm>
          <a:prstGeom prst="straightConnector1">
            <a:avLst/>
          </a:prstGeom>
          <a:ln w="25400">
            <a:solidFill>
              <a:srgbClr val="000000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56" idx="3"/>
            <a:endCxn id="55" idx="3"/>
          </p:cNvCxnSpPr>
          <p:nvPr/>
        </p:nvCxnSpPr>
        <p:spPr>
          <a:xfrm flipV="1">
            <a:off x="7319010" y="2524125"/>
            <a:ext cx="3175" cy="2717165"/>
          </a:xfrm>
          <a:prstGeom prst="bentConnector3">
            <a:avLst>
              <a:gd name="adj1" fmla="val 16560000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6289675" y="5826125"/>
            <a:ext cx="666115" cy="2584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747000" y="3635375"/>
            <a:ext cx="666115" cy="4870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not 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50" name="直接连接符 49"/>
          <p:cNvCxnSpPr>
            <a:stCxn id="55" idx="3"/>
            <a:endCxn id="25" idx="1"/>
          </p:cNvCxnSpPr>
          <p:nvPr/>
        </p:nvCxnSpPr>
        <p:spPr>
          <a:xfrm>
            <a:off x="7319010" y="2524125"/>
            <a:ext cx="1751330" cy="17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66" idx="3"/>
            <a:endCxn id="29" idx="1"/>
          </p:cNvCxnSpPr>
          <p:nvPr/>
        </p:nvCxnSpPr>
        <p:spPr>
          <a:xfrm>
            <a:off x="7319010" y="3879215"/>
            <a:ext cx="1751330" cy="3257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56" idx="3"/>
            <a:endCxn id="38" idx="1"/>
          </p:cNvCxnSpPr>
          <p:nvPr/>
        </p:nvCxnSpPr>
        <p:spPr>
          <a:xfrm>
            <a:off x="7319010" y="5241290"/>
            <a:ext cx="1751330" cy="445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130665" y="2763520"/>
            <a:ext cx="2340610" cy="550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constraint </a:t>
            </a: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level: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endpoint/</a:t>
            </a: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system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2" grpId="0" animBg="1"/>
      <p:bldP spid="55" grpId="0" animBg="1"/>
      <p:bldP spid="56" grpId="0" animBg="1"/>
      <p:bldP spid="63" grpId="0"/>
      <p:bldP spid="45" grpId="0" animBg="1"/>
      <p:bldP spid="66" grpId="0" bldLvl="0" animBg="1"/>
      <p:bldP spid="11" grpId="0" animBg="1"/>
      <p:bldP spid="20" grpId="0"/>
      <p:bldP spid="48" grpId="0"/>
      <p:bldP spid="49" grpId="0"/>
      <p:bldP spid="25" grpId="0" bldLvl="0" animBg="1"/>
      <p:bldP spid="28" grpId="0" bldLvl="0" animBg="1"/>
      <p:bldP spid="29" grpId="0" bldLvl="0" animBg="1"/>
      <p:bldP spid="31" grpId="0" bldLvl="0" animBg="1"/>
      <p:bldP spid="49" grpId="1"/>
      <p:bldP spid="38" grpId="0" bldLvl="0" animBg="1"/>
      <p:bldP spid="39" grpId="0" bldLvl="0" animBg="1"/>
      <p:bldP spid="2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2685"/>
            <a:ext cx="10852150" cy="85153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What’s the difference between endpoint/system constraints?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specifications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341100" y="6467475"/>
            <a:ext cx="327660" cy="307975"/>
          </a:xfrm>
        </p:spPr>
        <p:txBody>
          <a:bodyPr>
            <a:normAutofit/>
          </a:bodyPr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621030" y="2883535"/>
          <a:ext cx="11044555" cy="2481580"/>
        </p:xfrm>
        <a:graphic>
          <a:graphicData uri="http://schemas.openxmlformats.org/drawingml/2006/table">
            <a:tbl>
              <a:tblPr firstRow="1">
                <a:tableStyleId>{9AD3BE4B-A6D7-48CB-9B43-7D7AF80F7AFF}</a:tableStyleId>
              </a:tblPr>
              <a:tblGrid>
                <a:gridCol w="1784350"/>
                <a:gridCol w="5897245"/>
                <a:gridCol w="3362960"/>
              </a:tblGrid>
              <a:tr h="6045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Level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Criterion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Typical Examples</a:t>
                      </a:r>
                      <a:endParaRPr lang="en-US" altLang="zh-CN"/>
                    </a:p>
                  </a:txBody>
                  <a:tcPr/>
                </a:tc>
              </a:tr>
              <a:tr h="938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endpoint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Involves only a single endpoint’s parameters/response; violation is observable within a single request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type/range/enum domains, required parameters, </a:t>
                      </a:r>
                      <a:endParaRPr lang="en-US" altLang="zh-CN"/>
                    </a:p>
                    <a:p>
                      <a:pPr>
                        <a:buNone/>
                      </a:pPr>
                      <a:r>
                        <a:rPr lang="en-US" altLang="zh-CN"/>
                        <a:t>error code format</a:t>
                      </a:r>
                      <a:endParaRPr lang="en-US" altLang="zh-CN"/>
                    </a:p>
                  </a:txBody>
                  <a:tcPr/>
                </a:tc>
              </a:tr>
              <a:tr h="9385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system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Involves multiple endpoints or cross-request sequences; requires sequential observation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read-your-write, delete-gone, alias consistency, eventual consistency window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18795" y="1766570"/>
            <a:ext cx="10962640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Cambria" panose="02040503050406030204" charset="0"/>
                <a:cs typeface="Cambria" panose="02040503050406030204" charset="0"/>
                <a:sym typeface="+mn-ea"/>
              </a:rPr>
              <a:t>The criterion is :”what kind of observation is needed to prove that this constraint has been violated?”</a:t>
            </a:r>
            <a:endParaRPr lang="en-US" altLang="zh-CN" sz="20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20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2685"/>
            <a:ext cx="10852150" cy="85153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specifications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specifications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341100" y="6467475"/>
            <a:ext cx="327660" cy="307975"/>
          </a:xfrm>
        </p:spPr>
        <p:txBody>
          <a:bodyPr>
            <a:normAutofit/>
          </a:bodyPr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192405" y="218567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5" name="图片 4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0515" y="2185670"/>
            <a:ext cx="603885" cy="60388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012825" y="2278380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192405" y="563816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835660" y="5676900"/>
            <a:ext cx="20961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2255" y="5656580"/>
            <a:ext cx="699770" cy="603885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13"/>
            </p:custDataLst>
          </p:nvPr>
        </p:nvSpPr>
        <p:spPr>
          <a:xfrm>
            <a:off x="192405" y="3163570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970280" y="3270885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knowledge e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xtractor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255" y="3187700"/>
            <a:ext cx="708025" cy="592455"/>
          </a:xfrm>
          <a:prstGeom prst="rect">
            <a:avLst/>
          </a:prstGeom>
        </p:spPr>
      </p:pic>
      <p:sp>
        <p:nvSpPr>
          <p:cNvPr id="21" name="圆角矩形 20"/>
          <p:cNvSpPr/>
          <p:nvPr>
            <p:custDataLst>
              <p:tags r:id="rId18"/>
            </p:custDataLst>
          </p:nvPr>
        </p:nvSpPr>
        <p:spPr>
          <a:xfrm>
            <a:off x="192405" y="4488180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970280" y="4512945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specification extractor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3" name="图片 22" descr="机器人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2255" y="4512310"/>
            <a:ext cx="708025" cy="592455"/>
          </a:xfrm>
          <a:prstGeom prst="rect">
            <a:avLst/>
          </a:prstGeom>
        </p:spPr>
      </p:pic>
      <p:sp>
        <p:nvSpPr>
          <p:cNvPr id="32" name="下箭头 31"/>
          <p:cNvSpPr/>
          <p:nvPr>
            <p:custDataLst>
              <p:tags r:id="rId21"/>
            </p:custDataLst>
          </p:nvPr>
        </p:nvSpPr>
        <p:spPr>
          <a:xfrm>
            <a:off x="1230630" y="286004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下箭头 33"/>
          <p:cNvSpPr/>
          <p:nvPr>
            <p:custDataLst>
              <p:tags r:id="rId22"/>
            </p:custDataLst>
          </p:nvPr>
        </p:nvSpPr>
        <p:spPr>
          <a:xfrm>
            <a:off x="1230630" y="3841115"/>
            <a:ext cx="379095" cy="61341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>
            <p:custDataLst>
              <p:tags r:id="rId23"/>
            </p:custDataLst>
          </p:nvPr>
        </p:nvSpPr>
        <p:spPr>
          <a:xfrm>
            <a:off x="1230630" y="5161915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344930" y="3926840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446530" y="5128260"/>
            <a:ext cx="222313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8" name="直接连接符 7"/>
          <p:cNvCxnSpPr>
            <a:stCxn id="16" idx="3"/>
            <a:endCxn id="20" idx="1"/>
          </p:cNvCxnSpPr>
          <p:nvPr/>
        </p:nvCxnSpPr>
        <p:spPr>
          <a:xfrm>
            <a:off x="3568065" y="3483610"/>
            <a:ext cx="1100455" cy="82550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21" idx="3"/>
            <a:endCxn id="20" idx="1"/>
          </p:cNvCxnSpPr>
          <p:nvPr/>
        </p:nvCxnSpPr>
        <p:spPr>
          <a:xfrm flipV="1">
            <a:off x="3568065" y="4309110"/>
            <a:ext cx="1100455" cy="49911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流程图: 过程 19"/>
          <p:cNvSpPr/>
          <p:nvPr/>
        </p:nvSpPr>
        <p:spPr>
          <a:xfrm>
            <a:off x="4668520" y="2174875"/>
            <a:ext cx="6435090" cy="4268470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820920" y="2278380"/>
            <a:ext cx="4902835" cy="6242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Why </a:t>
            </a:r>
            <a:r>
              <a:rPr lang="en-US" altLang="zh-CN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not merge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the knowledge extractor and the specification extractor ?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20920" y="3006725"/>
            <a:ext cx="6097270" cy="327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1. Auditability</a:t>
            </a:r>
            <a:r>
              <a:rPr lang="zh-CN" altLang="en-US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Network access is granted only to the extractor, making it easier to determine whether a problem originates in document crawling or the formalization process.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2. Knowledge</a:t>
            </a:r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as </a:t>
            </a:r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Cache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zh-CN" altLang="en-US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knowledge.md is a cross-session cache; changes to formalization rules only require rerunning the extractor, without needing to re-crawl the documentation.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3. Context budget</a:t>
            </a:r>
            <a:r>
              <a:rPr lang="zh-CN" altLang="en-US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hundreds of pages of crawled content and hundreds of lines of schema specifications will compete for context; divide and 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conquer so that both can be done well.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28" grpId="0" bldLvl="0" animBg="1"/>
      <p:bldP spid="31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0" y="1657985"/>
            <a:ext cx="12192000" cy="520001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7235" y="9943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820" y="79438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401320" y="164465"/>
            <a:ext cx="69424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4A6A8F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An entire process example </a:t>
            </a:r>
            <a:r>
              <a:rPr lang="en-US" altLang="zh-CN" sz="3600">
                <a:solidFill>
                  <a:srgbClr val="4A6A8F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①</a:t>
            </a:r>
            <a:endParaRPr lang="en-US" altLang="zh-CN" sz="3600" dirty="0">
              <a:solidFill>
                <a:srgbClr val="4A6A8F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01320" y="946785"/>
            <a:ext cx="10227310" cy="711835"/>
          </a:xfrm>
        </p:spPr>
        <p:txBody>
          <a:bodyPr>
            <a:normAutofit fontScale="6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Recommend bypasses vector dimension validation for negative examples from lookup_from, returning silently wrong scores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— qdrant v1.19.0 ·  #10369 </a:t>
            </a:r>
            <a:r>
              <a:rPr lang="en-US" altLang="zh-CN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[accepted]</a:t>
            </a:r>
            <a:endParaRPr lang="en-US" altLang="zh-CN" sz="2000" b="1" dirty="0" err="1">
              <a:solidFill>
                <a:schemeClr val="tx1"/>
              </a:solidFill>
              <a:highlight>
                <a:srgbClr val="00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2425" y="1643380"/>
            <a:ext cx="6827520" cy="42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>
                <a:latin typeface="Comic Sans MS" panose="030F0702030302020204" charset="0"/>
                <a:cs typeface="Comic Sans MS" panose="030F0702030302020204" charset="0"/>
              </a:rPr>
              <a:t>① Behavioral_specification Extraction</a:t>
            </a:r>
            <a:endParaRPr lang="en-US" altLang="zh-CN" sz="24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49090" y="3429000"/>
            <a:ext cx="7619365" cy="3340735"/>
          </a:xfrm>
          <a:prstGeom prst="rect">
            <a:avLst/>
          </a:prstGeom>
          <a:solidFill>
            <a:schemeClr val="bg2">
              <a:lumMod val="65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400"/>
              <a:t>{</a:t>
            </a:r>
            <a:endParaRPr lang="en-US" altLang="zh-CN" sz="1400"/>
          </a:p>
          <a:p>
            <a:r>
              <a:rPr lang="en-US" altLang="zh-CN" sz="1400"/>
              <a:t>    "constraint_id": "qdrant_state_recommend_001",</a:t>
            </a:r>
            <a:endParaRPr lang="en-US" altLang="zh-CN" sz="1400"/>
          </a:p>
          <a:p>
            <a:r>
              <a:rPr lang="en-US" altLang="zh-CN" sz="1400"/>
              <a:t>    "endpoint": "points+recommend",</a:t>
            </a:r>
            <a:endParaRPr lang="en-US" altLang="zh-CN" sz="1400"/>
          </a:p>
          <a:p>
            <a:r>
              <a:rPr lang="en-US" altLang="zh-CN" sz="1400"/>
              <a:t>    "description": "cross-collection lookup coupling: same vector size required",</a:t>
            </a:r>
            <a:endParaRPr lang="en-US" altLang="zh-CN" sz="1400"/>
          </a:p>
          <a:p>
            <a:r>
              <a:rPr lang="en-US" altLang="zh-CN" sz="1400"/>
              <a:t>    "assertion": "</a:t>
            </a:r>
            <a:r>
              <a:rPr lang="en-US" altLang="zh-CN" sz="1400">
                <a:highlight>
                  <a:srgbClr val="FFFF00"/>
                </a:highlight>
              </a:rPr>
              <a:t>lookup_from collection must have same vector size as target collection vector</a:t>
            </a:r>
            <a:r>
              <a:rPr lang="en-US" altLang="zh-CN" sz="1400"/>
              <a:t>",</a:t>
            </a:r>
            <a:endParaRPr lang="en-US" altLang="zh-CN" sz="1400"/>
          </a:p>
          <a:p>
            <a:r>
              <a:rPr lang="en-US" altLang="zh-CN" sz="1400"/>
              <a:t>    "type": "state_constraint",</a:t>
            </a:r>
            <a:endParaRPr lang="en-US" altLang="zh-CN" sz="1400"/>
          </a:p>
          <a:p>
            <a:r>
              <a:rPr lang="en-US" altLang="zh-CN" sz="1400"/>
              <a:t>    "evidence_tier": "explicit",</a:t>
            </a:r>
            <a:endParaRPr lang="en-US" altLang="zh-CN" sz="1400"/>
          </a:p>
          <a:p>
            <a:r>
              <a:rPr lang="en-US" altLang="zh-CN" sz="1400"/>
              <a:t>    "source_url": "https://api.qdrant.tech/v-1-18-x/api-reference/search/recommend-points.md",</a:t>
            </a:r>
            <a:endParaRPr lang="en-US" altLang="zh-CN" sz="1400"/>
          </a:p>
          <a:p>
            <a:r>
              <a:rPr lang="en-US" altLang="zh-CN" sz="1400"/>
              <a:t>    "source_status": "reachable",</a:t>
            </a:r>
            <a:endParaRPr lang="en-US" altLang="zh-CN" sz="1400"/>
          </a:p>
          <a:p>
            <a:r>
              <a:rPr lang="en-US" altLang="zh-CN" sz="1400"/>
              <a:t>    "source_verified": true,</a:t>
            </a:r>
            <a:endParaRPr lang="en-US" altLang="zh-CN" sz="1400"/>
          </a:p>
          <a:p>
            <a:r>
              <a:rPr lang="en-US" altLang="zh-CN" sz="1400"/>
              <a:t>    "doc_version": "v1.18.x",</a:t>
            </a:r>
            <a:endParaRPr lang="en-US" altLang="zh-CN" sz="1400"/>
          </a:p>
          <a:p>
            <a:r>
              <a:rPr lang="en-US" altLang="zh-CN" sz="1400"/>
              <a:t>    "level": "endpoint",</a:t>
            </a:r>
            <a:endParaRPr lang="en-US" altLang="zh-CN" sz="1400"/>
          </a:p>
          <a:p>
            <a:r>
              <a:rPr lang="en-US" altLang="zh-CN" sz="1400"/>
              <a:t>    "bound_strategies": []</a:t>
            </a:r>
            <a:endParaRPr lang="en-US" altLang="zh-CN" sz="1400"/>
          </a:p>
          <a:p>
            <a:r>
              <a:rPr lang="en-US" altLang="zh-CN" sz="1400"/>
              <a:t>   },</a:t>
            </a:r>
            <a:endParaRPr lang="en-US" altLang="zh-CN" sz="1400"/>
          </a:p>
        </p:txBody>
      </p:sp>
      <p:sp>
        <p:nvSpPr>
          <p:cNvPr id="13" name="文本框 12"/>
          <p:cNvSpPr txBox="1"/>
          <p:nvPr/>
        </p:nvSpPr>
        <p:spPr>
          <a:xfrm>
            <a:off x="144780" y="2096135"/>
            <a:ext cx="11623675" cy="113982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400"/>
              <a:t>- `lookup_from` (object or any, optional) — </a:t>
            </a:r>
            <a:r>
              <a:rPr lang="en-US" altLang="zh-CN" sz="1400">
                <a:highlight>
                  <a:srgbClr val="FFFF00"/>
                </a:highlight>
              </a:rPr>
              <a:t>The location used to lookup vectors. If not specified - use current collection. Note: the other collection should have the same vector size as the current collection</a:t>
            </a:r>
            <a:endParaRPr lang="en-US" altLang="zh-CN" sz="1400">
              <a:highlight>
                <a:srgbClr val="FFFF00"/>
              </a:highlight>
            </a:endParaRPr>
          </a:p>
          <a:p>
            <a:r>
              <a:rPr lang="en-US" altLang="zh-CN" sz="1400"/>
              <a:t>  - LookupLocation</a:t>
            </a:r>
            <a:endParaRPr lang="en-US" altLang="zh-CN" sz="1400"/>
          </a:p>
          <a:p>
            <a:r>
              <a:rPr lang="en-US" altLang="zh-CN" sz="1400"/>
              <a:t>    - `collection` (string, required) — Name of the collection used for lookup</a:t>
            </a:r>
            <a:endParaRPr lang="en-US" altLang="zh-CN" sz="1400"/>
          </a:p>
          <a:p>
            <a:r>
              <a:rPr lang="en-US" altLang="zh-CN" sz="1400"/>
              <a:t>    - ........</a:t>
            </a:r>
            <a:endParaRPr lang="en-US" altLang="zh-CN" sz="1400"/>
          </a:p>
        </p:txBody>
      </p:sp>
      <p:sp>
        <p:nvSpPr>
          <p:cNvPr id="21" name="圆角矩形 20"/>
          <p:cNvSpPr/>
          <p:nvPr>
            <p:custDataLst>
              <p:tags r:id="rId3"/>
            </p:custDataLst>
          </p:nvPr>
        </p:nvSpPr>
        <p:spPr>
          <a:xfrm>
            <a:off x="144780" y="5034915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922655" y="5059680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specification extractor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3" name="图片 22" descr="机器人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4630" y="5059045"/>
            <a:ext cx="708025" cy="592455"/>
          </a:xfrm>
          <a:prstGeom prst="rect">
            <a:avLst/>
          </a:prstGeom>
        </p:spPr>
      </p:pic>
      <p:sp>
        <p:nvSpPr>
          <p:cNvPr id="67" name="文本框 66"/>
          <p:cNvSpPr txBox="1"/>
          <p:nvPr/>
        </p:nvSpPr>
        <p:spPr>
          <a:xfrm>
            <a:off x="1562100" y="5674995"/>
            <a:ext cx="1779905" cy="425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8"/>
            </p:custDataLst>
          </p:nvPr>
        </p:nvSpPr>
        <p:spPr>
          <a:xfrm>
            <a:off x="144780" y="3710305"/>
            <a:ext cx="337566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1009650" y="3860800"/>
            <a:ext cx="251079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knowledge e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xtractor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630" y="3734435"/>
            <a:ext cx="708025" cy="592455"/>
          </a:xfrm>
          <a:prstGeom prst="rect">
            <a:avLst/>
          </a:prstGeom>
        </p:spPr>
      </p:pic>
      <p:sp>
        <p:nvSpPr>
          <p:cNvPr id="34" name="下箭头 33"/>
          <p:cNvSpPr/>
          <p:nvPr>
            <p:custDataLst>
              <p:tags r:id="rId13"/>
            </p:custDataLst>
          </p:nvPr>
        </p:nvSpPr>
        <p:spPr>
          <a:xfrm>
            <a:off x="1183005" y="4387850"/>
            <a:ext cx="379095" cy="61341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482725" y="4462145"/>
            <a:ext cx="1523365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knowledge.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4" name="下箭头 13"/>
          <p:cNvSpPr/>
          <p:nvPr>
            <p:custDataLst>
              <p:tags r:id="rId14"/>
            </p:custDataLst>
          </p:nvPr>
        </p:nvSpPr>
        <p:spPr>
          <a:xfrm>
            <a:off x="1179830" y="3250565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1557655" y="3259455"/>
            <a:ext cx="1513205" cy="4133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7" name="直角上箭头 16"/>
          <p:cNvSpPr/>
          <p:nvPr/>
        </p:nvSpPr>
        <p:spPr>
          <a:xfrm rot="5400000">
            <a:off x="2258060" y="4664075"/>
            <a:ext cx="876300" cy="2906395"/>
          </a:xfrm>
          <a:prstGeom prst="bentUpArrow">
            <a:avLst>
              <a:gd name="adj1" fmla="val 33949"/>
              <a:gd name="adj2" fmla="val 28605"/>
              <a:gd name="adj3" fmla="val 33224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2: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generate executable test scripts from the structured contract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cxnSp>
        <p:nvCxnSpPr>
          <p:cNvPr id="210" name="直接箭头连接符 209"/>
          <p:cNvCxnSpPr/>
          <p:nvPr/>
        </p:nvCxnSpPr>
        <p:spPr>
          <a:xfrm flipV="1">
            <a:off x="5518150" y="4175125"/>
            <a:ext cx="1225550" cy="1905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751955" y="2407285"/>
            <a:ext cx="384048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002270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7525" y="3291840"/>
            <a:ext cx="372491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7880" y="2475865"/>
            <a:ext cx="652780" cy="603885"/>
          </a:xfrm>
          <a:prstGeom prst="rect">
            <a:avLst/>
          </a:prstGeom>
        </p:spPr>
      </p:pic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1061720" y="2407285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312035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1" name="图片 10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19860" y="2475865"/>
            <a:ext cx="699770" cy="6038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14425" y="329184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764540"/>
          </a:xfrm>
        </p:spPr>
        <p:txBody>
          <a:bodyPr>
            <a:normAutofit lnSpcReduction="2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2: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generate executable test scripts from the structured contract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2" name="流程图: 过程 51"/>
          <p:cNvSpPr/>
          <p:nvPr/>
        </p:nvSpPr>
        <p:spPr>
          <a:xfrm>
            <a:off x="1480185" y="2862580"/>
            <a:ext cx="9898380" cy="266382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2967355" y="2565400"/>
            <a:ext cx="1757045" cy="242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1591310" y="189611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2234565" y="1896110"/>
            <a:ext cx="20961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6" name="图片 15" descr="代码文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1160" y="1914525"/>
            <a:ext cx="699770" cy="60388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8"/>
            </p:custDataLst>
          </p:nvPr>
        </p:nvSpPr>
        <p:spPr>
          <a:xfrm>
            <a:off x="1591310" y="3070860"/>
            <a:ext cx="2954655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2456180" y="3221355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attack-boundary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61160" y="3094990"/>
            <a:ext cx="708025" cy="592455"/>
          </a:xfrm>
          <a:prstGeom prst="rect">
            <a:avLst/>
          </a:prstGeom>
        </p:spPr>
      </p:pic>
      <p:sp>
        <p:nvSpPr>
          <p:cNvPr id="21" name="圆角矩形 20"/>
          <p:cNvSpPr/>
          <p:nvPr>
            <p:custDataLst>
              <p:tags r:id="rId13"/>
            </p:custDataLst>
          </p:nvPr>
        </p:nvSpPr>
        <p:spPr>
          <a:xfrm>
            <a:off x="1590675" y="4686300"/>
            <a:ext cx="2955290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2" name="文本框 21"/>
          <p:cNvSpPr txBox="1"/>
          <p:nvPr>
            <p:custDataLst>
              <p:tags r:id="rId14"/>
            </p:custDataLst>
          </p:nvPr>
        </p:nvSpPr>
        <p:spPr>
          <a:xfrm>
            <a:off x="2455545" y="4836795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attack-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semantic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3" name="图片 22" descr="机器人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60525" y="4710430"/>
            <a:ext cx="708025" cy="592455"/>
          </a:xfrm>
          <a:prstGeom prst="rect">
            <a:avLst/>
          </a:prstGeom>
        </p:spPr>
      </p:pic>
      <p:sp>
        <p:nvSpPr>
          <p:cNvPr id="32" name="下箭头 31"/>
          <p:cNvSpPr/>
          <p:nvPr>
            <p:custDataLst>
              <p:tags r:id="rId16"/>
            </p:custDataLst>
          </p:nvPr>
        </p:nvSpPr>
        <p:spPr>
          <a:xfrm>
            <a:off x="2629535" y="257810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下箭头 34"/>
          <p:cNvSpPr/>
          <p:nvPr>
            <p:custDataLst>
              <p:tags r:id="rId17"/>
            </p:custDataLst>
          </p:nvPr>
        </p:nvSpPr>
        <p:spPr>
          <a:xfrm>
            <a:off x="2629535" y="5525770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18"/>
            </p:custDataLst>
          </p:nvPr>
        </p:nvSpPr>
        <p:spPr>
          <a:xfrm>
            <a:off x="1591310" y="597852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1" name="圆角矩形 30"/>
          <p:cNvSpPr/>
          <p:nvPr>
            <p:custDataLst>
              <p:tags r:id="rId19"/>
            </p:custDataLst>
          </p:nvPr>
        </p:nvSpPr>
        <p:spPr>
          <a:xfrm>
            <a:off x="1591310" y="3869690"/>
            <a:ext cx="2954655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6" name="文本框 35"/>
          <p:cNvSpPr txBox="1"/>
          <p:nvPr>
            <p:custDataLst>
              <p:tags r:id="rId20"/>
            </p:custDataLst>
          </p:nvPr>
        </p:nvSpPr>
        <p:spPr>
          <a:xfrm>
            <a:off x="2456180" y="4032250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attack-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state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7" name="图片 36" descr="机器人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61160" y="3905885"/>
            <a:ext cx="708025" cy="592455"/>
          </a:xfrm>
          <a:prstGeom prst="rect">
            <a:avLst/>
          </a:prstGeom>
        </p:spPr>
      </p:pic>
      <p:pic>
        <p:nvPicPr>
          <p:cNvPr id="25" name="图片 24" descr="软件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61160" y="6014720"/>
            <a:ext cx="652780" cy="60388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2369185" y="6116955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967355" y="5468620"/>
            <a:ext cx="107823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{.....}.py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8" name="圆角矩形 77"/>
          <p:cNvSpPr/>
          <p:nvPr>
            <p:custDataLst>
              <p:tags r:id="rId26"/>
            </p:custDataLst>
          </p:nvPr>
        </p:nvSpPr>
        <p:spPr>
          <a:xfrm>
            <a:off x="4724400" y="3018790"/>
            <a:ext cx="1889760" cy="239204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9" name="图片 38" descr="ai_picture_gb_1786506268724_hteockqc_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rcRect l="29593" t="21757" r="29843" b="21520"/>
          <a:stretch>
            <a:fillRect/>
          </a:stretch>
        </p:blipFill>
        <p:spPr>
          <a:xfrm>
            <a:off x="4831080" y="3264535"/>
            <a:ext cx="470535" cy="520065"/>
          </a:xfrm>
          <a:prstGeom prst="rect">
            <a:avLst/>
          </a:prstGeom>
          <a:ln w="19050">
            <a:noFill/>
          </a:ln>
        </p:spPr>
      </p:pic>
      <p:cxnSp>
        <p:nvCxnSpPr>
          <p:cNvPr id="43" name="直接箭头连接符 42"/>
          <p:cNvCxnSpPr>
            <a:stCxn id="17" idx="3"/>
            <a:endCxn id="39" idx="1"/>
          </p:cNvCxnSpPr>
          <p:nvPr/>
        </p:nvCxnSpPr>
        <p:spPr>
          <a:xfrm>
            <a:off x="4545965" y="3390900"/>
            <a:ext cx="285115" cy="13398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4" name="图片 43" descr="ai_picture_gb_1786506268724_hteockqc_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8"/>
          <a:srcRect l="29593" t="21757" r="29843" b="21520"/>
          <a:stretch>
            <a:fillRect/>
          </a:stretch>
        </p:blipFill>
        <p:spPr>
          <a:xfrm>
            <a:off x="4831080" y="3952240"/>
            <a:ext cx="470535" cy="520065"/>
          </a:xfrm>
          <a:prstGeom prst="rect">
            <a:avLst/>
          </a:prstGeom>
          <a:ln w="19050">
            <a:noFill/>
          </a:ln>
        </p:spPr>
      </p:pic>
      <p:cxnSp>
        <p:nvCxnSpPr>
          <p:cNvPr id="46" name="直接箭头连接符 45"/>
          <p:cNvCxnSpPr>
            <a:endCxn id="44" idx="1"/>
          </p:cNvCxnSpPr>
          <p:nvPr/>
        </p:nvCxnSpPr>
        <p:spPr>
          <a:xfrm>
            <a:off x="4545965" y="4190365"/>
            <a:ext cx="285115" cy="2222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7" name="图片 46" descr="ai_picture_gb_1786506268724_hteockqc_0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8"/>
          <a:srcRect l="29593" t="21757" r="29843" b="21520"/>
          <a:stretch>
            <a:fillRect/>
          </a:stretch>
        </p:blipFill>
        <p:spPr>
          <a:xfrm>
            <a:off x="4831080" y="4630420"/>
            <a:ext cx="470535" cy="520065"/>
          </a:xfrm>
          <a:prstGeom prst="rect">
            <a:avLst/>
          </a:prstGeom>
          <a:ln w="19050">
            <a:noFill/>
          </a:ln>
        </p:spPr>
      </p:pic>
      <p:cxnSp>
        <p:nvCxnSpPr>
          <p:cNvPr id="48" name="直接箭头连接符 47"/>
          <p:cNvCxnSpPr>
            <a:endCxn id="47" idx="1"/>
          </p:cNvCxnSpPr>
          <p:nvPr/>
        </p:nvCxnSpPr>
        <p:spPr>
          <a:xfrm>
            <a:off x="4545965" y="4890770"/>
            <a:ext cx="285115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endCxn id="57" idx="1"/>
          </p:cNvCxnSpPr>
          <p:nvPr/>
        </p:nvCxnSpPr>
        <p:spPr>
          <a:xfrm>
            <a:off x="5301615" y="3524885"/>
            <a:ext cx="200660" cy="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44" idx="3"/>
            <a:endCxn id="3" idx="1"/>
          </p:cNvCxnSpPr>
          <p:nvPr/>
        </p:nvCxnSpPr>
        <p:spPr>
          <a:xfrm>
            <a:off x="5301615" y="4212590"/>
            <a:ext cx="200025" cy="190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47" idx="3"/>
            <a:endCxn id="5" idx="1"/>
          </p:cNvCxnSpPr>
          <p:nvPr/>
        </p:nvCxnSpPr>
        <p:spPr>
          <a:xfrm flipV="1">
            <a:off x="5301615" y="4890135"/>
            <a:ext cx="200025" cy="63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圆角矩形 56"/>
          <p:cNvSpPr/>
          <p:nvPr>
            <p:custDataLst>
              <p:tags r:id="rId31"/>
            </p:custDataLst>
          </p:nvPr>
        </p:nvSpPr>
        <p:spPr>
          <a:xfrm>
            <a:off x="5502275" y="3204845"/>
            <a:ext cx="1021715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scripts&amp;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oracles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2" name="右大括号 61"/>
          <p:cNvSpPr/>
          <p:nvPr/>
        </p:nvSpPr>
        <p:spPr>
          <a:xfrm>
            <a:off x="6523355" y="3296920"/>
            <a:ext cx="209550" cy="1814195"/>
          </a:xfrm>
          <a:prstGeom prst="rightBrace">
            <a:avLst>
              <a:gd name="adj1" fmla="val 28484"/>
              <a:gd name="adj2" fmla="val 50542"/>
            </a:avLst>
          </a:prstGeom>
          <a:ln>
            <a:solidFill>
              <a:srgbClr val="00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5" name="直接箭头连接符 74"/>
          <p:cNvCxnSpPr>
            <a:stCxn id="62" idx="1"/>
            <a:endCxn id="76" idx="1"/>
          </p:cNvCxnSpPr>
          <p:nvPr/>
        </p:nvCxnSpPr>
        <p:spPr>
          <a:xfrm>
            <a:off x="6732905" y="4213860"/>
            <a:ext cx="448310" cy="63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>
            <p:custDataLst>
              <p:tags r:id="rId32"/>
            </p:custDataLst>
          </p:nvPr>
        </p:nvSpPr>
        <p:spPr>
          <a:xfrm>
            <a:off x="7181215" y="3018790"/>
            <a:ext cx="4015740" cy="23914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Run check scripts:</a:t>
            </a:r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1.</a:t>
            </a:r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Check syntax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with py_compile;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2.</a:t>
            </a:r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Check constraint_id exists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in structured_contract.json;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3.</a:t>
            </a:r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Check for risky patterns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(like lacking safe_request or “try:”);</a:t>
            </a:r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4.</a:t>
            </a:r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Check for cross-DB contamination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using a signature fingerprint table;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l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5.</a:t>
            </a:r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Pre-execution </a:t>
            </a:r>
            <a:r>
              <a:rPr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gate (oracle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line + assertion × response-shape compatibility compatibility + required-field check</a:t>
            </a:r>
            <a:r>
              <a:rPr lang="zh-CN" altLang="en-US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）</a:t>
            </a:r>
            <a:endParaRPr lang="zh-CN" altLang="en-US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9" name="肘形连接符 78"/>
          <p:cNvCxnSpPr/>
          <p:nvPr/>
        </p:nvCxnSpPr>
        <p:spPr>
          <a:xfrm rot="16200000" flipV="1">
            <a:off x="7361873" y="1261428"/>
            <a:ext cx="134620" cy="3519805"/>
          </a:xfrm>
          <a:prstGeom prst="bentConnector3">
            <a:avLst>
              <a:gd name="adj1" fmla="val 277123"/>
            </a:avLst>
          </a:prstGeom>
          <a:ln w="3175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7001510" y="2202815"/>
            <a:ext cx="187896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fail:regenerate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83" name="肘形连接符 82"/>
          <p:cNvCxnSpPr>
            <a:stCxn id="76" idx="2"/>
            <a:endCxn id="38" idx="3"/>
          </p:cNvCxnSpPr>
          <p:nvPr/>
        </p:nvCxnSpPr>
        <p:spPr>
          <a:xfrm rot="5400000">
            <a:off x="6512560" y="2943225"/>
            <a:ext cx="209550" cy="5143500"/>
          </a:xfrm>
          <a:prstGeom prst="bentConnector2">
            <a:avLst/>
          </a:prstGeom>
          <a:ln w="3175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7001510" y="5770245"/>
            <a:ext cx="1878965" cy="333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pass: output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5" name="图片 84" descr="齿轮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527030" y="3296920"/>
            <a:ext cx="473710" cy="473710"/>
          </a:xfrm>
          <a:prstGeom prst="rect">
            <a:avLst/>
          </a:prstGeom>
        </p:spPr>
      </p:pic>
      <p:sp>
        <p:nvSpPr>
          <p:cNvPr id="3" name="圆角矩形 2"/>
          <p:cNvSpPr/>
          <p:nvPr>
            <p:custDataLst>
              <p:tags r:id="rId35"/>
            </p:custDataLst>
          </p:nvPr>
        </p:nvSpPr>
        <p:spPr>
          <a:xfrm>
            <a:off x="5501640" y="3894455"/>
            <a:ext cx="1021715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scripts&amp;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oracles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6"/>
            </p:custDataLst>
          </p:nvPr>
        </p:nvSpPr>
        <p:spPr>
          <a:xfrm>
            <a:off x="5501640" y="4570095"/>
            <a:ext cx="1021715" cy="64008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scripts&amp;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oracles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bldLvl="0" animBg="1"/>
      <p:bldP spid="57" grpId="0" bldLvl="0" animBg="1"/>
      <p:bldP spid="62" grpId="0" bldLvl="0" animBg="1"/>
      <p:bldP spid="76" grpId="0" bldLvl="0" animBg="1"/>
      <p:bldP spid="81" grpId="0"/>
      <p:bldP spid="84" grpId="0"/>
      <p:bldP spid="3" grpId="0" bldLvl="0" animBg="1"/>
      <p:bldP spid="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99515"/>
            <a:ext cx="10852150" cy="764540"/>
          </a:xfrm>
        </p:spPr>
        <p:txBody>
          <a:bodyPr>
            <a:normAutofit lnSpcReduction="2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2: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generate executable test scripts from the structured contract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2" name="流程图: 过程 51"/>
          <p:cNvSpPr/>
          <p:nvPr/>
        </p:nvSpPr>
        <p:spPr>
          <a:xfrm>
            <a:off x="1456690" y="2044700"/>
            <a:ext cx="8985885" cy="330898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2620010" y="5441315"/>
            <a:ext cx="215900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1870710" y="2595245"/>
            <a:ext cx="2381885" cy="478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attack </a:t>
            </a:r>
            <a:r>
              <a:rPr b="1">
                <a:latin typeface="Comic Sans MS" panose="030F0702030302020204" charset="0"/>
                <a:cs typeface="Comic Sans MS" panose="030F0702030302020204" charset="0"/>
              </a:rPr>
              <a:t>agents (boundary,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r>
              <a:rPr lang="zh-CN" altLang="en-US" b="1">
                <a:latin typeface="Comic Sans MS" panose="030F0702030302020204" charset="0"/>
                <a:cs typeface="Comic Sans MS" panose="030F0702030302020204" charset="0"/>
                <a:sym typeface="+mn-ea"/>
              </a:rPr>
              <a:t>,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semantic</a:t>
            </a:r>
            <a:r>
              <a:rPr lang="zh-CN" altLang="en-US" b="1">
                <a:latin typeface="Comic Sans MS" panose="030F0702030302020204" charset="0"/>
                <a:cs typeface="Comic Sans MS" panose="030F0702030302020204" charset="0"/>
              </a:rPr>
              <a:t>）</a:t>
            </a:r>
            <a:endParaRPr lang="zh-CN" altLang="en-US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5" name="下箭头 34"/>
          <p:cNvSpPr/>
          <p:nvPr>
            <p:custDataLst>
              <p:tags r:id="rId3"/>
            </p:custDataLst>
          </p:nvPr>
        </p:nvSpPr>
        <p:spPr>
          <a:xfrm>
            <a:off x="9398635" y="5386070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>
            <p:custDataLst>
              <p:tags r:id="rId4"/>
            </p:custDataLst>
          </p:nvPr>
        </p:nvSpPr>
        <p:spPr>
          <a:xfrm>
            <a:off x="7782560" y="583946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25" name="图片 24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2410" y="5875655"/>
            <a:ext cx="652780" cy="60388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8560435" y="5977890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" name="图片 1" descr="ai_picture_gb_1786506268724_hteockqc_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9593" t="21757" r="29843" b="21520"/>
          <a:stretch>
            <a:fillRect/>
          </a:stretch>
        </p:blipFill>
        <p:spPr>
          <a:xfrm>
            <a:off x="1539240" y="2108835"/>
            <a:ext cx="654685" cy="723900"/>
          </a:xfrm>
          <a:prstGeom prst="rect">
            <a:avLst/>
          </a:prstGeom>
          <a:ln w="19050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839325" y="5445760"/>
            <a:ext cx="107823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{.....}.py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1490980" y="583057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2134235" y="5848985"/>
            <a:ext cx="209613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代码文件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60830" y="5848985"/>
            <a:ext cx="699770" cy="603885"/>
          </a:xfrm>
          <a:prstGeom prst="rect">
            <a:avLst/>
          </a:prstGeom>
        </p:spPr>
      </p:pic>
      <p:sp>
        <p:nvSpPr>
          <p:cNvPr id="42" name="圆角矩形 41"/>
          <p:cNvSpPr/>
          <p:nvPr>
            <p:custDataLst>
              <p:tags r:id="rId16"/>
            </p:custDataLst>
          </p:nvPr>
        </p:nvSpPr>
        <p:spPr>
          <a:xfrm>
            <a:off x="1539240" y="3709035"/>
            <a:ext cx="2373630" cy="132270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39240" y="3864610"/>
            <a:ext cx="2418080" cy="1307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1.Read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r>
              <a:rPr lang="en-US" altLang="zh-CN">
                <a:solidFill>
                  <a:schemeClr val="tx2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specifications.json</a:t>
            </a:r>
            <a:endParaRPr lang="en-US" altLang="zh-CN">
              <a:solidFill>
                <a:schemeClr val="tx2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>
            <p:custDataLst>
              <p:tags r:id="rId17"/>
            </p:custDataLst>
          </p:nvPr>
        </p:nvSpPr>
        <p:spPr>
          <a:xfrm>
            <a:off x="4230370" y="2103755"/>
            <a:ext cx="3129280" cy="30340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330065" y="2220595"/>
            <a:ext cx="3103245" cy="2987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2. Select strategies</a:t>
            </a:r>
            <a:endParaRPr lang="en-US" altLang="zh-CN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endParaRPr lang="en-US" altLang="zh-CN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For </a:t>
            </a:r>
            <a:r>
              <a:rPr lang="en-US" altLang="zh-CN">
                <a:solidFill>
                  <a:schemeClr val="tx2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every constraint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in the current chunk</a:t>
            </a:r>
            <a:r>
              <a:rPr lang="zh-CN" altLang="en-US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  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endpoint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-level</a:t>
            </a:r>
            <a:r>
              <a:rPr lang="zh-CN" altLang="en-US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endParaRPr lang="zh-CN" altLang="en-US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built-in 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strategies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binding</a:t>
            </a:r>
            <a:r>
              <a:rPr lang="zh-CN" altLang="en-US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；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system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-level</a:t>
            </a:r>
            <a:r>
              <a:rPr lang="zh-CN" altLang="en-US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built-in 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strategies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 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binding → scenario construction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>
            <a:off x="7373620" y="3002280"/>
            <a:ext cx="391795" cy="127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圆角矩形 63"/>
          <p:cNvSpPr/>
          <p:nvPr>
            <p:custDataLst>
              <p:tags r:id="rId18"/>
            </p:custDataLst>
          </p:nvPr>
        </p:nvSpPr>
        <p:spPr>
          <a:xfrm>
            <a:off x="7779385" y="2103120"/>
            <a:ext cx="2607945" cy="211201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7853680" y="2143760"/>
            <a:ext cx="2459355" cy="196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3. Generate scripts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For </a:t>
            </a:r>
            <a:r>
              <a:rPr lang="en-US" altLang="zh-CN">
                <a:solidFill>
                  <a:schemeClr val="tx2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every </a:t>
            </a:r>
            <a:r>
              <a:rPr lang="en-US" altLang="zh-CN">
                <a:solidFill>
                  <a:schemeClr val="tx2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  <a:sym typeface="+mn-ea"/>
              </a:rPr>
              <a:t>applicable 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strategy</a:t>
            </a:r>
            <a:r>
              <a:rPr lang="zh-CN" altLang="en-US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：</a:t>
            </a:r>
            <a:endParaRPr lang="zh-CN" altLang="en-US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indent="457200"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Generate test scripts based on the strateg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y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indent="457200">
              <a:lnSpc>
                <a:spcPct val="100000"/>
              </a:lnSpc>
            </a:pP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6" name="圆角矩形 65"/>
          <p:cNvSpPr/>
          <p:nvPr>
            <p:custDataLst>
              <p:tags r:id="rId19"/>
            </p:custDataLst>
          </p:nvPr>
        </p:nvSpPr>
        <p:spPr>
          <a:xfrm>
            <a:off x="7779385" y="4494530"/>
            <a:ext cx="2607945" cy="523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Run check scripts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7" name="图片 66" descr="齿轮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839325" y="4494530"/>
            <a:ext cx="473710" cy="47371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64" idx="2"/>
            <a:endCxn id="66" idx="0"/>
          </p:cNvCxnSpPr>
          <p:nvPr/>
        </p:nvCxnSpPr>
        <p:spPr>
          <a:xfrm>
            <a:off x="9083675" y="4215130"/>
            <a:ext cx="0" cy="27940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66" idx="1"/>
            <a:endCxn id="64" idx="1"/>
          </p:cNvCxnSpPr>
          <p:nvPr/>
        </p:nvCxnSpPr>
        <p:spPr>
          <a:xfrm rot="10800000" flipH="1">
            <a:off x="7779385" y="3158490"/>
            <a:ext cx="3175" cy="1597025"/>
          </a:xfrm>
          <a:prstGeom prst="bentConnector3">
            <a:avLst>
              <a:gd name="adj1" fmla="val -7500000"/>
            </a:avLst>
          </a:prstGeom>
          <a:ln w="3175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H="1">
            <a:off x="9577705" y="5067300"/>
            <a:ext cx="6350" cy="629285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8187690" y="4970780"/>
            <a:ext cx="7499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545070" y="4143375"/>
            <a:ext cx="642620" cy="351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fail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>
            <a:off x="3912235" y="4307840"/>
            <a:ext cx="317500" cy="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下箭头 4"/>
          <p:cNvSpPr/>
          <p:nvPr>
            <p:custDataLst>
              <p:tags r:id="rId22"/>
            </p:custDataLst>
          </p:nvPr>
        </p:nvSpPr>
        <p:spPr>
          <a:xfrm flipV="1">
            <a:off x="2351405" y="5362575"/>
            <a:ext cx="444500" cy="45339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18" grpId="0"/>
      <p:bldP spid="42" grpId="0" bldLvl="0" animBg="1"/>
      <p:bldP spid="45" grpId="0"/>
      <p:bldP spid="55" grpId="0" bldLvl="0" animBg="1"/>
      <p:bldP spid="56" grpId="0"/>
      <p:bldP spid="64" grpId="0" bldLvl="0" animBg="1"/>
      <p:bldP spid="65" grpId="0"/>
      <p:bldP spid="35" grpId="0" animBg="1"/>
      <p:bldP spid="28" grpId="0" bldLvl="0" animBg="1"/>
      <p:bldP spid="24" grpId="0"/>
      <p:bldP spid="3" grpId="0"/>
      <p:bldP spid="66" grpId="0" bldLvl="0" animBg="1"/>
      <p:bldP spid="71" grpId="0"/>
      <p:bldP spid="72" grpId="0"/>
      <p:bldP spid="59" grpId="0"/>
      <p:bldP spid="13" grpId="0" animBg="1"/>
      <p:bldP spid="6" grpId="0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99515"/>
            <a:ext cx="10852150" cy="764540"/>
          </a:xfrm>
        </p:spPr>
        <p:txBody>
          <a:bodyPr>
            <a:normAutofit lnSpcReduction="2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How to deal with constraints with different level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(endpoint/system)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?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3" name="圆角矩形 12"/>
          <p:cNvSpPr/>
          <p:nvPr>
            <p:custDataLst>
              <p:tags r:id="rId2"/>
            </p:custDataLst>
          </p:nvPr>
        </p:nvSpPr>
        <p:spPr>
          <a:xfrm>
            <a:off x="362585" y="3246120"/>
            <a:ext cx="2076450" cy="73469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005840" y="3297555"/>
            <a:ext cx="132143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endpoint constraint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zh-CN" altLang="en-US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代码文件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585" y="3297555"/>
            <a:ext cx="699770" cy="603885"/>
          </a:xfrm>
          <a:prstGeom prst="rect">
            <a:avLst/>
          </a:prstGeom>
        </p:spPr>
      </p:pic>
      <p:sp>
        <p:nvSpPr>
          <p:cNvPr id="16" name="圆角矩形 15"/>
          <p:cNvSpPr/>
          <p:nvPr>
            <p:custDataLst>
              <p:tags r:id="rId7"/>
            </p:custDataLst>
          </p:nvPr>
        </p:nvSpPr>
        <p:spPr>
          <a:xfrm>
            <a:off x="362585" y="4486275"/>
            <a:ext cx="2076450" cy="73469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005840" y="4537710"/>
            <a:ext cx="1321435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system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constraint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zh-CN" altLang="en-US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8" name="图片 17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585" y="4537710"/>
            <a:ext cx="699770" cy="603885"/>
          </a:xfrm>
          <a:prstGeom prst="rect">
            <a:avLst/>
          </a:prstGeom>
        </p:spPr>
      </p:pic>
      <p:sp>
        <p:nvSpPr>
          <p:cNvPr id="55" name="圆角矩形 54"/>
          <p:cNvSpPr/>
          <p:nvPr>
            <p:custDataLst>
              <p:tags r:id="rId10"/>
            </p:custDataLst>
          </p:nvPr>
        </p:nvSpPr>
        <p:spPr>
          <a:xfrm>
            <a:off x="2808605" y="2199640"/>
            <a:ext cx="2574925" cy="346265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903220" y="2308225"/>
            <a:ext cx="2386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A</a:t>
            </a:r>
            <a:r>
              <a:rPr lang="zh-CN" altLang="en-US" b="1"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use pre-binding </a:t>
            </a: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strategies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1" name="圆角矩形 20"/>
          <p:cNvSpPr/>
          <p:nvPr>
            <p:custDataLst>
              <p:tags r:id="rId11"/>
            </p:custDataLst>
          </p:nvPr>
        </p:nvSpPr>
        <p:spPr>
          <a:xfrm>
            <a:off x="3167380" y="3308350"/>
            <a:ext cx="1845310" cy="635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use pre-binding 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strategies</a:t>
            </a:r>
            <a:endParaRPr lang="zh-CN" altLang="en-US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2" name="圆角矩形 21"/>
          <p:cNvSpPr/>
          <p:nvPr>
            <p:custDataLst>
              <p:tags r:id="rId12"/>
            </p:custDataLst>
          </p:nvPr>
        </p:nvSpPr>
        <p:spPr>
          <a:xfrm>
            <a:off x="3167380" y="4550410"/>
            <a:ext cx="1845310" cy="635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do </a:t>
            </a:r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nothing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58" name="直接箭头连接符 57"/>
          <p:cNvCxnSpPr>
            <a:stCxn id="13" idx="3"/>
            <a:endCxn id="21" idx="1"/>
          </p:cNvCxnSpPr>
          <p:nvPr/>
        </p:nvCxnSpPr>
        <p:spPr>
          <a:xfrm>
            <a:off x="2439035" y="3613785"/>
            <a:ext cx="728345" cy="1270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6" idx="3"/>
            <a:endCxn id="22" idx="1"/>
          </p:cNvCxnSpPr>
          <p:nvPr/>
        </p:nvCxnSpPr>
        <p:spPr>
          <a:xfrm>
            <a:off x="2439035" y="4853940"/>
            <a:ext cx="728345" cy="14605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圆角矩形 65"/>
          <p:cNvSpPr/>
          <p:nvPr>
            <p:custDataLst>
              <p:tags r:id="rId13"/>
            </p:custDataLst>
          </p:nvPr>
        </p:nvSpPr>
        <p:spPr>
          <a:xfrm>
            <a:off x="9097010" y="2863215"/>
            <a:ext cx="2607945" cy="52324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Run check scripts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7" name="图片 66" descr="齿轮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56950" y="2863215"/>
            <a:ext cx="473710" cy="473710"/>
          </a:xfrm>
          <a:prstGeom prst="rect">
            <a:avLst/>
          </a:prstGeom>
        </p:spPr>
      </p:pic>
      <p:sp>
        <p:nvSpPr>
          <p:cNvPr id="25" name="圆角矩形 24"/>
          <p:cNvSpPr/>
          <p:nvPr>
            <p:custDataLst>
              <p:tags r:id="rId16"/>
            </p:custDataLst>
          </p:nvPr>
        </p:nvSpPr>
        <p:spPr>
          <a:xfrm>
            <a:off x="5836920" y="2199640"/>
            <a:ext cx="2574925" cy="346265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931535" y="2308225"/>
            <a:ext cx="2386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B</a:t>
            </a:r>
            <a:r>
              <a:rPr lang="zh-CN" altLang="en-US" b="1">
                <a:latin typeface="Comic Sans MS" panose="030F0702030302020204" charset="0"/>
                <a:cs typeface="Comic Sans MS" panose="030F0702030302020204" charset="0"/>
              </a:rPr>
              <a:t>：</a:t>
            </a:r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scenario construction</a:t>
            </a:r>
            <a:endParaRPr lang="en-US" altLang="zh-CN" b="1"/>
          </a:p>
        </p:txBody>
      </p:sp>
      <p:sp>
        <p:nvSpPr>
          <p:cNvPr id="29" name="圆角矩形 28"/>
          <p:cNvSpPr/>
          <p:nvPr>
            <p:custDataLst>
              <p:tags r:id="rId17"/>
            </p:custDataLst>
          </p:nvPr>
        </p:nvSpPr>
        <p:spPr>
          <a:xfrm>
            <a:off x="6195695" y="3308350"/>
            <a:ext cx="1845310" cy="635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scenario construction</a:t>
            </a:r>
            <a:endParaRPr lang="zh-CN" altLang="en-US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18"/>
            </p:custDataLst>
          </p:nvPr>
        </p:nvSpPr>
        <p:spPr>
          <a:xfrm>
            <a:off x="6195695" y="4550410"/>
            <a:ext cx="1845310" cy="635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scenario construction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4" name="直接箭头连接符 23"/>
          <p:cNvCxnSpPr>
            <a:stCxn id="21" idx="3"/>
            <a:endCxn id="29" idx="1"/>
          </p:cNvCxnSpPr>
          <p:nvPr/>
        </p:nvCxnSpPr>
        <p:spPr>
          <a:xfrm>
            <a:off x="5012690" y="3626485"/>
            <a:ext cx="1183005" cy="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2" idx="3"/>
            <a:endCxn id="31" idx="1"/>
          </p:cNvCxnSpPr>
          <p:nvPr/>
        </p:nvCxnSpPr>
        <p:spPr>
          <a:xfrm>
            <a:off x="5012690" y="4868545"/>
            <a:ext cx="1183005" cy="0"/>
          </a:xfrm>
          <a:prstGeom prst="straightConnector1">
            <a:avLst/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21" idx="3"/>
            <a:endCxn id="66" idx="0"/>
          </p:cNvCxnSpPr>
          <p:nvPr/>
        </p:nvCxnSpPr>
        <p:spPr>
          <a:xfrm flipV="1">
            <a:off x="5012690" y="2863215"/>
            <a:ext cx="5388610" cy="763270"/>
          </a:xfrm>
          <a:prstGeom prst="bentConnector4">
            <a:avLst>
              <a:gd name="adj1" fmla="val 9851"/>
              <a:gd name="adj2" fmla="val 211064"/>
            </a:avLst>
          </a:prstGeom>
          <a:ln w="50800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29" idx="3"/>
            <a:endCxn id="66" idx="1"/>
          </p:cNvCxnSpPr>
          <p:nvPr/>
        </p:nvCxnSpPr>
        <p:spPr>
          <a:xfrm flipV="1">
            <a:off x="8041005" y="3124835"/>
            <a:ext cx="1056005" cy="501650"/>
          </a:xfrm>
          <a:prstGeom prst="bentConnector3">
            <a:avLst>
              <a:gd name="adj1" fmla="val 57245"/>
            </a:avLst>
          </a:prstGeom>
          <a:ln w="50800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31" idx="3"/>
            <a:endCxn id="66" idx="1"/>
          </p:cNvCxnSpPr>
          <p:nvPr/>
        </p:nvCxnSpPr>
        <p:spPr>
          <a:xfrm flipV="1">
            <a:off x="8041005" y="3124835"/>
            <a:ext cx="1056005" cy="1743710"/>
          </a:xfrm>
          <a:prstGeom prst="bentConnector3">
            <a:avLst>
              <a:gd name="adj1" fmla="val 57606"/>
            </a:avLst>
          </a:prstGeom>
          <a:ln w="50800" cmpd="sng">
            <a:solidFill>
              <a:schemeClr val="accent2">
                <a:lumMod val="75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下箭头 37"/>
          <p:cNvSpPr/>
          <p:nvPr>
            <p:custDataLst>
              <p:tags r:id="rId19"/>
            </p:custDataLst>
          </p:nvPr>
        </p:nvSpPr>
        <p:spPr>
          <a:xfrm>
            <a:off x="10217785" y="3404870"/>
            <a:ext cx="378460" cy="44577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>
            <p:custDataLst>
              <p:tags r:id="rId20"/>
            </p:custDataLst>
          </p:nvPr>
        </p:nvSpPr>
        <p:spPr>
          <a:xfrm>
            <a:off x="9179560" y="385762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40" name="图片 39" descr="软件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249410" y="3893820"/>
            <a:ext cx="652780" cy="603885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24"/>
            </p:custDataLst>
          </p:nvPr>
        </p:nvSpPr>
        <p:spPr>
          <a:xfrm>
            <a:off x="9957435" y="3996055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0555605" y="3347720"/>
            <a:ext cx="107823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{.....}.py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Strategies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351270"/>
            <a:ext cx="1934845" cy="265430"/>
          </a:xfrm>
        </p:spPr>
        <p:txBody>
          <a:bodyPr>
            <a:normAutofit fontScale="60000"/>
          </a:bodyPr>
          <a:lstStyle/>
          <a:p>
            <a:fld id="{9A0DB2DC-4C9A-4742-B13C-FB6460FD3503}" type="slidenum">
              <a:rPr lang="en-US" altLang="zh-CN" sz="1800">
                <a:solidFill>
                  <a:srgbClr val="000000"/>
                </a:solidFill>
              </a:rPr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7560945" y="1617980"/>
          <a:ext cx="4128135" cy="374396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889250"/>
                <a:gridCol w="1238885"/>
              </a:tblGrid>
              <a:tr h="450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Bind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994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Behavioral Specification Violation[4]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013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Error Diagnosis Quality 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784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Ilegal Rejection 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987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Implicit Type Coercion[5]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248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Search Semantic Correctness[1]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Metamorphic Relations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365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Filter Semantic Correctness</a:t>
                      </a:r>
                      <a:endParaRPr lang="en-US" altLang="zh-CN" sz="1600"/>
                    </a:p>
                    <a:p>
                      <a:pPr algn="ctr">
                        <a:buNone/>
                      </a:pP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</a:t>
                      </a:r>
                      <a:r>
                        <a:rPr lang="zh-CN" altLang="en-US" sz="1400">
                          <a:sym typeface="+mn-ea"/>
                        </a:rPr>
                        <a:t>匹配</a:t>
                      </a:r>
                      <a:endParaRPr lang="zh-CN" altLang="en-US"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3868420" y="1617980"/>
          <a:ext cx="3529965" cy="374777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667000"/>
                <a:gridCol w="862965"/>
              </a:tblGrid>
              <a:tr h="4184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Bind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385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CRUD + COUNT Consistency[1]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 DELETE Consistency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Upsert Idempotence[2]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Concurrent Operations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</a:t>
                      </a:r>
                      <a:r>
                        <a:rPr lang="zh-CN" altLang="en-US" sz="1400">
                          <a:sym typeface="+mn-ea"/>
                        </a:rPr>
                        <a:t>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 Build Consistency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</a:t>
                      </a:r>
                      <a:r>
                        <a:rPr lang="zh-CN" altLang="en-US" sz="1400">
                          <a:sym typeface="+mn-ea"/>
                        </a:rPr>
                        <a:t>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 Lifecycle Concurrency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</a:t>
                      </a:r>
                      <a:r>
                        <a:rPr lang="zh-CN" altLang="en-US" sz="1400">
                          <a:sym typeface="+mn-ea"/>
                        </a:rPr>
                        <a:t>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5"/>
            </p:custDataLst>
          </p:nvPr>
        </p:nvGraphicFramePr>
        <p:xfrm>
          <a:off x="149860" y="1617980"/>
          <a:ext cx="3556000" cy="440563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359660"/>
                <a:gridCol w="1196340"/>
              </a:tblGrid>
              <a:tr h="4076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Bind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222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Boundary Value[12]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预绑定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Type Boundary[3]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预绑定</a:t>
                      </a:r>
                      <a:endParaRPr lang="zh-CN" altLang="en-US" sz="1400"/>
                    </a:p>
                    <a:p>
                      <a:pPr algn="l">
                        <a:buNone/>
                      </a:pPr>
                      <a:endParaRPr lang="en-US" altLang="zh-CN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Dimension Mismatch[1]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/>
                        <a:t>运行时</a:t>
                      </a:r>
                      <a:r>
                        <a:rPr lang="zh-CN" altLang="en-US" sz="1400"/>
                        <a:t>匹配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31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Special Values</a:t>
                      </a:r>
                      <a:r>
                        <a:rPr lang="en-US" altLang="zh-CN" sz="1800">
                          <a:sym typeface="+mn-ea"/>
                        </a:rPr>
                        <a:t>[7]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Error Message Quality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伴随所有预期失败</a:t>
                      </a:r>
                      <a:r>
                        <a:rPr lang="zh-CN" altLang="en-US" sz="1400">
                          <a:sym typeface="+mn-ea"/>
                        </a:rPr>
                        <a:t>案例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06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Resource Limit / DoS[1]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981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Malformed Input / Character Fuzzing[1]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运行时匹配</a:t>
                      </a:r>
                      <a:endParaRPr lang="zh-CN" altLang="en-US" sz="1400"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altLang="en-US" sz="1400">
                        <a:sym typeface="+mn-ea"/>
                      </a:endParaRPr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Attack-Boundary Built-in Test Strategies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43636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186055" y="1199515"/>
          <a:ext cx="11743690" cy="550164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413000"/>
                <a:gridCol w="3809365"/>
                <a:gridCol w="552132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Applicability (Trigger)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Core Test Actions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Boundary Value[12]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（边界值）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specifications</a:t>
                      </a:r>
                      <a:r>
                        <a:rPr lang="en-US" altLang="zh-CN"/>
                        <a:t> contain range_constraints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Test min-1, max+1, 0, negative values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Type Boundary[3]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（类型边界）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specifications</a:t>
                      </a:r>
                      <a:r>
                        <a:rPr lang="en-US" altLang="zh-CN"/>
                        <a:t> contain type_constraints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Test null, [], type confusion, over-long strings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Dimension Mismatch[1]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（维度不匹配）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involving vector dimensions (schema create / insert)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Create with contract dimension, insert/search with wrong dimension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562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Special Values</a:t>
                      </a:r>
                      <a:r>
                        <a:rPr lang="en-US" altLang="zh-CN" sz="1800">
                          <a:sym typeface="+mn-ea"/>
                        </a:rPr>
                        <a:t>[7]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（特殊值）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Universal (any endpoint accepting user input)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Test extreme min/max, Unicode, SQL/JSON injection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Error Message Quality</a:t>
                      </a:r>
                      <a:r>
                        <a:rPr lang="zh-CN" altLang="en-US" sz="1400"/>
                        <a:t>（错误消息质量）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Subsidiary (any failing case expecting 4xx)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Check error body explicitly names the violating param and correct range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Resource Limit / DoS[1]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（资源限制 / 拒绝服务攻击）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Any endpoint with numeric parameters (limit/dim/group_size)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Test 1e6, INT_MAX, combinatorial explosion; crash (5xx) is bug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Malformed Input / Character Fuzzing[1]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（畸形输入/字符模糊测试）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accepting string IDs or text input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Test malformed JSON, NUL bytes, UTF-16 lone surrogates, extremely long (10MB) strings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Attack-State Built-in Test Strategies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3512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254635" y="1238885"/>
          <a:ext cx="11489690" cy="513080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385695"/>
                <a:gridCol w="4330065"/>
                <a:gridCol w="4773930"/>
              </a:tblGrid>
              <a:tr h="4286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Applicability (Trigger)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Core Test Actions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169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CRUD + COUNT Consistency[1]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</a:t>
                      </a:r>
                      <a:r>
                        <a:rPr lang="en-US" altLang="zh-CN" sz="1400"/>
                        <a:t>CRUD</a:t>
                      </a:r>
                      <a:r>
                        <a:rPr lang="zh-CN" altLang="en-US" sz="1400"/>
                        <a:t>与</a:t>
                      </a:r>
                      <a:r>
                        <a:rPr lang="en-US" altLang="zh-CN" sz="1400"/>
                        <a:t> </a:t>
                      </a:r>
                      <a:r>
                        <a:rPr lang="zh-CN" altLang="en-US" sz="1400"/>
                        <a:t>计数一致性）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specifications</a:t>
                      </a:r>
                      <a:r>
                        <a:rPr lang="en-US" altLang="zh-CN"/>
                        <a:t> contain state_invariants for count consistency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Insert N points → verify count increases by exactly N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58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 DELETE Consistency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（删除一致性）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supporting deletion (collection/table/object)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Delete → subsequent GET/COUNT returns 404 or equivalent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Upsert Idempotence[2]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</a:t>
                      </a:r>
                      <a:r>
                        <a:rPr lang="en-US" altLang="zh-CN" sz="1400">
                          <a:sym typeface="+mn-ea"/>
                        </a:rPr>
                        <a:t>Upsert</a:t>
                      </a:r>
                      <a:r>
                        <a:rPr lang="zh-CN" altLang="en-US" sz="1400"/>
                        <a:t>幂等性）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supporting upsert (insert/update with same ID)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Upsert same ID twice → count increases by 1 (not 2), verify data correctness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58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Concurrent Operations</a:t>
                      </a:r>
                      <a:r>
                        <a:rPr lang="zh-CN" altLang="en-US" sz="1400"/>
                        <a:t>（并</a:t>
                      </a:r>
                      <a:r>
                        <a:rPr lang="zh-CN" altLang="en-US" sz="1400"/>
                        <a:t>发操作）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Universal for endpoints accepting concurrent writes/reads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Multi-threaded upsert/query → verify count = expected, no corruption, no crashes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 Build Consistency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（索引构建时一致性）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supporting index creation (async or background)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Build index while concurrently querying/inserting → verify no 500, no data loss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 Lifecycle Concurrency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（生命周期并发）</a:t>
                      </a:r>
                      <a:endParaRPr lang="zh-CN" altLang="en-US" sz="14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with collection/table lifecycle + access endpoints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Concurrent create/delete/recreate vs query/upsert → 500 is bug (should be 404/503)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Attack-Semantic Built-in Test Strategies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3512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254635" y="1199515"/>
          <a:ext cx="11635105" cy="4876800"/>
        </p:xfrm>
        <a:graphic>
          <a:graphicData uri="http://schemas.openxmlformats.org/drawingml/2006/table">
            <a:tbl>
              <a:tblPr firstRow="1" bandCol="1">
                <a:tableStyleId>{7BA7714E-D7FD-4C82-9671-EAE3478D38F4}</a:tableStyleId>
              </a:tblPr>
              <a:tblGrid>
                <a:gridCol w="2354580"/>
                <a:gridCol w="4446270"/>
                <a:gridCol w="48342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Strategy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Applicability (Trigger)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tx2"/>
                          </a:solidFill>
                        </a:rPr>
                        <a:t>Core Test Actions</a:t>
                      </a:r>
                      <a:endParaRPr lang="en-US" altLang="zh-CN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Behavioral Specification Violation[4]</a:t>
                      </a:r>
                      <a:r>
                        <a:rPr lang="zh-CN" altLang="en-US" sz="1200"/>
                        <a:t>（行为声明违</a:t>
                      </a:r>
                      <a:r>
                        <a:rPr lang="zh-CN" altLang="en-US" sz="1200"/>
                        <a:t>反）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specifications contain behavioral_contracts (timing/visibility guarantees)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Create → insert → search within 1s → verify immediate visibility per contract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Error Diagnosis Quality </a:t>
                      </a:r>
                      <a:r>
                        <a:rPr lang="zh-CN" altLang="en-US" sz="1200"/>
                        <a:t>（错误诊断质量）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Any failing case expected to return 4xx with error details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Score error message: parameter named  + format hint  + actionable suggestion 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Ilegal Rejection </a:t>
                      </a:r>
                      <a:endParaRPr lang="en-US" altLang="zh-CN" sz="1600"/>
                    </a:p>
                    <a:p>
                      <a:pPr algn="ctr">
                        <a:buNone/>
                      </a:pPr>
                      <a:r>
                        <a:rPr lang="zh-CN" altLang="en-US" sz="1200"/>
                        <a:t>（非法拒绝</a:t>
                      </a:r>
                      <a:r>
                        <a:rPr lang="en-US" altLang="zh-CN" sz="1200"/>
                        <a:t>/</a:t>
                      </a:r>
                      <a:r>
                        <a:rPr lang="zh-CN" altLang="en-US" sz="1200"/>
                        <a:t>误拒绝）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Legitimate input ranges defined in contract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Traverse valid values (1, 5, 10, 100, 1000) → verify all accepted (200)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Implicit Type Coercion[5]</a:t>
                      </a:r>
                      <a:r>
                        <a:rPr lang="zh-CN" altLang="en-US" sz="1200"/>
                        <a:t>（隐式类型转换）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accepting typed parameters without strict validation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Send string ("100"), float (5.0), boolean (true) → verify proper rejection (4xx)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Search Semantic Correctness[1]</a:t>
                      </a:r>
                      <a:endParaRPr lang="en-US" altLang="zh-CN" sz="1600"/>
                    </a:p>
                    <a:p>
                      <a:pPr algn="ctr">
                        <a:buNone/>
                      </a:pPr>
                      <a:r>
                        <a:rPr lang="zh-CN" altLang="en-US" sz="1200"/>
                        <a:t>（搜索语义正确性）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Search/query endpoints with </a:t>
                      </a:r>
                      <a:endParaRPr lang="en-US" altLang="zh-CN"/>
                    </a:p>
                    <a:p>
                      <a:pPr algn="l">
                        <a:buNone/>
                      </a:pPr>
                      <a:r>
                        <a:rPr lang="en-US" altLang="zh-CN"/>
                        <a:t>nearest - neighbor semantics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Insert vectors at known distances → query → verify correct ordering (closest first)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Metamorphic Relations</a:t>
                      </a:r>
                      <a:r>
                        <a:rPr lang="zh-CN" altLang="en-US" sz="1200"/>
                        <a:t>（蜕变关系）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supporting multiple equivalent query formats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Same query in different formats → verify identical result sets / ordering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Filter Semantic Correctness</a:t>
                      </a:r>
                      <a:endParaRPr lang="en-US" altLang="zh-CN" sz="1600"/>
                    </a:p>
                    <a:p>
                      <a:pPr algn="ctr">
                        <a:buNone/>
                      </a:pPr>
                      <a:r>
                        <a:rPr lang="zh-CN" altLang="en-US" sz="1200"/>
                        <a:t>（过滤语义正确性）</a:t>
                      </a:r>
                      <a:endParaRPr lang="zh-CN" altLang="en-US" sz="1200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Endpoints supporting filter/where conditions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/>
                        <a:t>Insert labeled data → filter by category/score → verify filtered count matches expected</a:t>
                      </a:r>
                      <a:endParaRPr lang="en-US" altLang="zh-CN"/>
                    </a:p>
                  </a:txBody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0" y="1658620"/>
            <a:ext cx="12192000" cy="520001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7235" y="9943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820" y="79438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401320" y="164465"/>
            <a:ext cx="652589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An entire process example </a:t>
            </a:r>
            <a:r>
              <a:rPr lang="zh-CN" altLang="en-US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②</a:t>
            </a:r>
            <a:endParaRPr lang="zh-CN" altLang="en-US" sz="3600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01320" y="946785"/>
            <a:ext cx="10227310" cy="711835"/>
          </a:xfrm>
        </p:spPr>
        <p:txBody>
          <a:bodyPr>
            <a:normAutofit fontScale="6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Recommend bypasses vector dimension validation for negative examples from lookup_from, returning silently wrong scores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— qdrant v1.19.0 ·  #10369 </a:t>
            </a:r>
            <a:r>
              <a:rPr lang="en-US" altLang="zh-CN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[accepted]</a:t>
            </a:r>
            <a:endParaRPr lang="en-US" altLang="zh-CN" sz="2000" b="1" dirty="0" err="1">
              <a:solidFill>
                <a:schemeClr val="tx1"/>
              </a:solidFill>
              <a:highlight>
                <a:srgbClr val="00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2425" y="1622425"/>
            <a:ext cx="6827520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Test Script Generation</a:t>
            </a:r>
            <a:endParaRPr lang="en-US" altLang="zh-CN" sz="2400" b="1" dirty="0">
              <a:solidFill>
                <a:schemeClr val="tx1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760" y="2103755"/>
            <a:ext cx="7068185" cy="1812290"/>
          </a:xfrm>
          <a:prstGeom prst="rect">
            <a:avLst/>
          </a:prstGeom>
          <a:solidFill>
            <a:schemeClr val="bg2">
              <a:lumMod val="65000"/>
            </a:schemeClr>
          </a:solidFill>
        </p:spPr>
        <p:txBody>
          <a:bodyPr wrap="square" rtlCol="0">
            <a:noAutofit/>
          </a:bodyPr>
          <a:p>
            <a:r>
              <a:rPr lang="en-US" altLang="zh-CN" sz="1400"/>
              <a:t>{   "constraint_id": "qdrant_state_recommend_001",</a:t>
            </a:r>
            <a:endParaRPr lang="en-US" altLang="zh-CN" sz="1400"/>
          </a:p>
          <a:p>
            <a:r>
              <a:rPr lang="en-US" altLang="zh-CN" sz="1400"/>
              <a:t>    "endpoint": "points+recommend",</a:t>
            </a:r>
            <a:endParaRPr lang="en-US" altLang="zh-CN" sz="1400"/>
          </a:p>
          <a:p>
            <a:r>
              <a:rPr lang="en-US" altLang="zh-CN" sz="1400"/>
              <a:t>    "description": "cross-collection lookup coupling: same vector size required",</a:t>
            </a:r>
            <a:endParaRPr lang="en-US" altLang="zh-CN" sz="1400"/>
          </a:p>
          <a:p>
            <a:r>
              <a:rPr lang="en-US" altLang="zh-CN" sz="1400"/>
              <a:t>    "assertion": "</a:t>
            </a:r>
            <a:r>
              <a:rPr lang="en-US" altLang="zh-CN" sz="1400">
                <a:highlight>
                  <a:srgbClr val="FFFF00"/>
                </a:highlight>
              </a:rPr>
              <a:t>lookup_from collection must have same vector size as target collection vector</a:t>
            </a:r>
            <a:r>
              <a:rPr lang="en-US" altLang="zh-CN" sz="1400"/>
              <a:t>",</a:t>
            </a:r>
            <a:endParaRPr lang="en-US" altLang="zh-CN" sz="1400"/>
          </a:p>
          <a:p>
            <a:r>
              <a:rPr lang="en-US" altLang="zh-CN" sz="1400"/>
              <a:t>    "type": "state_constraint",</a:t>
            </a:r>
            <a:endParaRPr lang="en-US" altLang="zh-CN" sz="1400"/>
          </a:p>
          <a:p>
            <a:r>
              <a:rPr lang="en-US" altLang="zh-CN" sz="1400"/>
              <a:t>    .....................</a:t>
            </a:r>
            <a:endParaRPr lang="en-US" altLang="zh-CN" sz="1400"/>
          </a:p>
          <a:p>
            <a:r>
              <a:rPr lang="en-US" altLang="zh-CN" sz="1400"/>
              <a:t>    "level": "endpoint"},</a:t>
            </a:r>
            <a:endParaRPr lang="en-US" altLang="zh-CN" sz="1400"/>
          </a:p>
        </p:txBody>
      </p:sp>
      <p:sp>
        <p:nvSpPr>
          <p:cNvPr id="52" name="流程图: 过程 51"/>
          <p:cNvSpPr/>
          <p:nvPr/>
        </p:nvSpPr>
        <p:spPr>
          <a:xfrm>
            <a:off x="111760" y="4248150"/>
            <a:ext cx="7068185" cy="23812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"/>
            </p:custDataLst>
          </p:nvPr>
        </p:nvSpPr>
        <p:spPr>
          <a:xfrm>
            <a:off x="767080" y="4372610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attack-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state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7" name="图片 36" descr="机器人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435" y="4303395"/>
            <a:ext cx="708025" cy="5924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17295" y="3916045"/>
            <a:ext cx="1779905" cy="3352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specifications.json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" name="下箭头 2"/>
          <p:cNvSpPr/>
          <p:nvPr>
            <p:custDataLst>
              <p:tags r:id="rId7"/>
            </p:custDataLst>
          </p:nvPr>
        </p:nvSpPr>
        <p:spPr>
          <a:xfrm>
            <a:off x="886460" y="3897630"/>
            <a:ext cx="401955" cy="35433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圆角矩形 54"/>
          <p:cNvSpPr/>
          <p:nvPr>
            <p:custDataLst>
              <p:tags r:id="rId8"/>
            </p:custDataLst>
          </p:nvPr>
        </p:nvSpPr>
        <p:spPr>
          <a:xfrm>
            <a:off x="401320" y="5161280"/>
            <a:ext cx="2835910" cy="110363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1320" y="5505450"/>
            <a:ext cx="2825115" cy="81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pre-bind strategy?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→</a:t>
            </a:r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scenario construction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" name="圆角矩形 6"/>
          <p:cNvSpPr/>
          <p:nvPr>
            <p:custDataLst>
              <p:tags r:id="rId9"/>
            </p:custDataLst>
          </p:nvPr>
        </p:nvSpPr>
        <p:spPr>
          <a:xfrm>
            <a:off x="3488055" y="4507230"/>
            <a:ext cx="3525520" cy="197675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b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93135" y="4971415"/>
            <a:ext cx="3488690" cy="1402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  The assertion can only hold if it is </a:t>
            </a:r>
            <a:r>
              <a:rPr lang="en-US" altLang="zh-CN" sz="16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evaluated against the live lookup state on every request,</a:t>
            </a:r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 in both directions of the restore (reject oversized, accept restored)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3" name="直接箭头连接符 62"/>
          <p:cNvCxnSpPr>
            <a:stCxn id="55" idx="3"/>
          </p:cNvCxnSpPr>
          <p:nvPr/>
        </p:nvCxnSpPr>
        <p:spPr>
          <a:xfrm flipV="1">
            <a:off x="3237230" y="5712460"/>
            <a:ext cx="250825" cy="63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大脑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01695" y="4457700"/>
            <a:ext cx="513715" cy="513715"/>
          </a:xfrm>
          <a:prstGeom prst="rect">
            <a:avLst/>
          </a:prstGeom>
        </p:spPr>
      </p:pic>
      <p:pic>
        <p:nvPicPr>
          <p:cNvPr id="4" name="图片 3" descr="ai_picture_gb_1786506268724_hteockqc_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29593" t="21757" r="29843" b="21520"/>
          <a:stretch>
            <a:fillRect/>
          </a:stretch>
        </p:blipFill>
        <p:spPr>
          <a:xfrm>
            <a:off x="281305" y="4994910"/>
            <a:ext cx="485775" cy="537845"/>
          </a:xfrm>
          <a:prstGeom prst="rect">
            <a:avLst/>
          </a:prstGeom>
          <a:ln w="19050">
            <a:noFill/>
          </a:ln>
        </p:spPr>
      </p:pic>
      <p:sp>
        <p:nvSpPr>
          <p:cNvPr id="25" name="下箭头 24"/>
          <p:cNvSpPr/>
          <p:nvPr>
            <p:custDataLst>
              <p:tags r:id="rId14"/>
            </p:custDataLst>
          </p:nvPr>
        </p:nvSpPr>
        <p:spPr>
          <a:xfrm rot="16200000">
            <a:off x="7155815" y="5149215"/>
            <a:ext cx="401955" cy="35433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流程图: 过程 27"/>
          <p:cNvSpPr/>
          <p:nvPr/>
        </p:nvSpPr>
        <p:spPr>
          <a:xfrm>
            <a:off x="7534910" y="1854200"/>
            <a:ext cx="4516120" cy="483235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660005" y="3271520"/>
            <a:ext cx="4327525" cy="3357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</a:rPr>
              <a:t>Oracle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with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main collection size=4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holding ids 1=[1,0,0,0], 2=[0,2,0,0], 3=[1,1,0,0] and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lookup collection size=4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holding id 101, a recommend positive=[101] lookup_from=lookup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returns 200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; after the lookup collection is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deleted and recreated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under the same name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with size=8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(points upserted at size 8 with wait=true), a recommend positive=[101] lookup_from=lookup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MUST be rejected with 400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and the error must report a vector dimension mismatch (expected dim 4, got 8)</a:t>
            </a:r>
            <a:b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    - ......is a Type1 violation,...... is a Type3 violation; the dimension check must also......; after...... MUST ...... and...... proves stale cached state; 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圆角矩形 38"/>
          <p:cNvSpPr/>
          <p:nvPr>
            <p:custDataLst>
              <p:tags r:id="rId15"/>
            </p:custDataLst>
          </p:nvPr>
        </p:nvSpPr>
        <p:spPr>
          <a:xfrm>
            <a:off x="7694295" y="2047875"/>
            <a:ext cx="4098290" cy="69977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45" name="图片 44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64145" y="2084070"/>
            <a:ext cx="652780" cy="60388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19"/>
            </p:custDataLst>
          </p:nvPr>
        </p:nvSpPr>
        <p:spPr>
          <a:xfrm>
            <a:off x="8472170" y="2103755"/>
            <a:ext cx="327850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script: </a:t>
            </a:r>
            <a:r>
              <a:rPr lang="en-US" altLang="zh-CN" sz="16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state_recommend 02_lookup_dim_recreate.py</a:t>
            </a:r>
            <a:endParaRPr lang="en-US" altLang="zh-CN" sz="16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29" name="加号 28"/>
          <p:cNvSpPr/>
          <p:nvPr/>
        </p:nvSpPr>
        <p:spPr>
          <a:xfrm>
            <a:off x="9336405" y="2781300"/>
            <a:ext cx="492125" cy="456565"/>
          </a:xfrm>
          <a:prstGeom prst="mathPlus">
            <a:avLst>
              <a:gd name="adj1" fmla="val 16272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25" grpId="0" animBg="1"/>
      <p:bldP spid="28" grpId="0" animBg="1"/>
      <p:bldP spid="24" grpId="0" animBg="1"/>
      <p:bldP spid="39" grpId="0" animBg="1"/>
      <p:bldP spid="46" grpId="0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3: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execute the generated scripts against a sandboxed VDBMS instance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Execution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90220" y="2432685"/>
            <a:ext cx="3336925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42085" y="26206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2925" y="3317240"/>
            <a:ext cx="332359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125" y="2501265"/>
            <a:ext cx="652780" cy="603885"/>
          </a:xfrm>
          <a:prstGeom prst="rect">
            <a:avLst/>
          </a:prstGeom>
        </p:spPr>
      </p:pic>
      <p:cxnSp>
        <p:nvCxnSpPr>
          <p:cNvPr id="3" name="直接箭头连接符 2"/>
          <p:cNvCxnSpPr>
            <a:stCxn id="5" idx="3"/>
            <a:endCxn id="7" idx="1"/>
          </p:cNvCxnSpPr>
          <p:nvPr/>
        </p:nvCxnSpPr>
        <p:spPr>
          <a:xfrm>
            <a:off x="3827145" y="4224655"/>
            <a:ext cx="1361440" cy="1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>
            <a:off x="5188585" y="1873885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863205" y="2025015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9080" y="2143760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5329555" y="2025015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4485" y="2127250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6012815" y="2394585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70620" y="2378710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863205" y="4979035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11795" y="5062855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804150" y="5807075"/>
            <a:ext cx="154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879080" y="2961640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61610" y="3201670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78265" y="5320665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86741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3: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execute the generated scripts against a sandboxed VDBMS instance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Execution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7" name="流程图: 过程 66"/>
          <p:cNvSpPr/>
          <p:nvPr/>
        </p:nvSpPr>
        <p:spPr>
          <a:xfrm>
            <a:off x="9451340" y="2610485"/>
            <a:ext cx="2543175" cy="3109595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615" y="2807970"/>
            <a:ext cx="1256030" cy="11334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572625" y="4537075"/>
            <a:ext cx="2301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Container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8" name="圆角矩形 27"/>
          <p:cNvSpPr/>
          <p:nvPr>
            <p:custDataLst>
              <p:tags r:id="rId4"/>
            </p:custDataLst>
          </p:nvPr>
        </p:nvSpPr>
        <p:spPr>
          <a:xfrm>
            <a:off x="4258310" y="3171825"/>
            <a:ext cx="2954655" cy="23075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5142230" y="3348355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docker-executor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7210" y="3221990"/>
            <a:ext cx="708025" cy="592455"/>
          </a:xfrm>
          <a:prstGeom prst="rect">
            <a:avLst/>
          </a:prstGeom>
        </p:spPr>
      </p:pic>
      <p:sp>
        <p:nvSpPr>
          <p:cNvPr id="37" name="下箭头 36"/>
          <p:cNvSpPr/>
          <p:nvPr>
            <p:custDataLst>
              <p:tags r:id="rId9"/>
            </p:custDataLst>
          </p:nvPr>
        </p:nvSpPr>
        <p:spPr>
          <a:xfrm>
            <a:off x="5315585" y="2779395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>
            <p:custDataLst>
              <p:tags r:id="rId10"/>
            </p:custDataLst>
          </p:nvPr>
        </p:nvSpPr>
        <p:spPr>
          <a:xfrm>
            <a:off x="4277360" y="204787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45" name="图片 44" descr="软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47210" y="2084070"/>
            <a:ext cx="652780" cy="60388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14"/>
            </p:custDataLst>
          </p:nvPr>
        </p:nvSpPr>
        <p:spPr>
          <a:xfrm>
            <a:off x="5055235" y="2186305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48" name="直接箭头连接符 47"/>
          <p:cNvCxnSpPr/>
          <p:nvPr/>
        </p:nvCxnSpPr>
        <p:spPr>
          <a:xfrm flipV="1">
            <a:off x="7216140" y="3592830"/>
            <a:ext cx="2217420" cy="3810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016750" y="3337560"/>
            <a:ext cx="2695575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HTTP 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via TESTVDB_DB_URL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55" name="流程图: 过程 54"/>
          <p:cNvSpPr/>
          <p:nvPr/>
        </p:nvSpPr>
        <p:spPr>
          <a:xfrm>
            <a:off x="54610" y="2261870"/>
            <a:ext cx="3839845" cy="345884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 descr="ai_picture_gb_1786506268724_hteockqc_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rcRect l="29593" t="21757" r="29843" b="21520"/>
          <a:stretch>
            <a:fillRect/>
          </a:stretch>
        </p:blipFill>
        <p:spPr>
          <a:xfrm>
            <a:off x="151130" y="2339975"/>
            <a:ext cx="718820" cy="794385"/>
          </a:xfrm>
          <a:prstGeom prst="rect">
            <a:avLst/>
          </a:prstGeom>
          <a:ln w="19050">
            <a:noFill/>
          </a:ln>
        </p:spPr>
      </p:pic>
      <p:sp>
        <p:nvSpPr>
          <p:cNvPr id="57" name="矩形 56"/>
          <p:cNvSpPr/>
          <p:nvPr/>
        </p:nvSpPr>
        <p:spPr>
          <a:xfrm>
            <a:off x="951865" y="2404110"/>
            <a:ext cx="2812415" cy="793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1.Set variables + write .executor.env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(target/version/session_dir)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51865" y="3272155"/>
            <a:ext cx="2811780" cy="734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2.Ensure DB container is running </a:t>
            </a: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(health check)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-76835" y="3108325"/>
            <a:ext cx="1174750" cy="650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docker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-executor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52500" y="4081145"/>
            <a:ext cx="2811780" cy="734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3.Run scripts in batch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(host Python, no docker exec)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52500" y="4890135"/>
            <a:ext cx="2811780" cy="734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4.Verify outputs</a:t>
            </a:r>
            <a:b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(.done / .log counts)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770245" y="2752090"/>
            <a:ext cx="107823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{.....}.py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65" name="直接连接符 64"/>
          <p:cNvCxnSpPr>
            <a:stCxn id="28" idx="1"/>
            <a:endCxn id="55" idx="3"/>
          </p:cNvCxnSpPr>
          <p:nvPr/>
        </p:nvCxnSpPr>
        <p:spPr>
          <a:xfrm flipH="1" flipV="1">
            <a:off x="3894455" y="3991610"/>
            <a:ext cx="363855" cy="3340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4347210" y="3826510"/>
            <a:ext cx="2807335" cy="14700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4347210" y="3827145"/>
            <a:ext cx="1978660" cy="3390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E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xecution outputs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388485" y="4288790"/>
            <a:ext cx="2710180" cy="389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output_${B}.log        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517130" y="4168775"/>
            <a:ext cx="17233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raw HTTP request + response 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79" name="直接箭头连接符 78"/>
          <p:cNvCxnSpPr>
            <a:endCxn id="77" idx="3"/>
          </p:cNvCxnSpPr>
          <p:nvPr/>
        </p:nvCxnSpPr>
        <p:spPr>
          <a:xfrm flipH="1" flipV="1">
            <a:off x="7098665" y="4483735"/>
            <a:ext cx="2368550" cy="3175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388485" y="4784090"/>
            <a:ext cx="2710180" cy="3898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output_${B}.log.done  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 flipV="1">
            <a:off x="7101840" y="4979035"/>
            <a:ext cx="2348865" cy="1905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7126605" y="4905375"/>
            <a:ext cx="2418080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 atomic completion marker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3" name="圆角矩形 92"/>
          <p:cNvSpPr/>
          <p:nvPr>
            <p:custDataLst>
              <p:tags r:id="rId17"/>
            </p:custDataLst>
          </p:nvPr>
        </p:nvSpPr>
        <p:spPr>
          <a:xfrm>
            <a:off x="4277360" y="581914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95" name="文本框 94"/>
          <p:cNvSpPr txBox="1"/>
          <p:nvPr>
            <p:custDataLst>
              <p:tags r:id="rId18"/>
            </p:custDataLst>
          </p:nvPr>
        </p:nvSpPr>
        <p:spPr>
          <a:xfrm>
            <a:off x="5057775" y="5960110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Test outputs</a:t>
            </a:r>
            <a:endParaRPr lang="en-US" altLang="zh-CN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8" name="图片 87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19905" y="5845175"/>
            <a:ext cx="665480" cy="599440"/>
          </a:xfrm>
          <a:prstGeom prst="rect">
            <a:avLst/>
          </a:prstGeom>
        </p:spPr>
      </p:pic>
      <p:sp>
        <p:nvSpPr>
          <p:cNvPr id="97" name="下箭头 96"/>
          <p:cNvSpPr/>
          <p:nvPr>
            <p:custDataLst>
              <p:tags r:id="rId22"/>
            </p:custDataLst>
          </p:nvPr>
        </p:nvSpPr>
        <p:spPr>
          <a:xfrm>
            <a:off x="5315585" y="5498465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5770245" y="5471160"/>
            <a:ext cx="1901190" cy="309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output_${B}.log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  <p:bldP spid="60" grpId="0" animBg="1"/>
      <p:bldP spid="63" grpId="0"/>
      <p:bldP spid="61" grpId="0" animBg="1"/>
      <p:bldP spid="6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0" y="1657985"/>
            <a:ext cx="12192000" cy="520001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7235" y="9943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820" y="79438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401320" y="164465"/>
            <a:ext cx="652589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An entire process example </a:t>
            </a:r>
            <a:r>
              <a:rPr lang="zh-CN" altLang="en-US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③</a:t>
            </a:r>
            <a:endParaRPr lang="zh-CN" altLang="en-US" sz="3600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01320" y="946785"/>
            <a:ext cx="10227310" cy="711835"/>
          </a:xfrm>
        </p:spPr>
        <p:txBody>
          <a:bodyPr>
            <a:normAutofit fontScale="6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Recommend bypasses vector dimension validation for negative examples from lookup_from, returning silently wrong scores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— qdrant v1.19.0 ·  #10369 </a:t>
            </a:r>
            <a:r>
              <a:rPr lang="en-US" altLang="zh-CN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[accepted]</a:t>
            </a:r>
            <a:endParaRPr lang="en-US" altLang="zh-CN" sz="2000" b="1" dirty="0" err="1">
              <a:solidFill>
                <a:schemeClr val="tx1"/>
              </a:solidFill>
              <a:highlight>
                <a:srgbClr val="00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33640" y="1617345"/>
            <a:ext cx="398081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Test Script Execution</a:t>
            </a:r>
            <a:endParaRPr lang="en-US" altLang="zh-CN" sz="2400" b="1" dirty="0">
              <a:solidFill>
                <a:schemeClr val="tx1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28" name="流程图: 过程 27"/>
          <p:cNvSpPr/>
          <p:nvPr/>
        </p:nvSpPr>
        <p:spPr>
          <a:xfrm>
            <a:off x="126365" y="2101215"/>
            <a:ext cx="4436110" cy="4607560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51460" y="3308985"/>
            <a:ext cx="4196080" cy="33578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</a:rPr>
              <a:t>Oracle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with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main collection size=4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holding ids 1=[1,0,0,0], 2=[0,2,0,0], 3=[1,1,0,0] and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lookup collection size=4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holding id 101, a recommend positive=[101] lookup_from=lookup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returns 200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; after the lookup collection is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deleted and recreated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under the same name </a:t>
            </a:r>
            <a:r>
              <a:rPr lang="en-US" altLang="zh-CN" sz="1400"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with size=8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(points upserted at size 8 with wait=true), a recommend positive=[101] lookup_from=lookup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MUST be rejected with 400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and the error must report a vector dimension mismatch (expected dim 4, got 8)</a:t>
            </a:r>
            <a:b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    - ......is a Type1 violation,...... is a Type3 violation; the dimension check must also......; after...... MUST ...... and...... proves stale cached state; 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圆角矩形 38"/>
          <p:cNvSpPr/>
          <p:nvPr>
            <p:custDataLst>
              <p:tags r:id="rId3"/>
            </p:custDataLst>
          </p:nvPr>
        </p:nvSpPr>
        <p:spPr>
          <a:xfrm>
            <a:off x="285750" y="2152650"/>
            <a:ext cx="4098290" cy="69977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45" name="图片 44" descr="软件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" y="2216785"/>
            <a:ext cx="652780" cy="603885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7"/>
            </p:custDataLst>
          </p:nvPr>
        </p:nvSpPr>
        <p:spPr>
          <a:xfrm>
            <a:off x="1063625" y="2141220"/>
            <a:ext cx="327850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script: </a:t>
            </a:r>
            <a:r>
              <a:rPr lang="en-US" altLang="zh-CN" sz="16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state_recommend 02_lookup_dim_recreate.py</a:t>
            </a:r>
            <a:endParaRPr lang="en-US" altLang="zh-CN" sz="16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29" name="加号 28"/>
          <p:cNvSpPr/>
          <p:nvPr/>
        </p:nvSpPr>
        <p:spPr>
          <a:xfrm>
            <a:off x="1927860" y="2852420"/>
            <a:ext cx="492125" cy="456565"/>
          </a:xfrm>
          <a:prstGeom prst="mathPlus">
            <a:avLst>
              <a:gd name="adj1" fmla="val 16272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1615" y="1617345"/>
            <a:ext cx="434022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Test Script Generation</a:t>
            </a:r>
            <a:endParaRPr lang="en-US" altLang="zh-CN" sz="2400" b="1" dirty="0">
              <a:solidFill>
                <a:schemeClr val="tx1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66" name="圆角矩形 65"/>
          <p:cNvSpPr/>
          <p:nvPr>
            <p:custDataLst>
              <p:tags r:id="rId8"/>
            </p:custDataLst>
          </p:nvPr>
        </p:nvSpPr>
        <p:spPr>
          <a:xfrm>
            <a:off x="4673600" y="2216785"/>
            <a:ext cx="1127760" cy="99631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Run check scripts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7" name="图片 66" descr="齿轮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3600" y="2241550"/>
            <a:ext cx="473710" cy="473710"/>
          </a:xfrm>
          <a:prstGeom prst="rect">
            <a:avLst/>
          </a:prstGeom>
        </p:spPr>
      </p:pic>
      <p:cxnSp>
        <p:nvCxnSpPr>
          <p:cNvPr id="15" name="直接箭头连接符 14"/>
          <p:cNvCxnSpPr>
            <a:stCxn id="39" idx="3"/>
            <a:endCxn id="66" idx="1"/>
          </p:cNvCxnSpPr>
          <p:nvPr/>
        </p:nvCxnSpPr>
        <p:spPr>
          <a:xfrm>
            <a:off x="4384040" y="2502535"/>
            <a:ext cx="289560" cy="21272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24" idx="3"/>
            <a:endCxn id="66" idx="1"/>
          </p:cNvCxnSpPr>
          <p:nvPr/>
        </p:nvCxnSpPr>
        <p:spPr>
          <a:xfrm flipV="1">
            <a:off x="4447540" y="2715260"/>
            <a:ext cx="226060" cy="227266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6202680" y="1819275"/>
            <a:ext cx="6350" cy="488505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6476365" y="3429000"/>
            <a:ext cx="2612390" cy="223139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7057390" y="3605530"/>
            <a:ext cx="2074545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docker-executor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0" name="图片 79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95415" y="3429000"/>
            <a:ext cx="708025" cy="592455"/>
          </a:xfrm>
          <a:prstGeom prst="rect">
            <a:avLst/>
          </a:prstGeom>
        </p:spPr>
      </p:pic>
      <p:cxnSp>
        <p:nvCxnSpPr>
          <p:cNvPr id="48" name="直接箭头连接符 47"/>
          <p:cNvCxnSpPr/>
          <p:nvPr/>
        </p:nvCxnSpPr>
        <p:spPr>
          <a:xfrm>
            <a:off x="9088755" y="4083685"/>
            <a:ext cx="889635" cy="635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6565900" y="4083685"/>
            <a:ext cx="2394585" cy="14408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6565265" y="4084320"/>
            <a:ext cx="1978660" cy="33909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E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xecution outputs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606540" y="4545965"/>
            <a:ext cx="2273300" cy="396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output_${B}.log        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8737600" y="4465955"/>
            <a:ext cx="1423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00000"/>
              </a:lnSpc>
            </a:pP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http request 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+ response 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 flipH="1" flipV="1">
            <a:off x="8874760" y="4775200"/>
            <a:ext cx="1094105" cy="4445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6606540" y="5041265"/>
            <a:ext cx="2273300" cy="386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output_${B}.log.done  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 flipV="1">
            <a:off x="8879840" y="5243195"/>
            <a:ext cx="1095375" cy="8255"/>
          </a:xfrm>
          <a:prstGeom prst="straightConnector1">
            <a:avLst/>
          </a:prstGeom>
          <a:ln w="222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8960485" y="4978400"/>
            <a:ext cx="1101725" cy="156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completion marker</a:t>
            </a:r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4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3" name="圆角矩形 92"/>
          <p:cNvSpPr/>
          <p:nvPr>
            <p:custDataLst>
              <p:tags r:id="rId16"/>
            </p:custDataLst>
          </p:nvPr>
        </p:nvSpPr>
        <p:spPr>
          <a:xfrm>
            <a:off x="6495415" y="6076315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95" name="文本框 94"/>
          <p:cNvSpPr txBox="1"/>
          <p:nvPr>
            <p:custDataLst>
              <p:tags r:id="rId17"/>
            </p:custDataLst>
          </p:nvPr>
        </p:nvSpPr>
        <p:spPr>
          <a:xfrm>
            <a:off x="7275830" y="6217285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Test outputs</a:t>
            </a:r>
            <a:endParaRPr lang="en-US" altLang="zh-CN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8" name="图片 87" descr="数据库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37960" y="6102350"/>
            <a:ext cx="665480" cy="599440"/>
          </a:xfrm>
          <a:prstGeom prst="rect">
            <a:avLst/>
          </a:prstGeom>
        </p:spPr>
      </p:pic>
      <p:sp>
        <p:nvSpPr>
          <p:cNvPr id="97" name="下箭头 96"/>
          <p:cNvSpPr/>
          <p:nvPr>
            <p:custDataLst>
              <p:tags r:id="rId21"/>
            </p:custDataLst>
          </p:nvPr>
        </p:nvSpPr>
        <p:spPr>
          <a:xfrm>
            <a:off x="7533640" y="575564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7988300" y="5728335"/>
            <a:ext cx="1901190" cy="3098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output_${B}.log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21" name="下箭头 20"/>
          <p:cNvSpPr/>
          <p:nvPr>
            <p:custDataLst>
              <p:tags r:id="rId22"/>
            </p:custDataLst>
          </p:nvPr>
        </p:nvSpPr>
        <p:spPr>
          <a:xfrm>
            <a:off x="7514590" y="312674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>
            <p:custDataLst>
              <p:tags r:id="rId23"/>
            </p:custDataLst>
          </p:nvPr>
        </p:nvSpPr>
        <p:spPr>
          <a:xfrm>
            <a:off x="6476365" y="2395220"/>
            <a:ext cx="2739390" cy="64008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23" name="图片 22" descr="软件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46215" y="2431415"/>
            <a:ext cx="652780" cy="60388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6"/>
            </p:custDataLst>
          </p:nvPr>
        </p:nvSpPr>
        <p:spPr>
          <a:xfrm>
            <a:off x="7254240" y="2533650"/>
            <a:ext cx="187769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969250" y="3099435"/>
            <a:ext cx="1078230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{.....}.py *</a:t>
            </a:r>
            <a:r>
              <a:rPr lang="en-US" altLang="zh-CN" sz="1400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</a:t>
            </a:r>
            <a:endParaRPr lang="en-US" altLang="zh-CN" sz="1400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34" name="直接箭头连接符 33"/>
          <p:cNvCxnSpPr>
            <a:stCxn id="66" idx="3"/>
            <a:endCxn id="22" idx="1"/>
          </p:cNvCxnSpPr>
          <p:nvPr/>
        </p:nvCxnSpPr>
        <p:spPr>
          <a:xfrm>
            <a:off x="5801360" y="2715260"/>
            <a:ext cx="675005" cy="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5788025" y="2331720"/>
            <a:ext cx="7499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5" name="流程图: 过程 34"/>
          <p:cNvSpPr/>
          <p:nvPr/>
        </p:nvSpPr>
        <p:spPr>
          <a:xfrm>
            <a:off x="9978390" y="3429000"/>
            <a:ext cx="2016760" cy="2168525"/>
          </a:xfrm>
          <a:prstGeom prst="flowChart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62210" y="3562350"/>
            <a:ext cx="1052195" cy="949325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0099675" y="4711065"/>
            <a:ext cx="1928495" cy="285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Container 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4" grpId="0" animBg="1"/>
      <p:bldP spid="39" grpId="0" animBg="1"/>
      <p:bldP spid="46" grpId="0"/>
      <p:bldP spid="29" grpId="0" animBg="1"/>
      <p:bldP spid="66" grpId="0" animBg="1"/>
      <p:bldP spid="71" grpId="0"/>
      <p:bldP spid="18" grpId="0" animBg="1"/>
      <p:bldP spid="32" grpId="0"/>
      <p:bldP spid="76" grpId="0" bldLvl="0" animBg="1"/>
      <p:bldP spid="75" grpId="0" animBg="1"/>
      <p:bldP spid="77" grpId="0" animBg="1"/>
      <p:bldP spid="78" grpId="0"/>
      <p:bldP spid="81" grpId="0" animBg="1"/>
      <p:bldP spid="83" grpId="0"/>
      <p:bldP spid="93" grpId="0" animBg="1"/>
      <p:bldP spid="95" grpId="0"/>
      <p:bldP spid="97" grpId="0" animBg="1"/>
      <p:bldP spid="98" grpId="0"/>
      <p:bldP spid="21" grpId="0" animBg="1"/>
      <p:bldP spid="64" grpId="0"/>
      <p:bldP spid="35" grpId="0" animBg="1"/>
      <p:bldP spid="40" grpId="0"/>
      <p:bldP spid="22" grpId="0" animBg="1"/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141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4: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confirm bugs by comparing the expected behavior (specifications) against the actual behavior (execution)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8290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Bug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248285" y="2038350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22905" y="2189480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8780" y="2308225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389255" y="2189480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185" y="2291715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072515" y="2559050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30320" y="2543175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922905" y="5143500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1495" y="5227320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863850" y="5939790"/>
            <a:ext cx="1647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938780" y="3126105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1310" y="3366135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37965" y="5485130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13"/>
            </p:custDataLst>
          </p:nvPr>
        </p:nvSpPr>
        <p:spPr>
          <a:xfrm>
            <a:off x="6531610" y="3380105"/>
            <a:ext cx="4469130" cy="33616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14"/>
            </p:custDataLst>
          </p:nvPr>
        </p:nvSpPr>
        <p:spPr>
          <a:xfrm>
            <a:off x="7781925" y="3568065"/>
            <a:ext cx="252666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89750" y="3448685"/>
            <a:ext cx="699770" cy="603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75425" y="405257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8348980" y="2095500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97900" y="2518410"/>
            <a:ext cx="336550" cy="336550"/>
          </a:xfrm>
          <a:prstGeom prst="rect">
            <a:avLst/>
          </a:prstGeom>
        </p:spPr>
      </p:pic>
      <p:cxnSp>
        <p:nvCxnSpPr>
          <p:cNvPr id="70" name="直接箭头连接符 69"/>
          <p:cNvCxnSpPr>
            <a:stCxn id="65" idx="7"/>
            <a:endCxn id="78" idx="1"/>
          </p:cNvCxnSpPr>
          <p:nvPr/>
        </p:nvCxnSpPr>
        <p:spPr>
          <a:xfrm>
            <a:off x="9061450" y="2212975"/>
            <a:ext cx="1351915" cy="635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8348980" y="2495550"/>
            <a:ext cx="83439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13140" y="2145665"/>
            <a:ext cx="305435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5"/>
            <a:endCxn id="71" idx="1"/>
          </p:cNvCxnSpPr>
          <p:nvPr/>
        </p:nvCxnSpPr>
        <p:spPr>
          <a:xfrm>
            <a:off x="9061450" y="2778125"/>
            <a:ext cx="1351915" cy="762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91" idx="0"/>
            <a:endCxn id="65" idx="4"/>
          </p:cNvCxnSpPr>
          <p:nvPr/>
        </p:nvCxnSpPr>
        <p:spPr>
          <a:xfrm flipV="1">
            <a:off x="8766175" y="2895600"/>
            <a:ext cx="0" cy="48450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5" idx="2"/>
          </p:cNvCxnSpPr>
          <p:nvPr/>
        </p:nvCxnSpPr>
        <p:spPr>
          <a:xfrm>
            <a:off x="6311900" y="2492375"/>
            <a:ext cx="2037080" cy="317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413365" y="1998345"/>
            <a:ext cx="441960" cy="44196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9255760" y="1801495"/>
            <a:ext cx="127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 a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13365" y="2559050"/>
            <a:ext cx="536575" cy="452755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9112885" y="279082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2480" y="2642870"/>
            <a:ext cx="1564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comparison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5" grpId="0" animBg="1"/>
      <p:bldP spid="79" grpId="0"/>
      <p:bldP spid="7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544830" y="1440180"/>
            <a:ext cx="3172460" cy="3203575"/>
          </a:xfrm>
          <a:prstGeom prst="roundRect">
            <a:avLst>
              <a:gd name="adj" fmla="val 2197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351155" y="527050"/>
            <a:ext cx="459613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ug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3"/>
            </p:custDataLst>
          </p:nvPr>
        </p:nvSpPr>
        <p:spPr>
          <a:xfrm>
            <a:off x="684160" y="1776911"/>
            <a:ext cx="2875030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8587" y="1735455"/>
            <a:ext cx="677110" cy="690928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1513840" y="1907540"/>
            <a:ext cx="193865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9" name="圆角矩形 28"/>
          <p:cNvSpPr/>
          <p:nvPr>
            <p:custDataLst>
              <p:tags r:id="rId8"/>
            </p:custDataLst>
          </p:nvPr>
        </p:nvSpPr>
        <p:spPr>
          <a:xfrm>
            <a:off x="683393" y="2411797"/>
            <a:ext cx="288040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9"/>
            </p:custDataLst>
          </p:nvPr>
        </p:nvSpPr>
        <p:spPr>
          <a:xfrm>
            <a:off x="1514475" y="2430145"/>
            <a:ext cx="193802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32" name="图片 31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3895" y="2372360"/>
            <a:ext cx="940435" cy="626745"/>
          </a:xfrm>
          <a:prstGeom prst="rect">
            <a:avLst/>
          </a:prstGeom>
        </p:spPr>
      </p:pic>
      <p:sp>
        <p:nvSpPr>
          <p:cNvPr id="34" name="圆角矩形 33"/>
          <p:cNvSpPr/>
          <p:nvPr>
            <p:custDataLst>
              <p:tags r:id="rId13"/>
            </p:custDataLst>
          </p:nvPr>
        </p:nvSpPr>
        <p:spPr>
          <a:xfrm>
            <a:off x="683393" y="3042845"/>
            <a:ext cx="287042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4"/>
            </p:custDataLst>
          </p:nvPr>
        </p:nvSpPr>
        <p:spPr>
          <a:xfrm>
            <a:off x="1513205" y="3128645"/>
            <a:ext cx="193865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3" name="图片 42" descr="软件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8587" y="3010602"/>
            <a:ext cx="717798" cy="621068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18"/>
            </p:custDataLst>
          </p:nvPr>
        </p:nvSpPr>
        <p:spPr>
          <a:xfrm>
            <a:off x="682625" y="3670055"/>
            <a:ext cx="2881172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1512570" y="3770630"/>
            <a:ext cx="193929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Test outputs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6" name="图片 45" descr="数据库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78587" y="3631670"/>
            <a:ext cx="735455" cy="691696"/>
          </a:xfrm>
          <a:prstGeom prst="rect">
            <a:avLst/>
          </a:prstGeom>
        </p:spPr>
      </p:pic>
      <p:sp>
        <p:nvSpPr>
          <p:cNvPr id="47" name="圆角矩形 46"/>
          <p:cNvSpPr/>
          <p:nvPr>
            <p:custDataLst>
              <p:tags r:id="rId23"/>
            </p:custDataLst>
          </p:nvPr>
        </p:nvSpPr>
        <p:spPr>
          <a:xfrm>
            <a:off x="3850005" y="3653790"/>
            <a:ext cx="2004695" cy="2279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24"/>
            </p:custDataLst>
          </p:nvPr>
        </p:nvSpPr>
        <p:spPr>
          <a:xfrm>
            <a:off x="3807460" y="4460240"/>
            <a:ext cx="21704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Evidence_Builder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8190865" y="3653790"/>
            <a:ext cx="1982470" cy="2301240"/>
          </a:xfrm>
          <a:prstGeom prst="roundRect">
            <a:avLst>
              <a:gd name="adj" fmla="val 694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>
            <p:custDataLst>
              <p:tags r:id="rId25"/>
            </p:custDataLst>
          </p:nvPr>
        </p:nvSpPr>
        <p:spPr>
          <a:xfrm>
            <a:off x="8306435" y="4476750"/>
            <a:ext cx="180657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Chain_auditor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994785" y="3717290"/>
            <a:ext cx="678815" cy="567690"/>
          </a:xfrm>
          <a:prstGeom prst="rect">
            <a:avLst/>
          </a:prstGeom>
        </p:spPr>
      </p:pic>
      <p:sp>
        <p:nvSpPr>
          <p:cNvPr id="132" name="圆角矩形 131"/>
          <p:cNvSpPr/>
          <p:nvPr>
            <p:custDataLst>
              <p:tags r:id="rId29"/>
            </p:custDataLst>
          </p:nvPr>
        </p:nvSpPr>
        <p:spPr>
          <a:xfrm>
            <a:off x="716915" y="5996940"/>
            <a:ext cx="2823210" cy="731520"/>
          </a:xfrm>
          <a:prstGeom prst="roundRect">
            <a:avLst>
              <a:gd name="adj" fmla="val 21975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189355" y="6190615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source code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4" name="图片 133" descr="代码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53745" y="6093460"/>
            <a:ext cx="516255" cy="454025"/>
          </a:xfrm>
          <a:prstGeom prst="rect">
            <a:avLst/>
          </a:prstGeom>
        </p:spPr>
      </p:pic>
      <p:sp>
        <p:nvSpPr>
          <p:cNvPr id="166" name="左箭头 165"/>
          <p:cNvSpPr/>
          <p:nvPr/>
        </p:nvSpPr>
        <p:spPr>
          <a:xfrm flipH="1">
            <a:off x="5854700" y="4887595"/>
            <a:ext cx="230568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肘形连接符 17"/>
          <p:cNvCxnSpPr>
            <a:stCxn id="128" idx="2"/>
            <a:endCxn id="47" idx="2"/>
          </p:cNvCxnSpPr>
          <p:nvPr/>
        </p:nvCxnSpPr>
        <p:spPr>
          <a:xfrm rot="5400000" flipH="1">
            <a:off x="7006273" y="3779203"/>
            <a:ext cx="22225" cy="4329430"/>
          </a:xfrm>
          <a:prstGeom prst="bentConnector3">
            <a:avLst>
              <a:gd name="adj1" fmla="val -1070000"/>
            </a:avLst>
          </a:prstGeom>
          <a:ln w="222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710555" y="6135370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rebuild (max retry=3)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" name="右箭头标注 5"/>
          <p:cNvSpPr/>
          <p:nvPr/>
        </p:nvSpPr>
        <p:spPr>
          <a:xfrm>
            <a:off x="1883410" y="4635500"/>
            <a:ext cx="1966595" cy="1361440"/>
          </a:xfrm>
          <a:prstGeom prst="rightArrowCallout">
            <a:avLst>
              <a:gd name="adj1" fmla="val 22662"/>
              <a:gd name="adj2" fmla="val 21708"/>
              <a:gd name="adj3" fmla="val 29466"/>
              <a:gd name="adj4" fmla="val 16467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地球网络搜寻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02150" y="4072255"/>
            <a:ext cx="387985" cy="3879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54700" y="5362575"/>
            <a:ext cx="231140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evidence_chain.json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" name="图片 9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02625" y="3734435"/>
            <a:ext cx="678815" cy="567690"/>
          </a:xfrm>
          <a:prstGeom prst="rect">
            <a:avLst/>
          </a:prstGeom>
        </p:spPr>
      </p:pic>
      <p:sp>
        <p:nvSpPr>
          <p:cNvPr id="14" name="直角上箭头 13"/>
          <p:cNvSpPr/>
          <p:nvPr/>
        </p:nvSpPr>
        <p:spPr>
          <a:xfrm flipV="1">
            <a:off x="3563620" y="2656840"/>
            <a:ext cx="5106035" cy="996950"/>
          </a:xfrm>
          <a:prstGeom prst="bentUpArrow">
            <a:avLst>
              <a:gd name="adj1" fmla="val 14573"/>
              <a:gd name="adj2" fmla="val 18152"/>
              <a:gd name="adj3" fmla="val 25000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737225" y="2876550"/>
            <a:ext cx="2565400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specifications.</a:t>
            </a:r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json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左箭头 16"/>
          <p:cNvSpPr/>
          <p:nvPr/>
        </p:nvSpPr>
        <p:spPr>
          <a:xfrm flipH="1">
            <a:off x="10173335" y="4323080"/>
            <a:ext cx="781050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左箭头 24"/>
          <p:cNvSpPr/>
          <p:nvPr/>
        </p:nvSpPr>
        <p:spPr>
          <a:xfrm flipH="1">
            <a:off x="10179685" y="4911725"/>
            <a:ext cx="781050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图片 77" descr="对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054715" y="4302125"/>
            <a:ext cx="441960" cy="441960"/>
          </a:xfrm>
          <a:prstGeom prst="rect">
            <a:avLst/>
          </a:prstGeom>
        </p:spPr>
      </p:pic>
      <p:pic>
        <p:nvPicPr>
          <p:cNvPr id="71" name="图片 70" descr="BUG问题修复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1007090" y="4936490"/>
            <a:ext cx="536575" cy="45275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10179685" y="3973195"/>
            <a:ext cx="1108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Not a bug.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0230485" y="5389245"/>
            <a:ext cx="1266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 sz="1600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8" name="图片 27" descr="gh"/>
          <p:cNvPicPr>
            <a:picLocks noChangeAspect="1"/>
          </p:cNvPicPr>
          <p:nvPr/>
        </p:nvPicPr>
        <p:blipFill>
          <a:blip r:embed="rId42"/>
          <a:srcRect l="16063" t="9565" r="15937" b="25714"/>
          <a:stretch>
            <a:fillRect/>
          </a:stretch>
        </p:blipFill>
        <p:spPr>
          <a:xfrm>
            <a:off x="4502150" y="1697355"/>
            <a:ext cx="680085" cy="661670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43"/>
            </p:custDataLst>
          </p:nvPr>
        </p:nvSpPr>
        <p:spPr>
          <a:xfrm>
            <a:off x="8166100" y="1713230"/>
            <a:ext cx="3292475" cy="6985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 descr="机器人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214360" y="1697355"/>
            <a:ext cx="678815" cy="56769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5"/>
            </p:custDataLst>
          </p:nvPr>
        </p:nvSpPr>
        <p:spPr>
          <a:xfrm>
            <a:off x="8893175" y="1829435"/>
            <a:ext cx="255968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Bug-shape-extractor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8" name="左箭头 37"/>
          <p:cNvSpPr/>
          <p:nvPr/>
        </p:nvSpPr>
        <p:spPr>
          <a:xfrm flipH="1">
            <a:off x="5391785" y="1829435"/>
            <a:ext cx="2725420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854700" y="2155190"/>
            <a:ext cx="1505585" cy="33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issues</a:t>
            </a:r>
            <a:r>
              <a:rPr lang="zh-CN" altLang="en-US" sz="16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PRs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82100" y="2877185"/>
            <a:ext cx="309689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developer_cognition.json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(What situations are bugs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and what are not)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8953500" y="2426970"/>
            <a:ext cx="399415" cy="1240155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 descr="地球网络搜寻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669655" y="2007870"/>
            <a:ext cx="387985" cy="38798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9" grpId="0"/>
      <p:bldP spid="40" grpId="0"/>
      <p:bldP spid="41" grpId="0" animBg="1"/>
      <p:bldP spid="15" grpId="0"/>
      <p:bldP spid="14" grpId="0" animBg="1"/>
      <p:bldP spid="24" grpId="0"/>
      <p:bldP spid="128" grpId="0" animBg="1"/>
      <p:bldP spid="129" grpId="0"/>
      <p:bldP spid="17" grpId="0" animBg="1"/>
      <p:bldP spid="25" grpId="0" animBg="1"/>
      <p:bldP spid="79" grpId="0"/>
      <p:bldP spid="7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414655" y="1434465"/>
            <a:ext cx="10080625" cy="530796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351155" y="527050"/>
            <a:ext cx="459613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Bug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9" name="圆角矩形 48"/>
          <p:cNvSpPr/>
          <p:nvPr>
            <p:custDataLst>
              <p:tags r:id="rId3"/>
            </p:custDataLst>
          </p:nvPr>
        </p:nvSpPr>
        <p:spPr>
          <a:xfrm>
            <a:off x="550545" y="2729865"/>
            <a:ext cx="2988310" cy="273558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607960" y="2855141"/>
            <a:ext cx="2875030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387" y="2813685"/>
            <a:ext cx="677110" cy="690928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1437640" y="2985770"/>
            <a:ext cx="193865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9" name="圆角矩形 28"/>
          <p:cNvSpPr/>
          <p:nvPr>
            <p:custDataLst>
              <p:tags r:id="rId9"/>
            </p:custDataLst>
          </p:nvPr>
        </p:nvSpPr>
        <p:spPr>
          <a:xfrm>
            <a:off x="607193" y="3490027"/>
            <a:ext cx="288040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1437640" y="3531870"/>
            <a:ext cx="193802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sz="1600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32" name="图片 31" descr="代码文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8170" y="3489960"/>
            <a:ext cx="940435" cy="626745"/>
          </a:xfrm>
          <a:prstGeom prst="rect">
            <a:avLst/>
          </a:prstGeom>
        </p:spPr>
      </p:pic>
      <p:sp>
        <p:nvSpPr>
          <p:cNvPr id="34" name="圆角矩形 33"/>
          <p:cNvSpPr/>
          <p:nvPr>
            <p:custDataLst>
              <p:tags r:id="rId14"/>
            </p:custDataLst>
          </p:nvPr>
        </p:nvSpPr>
        <p:spPr>
          <a:xfrm>
            <a:off x="607193" y="4121075"/>
            <a:ext cx="287042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1437005" y="4206875"/>
            <a:ext cx="193865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3" name="图片 42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2387" y="4127567"/>
            <a:ext cx="717798" cy="621068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19"/>
            </p:custDataLst>
          </p:nvPr>
        </p:nvSpPr>
        <p:spPr>
          <a:xfrm>
            <a:off x="606425" y="4748285"/>
            <a:ext cx="2881172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20"/>
            </p:custDataLst>
          </p:nvPr>
        </p:nvSpPr>
        <p:spPr>
          <a:xfrm>
            <a:off x="1437640" y="4848860"/>
            <a:ext cx="193929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Test outputs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6" name="图片 45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1752" y="4709900"/>
            <a:ext cx="735455" cy="691696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24"/>
            </p:custDataLst>
          </p:nvPr>
        </p:nvSpPr>
        <p:spPr>
          <a:xfrm>
            <a:off x="645160" y="2279015"/>
            <a:ext cx="21704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Evidence_Builder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65505" y="1539240"/>
            <a:ext cx="678815" cy="567690"/>
          </a:xfrm>
          <a:prstGeom prst="rect">
            <a:avLst/>
          </a:prstGeom>
        </p:spPr>
      </p:pic>
      <p:sp>
        <p:nvSpPr>
          <p:cNvPr id="132" name="圆角矩形 131"/>
          <p:cNvSpPr/>
          <p:nvPr>
            <p:custDataLst>
              <p:tags r:id="rId28"/>
            </p:custDataLst>
          </p:nvPr>
        </p:nvSpPr>
        <p:spPr>
          <a:xfrm>
            <a:off x="598170" y="5638165"/>
            <a:ext cx="2879725" cy="654050"/>
          </a:xfrm>
          <a:prstGeom prst="roundRect">
            <a:avLst>
              <a:gd name="adj" fmla="val 2197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070610" y="5745480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source code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4" name="图片 133" descr="代码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35000" y="5745480"/>
            <a:ext cx="516255" cy="454025"/>
          </a:xfrm>
          <a:prstGeom prst="rect">
            <a:avLst/>
          </a:prstGeom>
        </p:spPr>
      </p:pic>
      <p:sp>
        <p:nvSpPr>
          <p:cNvPr id="166" name="左箭头 165"/>
          <p:cNvSpPr/>
          <p:nvPr/>
        </p:nvSpPr>
        <p:spPr>
          <a:xfrm flipH="1">
            <a:off x="10147935" y="4774565"/>
            <a:ext cx="139763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地球网络搜寻"/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72870" y="1894205"/>
            <a:ext cx="387985" cy="3879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230485" y="5317490"/>
            <a:ext cx="182626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evidence_chain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.json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34"/>
            </p:custDataLst>
          </p:nvPr>
        </p:nvSpPr>
        <p:spPr>
          <a:xfrm>
            <a:off x="4156710" y="1635125"/>
            <a:ext cx="5992495" cy="5245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Phase 1 – Execution Evidence &amp; Document Verification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" name="圆角矩形 3"/>
          <p:cNvSpPr/>
          <p:nvPr>
            <p:custDataLst>
              <p:tags r:id="rId35"/>
            </p:custDataLst>
          </p:nvPr>
        </p:nvSpPr>
        <p:spPr>
          <a:xfrm>
            <a:off x="4156075" y="2159635"/>
            <a:ext cx="6239510" cy="2447925"/>
          </a:xfrm>
          <a:prstGeom prst="roundRect">
            <a:avLst>
              <a:gd name="adj" fmla="val 297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89120" y="2282190"/>
            <a:ext cx="5934075" cy="388620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/>
              <a:t>1.Check whether the</a:t>
            </a:r>
            <a:r>
              <a:rPr lang="en-US" altLang="zh-CN" sz="1600" b="1"/>
              <a:t> test outputs</a:t>
            </a:r>
            <a:r>
              <a:rPr lang="en-US" altLang="zh-CN" sz="1600"/>
              <a:t> align with the</a:t>
            </a:r>
            <a:r>
              <a:rPr lang="en-US" altLang="zh-CN" sz="1600" b="1"/>
              <a:t> </a:t>
            </a:r>
            <a:r>
              <a:rPr lang="en-US" altLang="zh-CN" sz="1600" b="1">
                <a:sym typeface="+mn-ea"/>
              </a:rPr>
              <a:t>specification</a:t>
            </a:r>
            <a:endParaRPr lang="en-US" altLang="zh-CN" sz="1600" b="1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89755" y="2712720"/>
            <a:ext cx="5933440" cy="561340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/>
              <a:t>2.Check </a:t>
            </a:r>
            <a:r>
              <a:rPr lang="en-US" altLang="zh-CN" sz="1600">
                <a:sym typeface="+mn-ea"/>
              </a:rPr>
              <a:t>document:</a:t>
            </a:r>
            <a:r>
              <a:rPr lang="en-US" altLang="zh-CN" sz="1600" b="1">
                <a:sym typeface="+mn-ea"/>
              </a:rPr>
              <a:t>content consistency</a:t>
            </a:r>
            <a:endParaRPr lang="en-US" altLang="zh-CN" sz="1600"/>
          </a:p>
        </p:txBody>
      </p:sp>
      <p:sp>
        <p:nvSpPr>
          <p:cNvPr id="16" name="文本框 15"/>
          <p:cNvSpPr txBox="1"/>
          <p:nvPr/>
        </p:nvSpPr>
        <p:spPr>
          <a:xfrm>
            <a:off x="4389755" y="3322320"/>
            <a:ext cx="5933440" cy="539750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/>
              <a:t>3.Check</a:t>
            </a:r>
            <a:r>
              <a:rPr lang="en-US" altLang="zh-CN" sz="1600" b="1"/>
              <a:t> </a:t>
            </a:r>
            <a:r>
              <a:rPr lang="en-US" altLang="zh-CN" sz="1600" b="1">
                <a:sym typeface="+mn-ea"/>
              </a:rPr>
              <a:t>reproducibility</a:t>
            </a:r>
            <a:r>
              <a:rPr lang="en-US" altLang="zh-CN" sz="1600">
                <a:sym typeface="+mn-ea"/>
              </a:rPr>
              <a:t> and </a:t>
            </a:r>
            <a:r>
              <a:rPr lang="en-US" altLang="zh-CN" sz="1600" b="1">
                <a:sym typeface="+mn-ea"/>
              </a:rPr>
              <a:t>HTTP semantics</a:t>
            </a:r>
            <a:endParaRPr lang="en-US" altLang="zh-CN" sz="1600" b="1">
              <a:sym typeface="+mn-ea"/>
            </a:endParaRPr>
          </a:p>
          <a:p>
            <a:r>
              <a:rPr lang="en-US" altLang="zh-CN" sz="1600">
                <a:sym typeface="+mn-ea"/>
              </a:rPr>
              <a:t> (2xx+error code vs. 4xx/5xx).</a:t>
            </a:r>
            <a:endParaRPr lang="en-US" altLang="zh-CN" sz="1600"/>
          </a:p>
          <a:p>
            <a:endParaRPr lang="en-US" altLang="zh-CN" sz="1600"/>
          </a:p>
        </p:txBody>
      </p:sp>
      <p:sp>
        <p:nvSpPr>
          <p:cNvPr id="42" name="文本框 41"/>
          <p:cNvSpPr txBox="1"/>
          <p:nvPr/>
        </p:nvSpPr>
        <p:spPr>
          <a:xfrm>
            <a:off x="4380865" y="3910330"/>
            <a:ext cx="5942965" cy="622300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/>
              <a:t>4.</a:t>
            </a:r>
            <a:r>
              <a:rPr lang="en-US" altLang="zh-CN" sz="1600">
                <a:sym typeface="+mn-ea"/>
              </a:rPr>
              <a:t>Trace the evidence chain: </a:t>
            </a:r>
            <a:r>
              <a:rPr lang="en-US" altLang="zh-CN" sz="1600" b="1">
                <a:sym typeface="+mn-ea"/>
              </a:rPr>
              <a:t>contract → doc → script → log</a:t>
            </a:r>
            <a:r>
              <a:rPr lang="en-US" altLang="zh-CN" sz="1600">
                <a:sym typeface="+mn-ea"/>
              </a:rPr>
              <a:t>; flag any broken link.</a:t>
            </a:r>
            <a:endParaRPr lang="en-US" altLang="zh-CN" sz="1600">
              <a:sym typeface="+mn-ea"/>
            </a:endParaRPr>
          </a:p>
        </p:txBody>
      </p:sp>
      <p:sp>
        <p:nvSpPr>
          <p:cNvPr id="50" name="圆角矩形 49"/>
          <p:cNvSpPr/>
          <p:nvPr>
            <p:custDataLst>
              <p:tags r:id="rId36"/>
            </p:custDataLst>
          </p:nvPr>
        </p:nvSpPr>
        <p:spPr>
          <a:xfrm>
            <a:off x="6353810" y="4704715"/>
            <a:ext cx="3795395" cy="52451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Phase 2 – Source Code Grounding</a:t>
            </a:r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52" name="圆角矩形 51"/>
          <p:cNvSpPr/>
          <p:nvPr>
            <p:custDataLst>
              <p:tags r:id="rId37"/>
            </p:custDataLst>
          </p:nvPr>
        </p:nvSpPr>
        <p:spPr>
          <a:xfrm>
            <a:off x="4156075" y="5229225"/>
            <a:ext cx="5991860" cy="1421765"/>
          </a:xfrm>
          <a:prstGeom prst="roundRect">
            <a:avLst>
              <a:gd name="adj" fmla="val 2974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endParaRPr lang="en-US" altLang="zh-CN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365625" y="5368925"/>
            <a:ext cx="5646420" cy="337185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p>
            <a:r>
              <a:rPr lang="en-US" altLang="zh-CN" sz="1600">
                <a:sym typeface="+mn-ea"/>
              </a:rPr>
              <a:t>1.Grep</a:t>
            </a:r>
            <a:r>
              <a:rPr lang="en-US" altLang="zh-CN" sz="1600" b="1">
                <a:sym typeface="+mn-ea"/>
              </a:rPr>
              <a:t> local clone</a:t>
            </a:r>
            <a:r>
              <a:rPr lang="en-US" altLang="zh-CN" sz="1600">
                <a:sym typeface="+mn-ea"/>
              </a:rPr>
              <a:t> for parameter/error code keywords </a:t>
            </a:r>
            <a:endParaRPr lang="en-US" altLang="zh-CN" sz="1600">
              <a:sym typeface="+mn-ea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365625" y="5774690"/>
            <a:ext cx="5671185" cy="846455"/>
          </a:xfrm>
          <a:prstGeom prst="rect">
            <a:avLst/>
          </a:prstGeom>
          <a:noFill/>
          <a:ln w="28575" cmpd="sng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2.</a:t>
            </a:r>
            <a:r>
              <a:rPr lang="en-US" altLang="zh-CN" sz="1600">
                <a:sym typeface="+mn-ea"/>
              </a:rPr>
              <a:t>Determine verification_outcome: </a:t>
            </a:r>
            <a:r>
              <a:rPr lang="en-US" altLang="zh-CN" sz="1600" b="1">
                <a:sym typeface="+mn-ea"/>
              </a:rPr>
              <a:t>validation_absent / validation_present / by_design_in_source / not_found_in_source / webfetch_shallow</a:t>
            </a:r>
            <a:endParaRPr lang="en-US" altLang="zh-CN" sz="1600" b="1">
              <a:sym typeface="+mn-ea"/>
            </a:endParaRPr>
          </a:p>
        </p:txBody>
      </p:sp>
      <p:cxnSp>
        <p:nvCxnSpPr>
          <p:cNvPr id="55" name="直接箭头连接符 54"/>
          <p:cNvCxnSpPr>
            <a:stCxn id="49" idx="3"/>
            <a:endCxn id="4" idx="1"/>
          </p:cNvCxnSpPr>
          <p:nvPr/>
        </p:nvCxnSpPr>
        <p:spPr>
          <a:xfrm flipV="1">
            <a:off x="3538855" y="3383915"/>
            <a:ext cx="617220" cy="713740"/>
          </a:xfrm>
          <a:prstGeom prst="straightConnector1">
            <a:avLst/>
          </a:prstGeom>
          <a:ln w="25400">
            <a:solidFill>
              <a:schemeClr val="accent2">
                <a:lumMod val="75000"/>
                <a:alpha val="96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133" idx="3"/>
            <a:endCxn id="52" idx="1"/>
          </p:cNvCxnSpPr>
          <p:nvPr/>
        </p:nvCxnSpPr>
        <p:spPr>
          <a:xfrm flipV="1">
            <a:off x="3477260" y="5940425"/>
            <a:ext cx="678815" cy="33020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4940300" y="4639310"/>
            <a:ext cx="0" cy="533400"/>
          </a:xfrm>
          <a:prstGeom prst="straightConnector1">
            <a:avLst/>
          </a:prstGeom>
          <a:ln w="25400">
            <a:solidFill>
              <a:srgbClr val="000000">
                <a:alpha val="96000"/>
              </a:srgb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左箭头 58"/>
          <p:cNvSpPr/>
          <p:nvPr/>
        </p:nvSpPr>
        <p:spPr>
          <a:xfrm>
            <a:off x="10128885" y="1682115"/>
            <a:ext cx="1416050" cy="36957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10231120" y="2113280"/>
            <a:ext cx="1960880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rebuild request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from </a:t>
            </a:r>
            <a:r>
              <a:rPr lang="en-US" altLang="zh-CN" sz="1200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Chain_auditor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)</a:t>
            </a:r>
            <a:b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</a:b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bldLvl="0" animBg="1"/>
      <p:bldP spid="5" grpId="0" bldLvl="0" animBg="1"/>
      <p:bldP spid="13" grpId="0" bldLvl="0" animBg="1"/>
      <p:bldP spid="16" grpId="0" bldLvl="0" animBg="1"/>
      <p:bldP spid="42" grpId="0" bldLvl="0" animBg="1"/>
      <p:bldP spid="59" grpId="0" animBg="1"/>
      <p:bldP spid="60" grpId="0"/>
      <p:bldP spid="166" grpId="0" animBg="1"/>
      <p:bldP spid="9" grpId="0"/>
      <p:bldP spid="50" grpId="0" animBg="1"/>
      <p:bldP spid="52" grpId="0" animBg="1"/>
      <p:bldP spid="53" grpId="0" animBg="1"/>
      <p:bldP spid="5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256540" y="965200"/>
            <a:ext cx="11179810" cy="5777230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7235" y="9943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820" y="79438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401320" y="164465"/>
            <a:ext cx="60026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Evidence chain template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1320" y="1028065"/>
            <a:ext cx="5045710" cy="565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/>
              <a:t>{</a:t>
            </a:r>
            <a:endParaRPr lang="en-US" altLang="zh-CN" sz="1400"/>
          </a:p>
          <a:p>
            <a:r>
              <a:rPr lang="en-US" altLang="zh-CN" sz="1400"/>
              <a:t>  "bug_id": "&lt;</a:t>
            </a:r>
            <a:r>
              <a:rPr lang="zh-CN" altLang="en-US" sz="1400"/>
              <a:t>你的 </a:t>
            </a:r>
            <a:r>
              <a:rPr lang="en-US" altLang="zh-CN" sz="1400"/>
              <a:t>bug</a:t>
            </a:r>
            <a:r>
              <a:rPr lang="en-US" altLang="zh-CN" sz="1400"/>
              <a:t>_id&gt;",</a:t>
            </a:r>
            <a:endParaRPr lang="en-US" altLang="zh-CN" sz="1400"/>
          </a:p>
          <a:p>
            <a:r>
              <a:rPr lang="en-US" altLang="zh-CN" sz="1400"/>
              <a:t>  "endpoint": "...",</a:t>
            </a:r>
            <a:endParaRPr lang="en-US" altLang="zh-CN" sz="1400"/>
          </a:p>
          <a:p>
            <a:r>
              <a:rPr lang="en-US" altLang="zh-CN" sz="1400"/>
              <a:t>  "bug_type": "Type1 | Type2 | Type3 | Type4",</a:t>
            </a:r>
            <a:endParaRPr lang="en-US" altLang="zh-CN" sz="1400"/>
          </a:p>
          <a:p>
            <a:r>
              <a:rPr lang="en-US" altLang="zh-CN" sz="1400"/>
              <a:t>  "built_by": "evidence-builder",</a:t>
            </a:r>
            <a:endParaRPr lang="en-US" altLang="zh-CN" sz="1400"/>
          </a:p>
          <a:p>
            <a:r>
              <a:rPr lang="en-US" altLang="zh-CN" sz="1400"/>
              <a:t>  "steps": {</a:t>
            </a:r>
            <a:endParaRPr lang="en-US" altLang="zh-CN" sz="1400"/>
          </a:p>
          <a:p>
            <a:r>
              <a:rPr lang="en-US" altLang="zh-CN" sz="1400"/>
              <a:t>   </a:t>
            </a:r>
            <a:r>
              <a:rPr lang="en-US" altLang="zh-CN" sz="1400" b="1">
                <a:highlight>
                  <a:srgbClr val="C0C0C0"/>
                </a:highlight>
              </a:rPr>
              <a:t> </a:t>
            </a:r>
            <a:r>
              <a:rPr lang="en-US" altLang="zh-CN" sz="1600" b="1">
                <a:highlight>
                  <a:srgbClr val="C0C0C0"/>
                </a:highlight>
              </a:rPr>
              <a:t>"doc_verification"</a:t>
            </a:r>
            <a:r>
              <a:rPr lang="en-US" altLang="zh-CN" sz="1400"/>
              <a:t>: {</a:t>
            </a:r>
            <a:endParaRPr lang="en-US" altLang="zh-CN" sz="1400"/>
          </a:p>
          <a:p>
            <a:r>
              <a:rPr lang="en-US" altLang="zh-CN" sz="1400"/>
              <a:t>      "result": "DOC_VERIFIED | DOC_PARTIAL | DOC_MISMATCH",</a:t>
            </a:r>
            <a:endParaRPr lang="en-US" altLang="zh-CN" sz="1400"/>
          </a:p>
          <a:p>
            <a:r>
              <a:rPr lang="en-US" altLang="zh-CN" sz="1400"/>
              <a:t>      "link_reachability": "PASS | FAIL | PARTIAL",</a:t>
            </a:r>
            <a:endParaRPr lang="en-US" altLang="zh-CN" sz="1400"/>
          </a:p>
          <a:p>
            <a:r>
              <a:rPr lang="en-US" altLang="zh-CN" sz="1400"/>
              <a:t>      "version_match": "PASS | PARTIAL | FAIL",</a:t>
            </a:r>
            <a:endParaRPr lang="en-US" altLang="zh-CN" sz="1400"/>
          </a:p>
          <a:p>
            <a:r>
              <a:rPr lang="en-US" altLang="zh-CN" sz="1400"/>
              <a:t>      "content_consistency": "PASS | PARTIAL | FAIL",</a:t>
            </a:r>
            <a:endParaRPr lang="en-US" altLang="zh-CN" sz="1400"/>
          </a:p>
          <a:p>
            <a:r>
              <a:rPr lang="en-US" altLang="zh-CN" sz="1400"/>
              <a:t>      "endpoint_precision": "PASS | PARTIAL | FAIL",</a:t>
            </a:r>
            <a:endParaRPr lang="en-US" altLang="zh-CN" sz="1400"/>
          </a:p>
          <a:p>
            <a:r>
              <a:rPr lang="en-US" altLang="zh-CN" sz="1400"/>
              <a:t>      "sdk_rest_confusion": false,</a:t>
            </a:r>
            <a:endParaRPr lang="en-US" altLang="zh-CN" sz="1400"/>
          </a:p>
          <a:p>
            <a:r>
              <a:rPr lang="en-US" altLang="zh-CN" sz="1400"/>
              <a:t>      "detail": "</a:t>
            </a:r>
            <a:r>
              <a:rPr lang="zh-CN" altLang="en-US" sz="1400"/>
              <a:t>一句话各层结论",</a:t>
            </a:r>
            <a:endParaRPr lang="zh-CN" altLang="en-US" sz="1400"/>
          </a:p>
          <a:p>
            <a:r>
              <a:rPr lang="en-US" altLang="zh-CN" sz="1400"/>
              <a:t>      "evidence_source": "doc"</a:t>
            </a:r>
            <a:endParaRPr lang="en-US" altLang="zh-CN" sz="1400"/>
          </a:p>
          <a:p>
            <a:r>
              <a:rPr lang="en-US" altLang="zh-CN" sz="1400"/>
              <a:t>    },</a:t>
            </a:r>
            <a:endParaRPr lang="en-US" altLang="zh-CN" sz="1400"/>
          </a:p>
          <a:p>
            <a:r>
              <a:rPr lang="en-US" altLang="zh-CN" sz="1400"/>
              <a:t>   </a:t>
            </a:r>
            <a:r>
              <a:rPr lang="en-US" altLang="zh-CN" sz="1400" b="1"/>
              <a:t> </a:t>
            </a:r>
            <a:r>
              <a:rPr lang="en-US" altLang="zh-CN" sz="1600" b="1">
                <a:highlight>
                  <a:srgbClr val="C0C0C0"/>
                </a:highlight>
              </a:rPr>
              <a:t>"execution_evidence"</a:t>
            </a:r>
            <a:r>
              <a:rPr lang="en-US" altLang="zh-CN" sz="1400"/>
              <a:t>: {</a:t>
            </a:r>
            <a:endParaRPr lang="en-US" altLang="zh-CN" sz="1400"/>
          </a:p>
          <a:p>
            <a:r>
              <a:rPr lang="en-US" altLang="zh-CN" sz="1400"/>
              <a:t>      "grade": "A | B | C | D",</a:t>
            </a:r>
            <a:endParaRPr lang="en-US" altLang="zh-CN" sz="1400"/>
          </a:p>
          <a:p>
            <a:r>
              <a:rPr lang="en-US" altLang="zh-CN" sz="1400"/>
              <a:t>      "log_pattern": "...(</a:t>
            </a:r>
            <a:r>
              <a:rPr lang="zh-CN" altLang="en-US" sz="1400"/>
              <a:t>主观测原始行，如 </a:t>
            </a:r>
            <a:r>
              <a:rPr lang="en-US" altLang="zh-CN" sz="1400"/>
              <a:t>c1: password='abcdefgh' → http=200, code=0)",</a:t>
            </a:r>
            <a:endParaRPr lang="en-US" altLang="zh-CN" sz="1400"/>
          </a:p>
          <a:p>
            <a:r>
              <a:rPr lang="en-US" altLang="zh-CN" sz="1400"/>
              <a:t>      "secondary_observations": ["...(</a:t>
            </a:r>
            <a:r>
              <a:rPr lang="zh-CN" altLang="en-US" sz="1400"/>
              <a:t>次观测原文行，如 </a:t>
            </a:r>
            <a:r>
              <a:rPr lang="en-US" altLang="zh-CN" sz="1400"/>
              <a:t>c3: length=1 → rejected)"],</a:t>
            </a:r>
            <a:endParaRPr lang="en-US" altLang="zh-CN" sz="1400"/>
          </a:p>
          <a:p>
            <a:r>
              <a:rPr lang="en-US" altLang="zh-CN" sz="1400"/>
              <a:t>      "specification_alignment": "aligned | drifted | partial",</a:t>
            </a:r>
            <a:endParaRPr lang="en-US" altLang="zh-CN" sz="1400"/>
          </a:p>
          <a:p>
            <a:r>
              <a:rPr lang="en-US" altLang="zh-CN" sz="1400"/>
              <a:t>      "http_semantics": {"client_error_returned_as": "HTTP 2xx + </a:t>
            </a:r>
            <a:r>
              <a:rPr lang="zh-CN" altLang="en-US" sz="1400"/>
              <a:t>业务错误码 | </a:t>
            </a:r>
            <a:r>
              <a:rPr lang="en-US" altLang="zh-CN" sz="1400"/>
              <a:t>HTTP 4xx/5xx | N/A", "note": "..."},</a:t>
            </a:r>
            <a:endParaRPr lang="en-US" altLang="zh-CN" sz="1400"/>
          </a:p>
          <a:p>
            <a:r>
              <a:rPr lang="en-US" altLang="zh-CN" sz="1400"/>
              <a:t>      </a:t>
            </a:r>
            <a:endParaRPr lang="en-US" altLang="zh-CN" sz="1400"/>
          </a:p>
        </p:txBody>
      </p:sp>
      <p:sp>
        <p:nvSpPr>
          <p:cNvPr id="6" name="文本框 5"/>
          <p:cNvSpPr txBox="1"/>
          <p:nvPr/>
        </p:nvSpPr>
        <p:spPr>
          <a:xfrm>
            <a:off x="5743575" y="1028065"/>
            <a:ext cx="5436235" cy="565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ym typeface="+mn-ea"/>
              </a:rPr>
              <a:t>"reproducibility": "</a:t>
            </a:r>
            <a:r>
              <a:rPr lang="zh-CN" altLang="en-US" sz="1400">
                <a:sym typeface="+mn-ea"/>
              </a:rPr>
              <a:t>多脚本稳定触发 | 单脚本 | 间歇 | 环境问题",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"script_error": false,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"triggering_scripts": ["..."],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"evidence_source": "behavior"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},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</a:t>
            </a:r>
            <a:r>
              <a:rPr lang="en-US" altLang="zh-CN" sz="1400" b="1">
                <a:highlight>
                  <a:srgbClr val="C0C0C0"/>
                </a:highlight>
                <a:sym typeface="+mn-ea"/>
              </a:rPr>
              <a:t> </a:t>
            </a:r>
            <a:r>
              <a:rPr lang="en-US" altLang="zh-CN" sz="1600" b="1">
                <a:highlight>
                  <a:srgbClr val="C0C0C0"/>
                </a:highlight>
                <a:sym typeface="+mn-ea"/>
              </a:rPr>
              <a:t>"contract_grounding"</a:t>
            </a:r>
            <a:r>
              <a:rPr lang="en-US" altLang="zh-CN" sz="1400">
                <a:sym typeface="+mn-ea"/>
              </a:rPr>
              <a:t>: {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"constraint_id": "...",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"assertion_text_quoted": "&lt;contract </a:t>
            </a:r>
            <a:r>
              <a:rPr lang="zh-CN" altLang="en-US" sz="1400">
                <a:sym typeface="+mn-ea"/>
              </a:rPr>
              <a:t>原文&gt;",</a:t>
            </a:r>
            <a:endParaRPr lang="zh-CN" altLang="en-US" sz="1400"/>
          </a:p>
          <a:p>
            <a:r>
              <a:rPr lang="en-US" altLang="zh-CN" sz="1400">
                <a:sym typeface="+mn-ea"/>
              </a:rPr>
              <a:t>      "api_violates_assertion": true,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"evidence_source": "doc"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},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</a:t>
            </a:r>
            <a:r>
              <a:rPr lang="en-US" altLang="zh-CN" sz="1400" b="1">
                <a:sym typeface="+mn-ea"/>
              </a:rPr>
              <a:t>  </a:t>
            </a:r>
            <a:r>
              <a:rPr lang="en-US" altLang="zh-CN" sz="1600" b="1">
                <a:highlight>
                  <a:srgbClr val="C0C0C0"/>
                </a:highlight>
                <a:sym typeface="+mn-ea"/>
              </a:rPr>
              <a:t>"chain_trace"</a:t>
            </a:r>
            <a:r>
              <a:rPr lang="en-US" altLang="zh-CN" sz="1400" b="1">
                <a:sym typeface="+mn-ea"/>
              </a:rPr>
              <a:t>:</a:t>
            </a:r>
            <a:r>
              <a:rPr lang="en-US" altLang="zh-CN" sz="1400">
                <a:sym typeface="+mn-ea"/>
              </a:rPr>
              <a:t> {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"chain_links": ["contract:...", "doc:...", "script:...", "log:..."],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"chain_broken_at": null,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"break_detail": null,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"evidence_source": "doc+behavior"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},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</a:t>
            </a:r>
            <a:r>
              <a:rPr lang="en-US" altLang="zh-CN" sz="1600" b="1">
                <a:highlight>
                  <a:srgbClr val="C0C0C0"/>
                </a:highlight>
                <a:sym typeface="+mn-ea"/>
              </a:rPr>
              <a:t>"source_grounding"</a:t>
            </a:r>
            <a:r>
              <a:rPr lang="en-US" altLang="zh-CN" sz="1400">
                <a:sym typeface="+mn-ea"/>
              </a:rPr>
              <a:t>: {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"grep_queries": ["..."],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"files_examined": ["..."],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"source_excerpt": "...",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"call_chain_traced": "...",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"verification_outcome": "validation_absent | validation_present | by_design_in_source | not_found_in_source | webfetch_shallow",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  "evidence_source": "source"</a:t>
            </a:r>
            <a:endParaRPr lang="en-US" altLang="zh-CN" sz="1400"/>
          </a:p>
          <a:p>
            <a:r>
              <a:rPr lang="en-US" altLang="zh-CN" sz="1400">
                <a:sym typeface="+mn-ea"/>
              </a:rPr>
              <a:t>    }</a:t>
            </a:r>
            <a:endParaRPr lang="en-US" altLang="zh-CN" sz="1400"/>
          </a:p>
        </p:txBody>
      </p:sp>
      <p:cxnSp>
        <p:nvCxnSpPr>
          <p:cNvPr id="7" name="直接连接符 6"/>
          <p:cNvCxnSpPr/>
          <p:nvPr/>
        </p:nvCxnSpPr>
        <p:spPr>
          <a:xfrm>
            <a:off x="5536565" y="1134110"/>
            <a:ext cx="9525" cy="5440045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530225" y="1318895"/>
            <a:ext cx="11468100" cy="470217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17070" y="10451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79946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351155" y="100965"/>
            <a:ext cx="459613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Bug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9" name="圆角矩形 48"/>
          <p:cNvSpPr/>
          <p:nvPr>
            <p:custDataLst>
              <p:tags r:id="rId3"/>
            </p:custDataLst>
          </p:nvPr>
        </p:nvSpPr>
        <p:spPr>
          <a:xfrm>
            <a:off x="733425" y="2439035"/>
            <a:ext cx="3046730" cy="322834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Phase 1: Four Checks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1" name="圆角矩形 20"/>
          <p:cNvSpPr/>
          <p:nvPr>
            <p:custDataLst>
              <p:tags r:id="rId4"/>
            </p:custDataLst>
          </p:nvPr>
        </p:nvSpPr>
        <p:spPr>
          <a:xfrm>
            <a:off x="792480" y="3053715"/>
            <a:ext cx="2940050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>
            <p:custDataLst>
              <p:tags r:id="rId5"/>
            </p:custDataLst>
          </p:nvPr>
        </p:nvSpPr>
        <p:spPr>
          <a:xfrm>
            <a:off x="791210" y="3688715"/>
            <a:ext cx="2936875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6"/>
            </p:custDataLst>
          </p:nvPr>
        </p:nvSpPr>
        <p:spPr>
          <a:xfrm>
            <a:off x="857250" y="3755390"/>
            <a:ext cx="2870835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2.Consistency: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Contract/Doc/Log/Source aligned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4" name="圆角矩形 33"/>
          <p:cNvSpPr/>
          <p:nvPr>
            <p:custDataLst>
              <p:tags r:id="rId7"/>
            </p:custDataLst>
          </p:nvPr>
        </p:nvSpPr>
        <p:spPr>
          <a:xfrm>
            <a:off x="791210" y="4319905"/>
            <a:ext cx="2926715" cy="6280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8"/>
            </p:custDataLst>
          </p:nvPr>
        </p:nvSpPr>
        <p:spPr>
          <a:xfrm>
            <a:off x="847725" y="4405630"/>
            <a:ext cx="287083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3.Self-consistency: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No internal contradictions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4" name="圆角矩形 43"/>
          <p:cNvSpPr/>
          <p:nvPr>
            <p:custDataLst>
              <p:tags r:id="rId9"/>
            </p:custDataLst>
          </p:nvPr>
        </p:nvSpPr>
        <p:spPr>
          <a:xfrm>
            <a:off x="791845" y="4947285"/>
            <a:ext cx="2940685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733425" y="5025390"/>
            <a:ext cx="307975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4.Correspondence: 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Primary observation matches specification?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6915" y="1335405"/>
            <a:ext cx="678815" cy="567690"/>
          </a:xfrm>
          <a:prstGeom prst="rect">
            <a:avLst/>
          </a:prstGeom>
        </p:spPr>
      </p:pic>
      <p:sp>
        <p:nvSpPr>
          <p:cNvPr id="129" name="文本框 128"/>
          <p:cNvSpPr txBox="1"/>
          <p:nvPr>
            <p:custDataLst>
              <p:tags r:id="rId14"/>
            </p:custDataLst>
          </p:nvPr>
        </p:nvSpPr>
        <p:spPr>
          <a:xfrm>
            <a:off x="645795" y="2023110"/>
            <a:ext cx="180657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Chain_auditor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847725" y="3125470"/>
            <a:ext cx="287083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1.Completeness: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All 5 sections present &amp; non-empty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7" name="曲线连接符 6"/>
          <p:cNvCxnSpPr>
            <a:stCxn id="3" idx="3"/>
            <a:endCxn id="31" idx="3"/>
          </p:cNvCxnSpPr>
          <p:nvPr/>
        </p:nvCxnSpPr>
        <p:spPr>
          <a:xfrm>
            <a:off x="3718560" y="3347720"/>
            <a:ext cx="9525" cy="653415"/>
          </a:xfrm>
          <a:prstGeom prst="curvedConnector3">
            <a:avLst>
              <a:gd name="adj1" fmla="val 2600000"/>
            </a:avLst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曲线连接符 9"/>
          <p:cNvCxnSpPr>
            <a:stCxn id="31" idx="3"/>
            <a:endCxn id="35" idx="3"/>
          </p:cNvCxnSpPr>
          <p:nvPr/>
        </p:nvCxnSpPr>
        <p:spPr>
          <a:xfrm flipH="1">
            <a:off x="3718560" y="4001135"/>
            <a:ext cx="9525" cy="605790"/>
          </a:xfrm>
          <a:prstGeom prst="curvedConnector3">
            <a:avLst>
              <a:gd name="adj1" fmla="val -2500000"/>
            </a:avLst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>
            <a:stCxn id="35" idx="3"/>
            <a:endCxn id="44" idx="3"/>
          </p:cNvCxnSpPr>
          <p:nvPr/>
        </p:nvCxnSpPr>
        <p:spPr>
          <a:xfrm>
            <a:off x="3718560" y="4606925"/>
            <a:ext cx="13970" cy="667385"/>
          </a:xfrm>
          <a:prstGeom prst="curvedConnector3">
            <a:avLst>
              <a:gd name="adj1" fmla="val 1804545"/>
            </a:avLst>
          </a:prstGeom>
          <a:ln w="3492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21" idx="1"/>
          </p:cNvCxnSpPr>
          <p:nvPr/>
        </p:nvCxnSpPr>
        <p:spPr>
          <a:xfrm flipH="1">
            <a:off x="257175" y="3380740"/>
            <a:ext cx="535305" cy="127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29" idx="1"/>
          </p:cNvCxnSpPr>
          <p:nvPr/>
        </p:nvCxnSpPr>
        <p:spPr>
          <a:xfrm flipH="1">
            <a:off x="238125" y="4015740"/>
            <a:ext cx="553085" cy="698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35" idx="1"/>
          </p:cNvCxnSpPr>
          <p:nvPr/>
        </p:nvCxnSpPr>
        <p:spPr>
          <a:xfrm flipH="1">
            <a:off x="222250" y="4606925"/>
            <a:ext cx="625475" cy="508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44" idx="1"/>
          </p:cNvCxnSpPr>
          <p:nvPr/>
        </p:nvCxnSpPr>
        <p:spPr>
          <a:xfrm flipH="1">
            <a:off x="213995" y="5274310"/>
            <a:ext cx="577850" cy="762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3912870" y="3597910"/>
            <a:ext cx="7499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912870" y="4215130"/>
            <a:ext cx="7499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12870" y="4865370"/>
            <a:ext cx="7499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0" y="3396615"/>
            <a:ext cx="1116330" cy="314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rebuild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0" y="4010660"/>
            <a:ext cx="1116330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rebuild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0" y="4612005"/>
            <a:ext cx="1116330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rebuild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5316855"/>
            <a:ext cx="1116330" cy="301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rebuild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40660" y="944245"/>
            <a:ext cx="238950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evidence_chain.json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1" name="下箭头 40"/>
          <p:cNvSpPr/>
          <p:nvPr/>
        </p:nvSpPr>
        <p:spPr>
          <a:xfrm>
            <a:off x="2452370" y="1031240"/>
            <a:ext cx="513715" cy="140843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>
            <p:custDataLst>
              <p:tags r:id="rId16"/>
            </p:custDataLst>
          </p:nvPr>
        </p:nvSpPr>
        <p:spPr>
          <a:xfrm>
            <a:off x="4838700" y="1715770"/>
            <a:ext cx="5590540" cy="62230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A Perspective: Contract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Run </a:t>
            </a:r>
            <a:r>
              <a:rPr lang="en-US" altLang="zh-CN" sz="1200">
                <a:solidFill>
                  <a:schemeClr val="tx1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check_chain_grounding.py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1" name="肘形连接符 50"/>
          <p:cNvCxnSpPr/>
          <p:nvPr/>
        </p:nvCxnSpPr>
        <p:spPr>
          <a:xfrm rot="5400000" flipH="1" flipV="1">
            <a:off x="3090863" y="1000443"/>
            <a:ext cx="3884930" cy="5351145"/>
          </a:xfrm>
          <a:prstGeom prst="bentConnector5">
            <a:avLst>
              <a:gd name="adj1" fmla="val -6121"/>
              <a:gd name="adj2" fmla="val 39302"/>
              <a:gd name="adj3" fmla="val 106138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1763395" y="5736590"/>
            <a:ext cx="1076325" cy="23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7" name="图片 66" descr="齿轮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58055" y="1593850"/>
            <a:ext cx="473710" cy="473710"/>
          </a:xfrm>
          <a:prstGeom prst="rect">
            <a:avLst/>
          </a:prstGeom>
        </p:spPr>
      </p:pic>
      <p:cxnSp>
        <p:nvCxnSpPr>
          <p:cNvPr id="59" name="直接箭头连接符 58"/>
          <p:cNvCxnSpPr>
            <a:endCxn id="6" idx="0"/>
          </p:cNvCxnSpPr>
          <p:nvPr/>
        </p:nvCxnSpPr>
        <p:spPr>
          <a:xfrm>
            <a:off x="4994910" y="2993390"/>
            <a:ext cx="15875" cy="74866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 descr="BUG问题修复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58055" y="6287135"/>
            <a:ext cx="536575" cy="45275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4439920" y="2639060"/>
            <a:ext cx="1109980" cy="354330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Confirmed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3" name="直接箭头连接符 62"/>
          <p:cNvCxnSpPr>
            <a:endCxn id="65" idx="0"/>
          </p:cNvCxnSpPr>
          <p:nvPr/>
        </p:nvCxnSpPr>
        <p:spPr>
          <a:xfrm>
            <a:off x="6262370" y="2357755"/>
            <a:ext cx="635" cy="63563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endCxn id="62" idx="0"/>
          </p:cNvCxnSpPr>
          <p:nvPr/>
        </p:nvCxnSpPr>
        <p:spPr>
          <a:xfrm flipH="1">
            <a:off x="4994910" y="2383155"/>
            <a:ext cx="3810" cy="25590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5740400" y="2993390"/>
            <a:ext cx="1044575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Refuted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6" name="直接箭头连接符 65"/>
          <p:cNvCxnSpPr>
            <a:stCxn id="28" idx="2"/>
          </p:cNvCxnSpPr>
          <p:nvPr/>
        </p:nvCxnSpPr>
        <p:spPr>
          <a:xfrm flipH="1">
            <a:off x="6261100" y="4053840"/>
            <a:ext cx="3810" cy="218503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042025" y="6300470"/>
            <a:ext cx="441960" cy="441960"/>
          </a:xfrm>
          <a:prstGeom prst="rect">
            <a:avLst/>
          </a:prstGeom>
        </p:spPr>
      </p:pic>
      <p:sp>
        <p:nvSpPr>
          <p:cNvPr id="77" name="圆角矩形 76"/>
          <p:cNvSpPr/>
          <p:nvPr>
            <p:custDataLst>
              <p:tags r:id="rId25"/>
            </p:custDataLst>
          </p:nvPr>
        </p:nvSpPr>
        <p:spPr>
          <a:xfrm>
            <a:off x="6687185" y="2741930"/>
            <a:ext cx="3742690" cy="51689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B Perspective: Physical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Run </a:t>
            </a:r>
            <a:r>
              <a:rPr lang="en-US" altLang="zh-CN" sz="1200">
                <a:solidFill>
                  <a:schemeClr val="tx1"/>
                </a:solidFill>
                <a:highlight>
                  <a:srgbClr val="C0C0C0"/>
                </a:highlight>
                <a:latin typeface="Comic Sans MS" panose="030F0702030302020204" charset="0"/>
                <a:cs typeface="Comic Sans MS" panose="030F0702030302020204" charset="0"/>
              </a:rPr>
              <a:t>check_physical_constraints.py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590790" y="2406650"/>
            <a:ext cx="1044575" cy="297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Neutral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>
            <a:off x="7481570" y="2357755"/>
            <a:ext cx="1270" cy="39624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1" name="图片 80" descr="齿轮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72885" y="2581910"/>
            <a:ext cx="473710" cy="473710"/>
          </a:xfrm>
          <a:prstGeom prst="rect">
            <a:avLst/>
          </a:prstGeom>
        </p:spPr>
      </p:pic>
      <p:cxnSp>
        <p:nvCxnSpPr>
          <p:cNvPr id="82" name="直接箭头连接符 81"/>
          <p:cNvCxnSpPr/>
          <p:nvPr/>
        </p:nvCxnSpPr>
        <p:spPr>
          <a:xfrm flipH="1">
            <a:off x="7005955" y="3282315"/>
            <a:ext cx="1905" cy="38862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6692900" y="3670935"/>
            <a:ext cx="104457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Triggered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85" name="直接箭头连接符 84"/>
          <p:cNvCxnSpPr/>
          <p:nvPr/>
        </p:nvCxnSpPr>
        <p:spPr>
          <a:xfrm>
            <a:off x="7005955" y="4050665"/>
            <a:ext cx="7620" cy="222631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6" name="图片 85" descr="BUG问题修复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37350" y="6290310"/>
            <a:ext cx="536575" cy="452755"/>
          </a:xfrm>
          <a:prstGeom prst="rect">
            <a:avLst/>
          </a:prstGeom>
        </p:spPr>
      </p:pic>
      <p:cxnSp>
        <p:nvCxnSpPr>
          <p:cNvPr id="87" name="直接箭头连接符 86"/>
          <p:cNvCxnSpPr/>
          <p:nvPr/>
        </p:nvCxnSpPr>
        <p:spPr>
          <a:xfrm>
            <a:off x="8302625" y="3293110"/>
            <a:ext cx="1270" cy="39624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圆角矩形 87"/>
          <p:cNvSpPr/>
          <p:nvPr>
            <p:custDataLst>
              <p:tags r:id="rId27"/>
            </p:custDataLst>
          </p:nvPr>
        </p:nvSpPr>
        <p:spPr>
          <a:xfrm>
            <a:off x="7668895" y="3681095"/>
            <a:ext cx="3430270" cy="51689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 Perspective: Cognition</a:t>
            </a:r>
            <a:endParaRPr lang="en-US" altLang="zh-CN" sz="16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9" name="下箭头 88"/>
          <p:cNvSpPr/>
          <p:nvPr/>
        </p:nvSpPr>
        <p:spPr>
          <a:xfrm>
            <a:off x="10429875" y="1057275"/>
            <a:ext cx="513715" cy="2632075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7784465" y="1124585"/>
            <a:ext cx="309689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developer_cognition.json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91" name="直接箭头连接符 90"/>
          <p:cNvCxnSpPr/>
          <p:nvPr/>
        </p:nvCxnSpPr>
        <p:spPr>
          <a:xfrm>
            <a:off x="7745095" y="4215130"/>
            <a:ext cx="2540" cy="3333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/>
        </p:nvSpPr>
        <p:spPr>
          <a:xfrm>
            <a:off x="7207885" y="4539615"/>
            <a:ext cx="955040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Supports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bug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>
            <a:off x="7740650" y="5056505"/>
            <a:ext cx="4445" cy="119824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5" name="图片 94" descr="BUG问题修复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510145" y="6297930"/>
            <a:ext cx="536575" cy="452755"/>
          </a:xfrm>
          <a:prstGeom prst="rect">
            <a:avLst/>
          </a:prstGeom>
        </p:spPr>
      </p:pic>
      <p:sp>
        <p:nvSpPr>
          <p:cNvPr id="96" name="文本框 95"/>
          <p:cNvSpPr txBox="1"/>
          <p:nvPr/>
        </p:nvSpPr>
        <p:spPr>
          <a:xfrm>
            <a:off x="8442325" y="3312160"/>
            <a:ext cx="14135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Not triggered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8522335" y="4215130"/>
            <a:ext cx="2540" cy="3333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7969885" y="4539615"/>
            <a:ext cx="1177290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Supports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not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bug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8512810" y="5048250"/>
            <a:ext cx="6985" cy="11588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0" name="图片 99" descr="对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02625" y="6287135"/>
            <a:ext cx="441960" cy="441960"/>
          </a:xfrm>
          <a:prstGeom prst="rect">
            <a:avLst/>
          </a:prstGeom>
        </p:spPr>
      </p:pic>
      <p:cxnSp>
        <p:nvCxnSpPr>
          <p:cNvPr id="101" name="直接箭头连接符 100"/>
          <p:cNvCxnSpPr/>
          <p:nvPr/>
        </p:nvCxnSpPr>
        <p:spPr>
          <a:xfrm>
            <a:off x="9331325" y="4215130"/>
            <a:ext cx="2540" cy="3333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>
            <p:custDataLst>
              <p:tags r:id="rId30"/>
            </p:custDataLst>
          </p:nvPr>
        </p:nvSpPr>
        <p:spPr>
          <a:xfrm>
            <a:off x="9004300" y="4540250"/>
            <a:ext cx="2905125" cy="51689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D Perspective: Source</a:t>
            </a:r>
            <a:endParaRPr lang="en-US" altLang="zh-CN" sz="16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3" name="下箭头 102"/>
          <p:cNvSpPr/>
          <p:nvPr/>
        </p:nvSpPr>
        <p:spPr>
          <a:xfrm>
            <a:off x="11229975" y="1061085"/>
            <a:ext cx="513715" cy="3478530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文本框 103"/>
          <p:cNvSpPr txBox="1"/>
          <p:nvPr/>
        </p:nvSpPr>
        <p:spPr>
          <a:xfrm>
            <a:off x="10814050" y="1124585"/>
            <a:ext cx="1367790" cy="323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“source_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grounding ”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  <a:sym typeface="+mn-ea"/>
              </a:rPr>
              <a:t>pattern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9264015" y="4197985"/>
            <a:ext cx="98742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No signal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6" name="直接箭头连接符 105"/>
          <p:cNvCxnSpPr/>
          <p:nvPr/>
        </p:nvCxnSpPr>
        <p:spPr>
          <a:xfrm flipH="1">
            <a:off x="9546590" y="5087620"/>
            <a:ext cx="6985" cy="11588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/>
        </p:nvSpPr>
        <p:spPr>
          <a:xfrm>
            <a:off x="9554210" y="5364480"/>
            <a:ext cx="1095375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By_design</a:t>
            </a:r>
            <a:endParaRPr lang="zh-CN" altLang="en-US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9" name="图片 108" descr="对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331960" y="6246495"/>
            <a:ext cx="441960" cy="441960"/>
          </a:xfrm>
          <a:prstGeom prst="rect">
            <a:avLst/>
          </a:prstGeom>
        </p:spPr>
      </p:pic>
      <p:cxnSp>
        <p:nvCxnSpPr>
          <p:cNvPr id="110" name="直接箭头连接符 109"/>
          <p:cNvCxnSpPr/>
          <p:nvPr/>
        </p:nvCxnSpPr>
        <p:spPr>
          <a:xfrm flipH="1">
            <a:off x="10683240" y="5080000"/>
            <a:ext cx="6985" cy="1158875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10814050" y="5346700"/>
            <a:ext cx="1095375" cy="494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Not by_design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12" name="图片 111" descr="BUG问题修复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429875" y="6254750"/>
            <a:ext cx="536575" cy="452755"/>
          </a:xfrm>
          <a:prstGeom prst="rect">
            <a:avLst/>
          </a:prstGeom>
        </p:spPr>
      </p:pic>
      <p:sp>
        <p:nvSpPr>
          <p:cNvPr id="6" name="流程图: 决策 5"/>
          <p:cNvSpPr/>
          <p:nvPr/>
        </p:nvSpPr>
        <p:spPr>
          <a:xfrm>
            <a:off x="4662805" y="3742055"/>
            <a:ext cx="695325" cy="45593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2060"/>
                </a:solidFill>
              </a:rPr>
              <a:t>C</a:t>
            </a:r>
            <a:endParaRPr lang="en-US" altLang="zh-CN" sz="1200">
              <a:solidFill>
                <a:srgbClr val="00206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5030470" y="4197985"/>
            <a:ext cx="22225" cy="2050415"/>
          </a:xfrm>
          <a:prstGeom prst="straightConnector1">
            <a:avLst/>
          </a:prstGeom>
          <a:ln w="127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194300" y="4269740"/>
            <a:ext cx="1066800" cy="328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20895" y="4947285"/>
            <a:ext cx="98742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No signal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129530" y="4172585"/>
            <a:ext cx="91249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Supports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not 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  <a:sym typeface="+mn-ea"/>
              </a:rPr>
              <a:t>a bug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2" name="肘形连接符 21"/>
          <p:cNvCxnSpPr>
            <a:endCxn id="23" idx="0"/>
          </p:cNvCxnSpPr>
          <p:nvPr/>
        </p:nvCxnSpPr>
        <p:spPr>
          <a:xfrm rot="5400000" flipV="1">
            <a:off x="4403725" y="4929505"/>
            <a:ext cx="2265680" cy="346075"/>
          </a:xfrm>
          <a:prstGeom prst="bentConnector3">
            <a:avLst>
              <a:gd name="adj1" fmla="val 1079"/>
            </a:avLst>
          </a:prstGeom>
          <a:ln w="127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294630" y="6235700"/>
            <a:ext cx="829945" cy="295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rebuild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" name="流程图: 决策 27"/>
          <p:cNvSpPr/>
          <p:nvPr/>
        </p:nvSpPr>
        <p:spPr>
          <a:xfrm>
            <a:off x="5916930" y="3597910"/>
            <a:ext cx="695325" cy="45593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2060"/>
                </a:solidFill>
              </a:rPr>
              <a:t>B</a:t>
            </a:r>
            <a:endParaRPr lang="en-US" altLang="zh-CN" sz="1200">
              <a:solidFill>
                <a:srgbClr val="002060"/>
              </a:solidFill>
            </a:endParaRPr>
          </a:p>
        </p:txBody>
      </p:sp>
      <p:cxnSp>
        <p:nvCxnSpPr>
          <p:cNvPr id="32" name="直接箭头连接符 31"/>
          <p:cNvCxnSpPr>
            <a:stCxn id="65" idx="2"/>
            <a:endCxn id="28" idx="0"/>
          </p:cNvCxnSpPr>
          <p:nvPr/>
        </p:nvCxnSpPr>
        <p:spPr>
          <a:xfrm>
            <a:off x="6263005" y="3347720"/>
            <a:ext cx="1905" cy="250190"/>
          </a:xfrm>
          <a:prstGeom prst="straightConnector1">
            <a:avLst/>
          </a:prstGeom>
          <a:ln w="254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28" idx="1"/>
            <a:endCxn id="23" idx="0"/>
          </p:cNvCxnSpPr>
          <p:nvPr/>
        </p:nvCxnSpPr>
        <p:spPr>
          <a:xfrm rot="10800000" flipV="1">
            <a:off x="5709920" y="3825240"/>
            <a:ext cx="207010" cy="2409825"/>
          </a:xfrm>
          <a:prstGeom prst="bentConnector2">
            <a:avLst/>
          </a:prstGeom>
          <a:ln w="12700">
            <a:solidFill>
              <a:srgbClr val="000000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5294630" y="3486150"/>
            <a:ext cx="919480" cy="26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Triggered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860415" y="4342130"/>
            <a:ext cx="1413510" cy="394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Not triggered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40" grpId="0" animBg="1"/>
      <p:bldP spid="62" grpId="0" bldLvl="0" animBg="1"/>
      <p:bldP spid="79" grpId="0"/>
      <p:bldP spid="77" grpId="0" animBg="1"/>
      <p:bldP spid="83" grpId="0"/>
      <p:bldP spid="88" grpId="0" bldLvl="0" animBg="1"/>
      <p:bldP spid="96" grpId="0"/>
      <p:bldP spid="65" grpId="0"/>
      <p:bldP spid="98" grpId="0"/>
      <p:bldP spid="92" grpId="0"/>
      <p:bldP spid="102" grpId="0" bldLvl="0" animBg="1"/>
      <p:bldP spid="105" grpId="0"/>
      <p:bldP spid="108" grpId="0"/>
      <p:bldP spid="111" grpId="0"/>
      <p:bldP spid="90" grpId="0"/>
      <p:bldP spid="89" grpId="0" animBg="1"/>
      <p:bldP spid="104" grpId="0"/>
      <p:bldP spid="103" grpId="0" animBg="1"/>
      <p:bldP spid="9" grpId="0"/>
      <p:bldP spid="13" grpId="0"/>
      <p:bldP spid="16" grpId="0"/>
      <p:bldP spid="46" grpId="0"/>
      <p:bldP spid="48" grpId="0"/>
      <p:bldP spid="6" grpId="0" animBg="1"/>
      <p:bldP spid="46" grpId="1"/>
      <p:bldP spid="23" grpId="0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>
            <p:custDataLst>
              <p:tags r:id="rId1"/>
            </p:custDataLst>
          </p:nvPr>
        </p:nvSpPr>
        <p:spPr>
          <a:xfrm>
            <a:off x="0" y="1657985"/>
            <a:ext cx="12192000" cy="5200015"/>
          </a:xfrm>
          <a:prstGeom prst="roundRect">
            <a:avLst>
              <a:gd name="adj" fmla="val 625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7235" y="9943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820" y="794385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401320" y="164465"/>
            <a:ext cx="642493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An entire process example </a:t>
            </a:r>
            <a:r>
              <a:rPr lang="zh-CN" altLang="en-US" sz="3600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④</a:t>
            </a:r>
            <a:endParaRPr lang="zh-CN" altLang="en-US" sz="3600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01320" y="946785"/>
            <a:ext cx="10227310" cy="711835"/>
          </a:xfrm>
        </p:spPr>
        <p:txBody>
          <a:bodyPr>
            <a:normAutofit fontScale="6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3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Recommend bypasses vector dimension validation for negative examples from lookup_from, returning silently wrong scores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— qdrant v1.19.0 ·  #10369 </a:t>
            </a:r>
            <a:r>
              <a:rPr lang="en-US" altLang="zh-CN" sz="2000" b="1" dirty="0" err="1">
                <a:solidFill>
                  <a:schemeClr val="tx1"/>
                </a:solidFill>
                <a:highlight>
                  <a:srgbClr val="00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[accepted]</a:t>
            </a:r>
            <a:endParaRPr lang="en-US" altLang="zh-CN" sz="2000" b="1" dirty="0" err="1">
              <a:solidFill>
                <a:schemeClr val="tx1"/>
              </a:solidFill>
              <a:highlight>
                <a:srgbClr val="00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8" name="流程图: 过程 27"/>
          <p:cNvSpPr/>
          <p:nvPr/>
        </p:nvSpPr>
        <p:spPr>
          <a:xfrm>
            <a:off x="215900" y="5155565"/>
            <a:ext cx="2772410" cy="743585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1615" y="1617345"/>
            <a:ext cx="4340225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 sz="24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B</a:t>
            </a: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ug</a:t>
            </a:r>
            <a:r>
              <a:rPr lang="en-US" altLang="zh-CN" sz="2400" b="1" dirty="0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 Confirmation</a:t>
            </a:r>
            <a:endParaRPr lang="en-US" altLang="zh-CN" sz="2400" b="1" dirty="0">
              <a:solidFill>
                <a:schemeClr val="tx1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937260" y="5323205"/>
            <a:ext cx="2170430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Evidence_Builder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445" y="5155565"/>
            <a:ext cx="678815" cy="567690"/>
          </a:xfrm>
          <a:prstGeom prst="rect">
            <a:avLst/>
          </a:prstGeom>
        </p:spPr>
      </p:pic>
      <p:pic>
        <p:nvPicPr>
          <p:cNvPr id="8" name="图片 7" descr="地球网络搜寻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810" y="5510530"/>
            <a:ext cx="387985" cy="387985"/>
          </a:xfrm>
          <a:prstGeom prst="rect">
            <a:avLst/>
          </a:prstGeom>
        </p:spPr>
      </p:pic>
      <p:sp>
        <p:nvSpPr>
          <p:cNvPr id="49" name="圆角矩形 48"/>
          <p:cNvSpPr/>
          <p:nvPr>
            <p:custDataLst>
              <p:tags r:id="rId9"/>
            </p:custDataLst>
          </p:nvPr>
        </p:nvSpPr>
        <p:spPr>
          <a:xfrm>
            <a:off x="163195" y="2216785"/>
            <a:ext cx="2988310" cy="273558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" name="圆角矩形 5"/>
          <p:cNvSpPr/>
          <p:nvPr>
            <p:custDataLst>
              <p:tags r:id="rId10"/>
            </p:custDataLst>
          </p:nvPr>
        </p:nvSpPr>
        <p:spPr>
          <a:xfrm>
            <a:off x="220610" y="2342061"/>
            <a:ext cx="2875030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书-翻开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5037" y="2300605"/>
            <a:ext cx="677110" cy="690928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1050290" y="2472690"/>
            <a:ext cx="1938655" cy="451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15"/>
            </p:custDataLst>
          </p:nvPr>
        </p:nvSpPr>
        <p:spPr>
          <a:xfrm>
            <a:off x="219843" y="2976947"/>
            <a:ext cx="288040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1050290" y="3018790"/>
            <a:ext cx="193802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specifications</a:t>
            </a:r>
            <a:endParaRPr lang="en-US" altLang="zh-CN" sz="1600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0" name="图片 19" descr="代码文件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0820" y="2976880"/>
            <a:ext cx="940435" cy="626745"/>
          </a:xfrm>
          <a:prstGeom prst="rect">
            <a:avLst/>
          </a:prstGeom>
        </p:spPr>
      </p:pic>
      <p:sp>
        <p:nvSpPr>
          <p:cNvPr id="25" name="圆角矩形 24"/>
          <p:cNvSpPr/>
          <p:nvPr>
            <p:custDataLst>
              <p:tags r:id="rId20"/>
            </p:custDataLst>
          </p:nvPr>
        </p:nvSpPr>
        <p:spPr>
          <a:xfrm>
            <a:off x="219843" y="3607995"/>
            <a:ext cx="2870424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21"/>
            </p:custDataLst>
          </p:nvPr>
        </p:nvSpPr>
        <p:spPr>
          <a:xfrm>
            <a:off x="1049655" y="3693795"/>
            <a:ext cx="193865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3" name="图片 42" descr="软件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15037" y="3614487"/>
            <a:ext cx="717798" cy="621068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25"/>
            </p:custDataLst>
          </p:nvPr>
        </p:nvSpPr>
        <p:spPr>
          <a:xfrm>
            <a:off x="219075" y="4235205"/>
            <a:ext cx="2881172" cy="65331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26"/>
            </p:custDataLst>
          </p:nvPr>
        </p:nvSpPr>
        <p:spPr>
          <a:xfrm>
            <a:off x="1050290" y="4335780"/>
            <a:ext cx="1939290" cy="429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Test outputs</a:t>
            </a:r>
            <a:endParaRPr lang="en-US" altLang="zh-CN" sz="1600" b="1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1" name="图片 40" descr="数据库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8445" y="4257040"/>
            <a:ext cx="735330" cy="626745"/>
          </a:xfrm>
          <a:prstGeom prst="rect">
            <a:avLst/>
          </a:prstGeom>
        </p:spPr>
      </p:pic>
      <p:sp>
        <p:nvSpPr>
          <p:cNvPr id="132" name="圆角矩形 131"/>
          <p:cNvSpPr/>
          <p:nvPr>
            <p:custDataLst>
              <p:tags r:id="rId30"/>
            </p:custDataLst>
          </p:nvPr>
        </p:nvSpPr>
        <p:spPr>
          <a:xfrm>
            <a:off x="210185" y="6090920"/>
            <a:ext cx="2879725" cy="654050"/>
          </a:xfrm>
          <a:prstGeom prst="roundRect">
            <a:avLst>
              <a:gd name="adj" fmla="val 2197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82625" y="6198235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source code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4" name="图片 133" descr="代码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47015" y="6198235"/>
            <a:ext cx="516255" cy="454025"/>
          </a:xfrm>
          <a:prstGeom prst="rect">
            <a:avLst/>
          </a:prstGeom>
        </p:spPr>
      </p:pic>
      <p:sp>
        <p:nvSpPr>
          <p:cNvPr id="128" name="圆角矩形 127"/>
          <p:cNvSpPr/>
          <p:nvPr/>
        </p:nvSpPr>
        <p:spPr>
          <a:xfrm>
            <a:off x="4411980" y="1741805"/>
            <a:ext cx="7555230" cy="4456430"/>
          </a:xfrm>
          <a:prstGeom prst="roundRect">
            <a:avLst>
              <a:gd name="adj" fmla="val 694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>
            <p:custDataLst>
              <p:tags r:id="rId34"/>
            </p:custDataLst>
          </p:nvPr>
        </p:nvSpPr>
        <p:spPr>
          <a:xfrm>
            <a:off x="5433695" y="1889760"/>
            <a:ext cx="1835150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Chain_auditor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2" name="图片 41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4658995" y="1765300"/>
            <a:ext cx="689610" cy="576580"/>
          </a:xfrm>
          <a:prstGeom prst="rect">
            <a:avLst/>
          </a:prstGeom>
        </p:spPr>
      </p:pic>
      <p:sp>
        <p:nvSpPr>
          <p:cNvPr id="50" name="下箭头 49"/>
          <p:cNvSpPr/>
          <p:nvPr>
            <p:custDataLst>
              <p:tags r:id="rId38"/>
            </p:custDataLst>
          </p:nvPr>
        </p:nvSpPr>
        <p:spPr>
          <a:xfrm>
            <a:off x="1336040" y="4902200"/>
            <a:ext cx="378460" cy="28384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下箭头 50"/>
          <p:cNvSpPr/>
          <p:nvPr>
            <p:custDataLst>
              <p:tags r:id="rId39"/>
            </p:custDataLst>
          </p:nvPr>
        </p:nvSpPr>
        <p:spPr>
          <a:xfrm flipV="1">
            <a:off x="1336040" y="5888355"/>
            <a:ext cx="378460" cy="247015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下箭头 51"/>
          <p:cNvSpPr/>
          <p:nvPr>
            <p:custDataLst>
              <p:tags r:id="rId40"/>
            </p:custDataLst>
          </p:nvPr>
        </p:nvSpPr>
        <p:spPr>
          <a:xfrm rot="16200000">
            <a:off x="3503930" y="4678045"/>
            <a:ext cx="400685" cy="141605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847340" y="5471160"/>
            <a:ext cx="1708785" cy="321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evidence_chain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.json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4" name="圆角矩形 53"/>
          <p:cNvSpPr/>
          <p:nvPr>
            <p:custDataLst>
              <p:tags r:id="rId41"/>
            </p:custDataLst>
          </p:nvPr>
        </p:nvSpPr>
        <p:spPr>
          <a:xfrm>
            <a:off x="4556125" y="2473325"/>
            <a:ext cx="3046730" cy="3228340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Phase 1: Four Checks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>
            <p:custDataLst>
              <p:tags r:id="rId42"/>
            </p:custDataLst>
          </p:nvPr>
        </p:nvSpPr>
        <p:spPr>
          <a:xfrm>
            <a:off x="4615180" y="3088005"/>
            <a:ext cx="2940050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圆角矩形 55"/>
          <p:cNvSpPr/>
          <p:nvPr>
            <p:custDataLst>
              <p:tags r:id="rId43"/>
            </p:custDataLst>
          </p:nvPr>
        </p:nvSpPr>
        <p:spPr>
          <a:xfrm>
            <a:off x="4613910" y="3723005"/>
            <a:ext cx="2936875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44"/>
            </p:custDataLst>
          </p:nvPr>
        </p:nvSpPr>
        <p:spPr>
          <a:xfrm>
            <a:off x="4679950" y="3789680"/>
            <a:ext cx="2870835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2.Consistency: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Contract/Doc/Log/Source aligned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58" name="圆角矩形 57"/>
          <p:cNvSpPr/>
          <p:nvPr>
            <p:custDataLst>
              <p:tags r:id="rId45"/>
            </p:custDataLst>
          </p:nvPr>
        </p:nvSpPr>
        <p:spPr>
          <a:xfrm>
            <a:off x="4613910" y="4354195"/>
            <a:ext cx="2926715" cy="6280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46"/>
            </p:custDataLst>
          </p:nvPr>
        </p:nvSpPr>
        <p:spPr>
          <a:xfrm>
            <a:off x="4670425" y="4439920"/>
            <a:ext cx="2870835" cy="402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3.Self-consistency: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No internal contradictions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60" name="圆角矩形 59"/>
          <p:cNvSpPr/>
          <p:nvPr>
            <p:custDataLst>
              <p:tags r:id="rId47"/>
            </p:custDataLst>
          </p:nvPr>
        </p:nvSpPr>
        <p:spPr>
          <a:xfrm>
            <a:off x="4614545" y="4981575"/>
            <a:ext cx="2940685" cy="65341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48"/>
            </p:custDataLst>
          </p:nvPr>
        </p:nvSpPr>
        <p:spPr>
          <a:xfrm>
            <a:off x="4556125" y="5024120"/>
            <a:ext cx="300926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 b="1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4.Correspondence: </a:t>
            </a:r>
            <a:r>
              <a:rPr lang="en-US" altLang="zh-CN" sz="1400">
                <a:solidFill>
                  <a:schemeClr val="tx2"/>
                </a:solidFill>
                <a:latin typeface="Comic Sans MS" panose="030F0702030302020204" charset="0"/>
                <a:cs typeface="Comic Sans MS" panose="030F0702030302020204" charset="0"/>
              </a:rPr>
              <a:t>Primary observation matches specification?</a:t>
            </a:r>
            <a:endParaRPr lang="en-US" altLang="zh-CN" sz="1400">
              <a:solidFill>
                <a:schemeClr val="tx2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2" name="文本框 61"/>
          <p:cNvSpPr txBox="1"/>
          <p:nvPr>
            <p:custDataLst>
              <p:tags r:id="rId49"/>
            </p:custDataLst>
          </p:nvPr>
        </p:nvSpPr>
        <p:spPr>
          <a:xfrm>
            <a:off x="4670425" y="3159760"/>
            <a:ext cx="2870835" cy="444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1.Completeness:</a:t>
            </a:r>
            <a:r>
              <a:rPr lang="en-US" altLang="zh-CN" sz="1400" dirty="0" err="1">
                <a:solidFill>
                  <a:schemeClr val="tx2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All 5 sections present &amp; non-empty</a:t>
            </a:r>
            <a:endParaRPr lang="en-US" altLang="zh-CN" sz="1400" dirty="0" err="1">
              <a:solidFill>
                <a:schemeClr val="tx2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63" name="曲线连接符 62"/>
          <p:cNvCxnSpPr>
            <a:stCxn id="62" idx="3"/>
            <a:endCxn id="57" idx="3"/>
          </p:cNvCxnSpPr>
          <p:nvPr/>
        </p:nvCxnSpPr>
        <p:spPr>
          <a:xfrm>
            <a:off x="7541260" y="3382010"/>
            <a:ext cx="9525" cy="653415"/>
          </a:xfrm>
          <a:prstGeom prst="curvedConnector3">
            <a:avLst>
              <a:gd name="adj1" fmla="val 2600000"/>
            </a:avLst>
          </a:prstGeom>
          <a:ln w="34925">
            <a:solidFill>
              <a:srgbClr val="DB380E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曲线连接符 64"/>
          <p:cNvCxnSpPr>
            <a:stCxn id="57" idx="3"/>
            <a:endCxn id="59" idx="3"/>
          </p:cNvCxnSpPr>
          <p:nvPr/>
        </p:nvCxnSpPr>
        <p:spPr>
          <a:xfrm flipH="1">
            <a:off x="7541260" y="4035425"/>
            <a:ext cx="9525" cy="605790"/>
          </a:xfrm>
          <a:prstGeom prst="curvedConnector3">
            <a:avLst>
              <a:gd name="adj1" fmla="val -2500000"/>
            </a:avLst>
          </a:prstGeom>
          <a:ln w="34925">
            <a:solidFill>
              <a:srgbClr val="DB380E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8" name="曲线连接符 67"/>
          <p:cNvCxnSpPr>
            <a:stCxn id="59" idx="3"/>
            <a:endCxn id="60" idx="3"/>
          </p:cNvCxnSpPr>
          <p:nvPr/>
        </p:nvCxnSpPr>
        <p:spPr>
          <a:xfrm>
            <a:off x="7541260" y="4641215"/>
            <a:ext cx="13970" cy="667385"/>
          </a:xfrm>
          <a:prstGeom prst="curvedConnector3">
            <a:avLst>
              <a:gd name="adj1" fmla="val 1804545"/>
            </a:avLst>
          </a:prstGeom>
          <a:ln w="34925">
            <a:solidFill>
              <a:srgbClr val="DB380E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7719695" y="3487420"/>
            <a:ext cx="61150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719695" y="4163060"/>
            <a:ext cx="61150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719695" y="4770755"/>
            <a:ext cx="61150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pass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4" name="圆角矩形 73"/>
          <p:cNvSpPr/>
          <p:nvPr>
            <p:custDataLst>
              <p:tags r:id="rId50"/>
            </p:custDataLst>
          </p:nvPr>
        </p:nvSpPr>
        <p:spPr>
          <a:xfrm>
            <a:off x="8434070" y="2555240"/>
            <a:ext cx="1962150" cy="462915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A : Contract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84" name="图片 83" descr="齿轮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479155" y="2631440"/>
            <a:ext cx="310515" cy="310515"/>
          </a:xfrm>
          <a:prstGeom prst="rect">
            <a:avLst/>
          </a:prstGeom>
        </p:spPr>
      </p:pic>
      <p:cxnSp>
        <p:nvCxnSpPr>
          <p:cNvPr id="154" name="直接箭头连接符 153"/>
          <p:cNvCxnSpPr>
            <a:endCxn id="158" idx="0"/>
          </p:cNvCxnSpPr>
          <p:nvPr/>
        </p:nvCxnSpPr>
        <p:spPr>
          <a:xfrm>
            <a:off x="8737600" y="3653790"/>
            <a:ext cx="0" cy="748665"/>
          </a:xfrm>
          <a:prstGeom prst="straightConnector1">
            <a:avLst/>
          </a:prstGeom>
          <a:ln w="25400">
            <a:solidFill>
              <a:srgbClr val="DB380E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5" name="图片 154" descr="BUG问题修复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468995" y="6292215"/>
            <a:ext cx="536575" cy="452755"/>
          </a:xfrm>
          <a:prstGeom prst="rect">
            <a:avLst/>
          </a:prstGeom>
        </p:spPr>
      </p:pic>
      <p:sp>
        <p:nvSpPr>
          <p:cNvPr id="156" name="文本框 155"/>
          <p:cNvSpPr txBox="1"/>
          <p:nvPr/>
        </p:nvSpPr>
        <p:spPr>
          <a:xfrm>
            <a:off x="8179435" y="3299460"/>
            <a:ext cx="1109980" cy="354330"/>
          </a:xfrm>
          <a:prstGeom prst="rect">
            <a:avLst/>
          </a:prstGeom>
          <a:noFill/>
          <a:ln w="28575" cmpd="sng">
            <a:noFill/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Confirmed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57" name="直接箭头连接符 156"/>
          <p:cNvCxnSpPr/>
          <p:nvPr/>
        </p:nvCxnSpPr>
        <p:spPr>
          <a:xfrm flipH="1">
            <a:off x="8737600" y="3035300"/>
            <a:ext cx="635" cy="264160"/>
          </a:xfrm>
          <a:prstGeom prst="straightConnector1">
            <a:avLst/>
          </a:prstGeom>
          <a:ln w="25400">
            <a:solidFill>
              <a:srgbClr val="DB380E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8" name="流程图: 决策 157"/>
          <p:cNvSpPr/>
          <p:nvPr/>
        </p:nvSpPr>
        <p:spPr>
          <a:xfrm>
            <a:off x="8389620" y="4402455"/>
            <a:ext cx="695325" cy="45593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rgbClr val="002060"/>
                </a:solidFill>
              </a:rPr>
              <a:t>C</a:t>
            </a:r>
            <a:endParaRPr lang="en-US" altLang="zh-CN" sz="1200">
              <a:solidFill>
                <a:srgbClr val="002060"/>
              </a:solidFill>
            </a:endParaRPr>
          </a:p>
        </p:txBody>
      </p:sp>
      <p:cxnSp>
        <p:nvCxnSpPr>
          <p:cNvPr id="159" name="直接箭头连接符 158"/>
          <p:cNvCxnSpPr>
            <a:stCxn id="158" idx="2"/>
          </p:cNvCxnSpPr>
          <p:nvPr/>
        </p:nvCxnSpPr>
        <p:spPr>
          <a:xfrm flipH="1">
            <a:off x="8731250" y="4858385"/>
            <a:ext cx="6350" cy="1403350"/>
          </a:xfrm>
          <a:prstGeom prst="straightConnector1">
            <a:avLst/>
          </a:prstGeom>
          <a:ln w="12700">
            <a:solidFill>
              <a:srgbClr val="DB380E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0" name="文本框 159"/>
          <p:cNvSpPr txBox="1"/>
          <p:nvPr/>
        </p:nvSpPr>
        <p:spPr>
          <a:xfrm>
            <a:off x="8343900" y="5586730"/>
            <a:ext cx="987425" cy="25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No signal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1" name="圆角矩形 160"/>
          <p:cNvSpPr/>
          <p:nvPr>
            <p:custDataLst>
              <p:tags r:id="rId56"/>
            </p:custDataLst>
          </p:nvPr>
        </p:nvSpPr>
        <p:spPr>
          <a:xfrm>
            <a:off x="9396730" y="3326765"/>
            <a:ext cx="1962150" cy="462915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B : </a:t>
            </a:r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Physical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2" name="圆角矩形 161"/>
          <p:cNvSpPr/>
          <p:nvPr>
            <p:custDataLst>
              <p:tags r:id="rId57"/>
            </p:custDataLst>
          </p:nvPr>
        </p:nvSpPr>
        <p:spPr>
          <a:xfrm>
            <a:off x="9619615" y="4261485"/>
            <a:ext cx="1962150" cy="462915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C : </a:t>
            </a:r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Cognition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3" name="圆角矩形 162"/>
          <p:cNvSpPr/>
          <p:nvPr>
            <p:custDataLst>
              <p:tags r:id="rId58"/>
            </p:custDataLst>
          </p:nvPr>
        </p:nvSpPr>
        <p:spPr>
          <a:xfrm>
            <a:off x="9932035" y="5123815"/>
            <a:ext cx="1962150" cy="462915"/>
          </a:xfrm>
          <a:prstGeom prst="roundRect">
            <a:avLst>
              <a:gd name="adj" fmla="val 7966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D : </a:t>
            </a:r>
            <a:r>
              <a:rPr lang="en-US" altLang="zh-CN" sz="16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Source</a:t>
            </a:r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</a:t>
            </a:r>
            <a:endParaRPr lang="en-US" altLang="zh-CN" sz="1200">
              <a:solidFill>
                <a:schemeClr val="tx1"/>
              </a:solidFill>
              <a:highlight>
                <a:srgbClr val="C0C0C0"/>
              </a:highlight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64" name="图片 163" descr="齿轮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9463405" y="3397250"/>
            <a:ext cx="310515" cy="310515"/>
          </a:xfrm>
          <a:prstGeom prst="rect">
            <a:avLst/>
          </a:prstGeom>
        </p:spPr>
      </p:pic>
      <p:cxnSp>
        <p:nvCxnSpPr>
          <p:cNvPr id="165" name="肘形连接符 164"/>
          <p:cNvCxnSpPr>
            <a:stCxn id="60" idx="2"/>
            <a:endCxn id="74" idx="0"/>
          </p:cNvCxnSpPr>
          <p:nvPr/>
        </p:nvCxnSpPr>
        <p:spPr>
          <a:xfrm rot="5400000" flipH="1" flipV="1">
            <a:off x="6210300" y="2430145"/>
            <a:ext cx="3079750" cy="3329940"/>
          </a:xfrm>
          <a:prstGeom prst="bentConnector5">
            <a:avLst>
              <a:gd name="adj1" fmla="val -7732"/>
              <a:gd name="adj2" fmla="val 65083"/>
              <a:gd name="adj3" fmla="val 107732"/>
            </a:avLst>
          </a:prstGeom>
          <a:ln w="25400">
            <a:solidFill>
              <a:srgbClr val="DB380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/>
          <p:nvPr/>
        </p:nvCxnSpPr>
        <p:spPr>
          <a:xfrm>
            <a:off x="9855200" y="3018790"/>
            <a:ext cx="6350" cy="307975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61" idx="2"/>
          </p:cNvCxnSpPr>
          <p:nvPr/>
        </p:nvCxnSpPr>
        <p:spPr>
          <a:xfrm flipH="1">
            <a:off x="10375900" y="3789680"/>
            <a:ext cx="1905" cy="467360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10520680" y="5612130"/>
            <a:ext cx="3810" cy="386715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>
            <a:off x="10600690" y="4724400"/>
            <a:ext cx="3810" cy="386715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>
            <a:off x="11169650" y="5612130"/>
            <a:ext cx="3810" cy="386715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/>
        </p:nvCxnSpPr>
        <p:spPr>
          <a:xfrm>
            <a:off x="9773920" y="4765675"/>
            <a:ext cx="635" cy="1201420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/>
        </p:nvCxnSpPr>
        <p:spPr>
          <a:xfrm flipH="1">
            <a:off x="9486900" y="3810000"/>
            <a:ext cx="3810" cy="2121535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/>
        </p:nvCxnSpPr>
        <p:spPr>
          <a:xfrm>
            <a:off x="9293225" y="3035300"/>
            <a:ext cx="7620" cy="2908300"/>
          </a:xfrm>
          <a:prstGeom prst="straightConnector1">
            <a:avLst/>
          </a:prstGeom>
          <a:ln w="28575" cmpd="sng">
            <a:solidFill>
              <a:schemeClr val="tx1">
                <a:lumMod val="50000"/>
                <a:lumOff val="50000"/>
              </a:schemeClr>
            </a:solidFill>
            <a:prstDash val="sysDot"/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" grpId="0"/>
      <p:bldP spid="49" grpId="0" animBg="1"/>
      <p:bldP spid="6" grpId="0" animBg="1"/>
      <p:bldP spid="11" grpId="0"/>
      <p:bldP spid="13" grpId="0" animBg="1"/>
      <p:bldP spid="14" grpId="0"/>
      <p:bldP spid="25" grpId="0" animBg="1"/>
      <p:bldP spid="36" grpId="0"/>
      <p:bldP spid="44" grpId="0" animBg="1"/>
      <p:bldP spid="37" grpId="0"/>
      <p:bldP spid="132" grpId="0" animBg="1"/>
      <p:bldP spid="133" grpId="0"/>
      <p:bldP spid="50" grpId="0" animBg="1"/>
      <p:bldP spid="51" grpId="0" animBg="1"/>
      <p:bldP spid="128" grpId="0" bldLvl="0" animBg="1"/>
      <p:bldP spid="129" grpId="0"/>
      <p:bldP spid="52" grpId="0" bldLvl="0" animBg="1"/>
      <p:bldP spid="53" grpId="0"/>
      <p:bldP spid="54" grpId="0" bldLvl="0" animBg="1"/>
      <p:bldP spid="55" grpId="0" bldLvl="0" animBg="1"/>
      <p:bldP spid="56" grpId="0" bldLvl="0" animBg="1"/>
      <p:bldP spid="57" grpId="0"/>
      <p:bldP spid="58" grpId="0" bldLvl="0" animBg="1"/>
      <p:bldP spid="59" grpId="0"/>
      <p:bldP spid="60" grpId="0" bldLvl="0" animBg="1"/>
      <p:bldP spid="61" grpId="0"/>
      <p:bldP spid="62" grpId="0"/>
      <p:bldP spid="69" grpId="0"/>
      <p:bldP spid="70" grpId="0"/>
      <p:bldP spid="72" grpId="0"/>
      <p:bldP spid="74" grpId="0" animBg="1"/>
      <p:bldP spid="156" grpId="0"/>
      <p:bldP spid="158" grpId="0" animBg="1"/>
      <p:bldP spid="160" grpId="0"/>
      <p:bldP spid="161" grpId="0" animBg="1"/>
      <p:bldP spid="162" grpId="0" animBg="1"/>
      <p:bldP spid="16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21335" y="53086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Evaluation</a:t>
            </a:r>
            <a:endParaRPr lang="en-US" sz="360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294005" y="1557020"/>
            <a:ext cx="11283315" cy="47574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60045" indent="-36004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683C6"/>
              </a:buClr>
              <a:buFont typeface="Wingdings" panose="05000000000000000000" pitchFamily="2" charset="2"/>
              <a:buChar char="Ø"/>
              <a:defRPr sz="2800" b="0" i="0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683C6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RQ1: Bug detection effectiveness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What doc-implementation </a:t>
            </a:r>
            <a:r>
              <a:rPr kumimoji="1" lang="en-US" altLang="zh-CN" i="1" dirty="0" err="1">
                <a:latin typeface="Cambria" panose="02040503050406030204" charset="0"/>
                <a:cs typeface="Cambria" panose="02040503050406030204" charset="0"/>
              </a:rPr>
              <a:t>bugs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can </a:t>
            </a:r>
            <a:r>
              <a:rPr lang="en-US" altLang="zh-CN" dirty="0" err="1">
                <a:latin typeface="Cambria" panose="02040503050406030204" charset="0"/>
                <a:cs typeface="Cambria" panose="02040503050406030204" charset="0"/>
              </a:rPr>
              <a:t>TestVDB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detect in real-world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VDBMSs?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RQ2: Effectiveness of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false positive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 interception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effective is chain-builder + chain-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auditor at  intercepti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ng false positives in TestVDB?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RQ3: Comparing with existing approach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many bugs detected by TestVDB can be found by existing approach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（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VDBFuzz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）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7000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09905" y="55118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 detection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81075" y="3304540"/>
          <a:ext cx="8578215" cy="2016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691"/>
                <a:gridCol w="1536058"/>
                <a:gridCol w="1468120"/>
                <a:gridCol w="1104265"/>
                <a:gridCol w="1701587"/>
                <a:gridCol w="1594460"/>
              </a:tblGrid>
              <a:tr h="43180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Submitted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Confirmed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Fixed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charset="0"/>
                          <a:sym typeface="+mn-ea"/>
                        </a:rPr>
                        <a:t>False Positive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Pending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33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29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12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Times New Roman" panose="02020603050405020304" charset="0"/>
                        </a:rPr>
                        <a:t>3</a:t>
                      </a:r>
                      <a:endParaRPr lang="en-US" sz="12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25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14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9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Times New Roman" panose="02020603050405020304" charset="0"/>
                        </a:rPr>
                        <a:t>2</a:t>
                      </a:r>
                      <a:endParaRPr 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9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24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dirty="0">
                          <a:latin typeface="Times New Roman" panose="02020603050405020304" charset="0"/>
                        </a:rPr>
                        <a:t>1</a:t>
                      </a:r>
                      <a:endParaRPr 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15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82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51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29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latin typeface="Times New Roman" panose="02020603050405020304" charset="0"/>
                        </a:rPr>
                        <a:t>6*</a:t>
                      </a:r>
                      <a:endParaRPr 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L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25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9742170" cy="170751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2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8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bugs were submitted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51 bugs were confirmed as new bugs 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Among 51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confirmed bugs</a:t>
            </a:r>
            <a:r>
              <a:rPr lang="zh-CN" altLang="en-US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29 bugs were fixed</a:t>
            </a:r>
            <a:endParaRPr lang="zh-CN" altLang="en-US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zh-CN" altLang="en-US" sz="2800" b="1" baseline="30000" dirty="0">
              <a:solidFill>
                <a:schemeClr val="tx2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4655" y="6158865"/>
            <a:ext cx="767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Times New Roman" panose="02020603050405020304" charset="0"/>
                <a:sym typeface="+mn-ea"/>
              </a:rPr>
              <a:t>*  Of the 29 historical false positives, the current TestVDB suppresses 23 (79.3%).</a:t>
            </a:r>
            <a:endParaRPr lang="en-US" altLang="zh-CN" dirty="0">
              <a:latin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6278880" y="1894840"/>
            <a:ext cx="3273425" cy="481901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rgbClr val="002060"/>
                </a:solidFill>
                <a:highlight>
                  <a:srgbClr val="C0C0C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Manual Check</a:t>
            </a:r>
            <a:endParaRPr lang="en-US" altLang="zh-CN" dirty="0">
              <a:solidFill>
                <a:srgbClr val="002060"/>
              </a:solidFill>
              <a:highlight>
                <a:srgbClr val="C0C0C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2844165" y="2326640"/>
            <a:ext cx="3273425" cy="39890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>
                <a:solidFill>
                  <a:srgbClr val="002060"/>
                </a:solidFill>
                <a:highlight>
                  <a:srgbClr val="C0C0C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Arial" panose="020B0604020202020204" pitchFamily="34" charset="0"/>
              </a:rPr>
              <a:t>Bug Confirmation</a:t>
            </a:r>
            <a:endParaRPr lang="en-US" altLang="zh-CN" dirty="0">
              <a:solidFill>
                <a:srgbClr val="002060"/>
              </a:solidFill>
              <a:highlight>
                <a:srgbClr val="C0C0C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944245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252710" y="6315710"/>
            <a:ext cx="1324610" cy="3155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32"/>
          <p:cNvSpPr>
            <a:spLocks noGrp="1"/>
          </p:cNvSpPr>
          <p:nvPr/>
        </p:nvSpPr>
        <p:spPr>
          <a:xfrm>
            <a:off x="716915" y="1229360"/>
            <a:ext cx="10852150" cy="947420"/>
          </a:xfrm>
          <a:prstGeom prst="rect">
            <a:avLst/>
          </a:prstGeom>
        </p:spPr>
        <p:txBody>
          <a:bodyPr vert="horz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71 candidates</a:t>
            </a:r>
            <a:r>
              <a:rPr lang="en-US" altLang="zh-CN" sz="1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[1]（44TP[milvus 29, qdrant 7, weaviate 8] + 27FP[milvus 14, qdrant 11, weaviate 2]）</a:t>
            </a:r>
            <a:endParaRPr lang="en-US" altLang="zh-CN" sz="1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0" lvl="1">
              <a:buFont typeface="Wingdings" panose="05000000000000000000" charset="0"/>
              <a:buChar char="p"/>
            </a:pPr>
            <a:endParaRPr lang="en-US" altLang="zh-CN" sz="1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1170" y="6483350"/>
            <a:ext cx="453136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71-”TP + FP” pool for experiment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1335" y="401828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71 candidates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56635" y="276352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47 is_bug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56635" y="520509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24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6" name="肘形连接符 15"/>
          <p:cNvCxnSpPr>
            <a:stCxn id="8" idx="3"/>
            <a:endCxn id="15" idx="1"/>
          </p:cNvCxnSpPr>
          <p:nvPr/>
        </p:nvCxnSpPr>
        <p:spPr>
          <a:xfrm>
            <a:off x="2727325" y="4304665"/>
            <a:ext cx="829310" cy="1186815"/>
          </a:xfrm>
          <a:prstGeom prst="bentConnector3">
            <a:avLst>
              <a:gd name="adj1" fmla="val 50000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8" idx="3"/>
            <a:endCxn id="14" idx="1"/>
          </p:cNvCxnSpPr>
          <p:nvPr/>
        </p:nvCxnSpPr>
        <p:spPr>
          <a:xfrm flipV="1">
            <a:off x="2727325" y="3049905"/>
            <a:ext cx="829310" cy="1254760"/>
          </a:xfrm>
          <a:prstGeom prst="bentConnector3">
            <a:avLst>
              <a:gd name="adj1" fmla="val 50000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7133590" y="2160905"/>
            <a:ext cx="2275205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_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成功检出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133590" y="3373755"/>
            <a:ext cx="2276475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5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_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漏检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2" name="肘形连接符 21"/>
          <p:cNvCxnSpPr>
            <a:stCxn id="14" idx="3"/>
            <a:endCxn id="20" idx="1"/>
          </p:cNvCxnSpPr>
          <p:nvPr/>
        </p:nvCxnSpPr>
        <p:spPr>
          <a:xfrm flipV="1">
            <a:off x="5762625" y="2447290"/>
            <a:ext cx="1370965" cy="602615"/>
          </a:xfrm>
          <a:prstGeom prst="bentConnector3">
            <a:avLst>
              <a:gd name="adj1" fmla="val 50023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4" idx="3"/>
            <a:endCxn id="21" idx="1"/>
          </p:cNvCxnSpPr>
          <p:nvPr/>
        </p:nvCxnSpPr>
        <p:spPr>
          <a:xfrm>
            <a:off x="5762625" y="3049905"/>
            <a:ext cx="1370965" cy="610235"/>
          </a:xfrm>
          <a:prstGeom prst="bentConnector3">
            <a:avLst>
              <a:gd name="adj1" fmla="val 50023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7133590" y="5800725"/>
            <a:ext cx="2275205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_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被误判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133590" y="4587240"/>
            <a:ext cx="2280920" cy="8921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22 not_bug</a:t>
            </a:r>
            <a:b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_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成功拦截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8" name="肘形连接符 27"/>
          <p:cNvCxnSpPr>
            <a:stCxn id="15" idx="3"/>
            <a:endCxn id="24" idx="1"/>
          </p:cNvCxnSpPr>
          <p:nvPr/>
        </p:nvCxnSpPr>
        <p:spPr>
          <a:xfrm>
            <a:off x="5762625" y="5491480"/>
            <a:ext cx="1370965" cy="595630"/>
          </a:xfrm>
          <a:prstGeom prst="bentConnector3">
            <a:avLst>
              <a:gd name="adj1" fmla="val 50023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15" idx="3"/>
            <a:endCxn id="25" idx="1"/>
          </p:cNvCxnSpPr>
          <p:nvPr/>
        </p:nvCxnSpPr>
        <p:spPr>
          <a:xfrm flipV="1">
            <a:off x="5762625" y="5033645"/>
            <a:ext cx="1370965" cy="457835"/>
          </a:xfrm>
          <a:prstGeom prst="bentConnector3">
            <a:avLst>
              <a:gd name="adj1" fmla="val 50023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197485" y="1554480"/>
            <a:ext cx="2694305" cy="481901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rgbClr val="002060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084320" y="1889760"/>
            <a:ext cx="6437630" cy="589915"/>
          </a:xfrm>
          <a:ln w="28575" cmpd="sng">
            <a:solidFill>
              <a:srgbClr val="000000"/>
            </a:solidFill>
            <a:prstDash val="solid"/>
          </a:ln>
        </p:spPr>
        <p:txBody>
          <a:bodyPr>
            <a:normAutofit lnSpcReduction="20000"/>
          </a:bodyPr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Why were they detectable as FPs</a:t>
            </a:r>
            <a:r>
              <a:rPr lang="zh-CN" altLang="en-US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？</a:t>
            </a:r>
            <a:endParaRPr lang="zh-CN" altLang="en-US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</a:t>
            </a: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252710" y="6315710"/>
            <a:ext cx="1324610" cy="3155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98145" y="1668780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judge_is_bug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3075" y="182054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3075" y="303339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5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8145" y="4102735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73075" y="546036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73075" y="424688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22 not_bug</a:t>
            </a:r>
            <a:b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5301615" y="2952750"/>
          <a:ext cx="7611110" cy="3255010"/>
        </p:xfrm>
        <a:graphic>
          <a:graphicData uri="http://schemas.openxmlformats.org/drawingml/2006/table">
            <a:tbl>
              <a:tblPr firstRow="1" bandCol="1">
                <a:tableStyleId>{B2E476ED-E556-45B5-8BDD-68916C002191}</a:tableStyleId>
              </a:tblPr>
              <a:tblGrid>
                <a:gridCol w="2345690"/>
                <a:gridCol w="1733550"/>
              </a:tblGrid>
              <a:tr h="734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Interception evidence source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Correctly intercepted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source </a:t>
                      </a:r>
                      <a:r>
                        <a:rPr lang="en-US" altLang="zh-CN"/>
                        <a:t>code only</a:t>
                      </a:r>
                      <a:endParaRPr lang="en-US" alt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doc only</a:t>
                      </a:r>
                      <a:endParaRPr lang="en-US" altLang="zh-CN" sz="1800"/>
                    </a:p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both 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(doc+source </a:t>
                      </a:r>
                      <a:r>
                        <a:rPr lang="en-US" altLang="zh-CN"/>
                        <a:t>code)</a:t>
                      </a:r>
                      <a:endParaRPr lang="en-US" alt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execution evidence only</a:t>
                      </a:r>
                      <a:endParaRPr lang="zh-CN" altLang="en-US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cxnSp>
        <p:nvCxnSpPr>
          <p:cNvPr id="6" name="肘形连接符 5"/>
          <p:cNvCxnSpPr>
            <a:stCxn id="25" idx="3"/>
            <a:endCxn id="33" idx="1"/>
          </p:cNvCxnSpPr>
          <p:nvPr/>
        </p:nvCxnSpPr>
        <p:spPr>
          <a:xfrm flipV="1">
            <a:off x="2679065" y="2185035"/>
            <a:ext cx="1405255" cy="2348230"/>
          </a:xfrm>
          <a:prstGeom prst="bentConnector3">
            <a:avLst>
              <a:gd name="adj1" fmla="val 43741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263390" y="1820545"/>
            <a:ext cx="6078855" cy="804545"/>
          </a:xfrm>
          <a:ln w="28575" cmpd="sng">
            <a:solidFill>
              <a:srgbClr val="000000"/>
            </a:solidFill>
            <a:prstDash val="solid"/>
          </a:ln>
        </p:spPr>
        <p:txBody>
          <a:bodyPr>
            <a:noAutofit/>
          </a:bodyPr>
          <a:lstStyle/>
          <a:p>
            <a:pPr marL="0" indent="0" algn="ctr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Which stage caused the FPs ?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</a:t>
            </a: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252710" y="6315710"/>
            <a:ext cx="1324610" cy="3155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3497580" y="2990850"/>
          <a:ext cx="8152130" cy="1514475"/>
        </p:xfrm>
        <a:graphic>
          <a:graphicData uri="http://schemas.openxmlformats.org/drawingml/2006/table">
            <a:tbl>
              <a:tblPr firstRow="1" bandRow="1">
                <a:tableStyleId>{49217015-400D-4278-81E5-65789FCF5C13}</a:tableStyleId>
              </a:tblPr>
              <a:tblGrid>
                <a:gridCol w="2028825"/>
                <a:gridCol w="2129155"/>
                <a:gridCol w="1805305"/>
                <a:gridCol w="2188845"/>
              </a:tblGrid>
              <a:tr h="734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mundane_api_semantics(</a:t>
                      </a:r>
                      <a:r>
                        <a:rPr lang="zh-CN" altLang="en-US"/>
                        <a:t>正常语义被当作缺陷</a:t>
                      </a:r>
                      <a:r>
                        <a:rPr lang="en-US" altLang="zh-CN"/>
                        <a:t>)</a:t>
                      </a:r>
                      <a:endParaRPr lang="en-US" alt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approximate_by_design</a:t>
                      </a:r>
                      <a:r>
                        <a:rPr lang="zh-CN" altLang="en-US"/>
                        <a:t>（文档明示无精度承诺）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specification_misread</a:t>
                      </a:r>
                      <a:r>
                        <a:rPr lang="zh-CN" altLang="en-US"/>
                        <a:t>（读错</a:t>
                      </a:r>
                      <a:r>
                        <a:rPr lang="en-US" altLang="zh-CN"/>
                        <a:t>specification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unreproducible</a:t>
                      </a:r>
                      <a:r>
                        <a:rPr lang="zh-CN" altLang="en-US"/>
                        <a:t>（</a:t>
                      </a:r>
                      <a:r>
                        <a:rPr lang="zh-CN" altLang="en-US"/>
                        <a:t>无法复现）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" name="圆角矩形 2"/>
          <p:cNvSpPr/>
          <p:nvPr/>
        </p:nvSpPr>
        <p:spPr>
          <a:xfrm>
            <a:off x="197485" y="1554480"/>
            <a:ext cx="2694305" cy="481901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rgbClr val="002060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8145" y="1668780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judge_is_bug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3075" y="182054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3075" y="303339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5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8145" y="4102735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3075" y="546036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3075" y="424688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22 not_bug</a:t>
            </a:r>
            <a:b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" name="肘形连接符 5"/>
          <p:cNvCxnSpPr>
            <a:stCxn id="11" idx="3"/>
            <a:endCxn id="33" idx="1"/>
          </p:cNvCxnSpPr>
          <p:nvPr/>
        </p:nvCxnSpPr>
        <p:spPr>
          <a:xfrm flipV="1">
            <a:off x="2679065" y="2223135"/>
            <a:ext cx="1584325" cy="2310130"/>
          </a:xfrm>
          <a:prstGeom prst="bentConnector3">
            <a:avLst>
              <a:gd name="adj1" fmla="val 37274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/>
          <p:nvPr>
            <p:custDataLst>
              <p:tags r:id="rId4"/>
            </p:custDataLst>
          </p:nvPr>
        </p:nvGraphicFramePr>
        <p:xfrm>
          <a:off x="3507105" y="4675505"/>
          <a:ext cx="5957570" cy="1524635"/>
        </p:xfrm>
        <a:graphic>
          <a:graphicData uri="http://schemas.openxmlformats.org/drawingml/2006/table">
            <a:tbl>
              <a:tblPr firstRow="1" bandRow="1">
                <a:tableStyleId>{49217015-400D-4278-81E5-65789FCF5C13}</a:tableStyleId>
              </a:tblPr>
              <a:tblGrid>
                <a:gridCol w="2117725"/>
                <a:gridCol w="2019935"/>
                <a:gridCol w="1819910"/>
              </a:tblGrid>
              <a:tr h="760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eventual_consistency</a:t>
                      </a:r>
                      <a:r>
                        <a:rPr lang="zh-CN" altLang="en-US"/>
                        <a:t>（读取发生在传播完成前）</a:t>
                      </a:r>
                      <a:endParaRPr lang="zh-CN" altLang="en-US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request_param_typo</a:t>
                      </a:r>
                      <a:r>
                        <a:rPr lang="zh-CN" altLang="en-US"/>
                        <a:t>（攻击了不存在的参数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script_error</a:t>
                      </a:r>
                      <a:r>
                        <a:rPr lang="zh-CN" altLang="en-US"/>
                        <a:t>（</a:t>
                      </a:r>
                      <a:r>
                        <a:rPr lang="zh-CN" altLang="en-US"/>
                        <a:t>脚本错误）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102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263390" y="1820545"/>
            <a:ext cx="6078855" cy="804545"/>
          </a:xfrm>
          <a:ln w="28575" cmpd="sng">
            <a:solidFill>
              <a:srgbClr val="000000"/>
            </a:solidFill>
            <a:prstDash val="solid"/>
          </a:ln>
        </p:spPr>
        <p:txBody>
          <a:bodyPr>
            <a:noAutofit/>
          </a:bodyPr>
          <a:lstStyle/>
          <a:p>
            <a:pPr marL="0" indent="0" algn="ctr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Why were they misjudged as FP?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</a:t>
            </a: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252710" y="6315710"/>
            <a:ext cx="1324610" cy="3155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4285615" y="3048635"/>
          <a:ext cx="6304280" cy="3160395"/>
        </p:xfrm>
        <a:graphic>
          <a:graphicData uri="http://schemas.openxmlformats.org/drawingml/2006/table">
            <a:tbl>
              <a:tblPr firstRow="1" bandCol="1">
                <a:tableStyleId>{B2E476ED-E556-45B5-8BDD-68916C002191}</a:tableStyleId>
              </a:tblPr>
              <a:tblGrid>
                <a:gridCol w="3016250"/>
                <a:gridCol w="3288030"/>
              </a:tblGrid>
              <a:tr h="734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original log captured no HTTP observations; the bug is a distributed-mode race (100% reproducible only in cluster deployment, our sandbox is standalone) → violation cannot be established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 no documentation </a:t>
                      </a: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information for value-domain semantics (age in [10,5] is syntactically valid; boolean docs are syntax-only); maintainer accepted it as a usability fix, not a documented-contract violation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L>
                      <a:noFill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圆角矩形 2"/>
          <p:cNvSpPr/>
          <p:nvPr/>
        </p:nvSpPr>
        <p:spPr>
          <a:xfrm>
            <a:off x="197485" y="1554480"/>
            <a:ext cx="2694305" cy="481901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rgbClr val="002060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8145" y="1668780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judge_is_bug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3075" y="182054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3075" y="303339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5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8145" y="4102735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3075" y="546036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3075" y="424688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22 not_bug</a:t>
            </a:r>
            <a:b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" name="肘形连接符 5"/>
          <p:cNvCxnSpPr>
            <a:stCxn id="8" idx="3"/>
            <a:endCxn id="33" idx="1"/>
          </p:cNvCxnSpPr>
          <p:nvPr/>
        </p:nvCxnSpPr>
        <p:spPr>
          <a:xfrm flipV="1">
            <a:off x="2679065" y="2223135"/>
            <a:ext cx="1584325" cy="3523615"/>
          </a:xfrm>
          <a:prstGeom prst="bentConnector3">
            <a:avLst>
              <a:gd name="adj1" fmla="val 29699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4263390" y="1820545"/>
            <a:ext cx="6078855" cy="804545"/>
          </a:xfrm>
          <a:ln w="28575" cmpd="sng">
            <a:solidFill>
              <a:srgbClr val="000000"/>
            </a:solidFill>
            <a:prstDash val="solid"/>
          </a:ln>
        </p:spPr>
        <p:txBody>
          <a:bodyPr>
            <a:noAutofit/>
          </a:bodyPr>
          <a:lstStyle/>
          <a:p>
            <a:pPr marL="0" indent="0" algn="ctr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Why were they missed ?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</a:t>
            </a: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252710" y="6315710"/>
            <a:ext cx="1324610" cy="31559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197485" y="1554480"/>
            <a:ext cx="2694305" cy="481901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rgbClr val="002060"/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98145" y="1668780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judge_is_bug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3075" y="182054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42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3075" y="303339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5 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8145" y="4102735"/>
            <a:ext cx="2355850" cy="2066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judge_not_bug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73075" y="5460365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 real_bug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真实缺陷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73075" y="4246880"/>
            <a:ext cx="2205990" cy="57213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22 not_bug</a:t>
            </a:r>
            <a:b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</a:b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真实误报</a:t>
            </a:r>
            <a:r>
              <a:rPr lang="en-US" altLang="zh-CN">
                <a:solidFill>
                  <a:srgbClr val="002060"/>
                </a:solidFill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>
              <a:solidFill>
                <a:srgbClr val="002060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6" name="肘形连接符 5"/>
          <p:cNvCxnSpPr>
            <a:stCxn id="7" idx="3"/>
            <a:endCxn id="33" idx="1"/>
          </p:cNvCxnSpPr>
          <p:nvPr/>
        </p:nvCxnSpPr>
        <p:spPr>
          <a:xfrm flipV="1">
            <a:off x="2679065" y="2223135"/>
            <a:ext cx="1584325" cy="1096645"/>
          </a:xfrm>
          <a:prstGeom prst="bentConnector3">
            <a:avLst>
              <a:gd name="adj1" fmla="val 39679"/>
            </a:avLst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4768850" y="3671570"/>
          <a:ext cx="5067935" cy="1788795"/>
        </p:xfrm>
        <a:graphic>
          <a:graphicData uri="http://schemas.openxmlformats.org/drawingml/2006/table">
            <a:tbl>
              <a:tblPr firstRow="1" bandCol="1">
                <a:tableStyleId>{B2E476ED-E556-45B5-8BDD-68916C002191}</a:tableStyleId>
              </a:tblPr>
              <a:tblGrid>
                <a:gridCol w="2424430"/>
                <a:gridCol w="2643505"/>
              </a:tblGrid>
              <a:tr h="734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Maintainers show inconsistent attitudes toward similar phenomena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no by-design </a:t>
                      </a:r>
                      <a:r>
                        <a:rPr lang="en-US" altLang="zh-CN">
                          <a:solidFill>
                            <a:srgbClr val="002060"/>
                          </a:solidFill>
                        </a:rPr>
                        <a:t>information available</a:t>
                      </a:r>
                      <a:endParaRPr lang="en-US" altLang="zh-CN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</a:t>
            </a: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false positive 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interception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056495" y="6314440"/>
            <a:ext cx="1520825" cy="3543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表 3"/>
          <p:cNvPicPr/>
          <p:nvPr/>
        </p:nvPicPr>
        <p:blipFill>
          <a:blip r:embed="rId5"/>
          <a:stretch>
            <a:fillRect/>
          </a:stretch>
        </p:blipFill>
        <p:spPr>
          <a:xfrm>
            <a:off x="1372870" y="2225675"/>
            <a:ext cx="8151495" cy="4159885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4"/>
            </a:ext>
            <wpswe:webExtensionRef xmlns:wpswe="http://www.wps.cn/officeDocument/2018/webExtension" r:id="rId4"/>
          </a:extLst>
        </p:spPr>
      </p:pic>
      <p:sp>
        <p:nvSpPr>
          <p:cNvPr id="5" name="内容占位符 32"/>
          <p:cNvSpPr>
            <a:spLocks noGrp="1"/>
          </p:cNvSpPr>
          <p:nvPr/>
        </p:nvSpPr>
        <p:spPr>
          <a:xfrm>
            <a:off x="716915" y="12268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71 candidates</a:t>
            </a:r>
            <a:r>
              <a:rPr lang="en-US" altLang="zh-CN" sz="1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[1]（45TP[milvus 29, qdrant 8, weaviate 8] + 26FP[milvus 14, qdrant 10, weaviate 2]）</a:t>
            </a:r>
            <a:endParaRPr lang="en-US" altLang="zh-CN" sz="1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0" lvl="1">
              <a:buFont typeface="Wingdings" panose="05000000000000000000" charset="0"/>
              <a:buChar char="p"/>
            </a:pPr>
            <a:endParaRPr lang="en-US" altLang="zh-CN" sz="1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59645" y="2484120"/>
            <a:ext cx="2006600" cy="2178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precision: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整体判断能力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accuracy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剔除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误报能力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recall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保留真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缺陷能力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1170" y="6483350"/>
            <a:ext cx="453136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71-”TP + FP” pool for experiment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Comparing</a:t>
            </a:r>
            <a:r>
              <a:rPr kumimoji="1" lang="zh-CN" altLang="en-US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with Existing Approach</a:t>
            </a:r>
            <a:endParaRPr kumimoji="1"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102215" y="6314440"/>
            <a:ext cx="1475105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32"/>
          <p:cNvSpPr>
            <a:spLocks noGrp="1"/>
          </p:cNvSpPr>
          <p:nvPr/>
        </p:nvSpPr>
        <p:spPr>
          <a:xfrm>
            <a:off x="589915" y="14427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Investigate whether the 45 TPs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</a:t>
            </a:r>
            <a:r>
              <a:rPr lang="en-US" altLang="zh-CN" sz="2800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can be detected by existing approach(VDBFuzz)</a:t>
            </a:r>
            <a:endParaRPr lang="en-US" altLang="zh-CN" sz="28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lvl="1">
              <a:buFont typeface="Wingdings" panose="05000000000000000000" charset="0"/>
              <a:buChar char="p"/>
            </a:pP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graphicFrame>
        <p:nvGraphicFramePr>
          <p:cNvPr id="7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177925" y="3073400"/>
          <a:ext cx="4695825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695"/>
                <a:gridCol w="1880235"/>
                <a:gridCol w="144589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TestVDB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VDBFuzz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29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45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6401435" y="2762885"/>
            <a:ext cx="4517390" cy="3060065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73825" y="2943225"/>
            <a:ext cx="4462780" cy="313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>
                <a:latin typeface="Times New Roman" panose="02020603050405020304" charset="0"/>
                <a:sym typeface="+mn-ea"/>
              </a:rPr>
              <a:t>  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On Qdrant v1.18.0, TestVDB found a silent-accept bug (#9045: empty vectors accepted via wait=false) ,which later triggers server panic on search,but VDBFuzz missed it—a crash oracle cannot fire on 200 OK. 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  Conversely, on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Qdrant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v1.4.0, TestVDB reached VDBFuzz's divide-by-zero crash (size=2⁶³) by contract reasoning.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cxnSp>
        <p:nvCxnSpPr>
          <p:cNvPr id="13" name="直接箭头连接符 12"/>
          <p:cNvCxnSpPr>
            <a:stCxn id="14" idx="3"/>
            <a:endCxn id="10" idx="1"/>
          </p:cNvCxnSpPr>
          <p:nvPr/>
        </p:nvCxnSpPr>
        <p:spPr>
          <a:xfrm>
            <a:off x="5346700" y="4083050"/>
            <a:ext cx="1054735" cy="21018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84750" y="3883025"/>
            <a:ext cx="361950" cy="40005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实现上：</a:t>
            </a:r>
            <a:r>
              <a:rPr lang="zh-CN" altLang="en-US">
                <a:sym typeface="+mn-ea"/>
              </a:rPr>
              <a:t>在最新版上直接跑对比实验，版本一致耗时一致即可，对比挖掘成果。理想情况下，如能获得</a:t>
            </a:r>
            <a:r>
              <a:rPr lang="en-US" altLang="zh-CN">
                <a:sym typeface="+mn-ea"/>
              </a:rPr>
              <a:t>vdbfuzz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bug list</a:t>
            </a:r>
            <a:r>
              <a:rPr lang="zh-CN" altLang="en-US">
                <a:sym typeface="+mn-ea"/>
              </a:rPr>
              <a:t>，可以再做一下</a:t>
            </a:r>
            <a:r>
              <a:rPr lang="en-US" altLang="zh-CN">
                <a:sym typeface="+mn-ea"/>
              </a:rPr>
              <a:t>testvdb</a:t>
            </a:r>
            <a:r>
              <a:rPr lang="zh-CN" altLang="en-US">
                <a:sym typeface="+mn-ea"/>
              </a:rPr>
              <a:t>挖掘复现尝试或者直接分析？</a:t>
            </a:r>
            <a:endParaRPr lang="zh-CN" altLang="en-US"/>
          </a:p>
          <a:p>
            <a:r>
              <a:rPr lang="zh-CN" altLang="en-US"/>
              <a:t>讲清楚：在最新版上直接跑对比实验，版本一致耗时一致即可，对比</a:t>
            </a:r>
            <a:r>
              <a:rPr lang="zh-CN" altLang="en-US"/>
              <a:t>挖掘成果。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70800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Conclusions </a:t>
            </a:r>
            <a:r>
              <a:rPr lang="en-US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 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370" y="1741805"/>
            <a:ext cx="4434840" cy="243332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605" y="4276090"/>
            <a:ext cx="4424045" cy="223139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635" y="1743710"/>
            <a:ext cx="4438015" cy="243205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370" y="4276090"/>
            <a:ext cx="4435475" cy="2232025"/>
          </a:xfrm>
          <a:prstGeom prst="rect">
            <a:avLst/>
          </a:prstGeom>
          <a:ln w="28575" cmpd="sng">
            <a:solidFill>
              <a:srgbClr val="000000"/>
            </a:solidFill>
            <a:prstDash val="solid"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7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4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5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76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77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78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79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0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8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88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89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90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9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92.xml><?xml version="1.0" encoding="utf-8"?>
<p:tagLst xmlns:p="http://schemas.openxmlformats.org/presentationml/2006/main">
  <p:tag name="KSO_DOCER_RESOURCE_TRACE_INFO" val="{&quot;id&quot;:&quot;50062675&quot;,&quot;origin&quot;:0,&quot;type&quot;:&quot;icons&quot;,&quot;user&quot;:&quot;1619202567&quot;}"/>
</p:tagLst>
</file>

<file path=ppt/tags/tag9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9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0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9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1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2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1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7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1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2.xml><?xml version="1.0" encoding="utf-8"?>
<p:tagLst xmlns:p="http://schemas.openxmlformats.org/presentationml/2006/main">
  <p:tag name="KSO_DOCER_RESOURCE_TRACE_INFO" val="{&quot;id&quot;:&quot;50033282&quot;,&quot;origin&quot;:0,&quot;type&quot;:&quot;icons&quot;,&quot;user&quot;:&quot;1619202567&quot;}"/>
</p:tagLst>
</file>

<file path=ppt/tags/tag12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5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6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7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9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0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2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33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4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5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6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37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38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139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140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2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3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4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5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55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5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5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5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5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6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6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6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68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16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7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7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7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8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84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8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8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8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88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8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1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9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4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19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198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19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0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0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TABLE_ENDDRAG_ORIGIN_RECT" val="869*215"/>
  <p:tag name="TABLE_ENDDRAG_RECT" val="34*206*869*215"/>
</p:tagLst>
</file>

<file path=ppt/tags/tag20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0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0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0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1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4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1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1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1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2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2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2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2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3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3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3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6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3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4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44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4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4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4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4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4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5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5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57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5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5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0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261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262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26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6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6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1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7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3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27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6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7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7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8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5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8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88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28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298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9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0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TABLE_ENDDRAG_ORIGIN_RECT" val="325*264"/>
  <p:tag name="TABLE_ENDDRAG_RECT" val="553*134*325*264"/>
</p:tagLst>
</file>

<file path=ppt/tags/tag303.xml><?xml version="1.0" encoding="utf-8"?>
<p:tagLst xmlns:p="http://schemas.openxmlformats.org/presentationml/2006/main">
  <p:tag name="TABLE_ENDDRAG_ORIGIN_RECT" val="277*294"/>
  <p:tag name="TABLE_ENDDRAG_RECT" val="304*127*277*294"/>
</p:tagLst>
</file>

<file path=ppt/tags/tag304.xml><?xml version="1.0" encoding="utf-8"?>
<p:tagLst xmlns:p="http://schemas.openxmlformats.org/presentationml/2006/main">
  <p:tag name="TABLE_ENDDRAG_ORIGIN_RECT" val="280*338"/>
  <p:tag name="TABLE_ENDDRAG_RECT" val="10*145*280*338"/>
</p:tagLst>
</file>

<file path=ppt/tags/tag30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TABLE_ENDDRAG_ORIGIN_RECT" val="924*454"/>
  <p:tag name="TABLE_ENDDRAG_RECT" val="14*94*924*454"/>
</p:tagLst>
</file>

<file path=ppt/tags/tag30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TABLE_ENDDRAG_ORIGIN_RECT" val="904*399"/>
  <p:tag name="TABLE_ENDDRAG_RECT" val="20*97*904*399"/>
</p:tagLst>
</file>

<file path=ppt/tags/tag31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TABLE_ENDDRAG_ORIGIN_RECT" val="916*384"/>
  <p:tag name="TABLE_ENDDRAG_RECT" val="20*112*916*384"/>
</p:tagLst>
</file>

<file path=ppt/tags/tag31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1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1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1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1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1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1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32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2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2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2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30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3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3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33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334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33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4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42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4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44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1619202567&quot;}"/>
</p:tagLst>
</file>

<file path=ppt/tags/tag34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47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49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2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5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5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5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5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60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6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6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6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6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6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6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69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370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371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37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7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74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75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376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377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378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37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8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81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2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02.5,&quot;left&quot;:53.4,&quot;top&quot;:113.65,&quot;width&quot;:289.7000000000001}"/>
</p:tagLst>
</file>

<file path=ppt/tags/tag383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4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5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6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02.5,&quot;left&quot;:53.4,&quot;top&quot;:113.65,&quot;width&quot;:289.7000000000001}"/>
</p:tagLst>
</file>

<file path=ppt/tags/tag387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8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89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02.5,&quot;left&quot;:53.4,&quot;top&quot;:113.65,&quot;width&quot;:289.7000000000001}"/>
</p:tagLst>
</file>

<file path=ppt/tags/tag390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91.xml><?xml version="1.0" encoding="utf-8"?>
<p:tagLst xmlns:p="http://schemas.openxmlformats.org/presentationml/2006/main">
  <p:tag name="KSO_WM_DIAGRAM_VIRTUALLY_FRAME" val="{&quot;height&quot;:302.5,&quot;left&quot;:53.4,&quot;top&quot;:113.65,&quot;width&quot;:289.7000000000001}"/>
</p:tagLst>
</file>

<file path=ppt/tags/tag392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02.5,&quot;left&quot;:53.4,&quot;top&quot;:113.65,&quot;width&quot;:289.7000000000001}"/>
</p:tagLst>
</file>

<file path=ppt/tags/tag39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9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9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9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9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98.xml><?xml version="1.0" encoding="utf-8"?>
<p:tagLst xmlns:p="http://schemas.openxmlformats.org/presentationml/2006/main">
  <p:tag name="KSO_DOCER_RESOURCE_TRACE_INFO" val="{&quot;id&quot;:&quot;50047996&quot;,&quot;origin&quot;:0,&quot;type&quot;:&quot;icons&quot;,&quot;user&quot;:&quot;1619202567&quot;}"/>
</p:tagLst>
</file>

<file path=ppt/tags/tag39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0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40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02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0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0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40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0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07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08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09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23.65,&quot;left&quot;:43.35,&quot;top&quot;:113.65,&quot;width&quot;:299.7500000000001}"/>
</p:tagLst>
</file>

<file path=ppt/tags/tag410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1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2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3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23.65,&quot;left&quot;:43.35,&quot;top&quot;:113.65,&quot;width&quot;:299.7500000000001}"/>
</p:tagLst>
</file>

<file path=ppt/tags/tag414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5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6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23.65,&quot;left&quot;:43.35,&quot;top&quot;:113.65,&quot;width&quot;:299.7500000000001}"/>
</p:tagLst>
</file>

<file path=ppt/tags/tag417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8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19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23.65,&quot;left&quot;:43.35,&quot;top&quot;:113.65,&quot;width&quot;:299.7500000000001}"/>
</p:tagLst>
</file>

<file path=ppt/tags/tag42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421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2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423.xml><?xml version="1.0" encoding="utf-8"?>
<p:tagLst xmlns:p="http://schemas.openxmlformats.org/presentationml/2006/main">
  <p:tag name="KSO_DOCER_RESOURCE_TRACE_INFO" val="{&quot;id&quot;:&quot;50047996&quot;,&quot;origin&quot;:0,&quot;type&quot;:&quot;icons&quot;,&quot;user&quot;:&quot;1619202567&quot;}"/>
</p:tagLst>
</file>

<file path=ppt/tags/tag42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2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2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2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2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2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3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3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32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3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4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5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6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7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8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39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4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4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442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43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44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45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446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47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48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49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5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451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52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453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5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5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5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45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58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59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0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23.65,&quot;left&quot;:12.85,&quot;top&quot;:113.65,&quot;width&quot;:330.2500000000001}"/>
</p:tagLst>
</file>

<file path=ppt/tags/tag461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2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3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4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23.65,&quot;left&quot;:12.85,&quot;top&quot;:113.65,&quot;width&quot;:330.2500000000001}"/>
</p:tagLst>
</file>

<file path=ppt/tags/tag465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6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7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23.65,&quot;left&quot;:12.85,&quot;top&quot;:113.65,&quot;width&quot;:330.2500000000001}"/>
</p:tagLst>
</file>

<file path=ppt/tags/tag468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69.xml><?xml version="1.0" encoding="utf-8"?>
<p:tagLst xmlns:p="http://schemas.openxmlformats.org/presentationml/2006/main">
  <p:tag name="KSO_WM_DIAGRAM_VIRTUALLY_FRAME" val="{&quot;height&quot;:323.65,&quot;left&quot;:12.85,&quot;top&quot;:113.65,&quot;width&quot;:330.2500000000001}"/>
</p:tagLst>
</file>

<file path=ppt/tags/tag470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23.65,&quot;left&quot;:12.85,&quot;top&quot;:113.65,&quot;width&quot;:330.2500000000001}"/>
</p:tagLst>
</file>

<file path=ppt/tags/tag47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472.xml><?xml version="1.0" encoding="utf-8"?>
<p:tagLst xmlns:p="http://schemas.openxmlformats.org/presentationml/2006/main">
  <p:tag name="KSO_DOCER_RESOURCE_TRACE_INFO" val="{&quot;id&quot;:&quot;50047996&quot;,&quot;origin&quot;:0,&quot;type&quot;:&quot;icons&quot;,&quot;user&quot;:&quot;1619202567&quot;}"/>
</p:tagLst>
</file>

<file path=ppt/tags/tag47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474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47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7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7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478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79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0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1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2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3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4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5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6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7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88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489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90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91.xml><?xml version="1.0" encoding="utf-8"?>
<p:tagLst xmlns:p="http://schemas.openxmlformats.org/presentationml/2006/main">
  <p:tag name="KSO_WM_DIAGRAM_VIRTUALLY_FRAME" val="{&quot;height&quot;:323.65,&quot;left&quot;:43.35,&quot;top&quot;:113.65,&quot;width&quot;:299.7500000000001}"/>
</p:tagLst>
</file>

<file path=ppt/tags/tag49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TABLE_ENDDRAG_ORIGIN_RECT" val="781*180"/>
  <p:tag name="TABLE_ENDDRAG_RECT" val="77*263*781*180"/>
</p:tagLst>
</file>

<file path=ppt/tags/tag49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TABLE_ENDDRAG_ORIGIN_RECT" val="599*256"/>
  <p:tag name="TABLE_ENDDRAG_RECT" val="275*235*599*256"/>
</p:tagLst>
</file>

<file path=ppt/tags/tag50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TABLE_ENDDRAG_ORIGIN_RECT" val="599*256"/>
  <p:tag name="TABLE_ENDDRAG_RECT" val="275*235*599*256"/>
</p:tagLst>
</file>

<file path=ppt/tags/tag505.xml><?xml version="1.0" encoding="utf-8"?>
<p:tagLst xmlns:p="http://schemas.openxmlformats.org/presentationml/2006/main">
  <p:tag name="TABLE_ENDDRAG_ORIGIN_RECT" val="469*120"/>
  <p:tag name="TABLE_ENDDRAG_RECT" val="276*368*469*120"/>
</p:tagLst>
</file>

<file path=ppt/tags/tag50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TABLE_ENDDRAG_ORIGIN_RECT" val="496*248"/>
  <p:tag name="TABLE_ENDDRAG_RECT" val="337*240*496*248"/>
</p:tagLst>
</file>

<file path=ppt/tags/tag50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TABLE_ENDDRAG_ORIGIN_RECT" val="399*140"/>
  <p:tag name="TABLE_ENDDRAG_RECT" val="335*294*399*140"/>
</p:tagLst>
</file>

<file path=ppt/tags/tag51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TABLE_ENDDRAG_ORIGIN_RECT" val="369*157"/>
  <p:tag name="TABLE_ENDDRAG_RECT" val="142*260*369*157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COMMONDATA" val="eyJoZGlkIjoiYWRmMjU0ZGJjNThjMWRkNGI2YjEwOTgxZjEzMjY5MGMifQ=="/>
  <p:tag name="resource_record_key" val="{&quot;10&quot;:[50059293,50063269,50062581,21558137,4714250,3633003,50001843,21540673,50062345,50059295,50063645,20265191,50045270,21566523,50059455,50059176,50033282,21549659,4523423,50044699,20280902,50062569,21570797,3637342,3644795,50026891,50047996,50062675],&quot;29&quot;:[50053052,50053008,50052445,50000090,50053017,50049407,50053044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package" Target="../embeddings/Workbook1.xlsx"/></Relationships>
</file>

<file path=ppt/webExtensions/webExtension1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,&quot;系列2&quot;,&quot;系列3&quot;],&quot;data&quot;:[[&quot;&quot;,&quot;类别1&quot;,&quot;类别2&quot;,&quot;类别3&quot;],[&quot;系列1&quot;,43,65,52],[&quot;系列2&quot;,80,116,91],[&quot;系列3&quot;,71,91,65]],&quot;series&quot;:[&quot;&quot;,&quot;类别1&quot;,&quot;类别2&quot;,&quot;类别3&quot;]}"/>
    <wpswe:property key="extStyle" value="{&quot;series&quot;:[{&quot;barGap&quot;:&quot;28%&quot;,&quot;hoverAnimation&quot;:true,&quot;itemStyle&quot;:{&quot;borderColor&quot;:&quot;#ffffff&quot;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025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0.1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1,&quot;min&quot;:0,&quot;seriesColorType&quot;:&quot;linear-gradient&quot;,&quot;seriesThemeColor&quot;:[&quot;#3F7BF9&quot;,&quot;#31BE61&quot;,&quot;#FFC800&quot;,&quot;#FF920C&quot;,&quot;#FF5F69&quot;,&quot;#B16EFB&quot;],&quot;title&quot;:{&quot;position&quot;:&quot;topCenter&quot;,&quot;show&quot;:true,&quot;text&quot;:&quot;Single-LLM vs voting vs chain_builder+auditor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1,&quot;min_origin&quot;:0,&quot;interval_origin&quot;:0.1,&quot;seriesDir&quot;:&quot;col&quot;,&quot;divideType&quot;:&quot;leftTop&quot;,&quot;selectedSeriesData&quot;:[0,1,2],&quot;selectedCategoryData&quot;:[0,1,2],&quot;deletedSeriesData&quot;:[],&quot;orderSeriesData&quot;:[0,1,2]}"/>
    <wpswe:property key="themeOverride" value="false"/>
    <wpswe:property key="type" value="2d-column"/>
    <wpswe:property key="useSourceFormat" value="true"/>
  </wpswe:properties>
  <wpswe:watchingCache>
    <wpswe:linkPath>C:/Users/11428/AppData/Local/Temp/wps.suKJNB/Workbook1.xlsx</wpswe:linkPath>
    <wpswe:dataRange>
      <wpswe:key>webchart</wpswe:key>
      <wpswe:context>Sheet1!$A$1:$D$4</wpswe:context>
      <wpswe:count>4</wpswe:count>
      <wpswe:cells wpswe:idx="0">
        <wpswe:count>4</wpswe:count>
        <wpswe:formatCode>General</wpswe:formatCode>
        <wpswe:cell wpswe:idx="1" wpswe:formatCode="General">
          <wpswe:value>precision</wpswe:value>
        </wpswe:cell>
        <wpswe:cell wpswe:idx="2" wpswe:formatCode="General">
          <wpswe:value>accuracy</wpswe:value>
        </wpswe:cell>
        <wpswe:cell wpswe:idx="3" wpswe:formatCode="General">
          <wpswe:value>recall</wpswe:value>
        </wpswe:cell>
      </wpswe:cells>
      <wpswe:cells wpswe:idx="1">
        <wpswe:count>4</wpswe:count>
        <wpswe:formatCode>General</wpswe:formatCode>
        <wpswe:cell wpswe:idx="0">
          <wpswe:value>Single-LLM self-judgment</wpswe:value>
        </wpswe:cell>
        <wpswe:cell wpswe:idx="1">
          <wpswe:value>0.885</wpswe:value>
        </wpswe:cell>
        <wpswe:cell wpswe:idx="2">
          <wpswe:value>0.662</wpswe:value>
        </wpswe:cell>
        <wpswe:cell wpswe:idx="3">
          <wpswe:value>0.523</wpswe:value>
        </wpswe:cell>
      </wpswe:cells>
      <wpswe:cells wpswe:idx="2">
        <wpswe:count>4</wpswe:count>
        <wpswe:formatCode>General</wpswe:formatCode>
        <wpswe:cell wpswe:idx="0">
          <wpswe:value>Multi-perspective voting</wpswe:value>
        </wpswe:cell>
        <wpswe:cell wpswe:idx="1">
          <wpswe:value>0.913</wpswe:value>
        </wpswe:cell>
        <wpswe:cell wpswe:idx="2">
          <wpswe:value>0.648</wpswe:value>
        </wpswe:cell>
        <wpswe:cell wpswe:idx="3">
          <wpswe:value>0.477</wpswe:value>
        </wpswe:cell>
      </wpswe:cells>
      <wpswe:cells wpswe:idx="3">
        <wpswe:count>4</wpswe:count>
        <wpswe:formatCode>General</wpswe:formatCode>
        <wpswe:cell wpswe:idx="0">
          <wpswe:value>chain_builder+chain_auditor</wpswe:value>
        </wpswe:cell>
        <wpswe:cell wpswe:idx="1">
          <wpswe:value>0.881</wpswe:value>
        </wpswe:cell>
        <wpswe:cell wpswe:idx="2">
          <wpswe:value>0.831</wpswe:value>
        </wpswe:cell>
        <wpswe:cell wpswe:idx="3">
          <wpswe:value>0.841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28192</Words>
  <Application>WPS 演示</Application>
  <PresentationFormat>宽屏</PresentationFormat>
  <Paragraphs>1936</Paragraphs>
  <Slides>47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2" baseType="lpstr">
      <vt:lpstr>Arial</vt:lpstr>
      <vt:lpstr>SimSun</vt:lpstr>
      <vt:lpstr>Wingdings</vt:lpstr>
      <vt:lpstr>Wingdings</vt:lpstr>
      <vt:lpstr>Cambria</vt:lpstr>
      <vt:lpstr>Microsoft YaHei</vt:lpstr>
      <vt:lpstr>Comic Sans MS</vt:lpstr>
      <vt:lpstr>FangSong</vt:lpstr>
      <vt:lpstr>Segoe UI</vt:lpstr>
      <vt:lpstr>Times New Roman</vt:lpstr>
      <vt:lpstr>Linux Libertine O</vt:lpstr>
      <vt:lpstr>MV Boli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Ratio</cp:lastModifiedBy>
  <cp:revision>2475</cp:revision>
  <dcterms:created xsi:type="dcterms:W3CDTF">2023-11-29T06:50:00Z</dcterms:created>
  <dcterms:modified xsi:type="dcterms:W3CDTF">2026-09-05T11:55:10Z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/>
  </property>
</Properties>
</file>