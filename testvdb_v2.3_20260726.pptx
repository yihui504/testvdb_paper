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36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1.svg" ContentType="image/svg+xml"/>
  <Override PartName="/ppt/media/image103.svg" ContentType="image/svg+xml"/>
  <Override PartName="/ppt/media/image105.svg" ContentType="image/svg+xml"/>
  <Override PartName="/ppt/media/image107.svg" ContentType="image/svg+xml"/>
  <Override PartName="/ppt/media/image110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7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7.svg" ContentType="image/svg+xml"/>
  <Override PartName="/ppt/media/image69.svg" ContentType="image/svg+xml"/>
  <Override PartName="/ppt/media/image71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7.svg" ContentType="image/svg+xml"/>
  <Override PartName="/ppt/media/image79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5.svg" ContentType="image/svg+xml"/>
  <Override PartName="/ppt/media/image97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webExtension1.xml" ContentType="application/vnd.wps-officedocument.webExtension+xml"/>
  <Override PartName="/ppt/webExtensions/webExtension2.xml" ContentType="application/vnd.wps-officedocument.webExtension+xml"/>
  <Override PartName="/ppt/webExtensions/webExtension3.xml" ContentType="application/vnd.wps-officedocument.webExtension+xml"/>
  <Override PartName="/ppt/webExtensions/webExtension4.xml" ContentType="application/vnd.wps-officedocument.webExtension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7" r:id="rId3"/>
    <p:sldId id="1671" r:id="rId5"/>
    <p:sldId id="1603" r:id="rId6"/>
    <p:sldId id="1682" r:id="rId7"/>
    <p:sldId id="1661" r:id="rId8"/>
    <p:sldId id="1683" r:id="rId9"/>
    <p:sldId id="1684" r:id="rId10"/>
    <p:sldId id="1672" r:id="rId11"/>
    <p:sldId id="1674" r:id="rId12"/>
    <p:sldId id="1640" r:id="rId13"/>
    <p:sldId id="1675" r:id="rId14"/>
    <p:sldId id="1676" r:id="rId15"/>
    <p:sldId id="1677" r:id="rId16"/>
    <p:sldId id="1605" r:id="rId17"/>
    <p:sldId id="1607" r:id="rId18"/>
    <p:sldId id="1663" r:id="rId19"/>
    <p:sldId id="1665" r:id="rId20"/>
    <p:sldId id="1668" r:id="rId21"/>
    <p:sldId id="1667" r:id="rId22"/>
    <p:sldId id="1669" r:id="rId23"/>
    <p:sldId id="1606" r:id="rId24"/>
    <p:sldId id="1641" r:id="rId25"/>
    <p:sldId id="1678" r:id="rId26"/>
    <p:sldId id="1680" r:id="rId27"/>
    <p:sldId id="1670" r:id="rId28"/>
    <p:sldId id="1681" r:id="rId29"/>
    <p:sldId id="1634" r:id="rId30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" id="{fef4b316-ed89-441a-9814-4960af9721f8}">
          <p14:sldIdLst>
            <p14:sldId id="257"/>
          </p14:sldIdLst>
        </p14:section>
        <p14:section name="Background" id="{cf5c8e1d-d87d-45d8-80f4-930d29565566}">
          <p14:sldIdLst>
            <p14:sldId id="1671"/>
            <p14:sldId id="1603"/>
            <p14:sldId id="1682"/>
            <p14:sldId id="1661"/>
            <p14:sldId id="1683"/>
            <p14:sldId id="1684"/>
          </p14:sldIdLst>
        </p14:section>
        <p14:section name="Approach" id="{7421b5e1-6752-4fbb-8f76-9a7a7a7d95ac}">
          <p14:sldIdLst>
            <p14:sldId id="1672"/>
            <p14:sldId id="1674"/>
            <p14:sldId id="1640"/>
            <p14:sldId id="1675"/>
            <p14:sldId id="1676"/>
            <p14:sldId id="1677"/>
            <p14:sldId id="1605"/>
            <p14:sldId id="1607"/>
            <p14:sldId id="1663"/>
            <p14:sldId id="1665"/>
            <p14:sldId id="1668"/>
            <p14:sldId id="1667"/>
            <p14:sldId id="1669"/>
            <p14:sldId id="1606"/>
            <p14:sldId id="1641"/>
          </p14:sldIdLst>
        </p14:section>
        <p14:section name="Evaluation" id="{8825967f-3848-405a-8b67-39765f8fb698}">
          <p14:sldIdLst>
            <p14:sldId id="1678"/>
            <p14:sldId id="1680"/>
            <p14:sldId id="1670"/>
            <p14:sldId id="1681"/>
            <p14:sldId id="16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729" userDrawn="1">
          <p15:clr>
            <a:srgbClr val="A4A3A4"/>
          </p15:clr>
        </p15:guide>
        <p15:guide id="2" pos="3763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epin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A94"/>
    <a:srgbClr val="000000"/>
    <a:srgbClr val="0062DD"/>
    <a:srgbClr val="006DE2"/>
    <a:srgbClr val="FF0000"/>
    <a:srgbClr val="AA5D07"/>
    <a:srgbClr val="D2DDF5"/>
    <a:srgbClr val="00ABD7"/>
    <a:srgbClr val="DB380E"/>
    <a:srgbClr val="ED6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7825" autoAdjust="0"/>
  </p:normalViewPr>
  <p:slideViewPr>
    <p:cSldViewPr snapToGrid="0" showGuides="1">
      <p:cViewPr varScale="1">
        <p:scale>
          <a:sx n="91" d="100"/>
          <a:sy n="91" d="100"/>
        </p:scale>
        <p:origin x="432" y="57"/>
      </p:cViewPr>
      <p:guideLst>
        <p:guide orient="horz" pos="2729"/>
        <p:guide pos="3763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gs" Target="tags/tag366.xml"/><Relationship Id="rId37" Type="http://schemas.openxmlformats.org/officeDocument/2006/relationships/customXml" Target="../customXml/item1.xml"/><Relationship Id="rId36" Type="http://schemas.openxmlformats.org/officeDocument/2006/relationships/customXmlProps" Target="../customXml/itemProps365.xml"/><Relationship Id="rId35" Type="http://schemas.openxmlformats.org/officeDocument/2006/relationships/commentAuthors" Target="commentAuthors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64.xml"/><Relationship Id="rId7" Type="http://schemas.openxmlformats.org/officeDocument/2006/relationships/image" Target="../media/image6.png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0" Type="http://schemas.openxmlformats.org/officeDocument/2006/relationships/notesSlide" Target="../notesSlides/notesSlide2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15.svg"/><Relationship Id="rId7" Type="http://schemas.openxmlformats.org/officeDocument/2006/relationships/image" Target="../media/image14.png"/><Relationship Id="rId6" Type="http://schemas.openxmlformats.org/officeDocument/2006/relationships/tags" Target="../tags/tag74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82.xml"/><Relationship Id="rId3" Type="http://schemas.openxmlformats.org/officeDocument/2006/relationships/tags" Target="../tags/tag73.xml"/><Relationship Id="rId29" Type="http://schemas.openxmlformats.org/officeDocument/2006/relationships/image" Target="../media/image29.svg"/><Relationship Id="rId28" Type="http://schemas.openxmlformats.org/officeDocument/2006/relationships/image" Target="../media/image28.png"/><Relationship Id="rId27" Type="http://schemas.openxmlformats.org/officeDocument/2006/relationships/tags" Target="../tags/tag81.xml"/><Relationship Id="rId26" Type="http://schemas.openxmlformats.org/officeDocument/2006/relationships/image" Target="../media/image27.svg"/><Relationship Id="rId25" Type="http://schemas.openxmlformats.org/officeDocument/2006/relationships/image" Target="../media/image26.png"/><Relationship Id="rId24" Type="http://schemas.openxmlformats.org/officeDocument/2006/relationships/tags" Target="../tags/tag80.xml"/><Relationship Id="rId23" Type="http://schemas.openxmlformats.org/officeDocument/2006/relationships/image" Target="../media/image25.svg"/><Relationship Id="rId22" Type="http://schemas.openxmlformats.org/officeDocument/2006/relationships/image" Target="../media/image24.png"/><Relationship Id="rId21" Type="http://schemas.openxmlformats.org/officeDocument/2006/relationships/tags" Target="../tags/tag79.xml"/><Relationship Id="rId20" Type="http://schemas.openxmlformats.org/officeDocument/2006/relationships/image" Target="../media/image23.svg"/><Relationship Id="rId2" Type="http://schemas.openxmlformats.org/officeDocument/2006/relationships/tags" Target="../tags/tag72.xml"/><Relationship Id="rId19" Type="http://schemas.openxmlformats.org/officeDocument/2006/relationships/image" Target="../media/image22.png"/><Relationship Id="rId18" Type="http://schemas.openxmlformats.org/officeDocument/2006/relationships/tags" Target="../tags/tag78.xml"/><Relationship Id="rId17" Type="http://schemas.openxmlformats.org/officeDocument/2006/relationships/image" Target="../media/image21.svg"/><Relationship Id="rId16" Type="http://schemas.openxmlformats.org/officeDocument/2006/relationships/image" Target="../media/image20.png"/><Relationship Id="rId15" Type="http://schemas.openxmlformats.org/officeDocument/2006/relationships/tags" Target="../tags/tag77.xml"/><Relationship Id="rId14" Type="http://schemas.openxmlformats.org/officeDocument/2006/relationships/image" Target="../media/image19.svg"/><Relationship Id="rId13" Type="http://schemas.openxmlformats.org/officeDocument/2006/relationships/image" Target="../media/image18.png"/><Relationship Id="rId12" Type="http://schemas.openxmlformats.org/officeDocument/2006/relationships/tags" Target="../tags/tag76.xml"/><Relationship Id="rId11" Type="http://schemas.openxmlformats.org/officeDocument/2006/relationships/image" Target="../media/image17.svg"/><Relationship Id="rId10" Type="http://schemas.openxmlformats.org/officeDocument/2006/relationships/image" Target="../media/image16.png"/><Relationship Id="rId1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image" Target="../media/image13.svg"/><Relationship Id="rId4" Type="http://schemas.openxmlformats.org/officeDocument/2006/relationships/image" Target="../media/image12.png"/><Relationship Id="rId3" Type="http://schemas.openxmlformats.org/officeDocument/2006/relationships/tags" Target="../tags/tag85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35.svg"/><Relationship Id="rId2" Type="http://schemas.openxmlformats.org/officeDocument/2006/relationships/tags" Target="../tags/tag84.xml"/><Relationship Id="rId19" Type="http://schemas.openxmlformats.org/officeDocument/2006/relationships/image" Target="../media/image34.png"/><Relationship Id="rId18" Type="http://schemas.openxmlformats.org/officeDocument/2006/relationships/tags" Target="../tags/tag92.xml"/><Relationship Id="rId17" Type="http://schemas.openxmlformats.org/officeDocument/2006/relationships/image" Target="../media/image23.svg"/><Relationship Id="rId16" Type="http://schemas.openxmlformats.org/officeDocument/2006/relationships/image" Target="../media/image22.png"/><Relationship Id="rId15" Type="http://schemas.openxmlformats.org/officeDocument/2006/relationships/tags" Target="../tags/tag91.xml"/><Relationship Id="rId14" Type="http://schemas.openxmlformats.org/officeDocument/2006/relationships/tags" Target="../tags/tag90.xml"/><Relationship Id="rId13" Type="http://schemas.openxmlformats.org/officeDocument/2006/relationships/tags" Target="../tags/tag89.xml"/><Relationship Id="rId12" Type="http://schemas.openxmlformats.org/officeDocument/2006/relationships/image" Target="../media/image33.svg"/><Relationship Id="rId11" Type="http://schemas.openxmlformats.org/officeDocument/2006/relationships/image" Target="../media/image32.png"/><Relationship Id="rId10" Type="http://schemas.openxmlformats.org/officeDocument/2006/relationships/tags" Target="../tags/tag88.xml"/><Relationship Id="rId1" Type="http://schemas.openxmlformats.org/officeDocument/2006/relationships/tags" Target="../tags/tag83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7" Type="http://schemas.openxmlformats.org/officeDocument/2006/relationships/notesSlide" Target="../notesSlides/notesSlide8.x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21.svg"/><Relationship Id="rId34" Type="http://schemas.openxmlformats.org/officeDocument/2006/relationships/image" Target="../media/image20.png"/><Relationship Id="rId33" Type="http://schemas.openxmlformats.org/officeDocument/2006/relationships/tags" Target="../tags/tag117.xml"/><Relationship Id="rId32" Type="http://schemas.openxmlformats.org/officeDocument/2006/relationships/tags" Target="../tags/tag116.xml"/><Relationship Id="rId31" Type="http://schemas.openxmlformats.org/officeDocument/2006/relationships/tags" Target="../tags/tag115.xml"/><Relationship Id="rId30" Type="http://schemas.openxmlformats.org/officeDocument/2006/relationships/tags" Target="../tags/tag114.xml"/><Relationship Id="rId3" Type="http://schemas.openxmlformats.org/officeDocument/2006/relationships/tags" Target="../tags/tag95.xml"/><Relationship Id="rId29" Type="http://schemas.openxmlformats.org/officeDocument/2006/relationships/tags" Target="../tags/tag113.xml"/><Relationship Id="rId28" Type="http://schemas.openxmlformats.org/officeDocument/2006/relationships/image" Target="../media/image23.svg"/><Relationship Id="rId27" Type="http://schemas.openxmlformats.org/officeDocument/2006/relationships/image" Target="../media/image22.png"/><Relationship Id="rId26" Type="http://schemas.openxmlformats.org/officeDocument/2006/relationships/tags" Target="../tags/tag112.xml"/><Relationship Id="rId25" Type="http://schemas.openxmlformats.org/officeDocument/2006/relationships/tags" Target="../tags/tag111.xml"/><Relationship Id="rId24" Type="http://schemas.openxmlformats.org/officeDocument/2006/relationships/tags" Target="../tags/tag110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tags" Target="../tags/tag109.xml"/><Relationship Id="rId20" Type="http://schemas.openxmlformats.org/officeDocument/2006/relationships/tags" Target="../tags/tag108.xml"/><Relationship Id="rId2" Type="http://schemas.openxmlformats.org/officeDocument/2006/relationships/tags" Target="../tags/tag94.xml"/><Relationship Id="rId19" Type="http://schemas.openxmlformats.org/officeDocument/2006/relationships/tags" Target="../tags/tag107.xml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image" Target="../media/image39.svg"/><Relationship Id="rId15" Type="http://schemas.openxmlformats.org/officeDocument/2006/relationships/image" Target="../media/image38.png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tags" Target="../tags/tag9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image" Target="../media/image31.svg"/><Relationship Id="rId7" Type="http://schemas.openxmlformats.org/officeDocument/2006/relationships/image" Target="../media/image30.png"/><Relationship Id="rId6" Type="http://schemas.openxmlformats.org/officeDocument/2006/relationships/tags" Target="../tags/tag121.xml"/><Relationship Id="rId52" Type="http://schemas.openxmlformats.org/officeDocument/2006/relationships/notesSlide" Target="../notesSlides/notesSlide9.xml"/><Relationship Id="rId51" Type="http://schemas.openxmlformats.org/officeDocument/2006/relationships/slideLayout" Target="../slideLayouts/slideLayout2.xml"/><Relationship Id="rId50" Type="http://schemas.openxmlformats.org/officeDocument/2006/relationships/tags" Target="../tags/tag143.xml"/><Relationship Id="rId5" Type="http://schemas.openxmlformats.org/officeDocument/2006/relationships/image" Target="../media/image13.svg"/><Relationship Id="rId49" Type="http://schemas.openxmlformats.org/officeDocument/2006/relationships/tags" Target="../tags/tag142.xml"/><Relationship Id="rId48" Type="http://schemas.openxmlformats.org/officeDocument/2006/relationships/tags" Target="../tags/tag141.xml"/><Relationship Id="rId47" Type="http://schemas.openxmlformats.org/officeDocument/2006/relationships/image" Target="../media/image29.svg"/><Relationship Id="rId46" Type="http://schemas.openxmlformats.org/officeDocument/2006/relationships/image" Target="../media/image48.png"/><Relationship Id="rId45" Type="http://schemas.openxmlformats.org/officeDocument/2006/relationships/tags" Target="../tags/tag140.xml"/><Relationship Id="rId44" Type="http://schemas.openxmlformats.org/officeDocument/2006/relationships/image" Target="../media/image27.svg"/><Relationship Id="rId43" Type="http://schemas.openxmlformats.org/officeDocument/2006/relationships/image" Target="../media/image47.png"/><Relationship Id="rId42" Type="http://schemas.openxmlformats.org/officeDocument/2006/relationships/tags" Target="../tags/tag139.xml"/><Relationship Id="rId41" Type="http://schemas.openxmlformats.org/officeDocument/2006/relationships/image" Target="../media/image25.svg"/><Relationship Id="rId40" Type="http://schemas.openxmlformats.org/officeDocument/2006/relationships/image" Target="../media/image46.png"/><Relationship Id="rId4" Type="http://schemas.openxmlformats.org/officeDocument/2006/relationships/image" Target="../media/image12.png"/><Relationship Id="rId39" Type="http://schemas.openxmlformats.org/officeDocument/2006/relationships/tags" Target="../tags/tag138.xml"/><Relationship Id="rId38" Type="http://schemas.openxmlformats.org/officeDocument/2006/relationships/image" Target="../media/image23.svg"/><Relationship Id="rId37" Type="http://schemas.openxmlformats.org/officeDocument/2006/relationships/image" Target="../media/image22.png"/><Relationship Id="rId36" Type="http://schemas.openxmlformats.org/officeDocument/2006/relationships/tags" Target="../tags/tag137.xml"/><Relationship Id="rId35" Type="http://schemas.openxmlformats.org/officeDocument/2006/relationships/image" Target="../media/image21.svg"/><Relationship Id="rId34" Type="http://schemas.openxmlformats.org/officeDocument/2006/relationships/image" Target="../media/image20.png"/><Relationship Id="rId33" Type="http://schemas.openxmlformats.org/officeDocument/2006/relationships/tags" Target="../tags/tag136.xml"/><Relationship Id="rId32" Type="http://schemas.openxmlformats.org/officeDocument/2006/relationships/tags" Target="../tags/tag135.xml"/><Relationship Id="rId31" Type="http://schemas.openxmlformats.org/officeDocument/2006/relationships/tags" Target="../tags/tag134.xml"/><Relationship Id="rId30" Type="http://schemas.openxmlformats.org/officeDocument/2006/relationships/tags" Target="../tags/tag133.xml"/><Relationship Id="rId3" Type="http://schemas.openxmlformats.org/officeDocument/2006/relationships/tags" Target="../tags/tag120.xml"/><Relationship Id="rId29" Type="http://schemas.openxmlformats.org/officeDocument/2006/relationships/tags" Target="../tags/tag132.xml"/><Relationship Id="rId28" Type="http://schemas.openxmlformats.org/officeDocument/2006/relationships/image" Target="../media/image19.svg"/><Relationship Id="rId27" Type="http://schemas.openxmlformats.org/officeDocument/2006/relationships/image" Target="../media/image18.png"/><Relationship Id="rId26" Type="http://schemas.openxmlformats.org/officeDocument/2006/relationships/tags" Target="../tags/tag131.xml"/><Relationship Id="rId25" Type="http://schemas.openxmlformats.org/officeDocument/2006/relationships/image" Target="../media/image17.svg"/><Relationship Id="rId24" Type="http://schemas.openxmlformats.org/officeDocument/2006/relationships/image" Target="../media/image45.png"/><Relationship Id="rId23" Type="http://schemas.openxmlformats.org/officeDocument/2006/relationships/tags" Target="../tags/tag130.xml"/><Relationship Id="rId22" Type="http://schemas.openxmlformats.org/officeDocument/2006/relationships/image" Target="../media/image15.svg"/><Relationship Id="rId21" Type="http://schemas.openxmlformats.org/officeDocument/2006/relationships/image" Target="../media/image44.png"/><Relationship Id="rId20" Type="http://schemas.openxmlformats.org/officeDocument/2006/relationships/tags" Target="../tags/tag129.xml"/><Relationship Id="rId2" Type="http://schemas.openxmlformats.org/officeDocument/2006/relationships/tags" Target="../tags/tag119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image" Target="../media/image33.svg"/><Relationship Id="rId15" Type="http://schemas.openxmlformats.org/officeDocument/2006/relationships/image" Target="../media/image32.png"/><Relationship Id="rId14" Type="http://schemas.openxmlformats.org/officeDocument/2006/relationships/tags" Target="../tags/tag125.xml"/><Relationship Id="rId13" Type="http://schemas.openxmlformats.org/officeDocument/2006/relationships/tags" Target="../tags/tag124.xml"/><Relationship Id="rId12" Type="http://schemas.openxmlformats.org/officeDocument/2006/relationships/tags" Target="../tags/tag123.xml"/><Relationship Id="rId11" Type="http://schemas.openxmlformats.org/officeDocument/2006/relationships/image" Target="../media/image43.svg"/><Relationship Id="rId10" Type="http://schemas.openxmlformats.org/officeDocument/2006/relationships/image" Target="../media/image42.png"/><Relationship Id="rId1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image" Target="../media/image49.svg"/><Relationship Id="rId5" Type="http://schemas.openxmlformats.org/officeDocument/2006/relationships/image" Target="../media/image36.png"/><Relationship Id="rId4" Type="http://schemas.openxmlformats.org/officeDocument/2006/relationships/tags" Target="../tags/tag147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5" Type="http://schemas.openxmlformats.org/officeDocument/2006/relationships/notesSlide" Target="../notesSlides/notesSlide10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52.png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tags" Target="../tags/tag151.xml"/><Relationship Id="rId1" Type="http://schemas.openxmlformats.org/officeDocument/2006/relationships/tags" Target="../tags/tag14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image" Target="../media/image53.svg"/><Relationship Id="rId6" Type="http://schemas.openxmlformats.org/officeDocument/2006/relationships/image" Target="../media/image38.png"/><Relationship Id="rId5" Type="http://schemas.openxmlformats.org/officeDocument/2006/relationships/tags" Target="../tags/tag156.xml"/><Relationship Id="rId4" Type="http://schemas.openxmlformats.org/officeDocument/2006/relationships/tags" Target="../tags/tag155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4" Type="http://schemas.openxmlformats.org/officeDocument/2006/relationships/notesSlide" Target="../notesSlides/notesSlide11.xml"/><Relationship Id="rId13" Type="http://schemas.openxmlformats.org/officeDocument/2006/relationships/slideLayout" Target="../slideLayouts/slideLayout2.xml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tags" Target="../tags/tag159.xml"/><Relationship Id="rId1" Type="http://schemas.openxmlformats.org/officeDocument/2006/relationships/tags" Target="../tags/tag15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image" Target="../media/image39.svg"/><Relationship Id="rId6" Type="http://schemas.openxmlformats.org/officeDocument/2006/relationships/image" Target="../media/image38.png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9" Type="http://schemas.openxmlformats.org/officeDocument/2006/relationships/notesSlide" Target="../notesSlides/notesSlide12.xml"/><Relationship Id="rId18" Type="http://schemas.openxmlformats.org/officeDocument/2006/relationships/slideLayout" Target="../slideLayouts/slideLayout2.xml"/><Relationship Id="rId17" Type="http://schemas.openxmlformats.org/officeDocument/2006/relationships/image" Target="../media/image29.svg"/><Relationship Id="rId16" Type="http://schemas.openxmlformats.org/officeDocument/2006/relationships/image" Target="../media/image48.png"/><Relationship Id="rId15" Type="http://schemas.openxmlformats.org/officeDocument/2006/relationships/tags" Target="../tags/tag168.xml"/><Relationship Id="rId14" Type="http://schemas.openxmlformats.org/officeDocument/2006/relationships/image" Target="../media/image17.svg"/><Relationship Id="rId13" Type="http://schemas.openxmlformats.org/officeDocument/2006/relationships/image" Target="../media/image45.png"/><Relationship Id="rId12" Type="http://schemas.openxmlformats.org/officeDocument/2006/relationships/tags" Target="../tags/tag167.xml"/><Relationship Id="rId11" Type="http://schemas.openxmlformats.org/officeDocument/2006/relationships/image" Target="../media/image15.svg"/><Relationship Id="rId10" Type="http://schemas.openxmlformats.org/officeDocument/2006/relationships/image" Target="../media/image44.png"/><Relationship Id="rId1" Type="http://schemas.openxmlformats.org/officeDocument/2006/relationships/tags" Target="../tags/tag16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55.svg"/><Relationship Id="rId8" Type="http://schemas.openxmlformats.org/officeDocument/2006/relationships/image" Target="../media/image16.png"/><Relationship Id="rId7" Type="http://schemas.openxmlformats.org/officeDocument/2006/relationships/tags" Target="../tags/tag173.xml"/><Relationship Id="rId6" Type="http://schemas.openxmlformats.org/officeDocument/2006/relationships/image" Target="../media/image54.svg"/><Relationship Id="rId5" Type="http://schemas.openxmlformats.org/officeDocument/2006/relationships/image" Target="../media/image14.png"/><Relationship Id="rId4" Type="http://schemas.openxmlformats.org/officeDocument/2006/relationships/tags" Target="../tags/tag172.xml"/><Relationship Id="rId31" Type="http://schemas.openxmlformats.org/officeDocument/2006/relationships/notesSlide" Target="../notesSlides/notesSlide13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71.xml"/><Relationship Id="rId29" Type="http://schemas.openxmlformats.org/officeDocument/2006/relationships/image" Target="../media/image23.svg"/><Relationship Id="rId28" Type="http://schemas.openxmlformats.org/officeDocument/2006/relationships/image" Target="../media/image22.png"/><Relationship Id="rId27" Type="http://schemas.openxmlformats.org/officeDocument/2006/relationships/tags" Target="../tags/tag181.xml"/><Relationship Id="rId26" Type="http://schemas.openxmlformats.org/officeDocument/2006/relationships/image" Target="../media/image27.svg"/><Relationship Id="rId25" Type="http://schemas.openxmlformats.org/officeDocument/2006/relationships/image" Target="../media/image47.png"/><Relationship Id="rId24" Type="http://schemas.openxmlformats.org/officeDocument/2006/relationships/tags" Target="../tags/tag180.xml"/><Relationship Id="rId23" Type="http://schemas.openxmlformats.org/officeDocument/2006/relationships/image" Target="../media/image25.svg"/><Relationship Id="rId22" Type="http://schemas.openxmlformats.org/officeDocument/2006/relationships/image" Target="../media/image46.png"/><Relationship Id="rId21" Type="http://schemas.openxmlformats.org/officeDocument/2006/relationships/tags" Target="../tags/tag179.xml"/><Relationship Id="rId20" Type="http://schemas.openxmlformats.org/officeDocument/2006/relationships/image" Target="../media/image21.svg"/><Relationship Id="rId2" Type="http://schemas.openxmlformats.org/officeDocument/2006/relationships/tags" Target="../tags/tag170.xml"/><Relationship Id="rId19" Type="http://schemas.openxmlformats.org/officeDocument/2006/relationships/image" Target="../media/image20.png"/><Relationship Id="rId18" Type="http://schemas.openxmlformats.org/officeDocument/2006/relationships/tags" Target="../tags/tag178.xml"/><Relationship Id="rId17" Type="http://schemas.openxmlformats.org/officeDocument/2006/relationships/image" Target="../media/image51.svg"/><Relationship Id="rId16" Type="http://schemas.openxmlformats.org/officeDocument/2006/relationships/image" Target="../media/image50.png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image" Target="../media/image57.svg"/><Relationship Id="rId11" Type="http://schemas.openxmlformats.org/officeDocument/2006/relationships/image" Target="../media/image56.png"/><Relationship Id="rId10" Type="http://schemas.openxmlformats.org/officeDocument/2006/relationships/tags" Target="../tags/tag174.xml"/><Relationship Id="rId1" Type="http://schemas.openxmlformats.org/officeDocument/2006/relationships/tags" Target="../tags/tag1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image" Target="../media/image49.svg"/><Relationship Id="rId4" Type="http://schemas.openxmlformats.org/officeDocument/2006/relationships/image" Target="../media/image36.png"/><Relationship Id="rId38" Type="http://schemas.openxmlformats.org/officeDocument/2006/relationships/notesSlide" Target="../notesSlides/notesSlide14.xml"/><Relationship Id="rId37" Type="http://schemas.openxmlformats.org/officeDocument/2006/relationships/slideLayout" Target="../slideLayouts/slideLayout2.xml"/><Relationship Id="rId36" Type="http://schemas.openxmlformats.org/officeDocument/2006/relationships/tags" Target="../tags/tag203.xml"/><Relationship Id="rId35" Type="http://schemas.openxmlformats.org/officeDocument/2006/relationships/image" Target="../media/image64.svg"/><Relationship Id="rId34" Type="http://schemas.openxmlformats.org/officeDocument/2006/relationships/image" Target="../media/image63.png"/><Relationship Id="rId33" Type="http://schemas.openxmlformats.org/officeDocument/2006/relationships/tags" Target="../tags/tag202.xml"/><Relationship Id="rId32" Type="http://schemas.openxmlformats.org/officeDocument/2006/relationships/image" Target="../media/image62.svg"/><Relationship Id="rId31" Type="http://schemas.openxmlformats.org/officeDocument/2006/relationships/image" Target="../media/image61.png"/><Relationship Id="rId30" Type="http://schemas.openxmlformats.org/officeDocument/2006/relationships/tags" Target="../tags/tag201.xml"/><Relationship Id="rId3" Type="http://schemas.openxmlformats.org/officeDocument/2006/relationships/tags" Target="../tags/tag184.xml"/><Relationship Id="rId29" Type="http://schemas.openxmlformats.org/officeDocument/2006/relationships/tags" Target="../tags/tag200.xml"/><Relationship Id="rId28" Type="http://schemas.openxmlformats.org/officeDocument/2006/relationships/tags" Target="../tags/tag199.xml"/><Relationship Id="rId27" Type="http://schemas.openxmlformats.org/officeDocument/2006/relationships/tags" Target="../tags/tag198.xml"/><Relationship Id="rId26" Type="http://schemas.openxmlformats.org/officeDocument/2006/relationships/image" Target="../media/image60.svg"/><Relationship Id="rId25" Type="http://schemas.openxmlformats.org/officeDocument/2006/relationships/image" Target="../media/image59.png"/><Relationship Id="rId24" Type="http://schemas.openxmlformats.org/officeDocument/2006/relationships/tags" Target="../tags/tag197.xml"/><Relationship Id="rId23" Type="http://schemas.openxmlformats.org/officeDocument/2006/relationships/tags" Target="../tags/tag196.xml"/><Relationship Id="rId22" Type="http://schemas.openxmlformats.org/officeDocument/2006/relationships/tags" Target="../tags/tag195.xml"/><Relationship Id="rId21" Type="http://schemas.openxmlformats.org/officeDocument/2006/relationships/image" Target="../media/image58.svg"/><Relationship Id="rId20" Type="http://schemas.openxmlformats.org/officeDocument/2006/relationships/image" Target="../media/image40.png"/><Relationship Id="rId2" Type="http://schemas.openxmlformats.org/officeDocument/2006/relationships/tags" Target="../tags/tag183.xml"/><Relationship Id="rId19" Type="http://schemas.openxmlformats.org/officeDocument/2006/relationships/tags" Target="../tags/tag194.xml"/><Relationship Id="rId18" Type="http://schemas.openxmlformats.org/officeDocument/2006/relationships/tags" Target="../tags/tag193.xml"/><Relationship Id="rId17" Type="http://schemas.openxmlformats.org/officeDocument/2006/relationships/tags" Target="../tags/tag192.xml"/><Relationship Id="rId16" Type="http://schemas.openxmlformats.org/officeDocument/2006/relationships/image" Target="../media/image53.svg"/><Relationship Id="rId15" Type="http://schemas.openxmlformats.org/officeDocument/2006/relationships/image" Target="../media/image38.png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image" Target="../media/image51.svg"/><Relationship Id="rId10" Type="http://schemas.openxmlformats.org/officeDocument/2006/relationships/image" Target="../media/image50.png"/><Relationship Id="rId1" Type="http://schemas.openxmlformats.org/officeDocument/2006/relationships/tags" Target="../tags/tag18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10.xml"/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image" Target="../media/image49.svg"/><Relationship Id="rId5" Type="http://schemas.openxmlformats.org/officeDocument/2006/relationships/image" Target="../media/image36.png"/><Relationship Id="rId4" Type="http://schemas.openxmlformats.org/officeDocument/2006/relationships/tags" Target="../tags/tag207.xml"/><Relationship Id="rId3" Type="http://schemas.openxmlformats.org/officeDocument/2006/relationships/tags" Target="../tags/tag206.xml"/><Relationship Id="rId2" Type="http://schemas.openxmlformats.org/officeDocument/2006/relationships/tags" Target="../tags/tag205.xml"/><Relationship Id="rId18" Type="http://schemas.openxmlformats.org/officeDocument/2006/relationships/notesSlide" Target="../notesSlides/notesSlide1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213.xml"/><Relationship Id="rId15" Type="http://schemas.openxmlformats.org/officeDocument/2006/relationships/image" Target="../media/image60.svg"/><Relationship Id="rId14" Type="http://schemas.openxmlformats.org/officeDocument/2006/relationships/image" Target="../media/image65.png"/><Relationship Id="rId13" Type="http://schemas.openxmlformats.org/officeDocument/2006/relationships/tags" Target="../tags/tag212.xml"/><Relationship Id="rId12" Type="http://schemas.openxmlformats.org/officeDocument/2006/relationships/image" Target="../media/image51.svg"/><Relationship Id="rId11" Type="http://schemas.openxmlformats.org/officeDocument/2006/relationships/image" Target="../media/image50.png"/><Relationship Id="rId10" Type="http://schemas.openxmlformats.org/officeDocument/2006/relationships/tags" Target="../tags/tag211.xml"/><Relationship Id="rId1" Type="http://schemas.openxmlformats.org/officeDocument/2006/relationships/tags" Target="../tags/tag204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20.xml"/><Relationship Id="rId8" Type="http://schemas.openxmlformats.org/officeDocument/2006/relationships/tags" Target="../tags/tag219.xml"/><Relationship Id="rId7" Type="http://schemas.openxmlformats.org/officeDocument/2006/relationships/tags" Target="../tags/tag218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tags" Target="../tags/tag217.xml"/><Relationship Id="rId3" Type="http://schemas.openxmlformats.org/officeDocument/2006/relationships/tags" Target="../tags/tag216.xml"/><Relationship Id="rId21" Type="http://schemas.openxmlformats.org/officeDocument/2006/relationships/notesSlide" Target="../notesSlides/notesSlide16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15.xml"/><Relationship Id="rId19" Type="http://schemas.openxmlformats.org/officeDocument/2006/relationships/image" Target="../media/image71.svg"/><Relationship Id="rId18" Type="http://schemas.openxmlformats.org/officeDocument/2006/relationships/image" Target="../media/image70.png"/><Relationship Id="rId17" Type="http://schemas.openxmlformats.org/officeDocument/2006/relationships/tags" Target="../tags/tag224.xml"/><Relationship Id="rId16" Type="http://schemas.openxmlformats.org/officeDocument/2006/relationships/tags" Target="../tags/tag223.xml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tags" Target="../tags/tag222.xml"/><Relationship Id="rId12" Type="http://schemas.openxmlformats.org/officeDocument/2006/relationships/image" Target="../media/image67.svg"/><Relationship Id="rId11" Type="http://schemas.openxmlformats.org/officeDocument/2006/relationships/image" Target="../media/image66.png"/><Relationship Id="rId10" Type="http://schemas.openxmlformats.org/officeDocument/2006/relationships/tags" Target="../tags/tag221.xml"/><Relationship Id="rId1" Type="http://schemas.openxmlformats.org/officeDocument/2006/relationships/tags" Target="../tags/tag214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image" Target="../media/image72.svg"/><Relationship Id="rId5" Type="http://schemas.openxmlformats.org/officeDocument/2006/relationships/image" Target="../media/image36.png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1" Type="http://schemas.openxmlformats.org/officeDocument/2006/relationships/notesSlide" Target="../notesSlides/notesSlide17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226.xml"/><Relationship Id="rId19" Type="http://schemas.openxmlformats.org/officeDocument/2006/relationships/image" Target="../media/image77.svg"/><Relationship Id="rId18" Type="http://schemas.openxmlformats.org/officeDocument/2006/relationships/image" Target="../media/image70.png"/><Relationship Id="rId17" Type="http://schemas.openxmlformats.org/officeDocument/2006/relationships/tags" Target="../tags/tag235.xml"/><Relationship Id="rId16" Type="http://schemas.openxmlformats.org/officeDocument/2006/relationships/tags" Target="../tags/tag234.xml"/><Relationship Id="rId15" Type="http://schemas.openxmlformats.org/officeDocument/2006/relationships/image" Target="../media/image76.svg"/><Relationship Id="rId14" Type="http://schemas.openxmlformats.org/officeDocument/2006/relationships/image" Target="../media/image75.png"/><Relationship Id="rId13" Type="http://schemas.openxmlformats.org/officeDocument/2006/relationships/tags" Target="../tags/tag233.xml"/><Relationship Id="rId12" Type="http://schemas.openxmlformats.org/officeDocument/2006/relationships/image" Target="../media/image74.svg"/><Relationship Id="rId11" Type="http://schemas.openxmlformats.org/officeDocument/2006/relationships/image" Target="../media/image73.png"/><Relationship Id="rId10" Type="http://schemas.openxmlformats.org/officeDocument/2006/relationships/tags" Target="../tags/tag232.xml"/><Relationship Id="rId1" Type="http://schemas.openxmlformats.org/officeDocument/2006/relationships/tags" Target="../tags/tag22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42.xml"/><Relationship Id="rId8" Type="http://schemas.openxmlformats.org/officeDocument/2006/relationships/tags" Target="../tags/tag241.xml"/><Relationship Id="rId7" Type="http://schemas.openxmlformats.org/officeDocument/2006/relationships/image" Target="../media/image37.svg"/><Relationship Id="rId6" Type="http://schemas.openxmlformats.org/officeDocument/2006/relationships/image" Target="../media/image36.png"/><Relationship Id="rId5" Type="http://schemas.openxmlformats.org/officeDocument/2006/relationships/tags" Target="../tags/tag240.xml"/><Relationship Id="rId43" Type="http://schemas.openxmlformats.org/officeDocument/2006/relationships/notesSlide" Target="../notesSlides/notesSlide18.xml"/><Relationship Id="rId42" Type="http://schemas.openxmlformats.org/officeDocument/2006/relationships/slideLayout" Target="../slideLayouts/slideLayout2.xml"/><Relationship Id="rId41" Type="http://schemas.openxmlformats.org/officeDocument/2006/relationships/image" Target="../media/image80.svg"/><Relationship Id="rId40" Type="http://schemas.openxmlformats.org/officeDocument/2006/relationships/image" Target="../media/image63.png"/><Relationship Id="rId4" Type="http://schemas.openxmlformats.org/officeDocument/2006/relationships/tags" Target="../tags/tag239.xml"/><Relationship Id="rId39" Type="http://schemas.openxmlformats.org/officeDocument/2006/relationships/tags" Target="../tags/tag262.xml"/><Relationship Id="rId38" Type="http://schemas.openxmlformats.org/officeDocument/2006/relationships/tags" Target="../tags/tag261.xml"/><Relationship Id="rId37" Type="http://schemas.openxmlformats.org/officeDocument/2006/relationships/tags" Target="../tags/tag260.xml"/><Relationship Id="rId36" Type="http://schemas.openxmlformats.org/officeDocument/2006/relationships/tags" Target="../tags/tag259.xml"/><Relationship Id="rId35" Type="http://schemas.openxmlformats.org/officeDocument/2006/relationships/tags" Target="../tags/tag258.xml"/><Relationship Id="rId34" Type="http://schemas.openxmlformats.org/officeDocument/2006/relationships/image" Target="../media/image79.svg"/><Relationship Id="rId33" Type="http://schemas.openxmlformats.org/officeDocument/2006/relationships/image" Target="../media/image78.png"/><Relationship Id="rId32" Type="http://schemas.openxmlformats.org/officeDocument/2006/relationships/tags" Target="../tags/tag257.xml"/><Relationship Id="rId31" Type="http://schemas.openxmlformats.org/officeDocument/2006/relationships/tags" Target="../tags/tag256.xml"/><Relationship Id="rId30" Type="http://schemas.openxmlformats.org/officeDocument/2006/relationships/tags" Target="../tags/tag255.xml"/><Relationship Id="rId3" Type="http://schemas.openxmlformats.org/officeDocument/2006/relationships/tags" Target="../tags/tag238.xml"/><Relationship Id="rId29" Type="http://schemas.openxmlformats.org/officeDocument/2006/relationships/tags" Target="../tags/tag254.xml"/><Relationship Id="rId28" Type="http://schemas.openxmlformats.org/officeDocument/2006/relationships/image" Target="../media/image69.svg"/><Relationship Id="rId27" Type="http://schemas.openxmlformats.org/officeDocument/2006/relationships/image" Target="../media/image75.png"/><Relationship Id="rId26" Type="http://schemas.openxmlformats.org/officeDocument/2006/relationships/tags" Target="../tags/tag253.xml"/><Relationship Id="rId25" Type="http://schemas.openxmlformats.org/officeDocument/2006/relationships/tags" Target="../tags/tag252.xml"/><Relationship Id="rId24" Type="http://schemas.openxmlformats.org/officeDocument/2006/relationships/tags" Target="../tags/tag251.xml"/><Relationship Id="rId23" Type="http://schemas.openxmlformats.org/officeDocument/2006/relationships/image" Target="../media/image41.svg"/><Relationship Id="rId22" Type="http://schemas.openxmlformats.org/officeDocument/2006/relationships/image" Target="../media/image40.png"/><Relationship Id="rId21" Type="http://schemas.openxmlformats.org/officeDocument/2006/relationships/tags" Target="../tags/tag250.xml"/><Relationship Id="rId20" Type="http://schemas.openxmlformats.org/officeDocument/2006/relationships/tags" Target="../tags/tag249.xml"/><Relationship Id="rId2" Type="http://schemas.openxmlformats.org/officeDocument/2006/relationships/tags" Target="../tags/tag237.xml"/><Relationship Id="rId19" Type="http://schemas.openxmlformats.org/officeDocument/2006/relationships/tags" Target="../tags/tag248.xml"/><Relationship Id="rId18" Type="http://schemas.openxmlformats.org/officeDocument/2006/relationships/image" Target="../media/image39.svg"/><Relationship Id="rId17" Type="http://schemas.openxmlformats.org/officeDocument/2006/relationships/image" Target="../media/image38.png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image" Target="../media/image67.svg"/><Relationship Id="rId12" Type="http://schemas.openxmlformats.org/officeDocument/2006/relationships/image" Target="../media/image66.png"/><Relationship Id="rId11" Type="http://schemas.openxmlformats.org/officeDocument/2006/relationships/tags" Target="../tags/tag244.xml"/><Relationship Id="rId10" Type="http://schemas.openxmlformats.org/officeDocument/2006/relationships/tags" Target="../tags/tag243.xml"/><Relationship Id="rId1" Type="http://schemas.openxmlformats.org/officeDocument/2006/relationships/tags" Target="../tags/tag236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image" Target="../media/image49.svg"/><Relationship Id="rId6" Type="http://schemas.openxmlformats.org/officeDocument/2006/relationships/image" Target="../media/image36.png"/><Relationship Id="rId5" Type="http://schemas.openxmlformats.org/officeDocument/2006/relationships/tags" Target="../tags/tag267.xml"/><Relationship Id="rId45" Type="http://schemas.openxmlformats.org/officeDocument/2006/relationships/notesSlide" Target="../notesSlides/notesSlide19.xml"/><Relationship Id="rId44" Type="http://schemas.openxmlformats.org/officeDocument/2006/relationships/slideLayout" Target="../slideLayouts/slideLayout2.xml"/><Relationship Id="rId43" Type="http://schemas.openxmlformats.org/officeDocument/2006/relationships/tags" Target="../tags/tag290.xml"/><Relationship Id="rId42" Type="http://schemas.openxmlformats.org/officeDocument/2006/relationships/tags" Target="../tags/tag289.xml"/><Relationship Id="rId41" Type="http://schemas.openxmlformats.org/officeDocument/2006/relationships/tags" Target="../tags/tag288.xml"/><Relationship Id="rId40" Type="http://schemas.openxmlformats.org/officeDocument/2006/relationships/tags" Target="../tags/tag287.xml"/><Relationship Id="rId4" Type="http://schemas.openxmlformats.org/officeDocument/2006/relationships/tags" Target="../tags/tag266.xml"/><Relationship Id="rId39" Type="http://schemas.openxmlformats.org/officeDocument/2006/relationships/image" Target="../media/image82.svg"/><Relationship Id="rId38" Type="http://schemas.openxmlformats.org/officeDocument/2006/relationships/tags" Target="../tags/tag286.xml"/><Relationship Id="rId37" Type="http://schemas.openxmlformats.org/officeDocument/2006/relationships/image" Target="../media/image81.svg"/><Relationship Id="rId36" Type="http://schemas.openxmlformats.org/officeDocument/2006/relationships/image" Target="../media/image78.png"/><Relationship Id="rId35" Type="http://schemas.openxmlformats.org/officeDocument/2006/relationships/tags" Target="../tags/tag285.xml"/><Relationship Id="rId34" Type="http://schemas.openxmlformats.org/officeDocument/2006/relationships/image" Target="../media/image62.svg"/><Relationship Id="rId33" Type="http://schemas.openxmlformats.org/officeDocument/2006/relationships/image" Target="../media/image61.png"/><Relationship Id="rId32" Type="http://schemas.openxmlformats.org/officeDocument/2006/relationships/tags" Target="../tags/tag284.xml"/><Relationship Id="rId31" Type="http://schemas.openxmlformats.org/officeDocument/2006/relationships/tags" Target="../tags/tag283.xml"/><Relationship Id="rId30" Type="http://schemas.openxmlformats.org/officeDocument/2006/relationships/tags" Target="../tags/tag282.xml"/><Relationship Id="rId3" Type="http://schemas.openxmlformats.org/officeDocument/2006/relationships/tags" Target="../tags/tag265.xml"/><Relationship Id="rId29" Type="http://schemas.openxmlformats.org/officeDocument/2006/relationships/tags" Target="../tags/tag281.xml"/><Relationship Id="rId28" Type="http://schemas.openxmlformats.org/officeDocument/2006/relationships/image" Target="../media/image60.svg"/><Relationship Id="rId27" Type="http://schemas.openxmlformats.org/officeDocument/2006/relationships/image" Target="../media/image65.png"/><Relationship Id="rId26" Type="http://schemas.openxmlformats.org/officeDocument/2006/relationships/tags" Target="../tags/tag280.xml"/><Relationship Id="rId25" Type="http://schemas.openxmlformats.org/officeDocument/2006/relationships/tags" Target="../tags/tag279.xml"/><Relationship Id="rId24" Type="http://schemas.openxmlformats.org/officeDocument/2006/relationships/tags" Target="../tags/tag278.xml"/><Relationship Id="rId23" Type="http://schemas.openxmlformats.org/officeDocument/2006/relationships/image" Target="../media/image58.svg"/><Relationship Id="rId22" Type="http://schemas.openxmlformats.org/officeDocument/2006/relationships/image" Target="../media/image40.png"/><Relationship Id="rId21" Type="http://schemas.openxmlformats.org/officeDocument/2006/relationships/tags" Target="../tags/tag277.xml"/><Relationship Id="rId20" Type="http://schemas.openxmlformats.org/officeDocument/2006/relationships/tags" Target="../tags/tag276.xml"/><Relationship Id="rId2" Type="http://schemas.openxmlformats.org/officeDocument/2006/relationships/tags" Target="../tags/tag264.xml"/><Relationship Id="rId19" Type="http://schemas.openxmlformats.org/officeDocument/2006/relationships/tags" Target="../tags/tag275.xml"/><Relationship Id="rId18" Type="http://schemas.openxmlformats.org/officeDocument/2006/relationships/image" Target="../media/image53.svg"/><Relationship Id="rId17" Type="http://schemas.openxmlformats.org/officeDocument/2006/relationships/image" Target="../media/image38.png"/><Relationship Id="rId16" Type="http://schemas.openxmlformats.org/officeDocument/2006/relationships/tags" Target="../tags/tag274.xml"/><Relationship Id="rId15" Type="http://schemas.openxmlformats.org/officeDocument/2006/relationships/tags" Target="../tags/tag273.xml"/><Relationship Id="rId14" Type="http://schemas.openxmlformats.org/officeDocument/2006/relationships/tags" Target="../tags/tag272.xml"/><Relationship Id="rId13" Type="http://schemas.openxmlformats.org/officeDocument/2006/relationships/image" Target="../media/image51.svg"/><Relationship Id="rId12" Type="http://schemas.openxmlformats.org/officeDocument/2006/relationships/image" Target="../media/image50.png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3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92.xml"/><Relationship Id="rId7" Type="http://schemas.openxmlformats.org/officeDocument/2006/relationships/image" Target="../media/image84.png"/><Relationship Id="rId6" Type="http://www.wps.cn/officeDocument/2018/webExtension" Target="../webExtensions/webExtension2.xml" TargetMode="External"/><Relationship Id="rId5" Type="http://www.wps.cn/officeDocument/2018/webExtension" Target="../webExtensions/webExtension2.xml"/><Relationship Id="rId4" Type="http://schemas.openxmlformats.org/officeDocument/2006/relationships/image" Target="../media/image83.png"/><Relationship Id="rId3" Type="http://www.wps.cn/officeDocument/2018/webExtension" Target="../webExtensions/webExtension1.xml" TargetMode="External"/><Relationship Id="rId2" Type="http://www.wps.cn/officeDocument/2018/webExtension" Target="../webExtensions/webExtension1.xml"/><Relationship Id="rId10" Type="http://schemas.openxmlformats.org/officeDocument/2006/relationships/notesSlide" Target="../notesSlides/notesSlide20.xml"/><Relationship Id="rId1" Type="http://schemas.openxmlformats.org/officeDocument/2006/relationships/tags" Target="../tags/tag29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1" Type="http://schemas.openxmlformats.org/officeDocument/2006/relationships/notesSlide" Target="../notesSlides/notesSlide21.xml"/><Relationship Id="rId50" Type="http://schemas.openxmlformats.org/officeDocument/2006/relationships/slideLayout" Target="../slideLayouts/slideLayout2.xml"/><Relationship Id="rId5" Type="http://schemas.openxmlformats.org/officeDocument/2006/relationships/image" Target="../media/image86.svg"/><Relationship Id="rId49" Type="http://schemas.openxmlformats.org/officeDocument/2006/relationships/tags" Target="../tags/tag319.xml"/><Relationship Id="rId48" Type="http://schemas.openxmlformats.org/officeDocument/2006/relationships/image" Target="../media/image99.png"/><Relationship Id="rId47" Type="http://www.wps.cn/officeDocument/2018/webExtension" Target="../webExtensions/webExtension3.xml" TargetMode="External"/><Relationship Id="rId46" Type="http://www.wps.cn/officeDocument/2018/webExtension" Target="../webExtensions/webExtension3.xml"/><Relationship Id="rId45" Type="http://schemas.openxmlformats.org/officeDocument/2006/relationships/image" Target="../media/image98.svg"/><Relationship Id="rId44" Type="http://schemas.openxmlformats.org/officeDocument/2006/relationships/tags" Target="../tags/tag318.xml"/><Relationship Id="rId43" Type="http://schemas.openxmlformats.org/officeDocument/2006/relationships/tags" Target="../tags/tag317.xml"/><Relationship Id="rId42" Type="http://schemas.openxmlformats.org/officeDocument/2006/relationships/tags" Target="../tags/tag316.xml"/><Relationship Id="rId41" Type="http://schemas.openxmlformats.org/officeDocument/2006/relationships/tags" Target="../tags/tag315.xml"/><Relationship Id="rId40" Type="http://schemas.openxmlformats.org/officeDocument/2006/relationships/image" Target="../media/image97.svg"/><Relationship Id="rId4" Type="http://schemas.openxmlformats.org/officeDocument/2006/relationships/image" Target="../media/image85.png"/><Relationship Id="rId39" Type="http://schemas.openxmlformats.org/officeDocument/2006/relationships/image" Target="../media/image96.png"/><Relationship Id="rId38" Type="http://schemas.openxmlformats.org/officeDocument/2006/relationships/tags" Target="../tags/tag314.xml"/><Relationship Id="rId37" Type="http://schemas.openxmlformats.org/officeDocument/2006/relationships/image" Target="../media/image60.svg"/><Relationship Id="rId36" Type="http://schemas.openxmlformats.org/officeDocument/2006/relationships/image" Target="../media/image65.png"/><Relationship Id="rId35" Type="http://schemas.openxmlformats.org/officeDocument/2006/relationships/tags" Target="../tags/tag313.xml"/><Relationship Id="rId34" Type="http://schemas.openxmlformats.org/officeDocument/2006/relationships/image" Target="../media/image95.svg"/><Relationship Id="rId33" Type="http://schemas.openxmlformats.org/officeDocument/2006/relationships/image" Target="../media/image63.png"/><Relationship Id="rId32" Type="http://schemas.openxmlformats.org/officeDocument/2006/relationships/tags" Target="../tags/tag312.xml"/><Relationship Id="rId31" Type="http://schemas.openxmlformats.org/officeDocument/2006/relationships/image" Target="../media/image62.svg"/><Relationship Id="rId30" Type="http://schemas.openxmlformats.org/officeDocument/2006/relationships/image" Target="../media/image61.png"/><Relationship Id="rId3" Type="http://schemas.openxmlformats.org/officeDocument/2006/relationships/tags" Target="../tags/tag295.xml"/><Relationship Id="rId29" Type="http://schemas.openxmlformats.org/officeDocument/2006/relationships/tags" Target="../tags/tag311.xml"/><Relationship Id="rId28" Type="http://schemas.openxmlformats.org/officeDocument/2006/relationships/tags" Target="../tags/tag310.xml"/><Relationship Id="rId27" Type="http://schemas.openxmlformats.org/officeDocument/2006/relationships/tags" Target="../tags/tag309.xml"/><Relationship Id="rId26" Type="http://schemas.openxmlformats.org/officeDocument/2006/relationships/image" Target="../media/image94.svg"/><Relationship Id="rId25" Type="http://schemas.openxmlformats.org/officeDocument/2006/relationships/image" Target="../media/image93.png"/><Relationship Id="rId24" Type="http://schemas.openxmlformats.org/officeDocument/2006/relationships/tags" Target="../tags/tag308.xml"/><Relationship Id="rId23" Type="http://schemas.openxmlformats.org/officeDocument/2006/relationships/tags" Target="../tags/tag307.xml"/><Relationship Id="rId22" Type="http://schemas.openxmlformats.org/officeDocument/2006/relationships/tags" Target="../tags/tag306.xml"/><Relationship Id="rId21" Type="http://schemas.openxmlformats.org/officeDocument/2006/relationships/image" Target="../media/image92.svg"/><Relationship Id="rId20" Type="http://schemas.openxmlformats.org/officeDocument/2006/relationships/image" Target="../media/image91.png"/><Relationship Id="rId2" Type="http://schemas.openxmlformats.org/officeDocument/2006/relationships/tags" Target="../tags/tag294.xml"/><Relationship Id="rId19" Type="http://schemas.openxmlformats.org/officeDocument/2006/relationships/tags" Target="../tags/tag305.xml"/><Relationship Id="rId18" Type="http://schemas.openxmlformats.org/officeDocument/2006/relationships/tags" Target="../tags/tag304.xml"/><Relationship Id="rId17" Type="http://schemas.openxmlformats.org/officeDocument/2006/relationships/tags" Target="../tags/tag303.xml"/><Relationship Id="rId16" Type="http://schemas.openxmlformats.org/officeDocument/2006/relationships/image" Target="../media/image90.svg"/><Relationship Id="rId15" Type="http://schemas.openxmlformats.org/officeDocument/2006/relationships/image" Target="../media/image89.png"/><Relationship Id="rId14" Type="http://schemas.openxmlformats.org/officeDocument/2006/relationships/tags" Target="../tags/tag302.xml"/><Relationship Id="rId13" Type="http://schemas.openxmlformats.org/officeDocument/2006/relationships/tags" Target="../tags/tag301.xml"/><Relationship Id="rId12" Type="http://schemas.openxmlformats.org/officeDocument/2006/relationships/tags" Target="../tags/tag300.xml"/><Relationship Id="rId11" Type="http://schemas.openxmlformats.org/officeDocument/2006/relationships/image" Target="../media/image88.svg"/><Relationship Id="rId10" Type="http://schemas.openxmlformats.org/officeDocument/2006/relationships/image" Target="../media/image87.png"/><Relationship Id="rId1" Type="http://schemas.openxmlformats.org/officeDocument/2006/relationships/tags" Target="../tags/tag293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26.xml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4" Type="http://schemas.openxmlformats.org/officeDocument/2006/relationships/notesSlide" Target="../notesSlides/notesSlide22.xml"/><Relationship Id="rId53" Type="http://schemas.openxmlformats.org/officeDocument/2006/relationships/slideLayout" Target="../slideLayouts/slideLayout2.xml"/><Relationship Id="rId52" Type="http://schemas.openxmlformats.org/officeDocument/2006/relationships/image" Target="../media/image23.svg"/><Relationship Id="rId51" Type="http://schemas.openxmlformats.org/officeDocument/2006/relationships/image" Target="../media/image22.png"/><Relationship Id="rId50" Type="http://schemas.openxmlformats.org/officeDocument/2006/relationships/tags" Target="../tags/tag352.xml"/><Relationship Id="rId5" Type="http://schemas.openxmlformats.org/officeDocument/2006/relationships/image" Target="../media/image101.svg"/><Relationship Id="rId49" Type="http://schemas.openxmlformats.org/officeDocument/2006/relationships/tags" Target="../tags/tag351.xml"/><Relationship Id="rId48" Type="http://schemas.openxmlformats.org/officeDocument/2006/relationships/image" Target="../media/image115.svg"/><Relationship Id="rId47" Type="http://schemas.openxmlformats.org/officeDocument/2006/relationships/image" Target="../media/image114.png"/><Relationship Id="rId46" Type="http://schemas.openxmlformats.org/officeDocument/2006/relationships/tags" Target="../tags/tag350.xml"/><Relationship Id="rId45" Type="http://schemas.openxmlformats.org/officeDocument/2006/relationships/tags" Target="../tags/tag349.xml"/><Relationship Id="rId44" Type="http://schemas.openxmlformats.org/officeDocument/2006/relationships/tags" Target="../tags/tag348.xml"/><Relationship Id="rId43" Type="http://schemas.openxmlformats.org/officeDocument/2006/relationships/tags" Target="../tags/tag347.xml"/><Relationship Id="rId42" Type="http://schemas.openxmlformats.org/officeDocument/2006/relationships/image" Target="../media/image113.svg"/><Relationship Id="rId41" Type="http://schemas.openxmlformats.org/officeDocument/2006/relationships/image" Target="../media/image112.png"/><Relationship Id="rId40" Type="http://schemas.openxmlformats.org/officeDocument/2006/relationships/tags" Target="../tags/tag346.xml"/><Relationship Id="rId4" Type="http://schemas.openxmlformats.org/officeDocument/2006/relationships/image" Target="../media/image100.png"/><Relationship Id="rId39" Type="http://schemas.openxmlformats.org/officeDocument/2006/relationships/tags" Target="../tags/tag345.xml"/><Relationship Id="rId38" Type="http://schemas.openxmlformats.org/officeDocument/2006/relationships/image" Target="../media/image111.svg"/><Relationship Id="rId37" Type="http://schemas.openxmlformats.org/officeDocument/2006/relationships/tags" Target="../tags/tag344.xml"/><Relationship Id="rId36" Type="http://schemas.openxmlformats.org/officeDocument/2006/relationships/tags" Target="../tags/tag343.xml"/><Relationship Id="rId35" Type="http://schemas.openxmlformats.org/officeDocument/2006/relationships/tags" Target="../tags/tag342.xml"/><Relationship Id="rId34" Type="http://schemas.openxmlformats.org/officeDocument/2006/relationships/tags" Target="../tags/tag341.xml"/><Relationship Id="rId33" Type="http://schemas.openxmlformats.org/officeDocument/2006/relationships/tags" Target="../tags/tag340.xml"/><Relationship Id="rId32" Type="http://schemas.openxmlformats.org/officeDocument/2006/relationships/image" Target="../media/image110.svg"/><Relationship Id="rId31" Type="http://schemas.openxmlformats.org/officeDocument/2006/relationships/image" Target="../media/image109.png"/><Relationship Id="rId30" Type="http://schemas.openxmlformats.org/officeDocument/2006/relationships/tags" Target="../tags/tag339.xml"/><Relationship Id="rId3" Type="http://schemas.openxmlformats.org/officeDocument/2006/relationships/tags" Target="../tags/tag322.xml"/><Relationship Id="rId29" Type="http://schemas.openxmlformats.org/officeDocument/2006/relationships/tags" Target="../tags/tag338.xml"/><Relationship Id="rId28" Type="http://schemas.openxmlformats.org/officeDocument/2006/relationships/tags" Target="../tags/tag337.xml"/><Relationship Id="rId27" Type="http://schemas.openxmlformats.org/officeDocument/2006/relationships/tags" Target="../tags/tag336.xml"/><Relationship Id="rId26" Type="http://schemas.openxmlformats.org/officeDocument/2006/relationships/image" Target="../media/image69.svg"/><Relationship Id="rId25" Type="http://schemas.openxmlformats.org/officeDocument/2006/relationships/image" Target="../media/image108.png"/><Relationship Id="rId24" Type="http://schemas.openxmlformats.org/officeDocument/2006/relationships/tags" Target="../tags/tag335.xml"/><Relationship Id="rId23" Type="http://schemas.openxmlformats.org/officeDocument/2006/relationships/tags" Target="../tags/tag334.xml"/><Relationship Id="rId22" Type="http://schemas.openxmlformats.org/officeDocument/2006/relationships/tags" Target="../tags/tag333.xml"/><Relationship Id="rId21" Type="http://schemas.openxmlformats.org/officeDocument/2006/relationships/image" Target="../media/image107.svg"/><Relationship Id="rId20" Type="http://schemas.openxmlformats.org/officeDocument/2006/relationships/image" Target="../media/image106.png"/><Relationship Id="rId2" Type="http://schemas.openxmlformats.org/officeDocument/2006/relationships/tags" Target="../tags/tag321.xml"/><Relationship Id="rId19" Type="http://schemas.openxmlformats.org/officeDocument/2006/relationships/tags" Target="../tags/tag332.xml"/><Relationship Id="rId18" Type="http://schemas.openxmlformats.org/officeDocument/2006/relationships/tags" Target="../tags/tag331.xml"/><Relationship Id="rId17" Type="http://schemas.openxmlformats.org/officeDocument/2006/relationships/tags" Target="../tags/tag330.xml"/><Relationship Id="rId16" Type="http://schemas.openxmlformats.org/officeDocument/2006/relationships/image" Target="../media/image105.svg"/><Relationship Id="rId15" Type="http://schemas.openxmlformats.org/officeDocument/2006/relationships/image" Target="../media/image104.png"/><Relationship Id="rId14" Type="http://schemas.openxmlformats.org/officeDocument/2006/relationships/tags" Target="../tags/tag329.xml"/><Relationship Id="rId13" Type="http://schemas.openxmlformats.org/officeDocument/2006/relationships/tags" Target="../tags/tag328.xml"/><Relationship Id="rId12" Type="http://schemas.openxmlformats.org/officeDocument/2006/relationships/tags" Target="../tags/tag327.xml"/><Relationship Id="rId11" Type="http://schemas.openxmlformats.org/officeDocument/2006/relationships/image" Target="../media/image103.svg"/><Relationship Id="rId10" Type="http://schemas.openxmlformats.org/officeDocument/2006/relationships/image" Target="../media/image102.png"/><Relationship Id="rId1" Type="http://schemas.openxmlformats.org/officeDocument/2006/relationships/tags" Target="../tags/tag320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4.xml"/><Relationship Id="rId1" Type="http://schemas.openxmlformats.org/officeDocument/2006/relationships/tags" Target="../tags/tag35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57.xml"/><Relationship Id="rId2" Type="http://schemas.openxmlformats.org/officeDocument/2006/relationships/tags" Target="../tags/tag356.xml"/><Relationship Id="rId1" Type="http://schemas.openxmlformats.org/officeDocument/2006/relationships/tags" Target="../tags/tag355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5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16.png"/><Relationship Id="rId4" Type="http://www.wps.cn/officeDocument/2018/webExtension" Target="../webExtensions/webExtension4.xml" TargetMode="External"/><Relationship Id="rId3" Type="http://www.wps.cn/officeDocument/2018/webExtension" Target="../webExtensions/webExtension4.xml"/><Relationship Id="rId2" Type="http://schemas.openxmlformats.org/officeDocument/2006/relationships/tags" Target="../tags/tag359.xml"/><Relationship Id="rId1" Type="http://schemas.openxmlformats.org/officeDocument/2006/relationships/tags" Target="../tags/tag358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7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tags" Target="../tags/tag364.xml"/><Relationship Id="rId1" Type="http://schemas.openxmlformats.org/officeDocument/2006/relationships/tags" Target="../tags/tag3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965835" y="3326765"/>
            <a:ext cx="10260330" cy="0"/>
          </a:xfrm>
          <a:prstGeom prst="line">
            <a:avLst/>
          </a:prstGeom>
          <a:ln w="63500">
            <a:solidFill>
              <a:srgbClr val="0A4A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965835" y="3472180"/>
            <a:ext cx="10260330" cy="0"/>
          </a:xfrm>
          <a:prstGeom prst="line">
            <a:avLst/>
          </a:prstGeom>
          <a:ln w="63500">
            <a:solidFill>
              <a:srgbClr val="ED6D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507304" y="1698017"/>
            <a:ext cx="11177393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>
                <a:solidFill>
                  <a:srgbClr val="CCDDEE"/>
                </a:solidFill>
              </a:defRPr>
            </a:pPr>
            <a:r>
              <a:rPr lang="en-US" altLang="zh-CN" sz="4000" b="1" dirty="0">
                <a:solidFill>
                  <a:schemeClr val="tx1"/>
                </a:solidFill>
                <a:latin typeface="Cambria" panose="02040503050406030204" charset="0"/>
                <a:ea typeface="Cambria" panose="02040503050406030204" charset="0"/>
                <a:cs typeface="Cambria" panose="02040503050406030204" charset="0"/>
                <a:sym typeface="+mn-ea"/>
              </a:rPr>
              <a:t>Detecting Logic Defects in VDBMS with LLMs</a:t>
            </a:r>
            <a:endParaRPr lang="en-US" altLang="zh-CN" sz="4000" b="1" dirty="0">
              <a:solidFill>
                <a:schemeClr val="tx1"/>
              </a:solidFill>
              <a:latin typeface="Cambria" panose="02040503050406030204" charset="0"/>
              <a:ea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4" name="Rectangle 2"/>
          <p:cNvSpPr>
            <a:spLocks noGrp="1" noChangeArrowheads="1"/>
          </p:cNvSpPr>
          <p:nvPr/>
        </p:nvSpPr>
        <p:spPr bwMode="auto">
          <a:xfrm>
            <a:off x="2516505" y="3759200"/>
            <a:ext cx="7158990" cy="460375"/>
          </a:xfrm>
          <a:prstGeom prst="rect">
            <a:avLst/>
          </a:prstGeom>
          <a:noFill/>
          <a:ln w="9525" algn="ctr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4472C4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ysClr val="windowText" lastClr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E7E6E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marL="0" indent="0" algn="l" defTabSz="1219200" rtl="0" eaLnBrk="1" fontAlgn="base" latinLnBrk="0" hangingPunct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70AD47"/>
              </a:buClr>
              <a:buFont typeface="Wingdings" panose="05000000000000000000" pitchFamily="2" charset="2"/>
              <a:buNone/>
              <a:defRPr lang="en-US" sz="2935" b="1" i="1" kern="1200" baseline="0" smtClean="0">
                <a:solidFill>
                  <a:srgbClr val="70AD47"/>
                </a:solidFill>
                <a:latin typeface="Cambria" panose="02040503050406030204" charset="0"/>
                <a:ea typeface="+mn-ea"/>
                <a:cs typeface="+mn-ea"/>
              </a:defRPr>
            </a:lvl1pPr>
            <a:lvl2pPr marL="6096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SzPct val="90000"/>
              <a:buFont typeface="Wingdings" panose="05000000000000000000" pitchFamily="2" charset="2"/>
              <a:buNone/>
              <a:defRPr lang="en-US" sz="20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2pPr>
            <a:lvl3pPr marL="12192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8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3pPr>
            <a:lvl4pPr marL="18288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600" b="0" kern="120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4pPr>
            <a:lvl5pPr marL="2438400" indent="0" algn="ctr" defTabSz="1219200" rtl="0" eaLnBrk="1" fontAlgn="base" latinLnBrk="0" hangingPunct="1">
              <a:lnSpc>
                <a:spcPct val="100000"/>
              </a:lnSpc>
              <a:spcBef>
                <a:spcPts val="800"/>
              </a:spcBef>
              <a:spcAft>
                <a:spcPct val="0"/>
              </a:spcAft>
              <a:buClr>
                <a:srgbClr val="4472C4"/>
              </a:buClr>
              <a:buFont typeface="Wingdings" panose="05000000000000000000" pitchFamily="2" charset="2"/>
              <a:buNone/>
              <a:defRPr lang="en-US" sz="1400" b="0" kern="1200" dirty="0" smtClean="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Cambria" panose="02040503050406030204" charset="0"/>
                <a:cs typeface="+mn-ea"/>
              </a:defRPr>
            </a:lvl5pPr>
            <a:lvl6pPr marL="30480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6pPr>
            <a:lvl7pPr marL="36576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7pPr>
            <a:lvl8pPr marL="42672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8pPr>
            <a:lvl9pPr marL="4876800" indent="0" algn="ctr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665" kern="1200">
                <a:solidFill>
                  <a:sysClr val="windowText" lastClr="000000">
                    <a:tint val="75000"/>
                  </a:sysClr>
                </a:solidFill>
                <a:latin typeface="Cambria" panose="02040503050406030204" charset="0"/>
                <a:ea typeface="+mn-ea"/>
                <a:cs typeface="+mn-ea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0" i="0" strike="noStrike" cap="none" normalizeH="0" baseline="0" dirty="0">
                <a:ln>
                  <a:noFill/>
                </a:ln>
                <a:solidFill>
                  <a:sysClr val="windowText" lastClr="000000"/>
                </a:solidFill>
                <a:effectLst/>
                <a:latin typeface="Cambria" panose="02040503050406030204" charset="0"/>
                <a:ea typeface="Cambria" panose="02040503050406030204" charset="0"/>
              </a:rPr>
              <a:t>Yihui Huang</a:t>
            </a:r>
            <a:endParaRPr kumimoji="0" lang="zh-CN" altLang="en-US" sz="2400" b="0" i="0" strike="noStrike" cap="none" normalizeH="0" baseline="0" dirty="0">
              <a:ln>
                <a:noFill/>
              </a:ln>
              <a:solidFill>
                <a:sysClr val="windowText" lastClr="000000"/>
              </a:solidFill>
              <a:effectLst/>
              <a:latin typeface="Cambria" panose="02040503050406030204" charset="0"/>
              <a:ea typeface="SimSun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27480" y="2742565"/>
            <a:ext cx="933704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defRPr sz="2200" b="0">
                <a:solidFill>
                  <a:srgbClr val="CCDDEE"/>
                </a:solidFill>
                <a:latin typeface="Microsoft YaHei" panose="020B0503020204020204" charset="-122"/>
              </a:defRPr>
            </a:pP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用 LLM 发现</a:t>
            </a:r>
            <a:r>
              <a:rPr lang="zh-CN"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向量数据库</a:t>
            </a: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的</a:t>
            </a:r>
            <a:r>
              <a:rPr lang="zh-CN"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逻辑</a:t>
            </a:r>
            <a:r>
              <a:rPr sz="1800" b="1">
                <a:solidFill>
                  <a:schemeClr val="tx1">
                    <a:lumMod val="50000"/>
                    <a:lumOff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缺陷</a:t>
            </a:r>
            <a:endParaRPr lang="zh-CN" altLang="en-US" sz="1800" b="1">
              <a:solidFill>
                <a:schemeClr val="tx1">
                  <a:lumMod val="50000"/>
                  <a:lumOff val="50000"/>
                </a:schemeClr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250315"/>
            <a:ext cx="10852150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 are widely used to store and retrieve vector embeddings.</a:t>
            </a:r>
            <a:endParaRPr lang="en-US" altLang="zh-CN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39598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0910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44481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Vector Database Management System(VDBMS)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2" name="图片 1" descr="chro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0575" y="3867150"/>
            <a:ext cx="1156335" cy="1092835"/>
          </a:xfrm>
          <a:prstGeom prst="rect">
            <a:avLst/>
          </a:prstGeom>
        </p:spPr>
      </p:pic>
      <p:pic>
        <p:nvPicPr>
          <p:cNvPr id="9" name="图片 8" descr="Fai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570" y="3757295"/>
            <a:ext cx="1202690" cy="869950"/>
          </a:xfrm>
          <a:prstGeom prst="rect">
            <a:avLst/>
          </a:prstGeom>
        </p:spPr>
      </p:pic>
      <p:pic>
        <p:nvPicPr>
          <p:cNvPr id="10" name="图片 9" descr="milvu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045" y="2400935"/>
            <a:ext cx="1466215" cy="1466215"/>
          </a:xfrm>
          <a:prstGeom prst="rect">
            <a:avLst/>
          </a:prstGeom>
        </p:spPr>
      </p:pic>
      <p:pic>
        <p:nvPicPr>
          <p:cNvPr id="18" name="图片 17" descr="qdran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0575" y="2699385"/>
            <a:ext cx="2605405" cy="688975"/>
          </a:xfrm>
          <a:prstGeom prst="rect">
            <a:avLst/>
          </a:prstGeom>
        </p:spPr>
      </p:pic>
      <p:pic>
        <p:nvPicPr>
          <p:cNvPr id="29" name="图片 28" descr="weavi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92290" y="3771265"/>
            <a:ext cx="1377315" cy="1377315"/>
          </a:xfrm>
          <a:prstGeom prst="rect">
            <a:avLst/>
          </a:prstGeom>
        </p:spPr>
      </p:pic>
      <p:pic>
        <p:nvPicPr>
          <p:cNvPr id="31" name="图片 30" descr="rankings"/>
          <p:cNvPicPr>
            <a:picLocks noChangeAspect="1"/>
          </p:cNvPicPr>
          <p:nvPr/>
        </p:nvPicPr>
        <p:blipFill>
          <a:blip r:embed="rId7"/>
          <a:srcRect r="25794"/>
          <a:stretch>
            <a:fillRect/>
          </a:stretch>
        </p:blipFill>
        <p:spPr>
          <a:xfrm>
            <a:off x="1508125" y="2004060"/>
            <a:ext cx="4569460" cy="369316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9932035" y="4601210"/>
            <a:ext cx="8737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solidFill>
                  <a:srgbClr val="0062DD"/>
                </a:solidFill>
                <a:latin typeface="Comic Sans MS" panose="030F0702030302020204" charset="0"/>
                <a:cs typeface="Comic Sans MS" panose="030F0702030302020204" charset="0"/>
              </a:rPr>
              <a:t>Faiss</a:t>
            </a:r>
            <a:endParaRPr lang="en-US" altLang="zh-CN" sz="2000" b="1">
              <a:solidFill>
                <a:srgbClr val="0062DD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571750" y="5767070"/>
            <a:ext cx="2580005" cy="386715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charset="0"/>
                <a:ea typeface="FangSong" panose="02010609060101010101" charset="-122"/>
                <a:cs typeface="Cambria" panose="02040503050406030204" charset="0"/>
              </a:rPr>
              <a:t>VDB-Engines Ranking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charset="0"/>
                <a:ea typeface="FangSong" panose="02010609060101010101" charset="-122"/>
                <a:cs typeface="Cambria" panose="02040503050406030204" charset="0"/>
              </a:rPr>
              <a:t>[1]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 panose="02040503050406030204" charset="0"/>
              <a:ea typeface="FangSong" panose="02010609060101010101" charset="-122"/>
              <a:cs typeface="Cambria" panose="02040503050406030204" charset="0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715510" y="3630295"/>
            <a:ext cx="492760" cy="20256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圆角矩形 43"/>
          <p:cNvSpPr/>
          <p:nvPr/>
        </p:nvSpPr>
        <p:spPr>
          <a:xfrm>
            <a:off x="4715510" y="4233545"/>
            <a:ext cx="492760" cy="507365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圆角矩形 53"/>
          <p:cNvSpPr/>
          <p:nvPr/>
        </p:nvSpPr>
        <p:spPr>
          <a:xfrm>
            <a:off x="4714875" y="5147945"/>
            <a:ext cx="492760" cy="214630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716915" y="6370955"/>
            <a:ext cx="70148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[1] https://db-engines.com/en/ranking/vector+dbms (26 systems in ranking, July 2026)</a:t>
            </a:r>
            <a:endParaRPr lang="en-US" altLang="zh-CN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0"/>
          <p:cNvGrpSpPr/>
          <p:nvPr/>
        </p:nvGrpSpPr>
        <p:grpSpPr>
          <a:xfrm>
            <a:off x="7060565" y="2342515"/>
            <a:ext cx="4798060" cy="2905760"/>
            <a:chOff x="7048500" y="1905000"/>
            <a:chExt cx="4533900" cy="2638425"/>
          </a:xfrm>
        </p:grpSpPr>
        <p:pic>
          <p:nvPicPr>
            <p:cNvPr id="39" name="Image 2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052473" y="1905000"/>
              <a:ext cx="4525953" cy="2638425"/>
            </a:xfrm>
            <a:prstGeom prst="rect">
              <a:avLst/>
            </a:prstGeom>
          </p:spPr>
        </p:pic>
        <p:sp>
          <p:nvSpPr>
            <p:cNvPr id="40" name="Rectangle 29"/>
            <p:cNvSpPr/>
            <p:nvPr/>
          </p:nvSpPr>
          <p:spPr>
            <a:xfrm>
              <a:off x="7048500" y="1905000"/>
              <a:ext cx="4533900" cy="2638425"/>
            </a:xfrm>
            <a:prstGeom prst="rect">
              <a:avLst/>
            </a:prstGeom>
            <a:noFill/>
            <a:ln w="9525">
              <a:solidFill>
                <a:srgbClr val="D9D9D9"/>
              </a:solidFill>
            </a:ln>
          </p:spPr>
          <p:txBody>
            <a:bodyPr/>
            <a:p/>
          </p:txBody>
        </p:sp>
      </p:grp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74370" y="142049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 are </a:t>
            </a:r>
            <a:r>
              <a:rPr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mostly </a:t>
            </a:r>
            <a:r>
              <a:rPr lang="en-US" sz="214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logical bugs</a:t>
            </a:r>
            <a:endParaRPr lang="en-US" altLang="zh-CN" sz="2140" b="1" dirty="0">
              <a:solidFill>
                <a:schemeClr val="tx1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814070" y="57943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Bug Distribution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pSp>
        <p:nvGrpSpPr>
          <p:cNvPr id="5" name="Group 27"/>
          <p:cNvGrpSpPr/>
          <p:nvPr/>
        </p:nvGrpSpPr>
        <p:grpSpPr>
          <a:xfrm>
            <a:off x="1161415" y="2292350"/>
            <a:ext cx="5431790" cy="2875915"/>
            <a:chOff x="602742" y="1759268"/>
            <a:chExt cx="5079177" cy="2660332"/>
          </a:xfrm>
        </p:grpSpPr>
        <p:sp>
          <p:nvSpPr>
            <p:cNvPr id="8" name="TextBox 8"/>
            <p:cNvSpPr txBox="1"/>
            <p:nvPr/>
          </p:nvSpPr>
          <p:spPr>
            <a:xfrm>
              <a:off x="602742" y="1759268"/>
              <a:ext cx="4313203" cy="1920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Previous</a:t>
              </a:r>
              <a:r>
                <a:rPr 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 VDBMS bug </a:t>
              </a:r>
              <a:r>
                <a:rPr lang="en-US" altLang="zh-CN" sz="1350" b="1" dirty="0">
                  <a:solidFill>
                    <a:srgbClr val="1F4E79"/>
                  </a:solidFill>
                  <a:latin typeface="Segoe UI" panose="020B0502040204020203"/>
                  <a:ea typeface="Microsoft YaHei" panose="020B0503020204020204" charset="-122"/>
                  <a:cs typeface="Segoe UI" panose="020B0502040204020203"/>
                </a:rPr>
                <a:t>symptom distribution research</a:t>
              </a:r>
              <a:endParaRPr lang="en-US" altLang="zh-CN" sz="1350" b="1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endParaRPr>
            </a:p>
          </p:txBody>
        </p:sp>
        <p:grpSp>
          <p:nvGrpSpPr>
            <p:cNvPr id="6" name="Group 26"/>
            <p:cNvGrpSpPr/>
            <p:nvPr/>
          </p:nvGrpSpPr>
          <p:grpSpPr>
            <a:xfrm>
              <a:off x="921542" y="2038350"/>
              <a:ext cx="4760377" cy="2381250"/>
              <a:chOff x="921542" y="2038350"/>
              <a:chExt cx="4760377" cy="2381250"/>
            </a:xfrm>
          </p:grpSpPr>
          <p:sp>
            <p:nvSpPr>
              <p:cNvPr id="7" name="Line 9"/>
              <p:cNvSpPr/>
              <p:nvPr/>
            </p:nvSpPr>
            <p:spPr>
              <a:xfrm>
                <a:off x="2324100" y="2038350"/>
                <a:ext cx="9525" cy="2381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50">
                    <a:moveTo>
                      <a:pt x="0" y="0"/>
                    </a:moveTo>
                    <a:lnTo>
                      <a:pt x="0" y="2381250"/>
                    </a:lnTo>
                  </a:path>
                </a:pathLst>
              </a:custGeom>
              <a:noFill/>
              <a:ln w="9525">
                <a:solidFill>
                  <a:srgbClr val="D9D9D9"/>
                </a:solidFill>
              </a:ln>
            </p:spPr>
            <p:txBody>
              <a:bodyPr/>
              <a:p/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921542" y="2258378"/>
                <a:ext cx="1312642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Incorrect Behavior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3" name="Rectangle 11"/>
              <p:cNvSpPr/>
              <p:nvPr/>
            </p:nvSpPr>
            <p:spPr>
              <a:xfrm>
                <a:off x="2324100" y="2190750"/>
                <a:ext cx="2857500" cy="266700"/>
              </a:xfrm>
              <a:prstGeom prst="rect">
                <a:avLst/>
              </a:prstGeom>
              <a:solidFill>
                <a:srgbClr val="C00000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4" name="TextBox 12"/>
              <p:cNvSpPr txBox="1"/>
              <p:nvPr/>
            </p:nvSpPr>
            <p:spPr>
              <a:xfrm>
                <a:off x="5233416" y="2258378"/>
                <a:ext cx="448503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b="1" dirty="0">
                    <a:solidFill>
                      <a:srgbClr val="C00000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43.0%</a:t>
                </a:r>
                <a:endParaRPr lang="en-US" sz="1050" b="1" dirty="0">
                  <a:solidFill>
                    <a:srgbClr val="C00000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5" name="TextBox 13"/>
              <p:cNvSpPr txBox="1"/>
              <p:nvPr/>
            </p:nvSpPr>
            <p:spPr>
              <a:xfrm>
                <a:off x="1436306" y="2734628"/>
                <a:ext cx="797878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Crash/Hang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16" name="Rectangle 14"/>
              <p:cNvSpPr/>
              <p:nvPr/>
            </p:nvSpPr>
            <p:spPr>
              <a:xfrm>
                <a:off x="2324100" y="2667000"/>
                <a:ext cx="1533525" cy="266700"/>
              </a:xfrm>
              <a:prstGeom prst="rect">
                <a:avLst/>
              </a:prstGeom>
              <a:solidFill>
                <a:srgbClr val="1F4E7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7" name="TextBox 15"/>
              <p:cNvSpPr txBox="1"/>
              <p:nvPr/>
            </p:nvSpPr>
            <p:spPr>
              <a:xfrm>
                <a:off x="3915964" y="2734418"/>
                <a:ext cx="420989" cy="1674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noAutofit/>
              </a:bodyPr>
              <a:lstStyle/>
              <a:p>
                <a:pPr algn="l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23.1%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0" name="TextBox 17"/>
              <p:cNvSpPr txBox="1"/>
              <p:nvPr/>
            </p:nvSpPr>
            <p:spPr>
              <a:xfrm>
                <a:off x="1724120" y="3210878"/>
                <a:ext cx="510064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Others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1" name="Rectangle 18"/>
              <p:cNvSpPr/>
              <p:nvPr/>
            </p:nvSpPr>
            <p:spPr>
              <a:xfrm>
                <a:off x="2324100" y="3143250"/>
                <a:ext cx="1000125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" name="TextBox 19"/>
              <p:cNvSpPr txBox="1"/>
              <p:nvPr/>
            </p:nvSpPr>
            <p:spPr>
              <a:xfrm>
                <a:off x="3376041" y="3210878"/>
                <a:ext cx="427653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15.0%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3" name="TextBox 20"/>
              <p:cNvSpPr txBox="1"/>
              <p:nvPr/>
            </p:nvSpPr>
            <p:spPr>
              <a:xfrm>
                <a:off x="1381677" y="3687128"/>
                <a:ext cx="852507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Build Failure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4" name="Rectangle 21"/>
              <p:cNvSpPr/>
              <p:nvPr/>
            </p:nvSpPr>
            <p:spPr>
              <a:xfrm>
                <a:off x="2324100" y="3619500"/>
                <a:ext cx="647700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5" name="TextBox 22"/>
              <p:cNvSpPr txBox="1"/>
              <p:nvPr/>
            </p:nvSpPr>
            <p:spPr>
              <a:xfrm>
                <a:off x="3023616" y="3687128"/>
                <a:ext cx="349910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9.7%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28" name="TextBox 23"/>
              <p:cNvSpPr txBox="1"/>
              <p:nvPr/>
            </p:nvSpPr>
            <p:spPr>
              <a:xfrm>
                <a:off x="1335526" y="4163378"/>
                <a:ext cx="898658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262626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Performance</a:t>
                </a:r>
                <a:endParaRPr lang="en-US" sz="1050" dirty="0">
                  <a:solidFill>
                    <a:srgbClr val="262626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  <p:sp>
            <p:nvSpPr>
              <p:cNvPr id="36" name="Rectangle 24"/>
              <p:cNvSpPr/>
              <p:nvPr/>
            </p:nvSpPr>
            <p:spPr>
              <a:xfrm>
                <a:off x="2324100" y="4095750"/>
                <a:ext cx="619125" cy="266700"/>
              </a:xfrm>
              <a:prstGeom prst="rect">
                <a:avLst/>
              </a:prstGeom>
              <a:solidFill>
                <a:srgbClr val="595959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37" name="TextBox 25"/>
              <p:cNvSpPr txBox="1"/>
              <p:nvPr/>
            </p:nvSpPr>
            <p:spPr>
              <a:xfrm>
                <a:off x="2995041" y="4163378"/>
                <a:ext cx="349910" cy="1491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595959"/>
                    </a:solidFill>
                    <a:latin typeface="Segoe UI" panose="020B0502040204020203"/>
                    <a:ea typeface="Segoe UI" panose="020B0502040204020203"/>
                    <a:cs typeface="Segoe UI" panose="020B0502040204020203"/>
                  </a:rPr>
                  <a:t>9.3%</a:t>
                </a:r>
                <a:endParaRPr lang="en-US" sz="1050" dirty="0">
                  <a:solidFill>
                    <a:srgbClr val="595959"/>
                  </a:solidFill>
                  <a:latin typeface="Segoe UI" panose="020B0502040204020203"/>
                  <a:ea typeface="Segoe UI" panose="020B0502040204020203"/>
                  <a:cs typeface="Segoe UI" panose="020B0502040204020203"/>
                </a:endParaRPr>
              </a:p>
            </p:txBody>
          </p:sp>
        </p:grpSp>
      </p:grpSp>
      <p:sp>
        <p:nvSpPr>
          <p:cNvPr id="41" name="TextBox 32"/>
          <p:cNvSpPr txBox="1"/>
          <p:nvPr/>
        </p:nvSpPr>
        <p:spPr>
          <a:xfrm>
            <a:off x="813753" y="6126480"/>
            <a:ext cx="65836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[1] </a:t>
            </a:r>
            <a:r>
              <a:rPr 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Towards Reliable Vector Database Management Systems: A Software Testing Roadmap for 2030</a:t>
            </a:r>
            <a:endParaRPr 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42" name="TextBox 33"/>
          <p:cNvSpPr txBox="1"/>
          <p:nvPr/>
        </p:nvSpPr>
        <p:spPr>
          <a:xfrm>
            <a:off x="813753" y="6310630"/>
            <a:ext cx="492633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[2] </a:t>
            </a:r>
            <a:r>
              <a:rPr 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Toward Understanding Bugs in Vector Database Management Systems</a:t>
            </a:r>
            <a:endParaRPr 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103995" y="5575935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Segoe UI" panose="020B0502040204020203"/>
                <a:ea typeface="Microsoft YaHei" panose="020B0503020204020204" charset="-122"/>
                <a:cs typeface="Segoe UI" panose="020B0502040204020203"/>
                <a:sym typeface="+mn-ea"/>
              </a:rPr>
              <a:t>[2]</a:t>
            </a:r>
            <a:endParaRPr lang="en-US" altLang="zh-CN" sz="1400" b="1" dirty="0">
              <a:latin typeface="Segoe UI" panose="020B0502040204020203"/>
              <a:ea typeface="Microsoft YaHei" panose="020B0503020204020204" charset="-122"/>
              <a:cs typeface="Segoe UI" panose="020B0502040204020203"/>
              <a:sym typeface="+mn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3536315" y="5625465"/>
            <a:ext cx="53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 dirty="0">
                <a:latin typeface="Segoe UI" panose="020B0502040204020203"/>
                <a:ea typeface="Microsoft YaHei" panose="020B0503020204020204" charset="-122"/>
                <a:cs typeface="Segoe UI" panose="020B0502040204020203"/>
                <a:sym typeface="+mn-ea"/>
              </a:rPr>
              <a:t>[1]</a:t>
            </a:r>
            <a:endParaRPr lang="en-US" altLang="zh-CN" sz="1400" b="1" dirty="0">
              <a:latin typeface="Segoe UI" panose="020B0502040204020203"/>
              <a:ea typeface="Microsoft YaHei" panose="020B0503020204020204" charset="-122"/>
              <a:cs typeface="Segoe UI" panose="020B0502040204020203"/>
              <a:sym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0031095" y="3507740"/>
            <a:ext cx="1764000" cy="281940"/>
          </a:xfrm>
          <a:prstGeom prst="rect">
            <a:avLst/>
          </a:prstGeom>
          <a:noFill/>
          <a:ln w="5080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717675" y="2782570"/>
            <a:ext cx="1228725" cy="281940"/>
          </a:xfrm>
          <a:prstGeom prst="rect">
            <a:avLst/>
          </a:prstGeom>
          <a:noFill/>
          <a:ln w="5080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9" name="直接箭头连接符 48"/>
          <p:cNvCxnSpPr>
            <a:stCxn id="53" idx="3"/>
          </p:cNvCxnSpPr>
          <p:nvPr/>
        </p:nvCxnSpPr>
        <p:spPr>
          <a:xfrm>
            <a:off x="7440295" y="3370580"/>
            <a:ext cx="727075" cy="1714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18" idx="1"/>
            <a:endCxn id="17" idx="3"/>
          </p:cNvCxnSpPr>
          <p:nvPr/>
        </p:nvCxnSpPr>
        <p:spPr>
          <a:xfrm flipH="1">
            <a:off x="5154930" y="3390265"/>
            <a:ext cx="755650" cy="4699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4667250" y="3320415"/>
            <a:ext cx="404495" cy="211455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8194040" y="3306445"/>
            <a:ext cx="414020" cy="220980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TextBox 16"/>
          <p:cNvSpPr txBox="1"/>
          <p:nvPr/>
        </p:nvSpPr>
        <p:spPr>
          <a:xfrm>
            <a:off x="5910580" y="3179445"/>
            <a:ext cx="1529715" cy="3822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algn="l"/>
            <a:r>
              <a:rPr lang="zh-CN" sz="1400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VDBFuzz </a:t>
            </a:r>
            <a:r>
              <a:rPr lang="en-US" altLang="zh-CN" sz="1400" dirty="0">
                <a:solidFill>
                  <a:srgbClr val="1F4E79"/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[3]only covers crash bugs</a:t>
            </a:r>
            <a:endParaRPr lang="en-US" altLang="zh-CN" sz="1400" dirty="0">
              <a:solidFill>
                <a:srgbClr val="1F4E79"/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  <p:sp>
        <p:nvSpPr>
          <p:cNvPr id="3" name="TextBox 33"/>
          <p:cNvSpPr txBox="1"/>
          <p:nvPr/>
        </p:nvSpPr>
        <p:spPr>
          <a:xfrm>
            <a:off x="814070" y="6494780"/>
            <a:ext cx="7352665" cy="184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Segoe UI" panose="020B0502040204020203"/>
                <a:ea typeface="Microsoft YaHei" panose="020B0503020204020204" charset="-122"/>
                <a:cs typeface="Segoe UI" panose="020B0502040204020203"/>
              </a:rPr>
              <a:t>[3] VDBFuzz: Understanding and Detecting Crash Bugs in Vector Database Management Systems</a:t>
            </a:r>
            <a:endParaRPr lang="en-US" altLang="zh-CN" sz="1200" dirty="0">
              <a:solidFill>
                <a:schemeClr val="tx1">
                  <a:lumMod val="95000"/>
                  <a:lumOff val="5000"/>
                </a:schemeClr>
              </a:solidFill>
              <a:latin typeface="Segoe UI" panose="020B0502040204020203"/>
              <a:ea typeface="Microsoft YaHei" panose="020B0503020204020204" charset="-122"/>
              <a:cs typeface="Segoe UI" panose="020B050204020402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80720" y="1377950"/>
            <a:ext cx="10888345" cy="502031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Mostly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natural-language docs</a:t>
            </a: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:Hard to structure</a:t>
            </a:r>
            <a:endParaRPr lang="en-US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Different VDBMS,different standards: Hard to do </a:t>
            </a:r>
            <a:r>
              <a:rPr lang="en-US" altLang="zh-CN" sz="214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differential testing</a:t>
            </a:r>
            <a:endParaRPr lang="en-US" altLang="zh-CN" sz="214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sz="2140" b="1" dirty="0">
              <a:solidFill>
                <a:schemeClr val="tx1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79438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Documentation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r="18685"/>
          <a:stretch>
            <a:fillRect/>
          </a:stretch>
        </p:blipFill>
        <p:spPr>
          <a:xfrm>
            <a:off x="5560060" y="4094480"/>
            <a:ext cx="5825490" cy="2219960"/>
          </a:xfrm>
          <a:prstGeom prst="rect">
            <a:avLst/>
          </a:prstGeom>
          <a:ln w="25400">
            <a:solidFill>
              <a:srgbClr val="000000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rcRect l="1802" r="26303"/>
          <a:stretch>
            <a:fillRect/>
          </a:stretch>
        </p:blipFill>
        <p:spPr>
          <a:xfrm>
            <a:off x="1130300" y="2519045"/>
            <a:ext cx="4229735" cy="407416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sp>
        <p:nvSpPr>
          <p:cNvPr id="18" name="矩形 17"/>
          <p:cNvSpPr/>
          <p:nvPr/>
        </p:nvSpPr>
        <p:spPr>
          <a:xfrm>
            <a:off x="7952105" y="5457825"/>
            <a:ext cx="3358515" cy="75565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3955415" y="3359150"/>
            <a:ext cx="1334770" cy="57848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910" y="2524125"/>
            <a:ext cx="5882640" cy="1413510"/>
          </a:xfrm>
          <a:prstGeom prst="rect">
            <a:avLst/>
          </a:prstGeom>
        </p:spPr>
      </p:pic>
      <p:sp>
        <p:nvSpPr>
          <p:cNvPr id="34" name="矩形 33"/>
          <p:cNvSpPr/>
          <p:nvPr/>
        </p:nvSpPr>
        <p:spPr>
          <a:xfrm>
            <a:off x="8108315" y="2715260"/>
            <a:ext cx="718820" cy="365760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我们选择从官方文档（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documentation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）提取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预先给定的行为声明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，问题变成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如何找出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真实行为与文档描述不一致之处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，即</a:t>
            </a:r>
            <a:r>
              <a:rPr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zh-CN" altLang="en-US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。</a:t>
            </a:r>
            <a:br>
              <a:rPr lang="zh-CN" altLang="en-US" sz="20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</a:br>
            <a:endParaRPr lang="zh-CN" altLang="en-US" sz="20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374333"/>
            <a:ext cx="10571480" cy="110744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Target: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defects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E657119C-6982-421D-8BA7-E74DEB70A7D9-1" descr="C:/Users/11428/AppData/Local/Temp/wpp.rWfaAfwpp"/>
          <p:cNvPicPr>
            <a:picLocks noChangeAspect="1"/>
          </p:cNvPicPr>
          <p:nvPr/>
        </p:nvPicPr>
        <p:blipFill>
          <a:blip r:embed="rId3"/>
          <a:srcRect b="4084"/>
          <a:stretch>
            <a:fillRect/>
          </a:stretch>
        </p:blipFill>
        <p:spPr>
          <a:xfrm>
            <a:off x="991870" y="2346325"/>
            <a:ext cx="10069830" cy="4229100"/>
          </a:xfrm>
          <a:prstGeom prst="rect">
            <a:avLst/>
          </a:prstGeom>
        </p:spPr>
      </p:pic>
      <p:grpSp>
        <p:nvGrpSpPr>
          <p:cNvPr id="32" name="组合 31"/>
          <p:cNvGrpSpPr/>
          <p:nvPr/>
        </p:nvGrpSpPr>
        <p:grpSpPr>
          <a:xfrm>
            <a:off x="208915" y="1482090"/>
            <a:ext cx="605155" cy="4630420"/>
            <a:chOff x="-39972211" y="4187859"/>
            <a:chExt cx="2354712" cy="944775"/>
          </a:xfrm>
        </p:grpSpPr>
        <p:sp>
          <p:nvSpPr>
            <p:cNvPr id="34" name="圆角矩形标注 33"/>
            <p:cNvSpPr/>
            <p:nvPr/>
          </p:nvSpPr>
          <p:spPr bwMode="gray">
            <a:xfrm rot="5400000">
              <a:off x="-39346309" y="3561957"/>
              <a:ext cx="944775" cy="2196578"/>
            </a:xfrm>
            <a:prstGeom prst="wedgeRoundRectCallout">
              <a:avLst>
                <a:gd name="adj1" fmla="val 16785"/>
                <a:gd name="adj2" fmla="val -121316"/>
                <a:gd name="adj3" fmla="val 16667"/>
              </a:avLst>
            </a:prstGeom>
            <a:solidFill>
              <a:srgbClr val="0A4A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lt1"/>
                </a:solidFill>
                <a:latin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-39972211" y="4208046"/>
              <a:ext cx="2354712" cy="8663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Cambria" panose="02040503050406030204" charset="0"/>
                  <a:cs typeface="Cambria" panose="02040503050406030204" charset="0"/>
                </a:rPr>
                <a:t>根据实际挖掘得到的</a:t>
              </a:r>
              <a:r>
                <a:rPr lang="zh-CN" altLang="en-US" b="1" dirty="0">
                  <a:solidFill>
                    <a:schemeClr val="bg1"/>
                  </a:solidFill>
                  <a:latin typeface="Cambria" panose="02040503050406030204" charset="0"/>
                  <a:cs typeface="Cambria" panose="02040503050406030204" charset="0"/>
                </a:rPr>
                <a:t>更多表现形式</a:t>
              </a:r>
              <a:endParaRPr lang="zh-CN" altLang="en-US" b="1" dirty="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我们选择从官方文档（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documentation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）提取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预先给定的行为声明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，问题变成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“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如何找出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真实行为与文档描述不一致之处</a:t>
            </a:r>
            <a:r>
              <a:rPr lang="en-US" altLang="zh-CN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”</a:t>
            </a:r>
            <a:r>
              <a:rPr lang="zh-CN" altLang="en-US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，即</a:t>
            </a:r>
            <a:r>
              <a:rPr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zh-CN" altLang="en-US" sz="20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。</a:t>
            </a:r>
            <a:br>
              <a:rPr lang="zh-CN" altLang="en-US" sz="20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</a:br>
            <a:endParaRPr lang="zh-CN" altLang="en-US" sz="20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374333"/>
            <a:ext cx="10571480" cy="110744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Target: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defects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Segoe UI" panose="020B0502040204020203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074535" y="311150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76905" y="319913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9100" y="334581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12635" y="332549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56525" y="357568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694295" y="403860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781935" y="311150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781300" y="391223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5267325" y="343090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716270" y="366204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284980" y="383095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01715" y="383095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5979795" y="411353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15355" y="4815840"/>
            <a:ext cx="648970" cy="66421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6864985" y="496379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668645" y="345122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332095" y="366268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071745" y="411353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29480" y="481584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557905" y="5035550"/>
            <a:ext cx="13366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Not a Bug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011920" y="3325495"/>
            <a:ext cx="758825" cy="758825"/>
          </a:xfrm>
          <a:prstGeom prst="rect">
            <a:avLst/>
          </a:prstGeom>
        </p:spPr>
      </p:pic>
      <p:pic>
        <p:nvPicPr>
          <p:cNvPr id="2" name="图片 1" descr="加号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72195" y="3575685"/>
            <a:ext cx="356870" cy="3568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716915" y="137223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000" b="1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Existing approach(VDBFuzz) focuses on detecting crash bugs</a:t>
            </a:r>
            <a:endParaRPr lang="en-US" altLang="zh-CN" sz="2000" b="1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793115"/>
            <a:ext cx="10571480" cy="48387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Existing Approach</a:t>
            </a:r>
            <a:endParaRPr lang="zh-CN" altLang="en-US" sz="3600" b="1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</a:endParaRPr>
          </a:p>
          <a:p>
            <a:r>
              <a:rPr sz="36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72335" y="2210435"/>
            <a:ext cx="713105" cy="71310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839595" y="3286760"/>
            <a:ext cx="1631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Templates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" name="直接箭头连接符 9"/>
          <p:cNvCxnSpPr>
            <a:endCxn id="16" idx="1"/>
          </p:cNvCxnSpPr>
          <p:nvPr/>
        </p:nvCxnSpPr>
        <p:spPr>
          <a:xfrm flipV="1">
            <a:off x="2885654" y="2636643"/>
            <a:ext cx="1648460" cy="889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4245610" y="3286760"/>
            <a:ext cx="2592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Pattern-based Input Mutation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1845" y="2153920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26685" y="2302510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4533900" y="2063750"/>
            <a:ext cx="1892300" cy="1145540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94045" y="2153285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8834120" y="215328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>
            <a:off x="6426414" y="2636643"/>
            <a:ext cx="1050925" cy="63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42630" y="2334260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7477125" y="2064385"/>
            <a:ext cx="2223135" cy="114490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623175" y="2153920"/>
            <a:ext cx="648335" cy="71374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531100" y="3328035"/>
            <a:ext cx="21101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0" name="图片 79" descr="BUG问题修复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9860" y="4456430"/>
            <a:ext cx="648970" cy="664210"/>
          </a:xfrm>
          <a:prstGeom prst="rect">
            <a:avLst/>
          </a:prstGeom>
        </p:spPr>
      </p:pic>
      <p:sp>
        <p:nvSpPr>
          <p:cNvPr id="81" name="文本框 80"/>
          <p:cNvSpPr txBox="1"/>
          <p:nvPr/>
        </p:nvSpPr>
        <p:spPr>
          <a:xfrm>
            <a:off x="7733665" y="4001135"/>
            <a:ext cx="1941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Crash Oracle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257290" y="527748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4533900" y="2785745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Templates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5589270" y="278574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531100" y="278574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8758555" y="2867025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00" name="直接箭头连接符 99"/>
          <p:cNvCxnSpPr>
            <a:stCxn id="103" idx="1"/>
            <a:endCxn id="80" idx="3"/>
          </p:cNvCxnSpPr>
          <p:nvPr/>
        </p:nvCxnSpPr>
        <p:spPr>
          <a:xfrm flipH="1">
            <a:off x="7149044" y="4775958"/>
            <a:ext cx="1193800" cy="127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曲线连接符 100"/>
          <p:cNvCxnSpPr>
            <a:stCxn id="22" idx="3"/>
            <a:endCxn id="103" idx="3"/>
          </p:cNvCxnSpPr>
          <p:nvPr/>
        </p:nvCxnSpPr>
        <p:spPr>
          <a:xfrm flipH="1">
            <a:off x="9155430" y="2637155"/>
            <a:ext cx="544830" cy="2138680"/>
          </a:xfrm>
          <a:prstGeom prst="curvedConnector3">
            <a:avLst>
              <a:gd name="adj1" fmla="val -43706"/>
            </a:avLst>
          </a:prstGeom>
          <a:ln w="38100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3" name="图片 102" descr="感叹号-圆环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342630" y="4369435"/>
            <a:ext cx="812800" cy="812800"/>
          </a:xfrm>
          <a:prstGeom prst="rect">
            <a:avLst/>
          </a:prstGeom>
        </p:spPr>
      </p:pic>
      <p:sp>
        <p:nvSpPr>
          <p:cNvPr id="104" name="文本框 103"/>
          <p:cNvSpPr txBox="1"/>
          <p:nvPr/>
        </p:nvSpPr>
        <p:spPr>
          <a:xfrm>
            <a:off x="1083945" y="5788025"/>
            <a:ext cx="9608185" cy="754380"/>
          </a:xfrm>
          <a:prstGeom prst="roundRect">
            <a:avLst/>
          </a:prstGeom>
          <a:solidFill>
            <a:srgbClr val="FFCDCD"/>
          </a:solidFill>
          <a:ln w="571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anchor="ctr">
            <a:noAutofit/>
          </a:bodyPr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VDBFuzz cannot be effectively applied to detect </a:t>
            </a:r>
            <a:r>
              <a:rPr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 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bugs</a:t>
            </a:r>
            <a:endParaRPr lang="en-US" altLang="zh-CN" b="1" dirty="0" err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1"/>
            </p:custDataLst>
          </p:nvPr>
        </p:nvSpPr>
        <p:spPr>
          <a:xfrm>
            <a:off x="664210" y="1819275"/>
            <a:ext cx="2702560" cy="20313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039495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How a bug that “silently accepts queries with nprobe=0”</a:t>
            </a:r>
            <a:r>
              <a:rPr lang="en-US" altLang="zh-CN" sz="1400" dirty="0">
                <a:solidFill>
                  <a:srgbClr val="00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is discovered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914400" lvl="2" indent="0">
              <a:buFont typeface="Wingdings" panose="05000000000000000000" charset="0"/>
              <a:buNone/>
            </a:pP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6006" y="105296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2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Observation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8781415" y="6276975"/>
            <a:ext cx="2700020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64210" y="6360795"/>
            <a:ext cx="4005580" cy="340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095" indent="-347980" eaLnBrk="1" hangingPunct="1">
              <a:lnSpc>
                <a:spcPct val="125000"/>
              </a:lnSpc>
            </a:pPr>
            <a:r>
              <a:rPr lang="en-US" altLang="zh-CN" sz="1300" dirty="0">
                <a:solidFill>
                  <a:srgbClr val="000000"/>
                </a:solidFill>
                <a:latin typeface="Times New Roman" panose="02020603050405020304" charset="0"/>
                <a:ea typeface="SimSun" panose="02010600030101010101" pitchFamily="2" charset="-122"/>
                <a:cs typeface="Times New Roman" panose="02020603050405020304" charset="0"/>
                <a:sym typeface="+mn-ea"/>
              </a:rPr>
              <a:t>[1] https://github.com/milvus-io/milvus/issues/49823</a:t>
            </a:r>
            <a:endParaRPr lang="en-US" altLang="zh-CN" sz="1300" dirty="0">
              <a:solidFill>
                <a:srgbClr val="000000"/>
              </a:solidFill>
              <a:latin typeface="Times New Roman" panose="02020603050405020304" charset="0"/>
              <a:ea typeface="SimSun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4"/>
            </p:custDataLst>
          </p:nvPr>
        </p:nvSpPr>
        <p:spPr>
          <a:xfrm>
            <a:off x="664210" y="1755775"/>
            <a:ext cx="2702560" cy="49593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0895" y="1755775"/>
            <a:ext cx="445770" cy="44577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355090" y="1817370"/>
            <a:ext cx="1915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738505" y="2108835"/>
            <a:ext cx="2513965" cy="1792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en-US" sz="18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sz="18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........</a:t>
            </a:r>
            <a:b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 (int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,must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):</a:t>
            </a:r>
            <a:b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</a:b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range: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[1,</a:t>
            </a:r>
            <a:r>
              <a:rPr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16384</a:t>
            </a:r>
            <a:r>
              <a:rPr lang="en-US" sz="16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]</a:t>
            </a:r>
            <a:endParaRPr sz="16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defRPr sz="1200" b="0">
                <a:solidFill>
                  <a:srgbClr val="666666"/>
                </a:solidFill>
                <a:latin typeface="Microsoft YaHei" panose="020B0503020204020204" charset="-122"/>
              </a:defRPr>
            </a:pP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（应拒</a:t>
            </a:r>
            <a:r>
              <a:rPr lang="zh-CN" alt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绝</a:t>
            </a: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nprobe=0）</a:t>
            </a:r>
            <a:endParaRPr lang="zh-CN" altLang="en-US" b="1">
              <a:effectLst/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sz="18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........</a:t>
            </a:r>
            <a:endParaRPr lang="en-US" altLang="zh-CN" sz="18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10"/>
            </p:custDataLst>
          </p:nvPr>
        </p:nvSpPr>
        <p:spPr>
          <a:xfrm>
            <a:off x="676275" y="3945255"/>
            <a:ext cx="2702560" cy="235013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676275" y="3883660"/>
            <a:ext cx="2702560" cy="4953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355090" y="3961130"/>
            <a:ext cx="1981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user’s operation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730885" y="4343400"/>
            <a:ext cx="2527300" cy="1952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 /v2/vectordb/entities/</a:t>
            </a:r>
            <a:r>
              <a:rPr lang="en-US" altLang="zh-CN" sz="12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search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 localhost:19530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</a:t>
            </a:r>
            <a:r>
              <a:rPr lang="en-US" altLang="zh-CN" sz="12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"params": { "nprobe": 0 }</a:t>
            </a:r>
            <a:endParaRPr lang="en-US" altLang="zh-CN" sz="1200" b="1">
              <a:solidFill>
                <a:srgbClr val="FF0000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2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2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98830" y="3919220"/>
            <a:ext cx="457835" cy="424180"/>
          </a:xfrm>
          <a:prstGeom prst="rect">
            <a:avLst/>
          </a:prstGeom>
        </p:spPr>
      </p:pic>
      <p:sp>
        <p:nvSpPr>
          <p:cNvPr id="31" name="矩形 30"/>
          <p:cNvSpPr/>
          <p:nvPr>
            <p:custDataLst>
              <p:tags r:id="rId17"/>
            </p:custDataLst>
          </p:nvPr>
        </p:nvSpPr>
        <p:spPr>
          <a:xfrm>
            <a:off x="8712200" y="2686050"/>
            <a:ext cx="2957830" cy="34988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圆角矩形 36"/>
          <p:cNvSpPr/>
          <p:nvPr>
            <p:custDataLst>
              <p:tags r:id="rId18"/>
            </p:custDataLst>
          </p:nvPr>
        </p:nvSpPr>
        <p:spPr>
          <a:xfrm>
            <a:off x="8712200" y="2108835"/>
            <a:ext cx="2957830" cy="62801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19"/>
            </p:custDataLst>
          </p:nvPr>
        </p:nvSpPr>
        <p:spPr>
          <a:xfrm>
            <a:off x="9444990" y="2225675"/>
            <a:ext cx="225107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20"/>
            </p:custDataLst>
          </p:nvPr>
        </p:nvSpPr>
        <p:spPr>
          <a:xfrm>
            <a:off x="8846185" y="2919730"/>
            <a:ext cx="2748280" cy="32550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HTTP/1.1 200 OK</a:t>
            </a:r>
            <a:endParaRPr lang="en-US" altLang="zh-CN" sz="1400" b="1">
              <a:solidFill>
                <a:srgbClr val="FF0000"/>
              </a:solidFill>
              <a:effectLst/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Content-Type: application/json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</a:t>
            </a:r>
            <a:r>
              <a:rPr lang="en-US" altLang="zh-CN" sz="1400" b="1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  <a:sym typeface="+mn-ea"/>
              </a:rPr>
              <a:t>"code": 0,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"cost": 0,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"1", "distance": 0.834},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"2", "distance": 0.721},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{"id": "3", "distance": 0.655}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]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 b="1"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768715" y="2120900"/>
            <a:ext cx="783590" cy="599440"/>
          </a:xfrm>
          <a:prstGeom prst="rect">
            <a:avLst/>
          </a:prstGeom>
        </p:spPr>
      </p:pic>
      <p:sp>
        <p:nvSpPr>
          <p:cNvPr id="54" name="右箭头 53"/>
          <p:cNvSpPr/>
          <p:nvPr>
            <p:custDataLst>
              <p:tags r:id="rId24"/>
            </p:custDataLst>
          </p:nvPr>
        </p:nvSpPr>
        <p:spPr>
          <a:xfrm>
            <a:off x="3390900" y="4946650"/>
            <a:ext cx="5308600" cy="34734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6615430" y="1936115"/>
            <a:ext cx="1874520" cy="21539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6680835" y="2015490"/>
            <a:ext cx="1756410" cy="20618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00000"/>
              </a:lnSpc>
            </a:pPr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</a:t>
            </a:r>
            <a:r>
              <a:rPr 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0</a:t>
            </a:r>
            <a:r>
              <a:rPr lang="zh-CN" altLang="en-US" sz="1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时，</a:t>
            </a:r>
            <a:endParaRPr lang="zh-CN" altLang="en-US" sz="1400" b="1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 sz="1400" b="1">
                <a:latin typeface="Cambria" panose="02040503050406030204" charset="0"/>
                <a:cs typeface="Cambria" panose="02040503050406030204" charset="0"/>
                <a:sym typeface="+mn-ea"/>
              </a:rPr>
              <a:t>VDBMS</a:t>
            </a:r>
            <a:r>
              <a:rPr lang="zh-CN" altLang="en-US" sz="1400" b="1">
                <a:latin typeface="Cambria" panose="02040503050406030204" charset="0"/>
                <a:cs typeface="Cambria" panose="02040503050406030204" charset="0"/>
                <a:sym typeface="+mn-ea"/>
              </a:rPr>
              <a:t>实际行为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  <a:sym typeface="+mn-ea"/>
              </a:rPr>
              <a:t>：</a:t>
            </a:r>
            <a:endParaRPr lang="zh-CN" altLang="en-US" sz="140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</a:pPr>
            <a:br>
              <a:rPr lang="en-US" altLang="zh-CN" sz="14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code: 0 +HTTP 200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:</a:t>
            </a:r>
            <a:br>
              <a:rPr lang="en-US" altLang="zh-CN" sz="20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VDBMS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报告查询操作成功，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nprobe=0 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被静默接受,返回了"结果"。</a:t>
            </a:r>
            <a:endParaRPr lang="zh-CN" altLang="en-US" sz="140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67" name="直接箭头连接符 66"/>
          <p:cNvCxnSpPr>
            <a:endCxn id="70" idx="1"/>
          </p:cNvCxnSpPr>
          <p:nvPr>
            <p:custDataLst>
              <p:tags r:id="rId25"/>
            </p:custDataLst>
          </p:nvPr>
        </p:nvCxnSpPr>
        <p:spPr>
          <a:xfrm>
            <a:off x="2962910" y="4679315"/>
            <a:ext cx="491490" cy="125793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9" name="圆角矩形 68"/>
          <p:cNvSpPr/>
          <p:nvPr/>
        </p:nvSpPr>
        <p:spPr>
          <a:xfrm>
            <a:off x="3454400" y="5592445"/>
            <a:ext cx="2580640" cy="70294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3454400" y="5753100"/>
            <a:ext cx="2578100" cy="367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Cambria" panose="02040503050406030204" charset="0"/>
                <a:cs typeface="Cambria" panose="02040503050406030204" charset="0"/>
              </a:rPr>
              <a:t>尝试进行</a:t>
            </a:r>
            <a:r>
              <a:rPr lang="en-US" altLang="zh-CN" sz="1600">
                <a:latin typeface="Cambria" panose="02040503050406030204" charset="0"/>
                <a:cs typeface="Cambria" panose="02040503050406030204" charset="0"/>
              </a:rPr>
              <a:t>nprobe=0</a:t>
            </a:r>
            <a:r>
              <a:rPr lang="zh-CN" altLang="en-US" sz="1600">
                <a:latin typeface="Cambria" panose="02040503050406030204" charset="0"/>
                <a:cs typeface="Cambria" panose="02040503050406030204" charset="0"/>
              </a:rPr>
              <a:t>的查询</a:t>
            </a:r>
            <a:endParaRPr lang="zh-CN" altLang="en-US" sz="1600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949950" y="4116070"/>
            <a:ext cx="520065" cy="532130"/>
          </a:xfrm>
          <a:prstGeom prst="rect">
            <a:avLst/>
          </a:prstGeom>
        </p:spPr>
      </p:pic>
      <p:sp>
        <p:nvSpPr>
          <p:cNvPr id="72" name="圆角矩形 71"/>
          <p:cNvSpPr/>
          <p:nvPr/>
        </p:nvSpPr>
        <p:spPr>
          <a:xfrm>
            <a:off x="3859530" y="1935480"/>
            <a:ext cx="1906905" cy="216471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3855720" y="1983740"/>
            <a:ext cx="1962785" cy="1511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nprobe=</a:t>
            </a:r>
            <a:r>
              <a:rPr lang="en-US" sz="1400" b="1"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0</a:t>
            </a:r>
            <a:r>
              <a:rPr lang="zh-CN" altLang="en-US" sz="1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时，</a:t>
            </a:r>
            <a:br>
              <a:rPr lang="zh-CN" altLang="en-US" sz="1400" b="1">
                <a:latin typeface="Cambria" panose="02040503050406030204" charset="0"/>
                <a:cs typeface="Cambria" panose="02040503050406030204" charset="0"/>
              </a:rPr>
            </a:br>
            <a:r>
              <a:rPr lang="zh-CN" altLang="en-US" sz="1400" b="1">
                <a:latin typeface="Cambria" panose="02040503050406030204" charset="0"/>
                <a:cs typeface="Cambria" panose="02040503050406030204" charset="0"/>
              </a:rPr>
              <a:t>预期正确行为</a:t>
            </a:r>
            <a:r>
              <a:rPr lang="zh-CN" altLang="en-US" sz="1400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 sz="1400">
              <a:latin typeface="Cambria" panose="02040503050406030204" charset="0"/>
              <a:cs typeface="Cambria" panose="02040503050406030204" charset="0"/>
            </a:endParaRPr>
          </a:p>
          <a:p>
            <a:br>
              <a:rPr lang="en-US" altLang="zh-CN" sz="1200">
                <a:latin typeface="Cambria" panose="02040503050406030204" charset="0"/>
                <a:cs typeface="Cambria" panose="02040503050406030204" charset="0"/>
              </a:rPr>
            </a:br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HTTP/1.1 </a:t>
            </a:r>
            <a:r>
              <a:rPr lang="en-US" altLang="zh-CN" sz="1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</a:rPr>
              <a:t>400 Bad Request</a:t>
            </a:r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  "code": 1100,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  </a:t>
            </a:r>
            <a:r>
              <a:rPr lang="en-US" altLang="zh-CN" sz="12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ambria" panose="02040503050406030204" charset="0"/>
                <a:cs typeface="Cambria" panose="02040503050406030204" charset="0"/>
              </a:rPr>
              <a:t>"message": "nprobe must be in [1, 16384]; got 0"</a:t>
            </a:r>
            <a:endParaRPr lang="en-US" altLang="zh-CN" sz="1200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2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200"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66" name="直接箭头连接符 65"/>
          <p:cNvCxnSpPr>
            <a:endCxn id="70" idx="1"/>
          </p:cNvCxnSpPr>
          <p:nvPr>
            <p:custDataLst>
              <p:tags r:id="rId29"/>
            </p:custDataLst>
          </p:nvPr>
        </p:nvCxnSpPr>
        <p:spPr>
          <a:xfrm>
            <a:off x="2719070" y="5769610"/>
            <a:ext cx="735330" cy="167640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右箭头 4"/>
          <p:cNvSpPr/>
          <p:nvPr>
            <p:custDataLst>
              <p:tags r:id="rId30"/>
            </p:custDataLst>
          </p:nvPr>
        </p:nvSpPr>
        <p:spPr>
          <a:xfrm>
            <a:off x="3356610" y="2771140"/>
            <a:ext cx="499745" cy="347345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/>
          <p:nvPr>
            <p:custDataLst>
              <p:tags r:id="rId31"/>
            </p:custDataLst>
          </p:nvPr>
        </p:nvCxnSpPr>
        <p:spPr>
          <a:xfrm flipH="1" flipV="1">
            <a:off x="8497570" y="3016250"/>
            <a:ext cx="429260" cy="3619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63" idx="3"/>
          </p:cNvCxnSpPr>
          <p:nvPr>
            <p:custDataLst>
              <p:tags r:id="rId32"/>
            </p:custDataLst>
          </p:nvPr>
        </p:nvCxnSpPr>
        <p:spPr>
          <a:xfrm flipH="1" flipV="1">
            <a:off x="8489950" y="3013075"/>
            <a:ext cx="499110" cy="912495"/>
          </a:xfrm>
          <a:prstGeom prst="straightConnector1">
            <a:avLst/>
          </a:prstGeom>
          <a:ln w="25400"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 descr="不等于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911850" y="2738120"/>
            <a:ext cx="558165" cy="558165"/>
          </a:xfrm>
          <a:prstGeom prst="rect">
            <a:avLst/>
          </a:prstGeom>
        </p:spPr>
      </p:pic>
      <p:sp>
        <p:nvSpPr>
          <p:cNvPr id="22" name="下箭头 21"/>
          <p:cNvSpPr/>
          <p:nvPr/>
        </p:nvSpPr>
        <p:spPr>
          <a:xfrm>
            <a:off x="6014720" y="3311525"/>
            <a:ext cx="391160" cy="763270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34965" y="5123815"/>
            <a:ext cx="1296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Execution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bldLvl="0" animBg="1"/>
      <p:bldP spid="73" grpId="0"/>
      <p:bldP spid="5" grpId="0" bldLvl="0" animBg="1"/>
      <p:bldP spid="69" grpId="0" bldLvl="0" animBg="1"/>
      <p:bldP spid="70" grpId="0"/>
      <p:bldP spid="54" grpId="0" bldLvl="0" animBg="1"/>
      <p:bldP spid="23" grpId="0"/>
      <p:bldP spid="31" grpId="0" bldLvl="0" animBg="1"/>
      <p:bldP spid="37" grpId="0" bldLvl="0" animBg="1"/>
      <p:bldP spid="38" grpId="0"/>
      <p:bldP spid="43" grpId="0"/>
      <p:bldP spid="63" grpId="0" bldLvl="0" animBg="1"/>
      <p:bldP spid="64" grpId="0"/>
      <p:bldP spid="22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058545"/>
            <a:ext cx="10852150" cy="55352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propose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TestVDB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to detect </a:t>
            </a:r>
            <a:r>
              <a:rPr sz="2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Doc-implementation</a:t>
            </a:r>
            <a:r>
              <a:rPr lang="en-US" altLang="zh-CN" sz="2400" b="1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inconsistency</a:t>
            </a:r>
            <a:r>
              <a:rPr lang="en-US" altLang="zh-CN" sz="2400" b="1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logic bugs in VDBMSs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Approach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 descr="文档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32280" y="2252345"/>
            <a:ext cx="713105" cy="7131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33045" y="3429000"/>
            <a:ext cx="23895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① Behavioral_claims Extraction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5" name="图片 4" descr="箭头-直角-向右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81760" y="2400300"/>
            <a:ext cx="415925" cy="415925"/>
          </a:xfrm>
          <a:prstGeom prst="rect">
            <a:avLst/>
          </a:prstGeom>
        </p:spPr>
      </p:pic>
      <p:pic>
        <p:nvPicPr>
          <p:cNvPr id="6" name="图片 5" descr="书本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02310" y="2255520"/>
            <a:ext cx="668655" cy="712470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553085" y="2161540"/>
            <a:ext cx="189230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箭头连接符 8"/>
          <p:cNvCxnSpPr>
            <a:stCxn id="8" idx="3"/>
            <a:endCxn id="16" idx="1"/>
          </p:cNvCxnSpPr>
          <p:nvPr/>
        </p:nvCxnSpPr>
        <p:spPr>
          <a:xfrm>
            <a:off x="2445599" y="2736338"/>
            <a:ext cx="812165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185160" y="3432175"/>
            <a:ext cx="19456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②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G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eneration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档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5495" y="2254885"/>
            <a:ext cx="713105" cy="713105"/>
          </a:xfrm>
          <a:prstGeom prst="rect">
            <a:avLst/>
          </a:prstGeom>
        </p:spPr>
      </p:pic>
      <p:pic>
        <p:nvPicPr>
          <p:cNvPr id="14" name="图片 13" descr="箭头-直角-向右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50335" y="2403475"/>
            <a:ext cx="415925" cy="415925"/>
          </a:xfrm>
          <a:prstGeom prst="rect">
            <a:avLst/>
          </a:prstGeom>
        </p:spPr>
      </p:pic>
      <p:sp>
        <p:nvSpPr>
          <p:cNvPr id="16" name="圆角矩形 15"/>
          <p:cNvSpPr/>
          <p:nvPr/>
        </p:nvSpPr>
        <p:spPr>
          <a:xfrm>
            <a:off x="3257550" y="2164715"/>
            <a:ext cx="1892300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 descr="程序代码编程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417695" y="2254250"/>
            <a:ext cx="648335" cy="713740"/>
          </a:xfrm>
          <a:prstGeom prst="rect">
            <a:avLst/>
          </a:prstGeom>
        </p:spPr>
      </p:pic>
      <p:grpSp>
        <p:nvGrpSpPr>
          <p:cNvPr id="53" name="组合 52"/>
          <p:cNvGrpSpPr/>
          <p:nvPr/>
        </p:nvGrpSpPr>
        <p:grpSpPr>
          <a:xfrm>
            <a:off x="7557770" y="2209165"/>
            <a:ext cx="694055" cy="714375"/>
            <a:chOff x="10768037" y="2587551"/>
            <a:chExt cx="694233" cy="769441"/>
          </a:xfrm>
        </p:grpSpPr>
        <p:sp>
          <p:nvSpPr>
            <p:cNvPr id="54" name="圆柱体 53"/>
            <p:cNvSpPr/>
            <p:nvPr/>
          </p:nvSpPr>
          <p:spPr bwMode="auto">
            <a:xfrm>
              <a:off x="10768037" y="2649006"/>
              <a:ext cx="693836" cy="707986"/>
            </a:xfrm>
            <a:prstGeom prst="can">
              <a:avLst>
                <a:gd name="adj" fmla="val 4467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vert="horz" wrap="square" lIns="91440" tIns="45720" rIns="91440" bIns="45720" numCol="1" rtlCol="0" anchor="ctr" anchorCtr="0" compatLnSpc="1">
              <a:noAutofit/>
            </a:bodyPr>
            <a:lstStyle/>
            <a:p>
              <a:pPr algn="ctr" fontAlgn="base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SzPct val="75000"/>
              </a:pPr>
              <a:r>
                <a:rPr lang="en-US" altLang="zh-CN" sz="2800" dirty="0">
                  <a:latin typeface="Times New Roman" panose="02020603050405020304" charset="0"/>
                  <a:ea typeface="Linux Libertine O" panose="02000503000000000000" pitchFamily="50" charset="0"/>
                  <a:cs typeface="Times New Roman" panose="02020603050405020304" charset="0"/>
                </a:rPr>
                <a:t>      </a:t>
              </a:r>
              <a:endParaRPr lang="zh-CN" altLang="en-US" sz="2800" dirty="0" err="1">
                <a:latin typeface="Times New Roman" panose="02020603050405020304" charset="0"/>
                <a:ea typeface="Linux Libertine O" panose="02000503000000000000" pitchFamily="50" charset="0"/>
                <a:cs typeface="Times New Roman" panose="02020603050405020304" charset="0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0768433" y="2587551"/>
              <a:ext cx="693837" cy="4295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latin typeface="Times New Roman" panose="02020603050405020304" charset="0"/>
                </a:rPr>
                <a:t>vdb</a:t>
              </a:r>
              <a:endParaRPr lang="en-US" altLang="zh-CN" sz="2000" b="1" dirty="0">
                <a:latin typeface="Times New Roman" panose="02020603050405020304" charset="0"/>
              </a:endParaRPr>
            </a:p>
          </p:txBody>
        </p:sp>
      </p:grpSp>
      <p:cxnSp>
        <p:nvCxnSpPr>
          <p:cNvPr id="18" name="直接箭头连接符 17"/>
          <p:cNvCxnSpPr>
            <a:stCxn id="16" idx="3"/>
            <a:endCxn id="22" idx="1"/>
          </p:cNvCxnSpPr>
          <p:nvPr/>
        </p:nvCxnSpPr>
        <p:spPr>
          <a:xfrm flipV="1">
            <a:off x="5150064" y="2736338"/>
            <a:ext cx="1050925" cy="3175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图片 20" descr="箭头-直角-向右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66280" y="2435225"/>
            <a:ext cx="415925" cy="415925"/>
          </a:xfrm>
          <a:prstGeom prst="rect">
            <a:avLst/>
          </a:prstGeom>
        </p:spPr>
      </p:pic>
      <p:sp>
        <p:nvSpPr>
          <p:cNvPr id="22" name="圆角矩形 21"/>
          <p:cNvSpPr/>
          <p:nvPr/>
        </p:nvSpPr>
        <p:spPr>
          <a:xfrm>
            <a:off x="6200775" y="2161540"/>
            <a:ext cx="5353685" cy="114871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 descr="程序代码编程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341110" y="2255520"/>
            <a:ext cx="648335" cy="713740"/>
          </a:xfrm>
          <a:prstGeom prst="rect">
            <a:avLst/>
          </a:prstGeom>
        </p:spPr>
      </p:pic>
      <p:pic>
        <p:nvPicPr>
          <p:cNvPr id="24" name="图片 23" descr="箭头-直角-向右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8025" y="2435225"/>
            <a:ext cx="415925" cy="415925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7602855" y="3387725"/>
            <a:ext cx="20072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③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Test 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cript </a:t>
            </a:r>
            <a:endParaRPr lang="en-US" altLang="zh-CN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    E</a:t>
            </a:r>
            <a:r>
              <a:rPr lang="en-US" altLang="zh-CN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xecution</a:t>
            </a:r>
            <a:endParaRPr lang="en-US" altLang="zh-CN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文件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699625" y="2255520"/>
            <a:ext cx="693420" cy="692785"/>
          </a:xfrm>
          <a:prstGeom prst="rect">
            <a:avLst/>
          </a:prstGeom>
        </p:spPr>
      </p:pic>
      <p:pic>
        <p:nvPicPr>
          <p:cNvPr id="31" name="图片 30" descr="文件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790940" y="2235200"/>
            <a:ext cx="693420" cy="713105"/>
          </a:xfrm>
          <a:prstGeom prst="rect">
            <a:avLst/>
          </a:prstGeom>
        </p:spPr>
      </p:pic>
      <p:pic>
        <p:nvPicPr>
          <p:cNvPr id="32" name="图片 31" descr="加号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441180" y="2462530"/>
            <a:ext cx="356870" cy="35687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466725" y="2861945"/>
            <a:ext cx="110680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670050" y="288353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claims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257550" y="2886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Behavioral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claims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312920" y="288671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247130" y="2884805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Test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</a:rPr>
              <a:t>scripts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7482205" y="2923540"/>
            <a:ext cx="8369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875093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9627870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44" name="圆角矩形 43"/>
          <p:cNvSpPr/>
          <p:nvPr/>
        </p:nvSpPr>
        <p:spPr>
          <a:xfrm>
            <a:off x="8751570" y="2009140"/>
            <a:ext cx="284988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1601470" y="2009775"/>
            <a:ext cx="102298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134860" y="4171950"/>
            <a:ext cx="2762250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8" name="图片 47" descr="文档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37230" y="4259580"/>
            <a:ext cx="713105" cy="713105"/>
          </a:xfrm>
          <a:prstGeom prst="rect">
            <a:avLst/>
          </a:prstGeom>
        </p:spPr>
      </p:pic>
      <p:pic>
        <p:nvPicPr>
          <p:cNvPr id="49" name="图片 48" descr="文件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99425" y="4406265"/>
            <a:ext cx="693420" cy="692785"/>
          </a:xfrm>
          <a:prstGeom prst="rect">
            <a:avLst/>
          </a:prstGeom>
        </p:spPr>
      </p:pic>
      <p:pic>
        <p:nvPicPr>
          <p:cNvPr id="50" name="图片 49" descr="文件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72960" y="4385945"/>
            <a:ext cx="693420" cy="713105"/>
          </a:xfrm>
          <a:prstGeom prst="rect">
            <a:avLst/>
          </a:prstGeom>
        </p:spPr>
      </p:pic>
      <p:pic>
        <p:nvPicPr>
          <p:cNvPr id="51" name="图片 50" descr="加号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816850" y="4636135"/>
            <a:ext cx="356870" cy="35687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7754620" y="5099050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VDBMS’s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Actual Behaviour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5" name="圆角矩形 54"/>
          <p:cNvSpPr/>
          <p:nvPr/>
        </p:nvSpPr>
        <p:spPr>
          <a:xfrm>
            <a:off x="2842260" y="4171950"/>
            <a:ext cx="1503045" cy="1438275"/>
          </a:xfrm>
          <a:prstGeom prst="roundRect">
            <a:avLst/>
          </a:prstGeom>
          <a:noFill/>
          <a:ln w="34925" cmpd="sng">
            <a:solidFill>
              <a:srgbClr val="000000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/>
        </p:nvSpPr>
        <p:spPr>
          <a:xfrm>
            <a:off x="2841625" y="4972685"/>
            <a:ext cx="1503680" cy="3784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Comic Sans MS" panose="030F0702030302020204" charset="0"/>
                <a:cs typeface="Comic Sans MS" panose="030F0702030302020204" charset="0"/>
              </a:rPr>
              <a:t>Expected VDBMS Behavior in Documentation</a:t>
            </a:r>
            <a:endParaRPr lang="en-US" altLang="zh-CN" sz="1200" b="1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9" name="曲线连接符 58"/>
          <p:cNvCxnSpPr/>
          <p:nvPr/>
        </p:nvCxnSpPr>
        <p:spPr>
          <a:xfrm rot="5400000">
            <a:off x="9634220" y="3710940"/>
            <a:ext cx="1452880" cy="92710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曲线连接符 59"/>
          <p:cNvCxnSpPr>
            <a:stCxn id="45" idx="2"/>
            <a:endCxn id="55" idx="1"/>
          </p:cNvCxnSpPr>
          <p:nvPr/>
        </p:nvCxnSpPr>
        <p:spPr>
          <a:xfrm rot="5400000" flipV="1">
            <a:off x="1756093" y="3805238"/>
            <a:ext cx="1443355" cy="728980"/>
          </a:xfrm>
          <a:prstGeom prst="curvedConnector2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椭圆 64"/>
          <p:cNvSpPr/>
          <p:nvPr/>
        </p:nvSpPr>
        <p:spPr>
          <a:xfrm>
            <a:off x="5327650" y="4491355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776595" y="4722495"/>
            <a:ext cx="336550" cy="336550"/>
          </a:xfrm>
          <a:prstGeom prst="rect">
            <a:avLst/>
          </a:prstGeom>
        </p:spPr>
      </p:pic>
      <p:cxnSp>
        <p:nvCxnSpPr>
          <p:cNvPr id="68" name="直接箭头连接符 67"/>
          <p:cNvCxnSpPr>
            <a:stCxn id="55" idx="3"/>
            <a:endCxn id="65" idx="2"/>
          </p:cNvCxnSpPr>
          <p:nvPr/>
        </p:nvCxnSpPr>
        <p:spPr>
          <a:xfrm>
            <a:off x="4345305" y="4891405"/>
            <a:ext cx="982345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>
            <a:endCxn id="65" idx="6"/>
          </p:cNvCxnSpPr>
          <p:nvPr/>
        </p:nvCxnSpPr>
        <p:spPr>
          <a:xfrm flipH="1">
            <a:off x="6162040" y="4891405"/>
            <a:ext cx="972820" cy="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stCxn id="65" idx="5"/>
          </p:cNvCxnSpPr>
          <p:nvPr/>
        </p:nvCxnSpPr>
        <p:spPr>
          <a:xfrm>
            <a:off x="6040120" y="5173980"/>
            <a:ext cx="349250" cy="6457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1" name="图片 70" descr="BUG问题修复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075680" y="5876290"/>
            <a:ext cx="648970" cy="664210"/>
          </a:xfrm>
          <a:prstGeom prst="rect">
            <a:avLst/>
          </a:prstGeom>
        </p:spPr>
      </p:pic>
      <p:sp>
        <p:nvSpPr>
          <p:cNvPr id="72" name="文本框 71"/>
          <p:cNvSpPr txBox="1"/>
          <p:nvPr/>
        </p:nvSpPr>
        <p:spPr>
          <a:xfrm>
            <a:off x="4345305" y="4123055"/>
            <a:ext cx="27463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④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Defect Confirmation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6995160" y="602424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74" name="直接连接符 73"/>
          <p:cNvCxnSpPr>
            <a:endCxn id="65" idx="4"/>
          </p:cNvCxnSpPr>
          <p:nvPr/>
        </p:nvCxnSpPr>
        <p:spPr>
          <a:xfrm>
            <a:off x="5728970" y="4511675"/>
            <a:ext cx="15875" cy="77978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392420" y="4723130"/>
            <a:ext cx="317500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3"/>
          </p:cNvCxnSpPr>
          <p:nvPr/>
        </p:nvCxnSpPr>
        <p:spPr>
          <a:xfrm flipH="1">
            <a:off x="5132070" y="5173980"/>
            <a:ext cx="317500" cy="65849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4789805" y="5876290"/>
            <a:ext cx="537845" cy="53784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3827145" y="6096000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" name="图片 6" descr="数据库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722610" y="2209165"/>
            <a:ext cx="758825" cy="758825"/>
          </a:xfrm>
          <a:prstGeom prst="rect">
            <a:avLst/>
          </a:prstGeom>
        </p:spPr>
      </p:pic>
      <p:pic>
        <p:nvPicPr>
          <p:cNvPr id="15" name="图片 14" descr="加号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342880" y="2459355"/>
            <a:ext cx="356870" cy="35687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10615295" y="2909570"/>
            <a:ext cx="8369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</a:t>
            </a:r>
            <a:r>
              <a:rPr lang="en-US" altLang="zh-CN" sz="10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state</a:t>
            </a:r>
            <a:endParaRPr lang="en-US" altLang="zh-CN" sz="10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pic>
        <p:nvPicPr>
          <p:cNvPr id="28" name="图片 27" descr="数据库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9072245" y="4385945"/>
            <a:ext cx="758825" cy="758825"/>
          </a:xfrm>
          <a:prstGeom prst="rect">
            <a:avLst/>
          </a:prstGeom>
        </p:spPr>
      </p:pic>
      <p:pic>
        <p:nvPicPr>
          <p:cNvPr id="34" name="图片 33" descr="加号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732520" y="4636135"/>
            <a:ext cx="356870" cy="35687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ldLvl="0" animBg="1"/>
      <p:bldP spid="55" grpId="0" bldLvl="0" animBg="1"/>
      <p:bldP spid="58" grpId="0"/>
      <p:bldP spid="44" grpId="0" bldLvl="0" animBg="1"/>
      <p:bldP spid="47" grpId="0" bldLvl="0" animBg="1"/>
      <p:bldP spid="52" grpId="0"/>
      <p:bldP spid="65" grpId="0" bldLvl="0" animBg="1"/>
      <p:bldP spid="72" grpId="0"/>
      <p:bldP spid="73" grpId="0"/>
      <p:bldP spid="7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554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Step 1: We extract structured behavioral claims from na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tur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al- language documentation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332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Behavioral claims extraction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188" name="圆角矩形 187"/>
          <p:cNvSpPr/>
          <p:nvPr>
            <p:custDataLst>
              <p:tags r:id="rId3"/>
            </p:custDataLst>
          </p:nvPr>
        </p:nvSpPr>
        <p:spPr>
          <a:xfrm>
            <a:off x="455930" y="2406650"/>
            <a:ext cx="4914265" cy="358457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pic>
        <p:nvPicPr>
          <p:cNvPr id="189" name="图片 18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6285" y="2475230"/>
            <a:ext cx="603885" cy="603885"/>
          </a:xfrm>
          <a:prstGeom prst="rect">
            <a:avLst/>
          </a:prstGeom>
        </p:spPr>
      </p:pic>
      <p:sp>
        <p:nvSpPr>
          <p:cNvPr id="190" name="文本框 189"/>
          <p:cNvSpPr txBox="1"/>
          <p:nvPr>
            <p:custDataLst>
              <p:tags r:id="rId7"/>
            </p:custDataLst>
          </p:nvPr>
        </p:nvSpPr>
        <p:spPr>
          <a:xfrm>
            <a:off x="2019935" y="2592070"/>
            <a:ext cx="1785620" cy="454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91" name="圆角矩形 190"/>
          <p:cNvSpPr/>
          <p:nvPr>
            <p:custDataLst>
              <p:tags r:id="rId8"/>
            </p:custDataLst>
          </p:nvPr>
        </p:nvSpPr>
        <p:spPr>
          <a:xfrm>
            <a:off x="6471920" y="2407285"/>
            <a:ext cx="446913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>
            <p:custDataLst>
              <p:tags r:id="rId9"/>
            </p:custDataLst>
          </p:nvPr>
        </p:nvSpPr>
        <p:spPr>
          <a:xfrm>
            <a:off x="7722235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93" name="图片 192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30060" y="2475865"/>
            <a:ext cx="699770" cy="603885"/>
          </a:xfrm>
          <a:prstGeom prst="rect">
            <a:avLst/>
          </a:prstGeom>
        </p:spPr>
      </p:pic>
      <p:pic>
        <p:nvPicPr>
          <p:cNvPr id="209" name="图片 208"/>
          <p:cNvPicPr>
            <a:picLocks noChangeAspect="1"/>
          </p:cNvPicPr>
          <p:nvPr/>
        </p:nvPicPr>
        <p:blipFill>
          <a:blip r:embed="rId13"/>
          <a:srcRect r="26800" b="26871"/>
          <a:stretch>
            <a:fillRect/>
          </a:stretch>
        </p:blipFill>
        <p:spPr>
          <a:xfrm>
            <a:off x="680085" y="3291205"/>
            <a:ext cx="4527550" cy="2378710"/>
          </a:xfrm>
          <a:prstGeom prst="rect">
            <a:avLst/>
          </a:prstGeom>
          <a:ln w="25400" cmpd="thickThin">
            <a:solidFill>
              <a:srgbClr val="000000"/>
            </a:solidFill>
            <a:prstDash val="solid"/>
          </a:ln>
        </p:spPr>
      </p:pic>
      <p:cxnSp>
        <p:nvCxnSpPr>
          <p:cNvPr id="210" name="直接箭头连接符 209"/>
          <p:cNvCxnSpPr>
            <a:stCxn id="188" idx="3"/>
            <a:endCxn id="191" idx="1"/>
          </p:cNvCxnSpPr>
          <p:nvPr/>
        </p:nvCxnSpPr>
        <p:spPr>
          <a:xfrm>
            <a:off x="5370195" y="4199255"/>
            <a:ext cx="1101725" cy="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24625" y="329184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2: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We generate executable test scripts from the structured contract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Generation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cxnSp>
        <p:nvCxnSpPr>
          <p:cNvPr id="210" name="直接箭头连接符 209"/>
          <p:cNvCxnSpPr/>
          <p:nvPr/>
        </p:nvCxnSpPr>
        <p:spPr>
          <a:xfrm flipV="1">
            <a:off x="5518150" y="4175125"/>
            <a:ext cx="1225550" cy="1905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6751955" y="2407285"/>
            <a:ext cx="384048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002270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67525" y="3291840"/>
            <a:ext cx="3724910" cy="234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/v2/vectordb/entities/search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localhost:19530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"params": { "nprobe": 0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67880" y="2475865"/>
            <a:ext cx="652780" cy="603885"/>
          </a:xfrm>
          <a:prstGeom prst="rect">
            <a:avLst/>
          </a:prstGeom>
        </p:spPr>
      </p:pic>
      <p:sp>
        <p:nvSpPr>
          <p:cNvPr id="9" name="圆角矩形 8"/>
          <p:cNvSpPr/>
          <p:nvPr>
            <p:custDataLst>
              <p:tags r:id="rId8"/>
            </p:custDataLst>
          </p:nvPr>
        </p:nvSpPr>
        <p:spPr>
          <a:xfrm>
            <a:off x="1061720" y="2407285"/>
            <a:ext cx="4469130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2312035" y="25952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1" name="图片 10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419860" y="2475865"/>
            <a:ext cx="699770" cy="60388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114425" y="329184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8046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3: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we execute the generated scripts against a sandboxed VDBMS instance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6385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Test Script Execution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90220" y="2432685"/>
            <a:ext cx="3336925" cy="358394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442085" y="2620645"/>
            <a:ext cx="2526665" cy="484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2925" y="3317240"/>
            <a:ext cx="3323590" cy="2346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POST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/v2/vectordb/entities/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search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 b="1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Host: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localhost:19530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"collectionName": "demo",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"data": [[0.1, 0.2, 0.3, ..., 0.512]],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"searchParams": {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  </a:t>
            </a: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"params": { "nprobe": 0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  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125" y="2501265"/>
            <a:ext cx="652780" cy="603885"/>
          </a:xfrm>
          <a:prstGeom prst="rect">
            <a:avLst/>
          </a:prstGeom>
        </p:spPr>
      </p:pic>
      <p:cxnSp>
        <p:nvCxnSpPr>
          <p:cNvPr id="3" name="直接箭头连接符 2"/>
          <p:cNvCxnSpPr>
            <a:stCxn id="5" idx="3"/>
            <a:endCxn id="7" idx="1"/>
          </p:cNvCxnSpPr>
          <p:nvPr/>
        </p:nvCxnSpPr>
        <p:spPr>
          <a:xfrm>
            <a:off x="3827145" y="4224655"/>
            <a:ext cx="1361440" cy="1270"/>
          </a:xfrm>
          <a:prstGeom prst="straightConnector1">
            <a:avLst/>
          </a:prstGeom>
          <a:ln w="28575" cmpd="sng"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圆角矩形 6"/>
          <p:cNvSpPr/>
          <p:nvPr>
            <p:custDataLst>
              <p:tags r:id="rId8"/>
            </p:custDataLst>
          </p:nvPr>
        </p:nvSpPr>
        <p:spPr>
          <a:xfrm>
            <a:off x="5188585" y="1873885"/>
            <a:ext cx="6125845" cy="4703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863205" y="2025015"/>
            <a:ext cx="3308985" cy="2895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79080" y="2143760"/>
            <a:ext cx="883920" cy="70294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5329555" y="2025015"/>
            <a:ext cx="2474595" cy="43338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1" name="图片 30" descr="文件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04485" y="2127250"/>
            <a:ext cx="699770" cy="7194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6012815" y="2394585"/>
            <a:ext cx="1858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770620" y="2378710"/>
            <a:ext cx="21869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7863205" y="4979035"/>
            <a:ext cx="3308985" cy="13290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4" name="图片 13" descr="数据库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11795" y="5062855"/>
            <a:ext cx="758825" cy="7588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7804150" y="5807075"/>
            <a:ext cx="15455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state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879080" y="2961640"/>
            <a:ext cx="3371215" cy="1845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[2026/05/15 06:44:24.253 Z] [GIN]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[/v2/vectordb/entities/search]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[traceID=92b0db3bcacc727fbe4727333ca5a0ce]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[code=200] [latency=2.513332ms]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[client=172.18.0.1] [method=POST] [error=]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61610" y="3201670"/>
            <a:ext cx="261112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HTTP/1.1 200 OK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Content-Type: application/json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"code":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"cost":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"data": [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0,    "id": 1},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64,   "id": 2},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256,  "id": 3}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],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"topks": [3]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78265" y="5320665"/>
            <a:ext cx="2115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No state change observed.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74040" y="1161415"/>
            <a:ext cx="10852150" cy="491299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Step 4: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we confirm defects by comparing the expected behavior (claims) against the actual behavior (execution)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21185" y="363596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717911" y="1058679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718185" y="382905"/>
            <a:ext cx="1164844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546590" y="6198870"/>
            <a:ext cx="1934845" cy="26543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3"/>
            </p:custDataLst>
          </p:nvPr>
        </p:nvSpPr>
        <p:spPr>
          <a:xfrm>
            <a:off x="248285" y="2038350"/>
            <a:ext cx="6125845" cy="470344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2922905" y="2189480"/>
            <a:ext cx="3308985" cy="28956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" name="图片 12" descr="文件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38780" y="2308225"/>
            <a:ext cx="883920" cy="702945"/>
          </a:xfrm>
          <a:prstGeom prst="rect">
            <a:avLst/>
          </a:prstGeom>
        </p:spPr>
      </p:pic>
      <p:sp>
        <p:nvSpPr>
          <p:cNvPr id="24" name="圆角矩形 23"/>
          <p:cNvSpPr/>
          <p:nvPr/>
        </p:nvSpPr>
        <p:spPr>
          <a:xfrm>
            <a:off x="389255" y="2189480"/>
            <a:ext cx="2474595" cy="433387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1" name="图片 30" descr="文件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4185" y="2291715"/>
            <a:ext cx="699770" cy="71945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1072515" y="2559050"/>
            <a:ext cx="18586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response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830320" y="2543175"/>
            <a:ext cx="2186940" cy="327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logs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922905" y="5143500"/>
            <a:ext cx="3308985" cy="132905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4" name="图片 13" descr="数据库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71495" y="5227320"/>
            <a:ext cx="758825" cy="758825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2863850" y="5939790"/>
            <a:ext cx="16471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>
                <a:latin typeface="Comic Sans MS" panose="030F0702030302020204" charset="0"/>
                <a:cs typeface="Comic Sans MS" panose="030F0702030302020204" charset="0"/>
                <a:sym typeface="+mn-ea"/>
              </a:rPr>
              <a:t>VDBMS state</a:t>
            </a:r>
            <a:endParaRPr lang="en-US" altLang="zh-CN" sz="1600" b="1"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938780" y="3126105"/>
            <a:ext cx="3371215" cy="18453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[2026/05/15 06:44:24.253 Z] [GIN]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[/v2/vectordb/entities/search]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[traceID=92b0db3bcacc727fbe4727333ca5a0ce]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[code=200] [latency=2.513332ms]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>
              <a:defRPr sz="1300" b="0">
                <a:solidFill>
                  <a:srgbClr val="333333"/>
                </a:solidFill>
                <a:latin typeface="Microsoft YaHei" panose="020B0503020204020204" charset="-122"/>
              </a:defRPr>
            </a:pPr>
            <a:r>
              <a:rPr lang="en-US" altLang="zh-CN" sz="1600">
                <a:solidFill>
                  <a:schemeClr val="tx1"/>
                </a:solidFill>
                <a:effectLst/>
                <a:latin typeface="Cambria" panose="02040503050406030204" charset="0"/>
                <a:cs typeface="Cambria" panose="02040503050406030204" charset="0"/>
                <a:sym typeface="+mn-ea"/>
              </a:rPr>
              <a:t>[client=172.18.0.1] [method=POST] [error=]</a:t>
            </a:r>
            <a:endParaRPr lang="en-US" altLang="zh-CN" sz="1600">
              <a:solidFill>
                <a:schemeClr val="tx1"/>
              </a:solidFill>
              <a:effectLst/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21310" y="3366135"/>
            <a:ext cx="2611120" cy="28917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HTTP/1.1 200 OK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Content-Type: application/json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"code":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"cost": 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"data": [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0,    "id": 1},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64,   "id": 2},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    {"distance": 256,  "id": 3}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],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    "topks": [3]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037965" y="5485130"/>
            <a:ext cx="21151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  <a:sym typeface="+mn-ea"/>
              </a:rPr>
              <a:t>No state change observed.</a:t>
            </a:r>
            <a:endParaRPr lang="zh-CN" altLang="en-US"/>
          </a:p>
        </p:txBody>
      </p:sp>
      <p:sp>
        <p:nvSpPr>
          <p:cNvPr id="191" name="圆角矩形 190"/>
          <p:cNvSpPr/>
          <p:nvPr>
            <p:custDataLst>
              <p:tags r:id="rId13"/>
            </p:custDataLst>
          </p:nvPr>
        </p:nvSpPr>
        <p:spPr>
          <a:xfrm>
            <a:off x="6531610" y="3380105"/>
            <a:ext cx="4469130" cy="336169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2" name="文本框 191"/>
          <p:cNvSpPr txBox="1"/>
          <p:nvPr>
            <p:custDataLst>
              <p:tags r:id="rId14"/>
            </p:custDataLst>
          </p:nvPr>
        </p:nvSpPr>
        <p:spPr>
          <a:xfrm>
            <a:off x="7781925" y="3568065"/>
            <a:ext cx="2526665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93" name="图片 192" descr="代码文件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889750" y="3448685"/>
            <a:ext cx="699770" cy="6038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575425" y="4052570"/>
            <a:ext cx="4415790" cy="24612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{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"constraint_id": "xxxx_001",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"endpoint": "entities+search",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"description": "nprobe must be an integer in [1,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]",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"assertion": "nprobe &gt;= 1 &amp;&amp; nprobe &lt;=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nlist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"type": "range_constraint",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"confidence": 1.0,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"evidence_tier": "explicit",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"source_url": "xxxx",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  "source_verified": true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sz="1400">
                <a:latin typeface="Cambria" panose="02040503050406030204" charset="0"/>
                <a:cs typeface="Cambria" panose="02040503050406030204" charset="0"/>
                <a:sym typeface="+mn-ea"/>
              </a:rPr>
              <a:t>}</a:t>
            </a:r>
            <a:endParaRPr lang="en-US" altLang="zh-CN" sz="140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65" name="椭圆 64"/>
          <p:cNvSpPr/>
          <p:nvPr/>
        </p:nvSpPr>
        <p:spPr>
          <a:xfrm>
            <a:off x="8348980" y="2095500"/>
            <a:ext cx="834390" cy="800100"/>
          </a:xfrm>
          <a:prstGeom prst="ellipse">
            <a:avLst/>
          </a:prstGeom>
          <a:noFill/>
          <a:ln w="34925">
            <a:solidFill>
              <a:srgbClr val="00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 descr="不等于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597900" y="2518410"/>
            <a:ext cx="336550" cy="336550"/>
          </a:xfrm>
          <a:prstGeom prst="rect">
            <a:avLst/>
          </a:prstGeom>
        </p:spPr>
      </p:pic>
      <p:cxnSp>
        <p:nvCxnSpPr>
          <p:cNvPr id="70" name="直接箭头连接符 69"/>
          <p:cNvCxnSpPr>
            <a:stCxn id="65" idx="7"/>
            <a:endCxn id="78" idx="1"/>
          </p:cNvCxnSpPr>
          <p:nvPr/>
        </p:nvCxnSpPr>
        <p:spPr>
          <a:xfrm>
            <a:off x="9061450" y="2212975"/>
            <a:ext cx="1351915" cy="635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8348980" y="2495550"/>
            <a:ext cx="834390" cy="0"/>
          </a:xfrm>
          <a:prstGeom prst="line">
            <a:avLst/>
          </a:prstGeom>
          <a:ln w="222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5" name="图片 74" descr="等于号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13140" y="2145665"/>
            <a:ext cx="305435" cy="335915"/>
          </a:xfrm>
          <a:prstGeom prst="rect">
            <a:avLst/>
          </a:prstGeom>
        </p:spPr>
      </p:pic>
      <p:cxnSp>
        <p:nvCxnSpPr>
          <p:cNvPr id="77" name="直接箭头连接符 76"/>
          <p:cNvCxnSpPr>
            <a:stCxn id="65" idx="5"/>
            <a:endCxn id="71" idx="1"/>
          </p:cNvCxnSpPr>
          <p:nvPr/>
        </p:nvCxnSpPr>
        <p:spPr>
          <a:xfrm>
            <a:off x="9061450" y="2778125"/>
            <a:ext cx="1351915" cy="7620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stCxn id="191" idx="0"/>
            <a:endCxn id="65" idx="4"/>
          </p:cNvCxnSpPr>
          <p:nvPr/>
        </p:nvCxnSpPr>
        <p:spPr>
          <a:xfrm flipV="1">
            <a:off x="8766175" y="2895600"/>
            <a:ext cx="0" cy="48450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endCxn id="65" idx="2"/>
          </p:cNvCxnSpPr>
          <p:nvPr/>
        </p:nvCxnSpPr>
        <p:spPr>
          <a:xfrm>
            <a:off x="6311900" y="2492375"/>
            <a:ext cx="2037080" cy="3175"/>
          </a:xfrm>
          <a:prstGeom prst="straightConnector1">
            <a:avLst/>
          </a:prstGeom>
          <a:ln w="34925">
            <a:solidFill>
              <a:srgbClr val="0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8" name="图片 77" descr="对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413365" y="1998345"/>
            <a:ext cx="441960" cy="441960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9255760" y="1801495"/>
            <a:ext cx="962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 Bug. 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413365" y="2559050"/>
            <a:ext cx="536575" cy="452755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9112885" y="2790825"/>
            <a:ext cx="1248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Bug found</a:t>
            </a:r>
            <a:r>
              <a:rPr lang="zh-CN" altLang="en-US">
                <a:latin typeface="Comic Sans MS" panose="030F0702030302020204" charset="0"/>
                <a:cs typeface="Comic Sans MS" panose="030F0702030302020204" charset="0"/>
              </a:rPr>
              <a:t>！</a:t>
            </a:r>
            <a:endParaRPr lang="zh-CN" altLang="en-US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142480" y="2642870"/>
            <a:ext cx="1564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comparison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65" grpId="0" animBg="1"/>
      <p:bldP spid="79" grpId="0"/>
      <p:bldP spid="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843915" y="1433195"/>
            <a:ext cx="10852150" cy="5281295"/>
          </a:xfrm>
        </p:spPr>
        <p:txBody>
          <a:bodyPr wrap="none" anchor="t" anchorCtr="0">
            <a:normAutofit/>
          </a:bodyPr>
          <a:lstStyle/>
          <a:p>
            <a:pPr algn="l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Use LLMs to read  VDBMS NL docs→ extract behavioral claims 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marL="0" indent="0" algn="l">
              <a:lnSpc>
                <a:spcPct val="100000"/>
              </a:lnSpc>
              <a:buFont typeface="Wingdings" panose="05000000000000000000" charset="0"/>
              <a:buNone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→ generate test scripts → adjudicate responses.</a:t>
            </a:r>
            <a:endParaRPr lang="en-US" altLang="zh-CN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Use LLM for A</a:t>
            </a: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utomation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8" name="圆角矩形 7"/>
          <p:cNvSpPr/>
          <p:nvPr>
            <p:custDataLst>
              <p:tags r:id="rId2"/>
            </p:custDataLst>
          </p:nvPr>
        </p:nvSpPr>
        <p:spPr>
          <a:xfrm>
            <a:off x="6292215" y="249174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 descr="书-翻开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0330" y="2488565"/>
            <a:ext cx="603885" cy="60388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983095" y="259969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7"/>
            </p:custDataLst>
          </p:nvPr>
        </p:nvSpPr>
        <p:spPr>
          <a:xfrm>
            <a:off x="6292215" y="355727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983095" y="367538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9" name="图片 8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5875" y="3556635"/>
            <a:ext cx="819015" cy="603885"/>
          </a:xfrm>
          <a:prstGeom prst="rect">
            <a:avLst/>
          </a:prstGeom>
        </p:spPr>
      </p:pic>
      <p:sp>
        <p:nvSpPr>
          <p:cNvPr id="10" name="圆角矩形 9"/>
          <p:cNvSpPr/>
          <p:nvPr>
            <p:custDataLst>
              <p:tags r:id="rId12"/>
            </p:custDataLst>
          </p:nvPr>
        </p:nvSpPr>
        <p:spPr>
          <a:xfrm>
            <a:off x="6292215" y="463804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6983730" y="475107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50330" y="4638040"/>
            <a:ext cx="652780" cy="603885"/>
          </a:xfrm>
          <a:prstGeom prst="rect">
            <a:avLst/>
          </a:prstGeom>
        </p:spPr>
      </p:pic>
      <p:sp>
        <p:nvSpPr>
          <p:cNvPr id="15" name="圆角矩形 14"/>
          <p:cNvSpPr/>
          <p:nvPr>
            <p:custDataLst>
              <p:tags r:id="rId17"/>
            </p:custDataLst>
          </p:nvPr>
        </p:nvSpPr>
        <p:spPr>
          <a:xfrm>
            <a:off x="6292215" y="561149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6942455" y="571944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365875" y="5611495"/>
            <a:ext cx="710565" cy="603885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22"/>
            </p:custDataLst>
          </p:nvPr>
        </p:nvSpPr>
        <p:spPr>
          <a:xfrm>
            <a:off x="157480" y="4515485"/>
            <a:ext cx="2854960" cy="603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861695" y="460184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judge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1" name="右弧形箭头 30"/>
          <p:cNvSpPr/>
          <p:nvPr/>
        </p:nvSpPr>
        <p:spPr>
          <a:xfrm>
            <a:off x="9114790" y="270319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右弧形箭头 31"/>
          <p:cNvSpPr/>
          <p:nvPr/>
        </p:nvSpPr>
        <p:spPr>
          <a:xfrm>
            <a:off x="9114790" y="388302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9114790" y="497014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69500" y="3085465"/>
            <a:ext cx="22726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9969500" y="427926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9969500" y="535114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247390" y="2675890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3410585" y="2823210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 [1, 16384]. Default: 8.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267075" y="2703195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3378200" y="287210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"endpoint"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must be an integer in [1,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]",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&gt;= 1 &amp;&amp; nprobe &lt;=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"type": "range_constraint",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1.0,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"explicit",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258185" y="2703195"/>
            <a:ext cx="2830195" cy="3639185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369310" y="285432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client = 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VDBClient(uri="http://localhost:19530")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client.create_collection("demo", schema=..., index_type="IVF_FLAT")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client.insert("demo", data=vectors)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response = client.search(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    "demo",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    data=[query_vec],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    search_params={"metric_type": "L2",</a:t>
            </a:r>
            <a:r>
              <a:rPr lang="en-US" altLang="zh-CN" sz="12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 "params": {"nprobe": 0}</a:t>
            </a:r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200">
                <a:latin typeface="Comic Sans MS" panose="030F0702030302020204" charset="0"/>
                <a:cs typeface="Comic Sans MS" panose="030F0702030302020204" charset="0"/>
              </a:rPr>
              <a:t>)</a:t>
            </a:r>
            <a:endParaRPr lang="en-US" altLang="zh-CN" sz="12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233420" y="2675890"/>
            <a:ext cx="2830195" cy="36391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/>
        </p:nvSpPr>
        <p:spPr>
          <a:xfrm>
            <a:off x="3366135" y="2827020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"status": "success",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"code": 0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,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"http": 200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,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"data": [{"id": "1", "distance": 0.834}, ...]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2" name="图片 41" descr="机器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38125" y="4515485"/>
            <a:ext cx="605790" cy="605790"/>
          </a:xfrm>
          <a:prstGeom prst="rect">
            <a:avLst/>
          </a:prstGeom>
        </p:spPr>
      </p:pic>
      <p:pic>
        <p:nvPicPr>
          <p:cNvPr id="43" name="图片 42" descr="机器人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69500" y="2703195"/>
            <a:ext cx="449580" cy="449580"/>
          </a:xfrm>
          <a:prstGeom prst="rect">
            <a:avLst/>
          </a:prstGeom>
        </p:spPr>
      </p:pic>
      <p:pic>
        <p:nvPicPr>
          <p:cNvPr id="44" name="图片 43" descr="机器人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69500" y="3883025"/>
            <a:ext cx="449580" cy="449580"/>
          </a:xfrm>
          <a:prstGeom prst="rect">
            <a:avLst/>
          </a:prstGeom>
        </p:spPr>
      </p:pic>
      <p:pic>
        <p:nvPicPr>
          <p:cNvPr id="45" name="图片 44" descr="机器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981565" y="4970145"/>
            <a:ext cx="449580" cy="449580"/>
          </a:xfrm>
          <a:prstGeom prst="rect">
            <a:avLst/>
          </a:prstGeom>
        </p:spPr>
      </p:pic>
      <p:cxnSp>
        <p:nvCxnSpPr>
          <p:cNvPr id="51" name="直接箭头连接符 50"/>
          <p:cNvCxnSpPr>
            <a:stCxn id="10" idx="1"/>
            <a:endCxn id="18" idx="3"/>
          </p:cNvCxnSpPr>
          <p:nvPr/>
        </p:nvCxnSpPr>
        <p:spPr>
          <a:xfrm flipH="1" flipV="1">
            <a:off x="3034665" y="4785995"/>
            <a:ext cx="3257550" cy="154305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15" idx="1"/>
          </p:cNvCxnSpPr>
          <p:nvPr/>
        </p:nvCxnSpPr>
        <p:spPr>
          <a:xfrm flipH="1" flipV="1">
            <a:off x="3038475" y="4869815"/>
            <a:ext cx="3253740" cy="1043940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2" idx="1"/>
          </p:cNvCxnSpPr>
          <p:nvPr/>
        </p:nvCxnSpPr>
        <p:spPr>
          <a:xfrm flipH="1">
            <a:off x="3056255" y="3859530"/>
            <a:ext cx="3235960" cy="818515"/>
          </a:xfrm>
          <a:prstGeom prst="straightConnector1">
            <a:avLst/>
          </a:prstGeom>
          <a:ln w="4127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上箭头 54"/>
          <p:cNvSpPr/>
          <p:nvPr/>
        </p:nvSpPr>
        <p:spPr>
          <a:xfrm>
            <a:off x="1438275" y="3653155"/>
            <a:ext cx="251460" cy="814705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1641475" y="388239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14070" y="3025140"/>
            <a:ext cx="520065" cy="532130"/>
          </a:xfrm>
          <a:prstGeom prst="rect">
            <a:avLst/>
          </a:prstGeom>
        </p:spPr>
      </p:pic>
      <p:sp>
        <p:nvSpPr>
          <p:cNvPr id="57" name="文本框 56"/>
          <p:cNvSpPr txBox="1"/>
          <p:nvPr/>
        </p:nvSpPr>
        <p:spPr>
          <a:xfrm>
            <a:off x="1334135" y="3152775"/>
            <a:ext cx="48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or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7" name="图片 76" descr="勾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820545" y="3023870"/>
            <a:ext cx="497205" cy="4972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4325" y="524319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4.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b="1" dirty="0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36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7" grpId="0"/>
      <p:bldP spid="31" grpId="0" animBg="1"/>
      <p:bldP spid="35" grpId="0"/>
      <p:bldP spid="2" grpId="0" animBg="1"/>
      <p:bldP spid="5" grpId="0"/>
      <p:bldP spid="32" grpId="0" animBg="1"/>
      <p:bldP spid="36" grpId="0"/>
      <p:bldP spid="10" grpId="0" animBg="1"/>
      <p:bldP spid="11" grpId="0"/>
      <p:bldP spid="34" grpId="0" animBg="1"/>
      <p:bldP spid="39" grpId="0"/>
      <p:bldP spid="15" grpId="0" animBg="1"/>
      <p:bldP spid="16" grpId="0"/>
      <p:bldP spid="3" grpId="2" animBg="1"/>
      <p:bldP spid="14" grpId="2"/>
      <p:bldP spid="22" grpId="3" bldLvl="0" animBg="1"/>
      <p:bldP spid="23" grpId="3"/>
      <p:bldP spid="25" grpId="3" bldLvl="0" animBg="1"/>
      <p:bldP spid="28" grpId="3"/>
      <p:bldP spid="25" grpId="4" bldLvl="0" animBg="1"/>
      <p:bldP spid="28" grpId="4"/>
      <p:bldP spid="37" grpId="0" bldLvl="0" animBg="1"/>
      <p:bldP spid="38" grpId="0"/>
      <p:bldP spid="17" grpId="0" animBg="1"/>
      <p:bldP spid="18" grpId="0"/>
      <p:bldP spid="55" grpId="0" animBg="1"/>
      <p:bldP spid="56" grpId="0"/>
      <p:bldP spid="57" grpId="0"/>
      <p:bldP spid="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</a:t>
            </a: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Po</a:t>
            </a: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sitive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9119535" y="6314400"/>
            <a:ext cx="2700000" cy="31680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965390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Extraction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6282690" y="327469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40805" y="3271520"/>
            <a:ext cx="603885" cy="6038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973570" y="3382645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6282690" y="434022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6973570" y="4458335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5" name="图片 14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56350" y="4339590"/>
            <a:ext cx="819015" cy="603885"/>
          </a:xfrm>
          <a:prstGeom prst="rect">
            <a:avLst/>
          </a:prstGeom>
        </p:spPr>
      </p:pic>
      <p:sp>
        <p:nvSpPr>
          <p:cNvPr id="31" name="右弧形箭头 30"/>
          <p:cNvSpPr/>
          <p:nvPr/>
        </p:nvSpPr>
        <p:spPr>
          <a:xfrm>
            <a:off x="9105265" y="3486150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819005" y="4020185"/>
            <a:ext cx="23729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112135" y="2524760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275330" y="2672080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 [1, 16384]. Default: 8.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131820" y="2552065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242945" y="272097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"endpoint"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must be an integer in [1,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]",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&gt;= 1 &amp;&amp; nprobe &lt;=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"type": "range_constraint",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1.0,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"explicit",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3" name="图片 42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959975" y="3503930"/>
            <a:ext cx="449580" cy="449580"/>
          </a:xfrm>
          <a:prstGeom prst="rect">
            <a:avLst/>
          </a:prstGeom>
        </p:spPr>
      </p:pic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8030845" y="1590040"/>
            <a:ext cx="3825240" cy="60388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hallucinations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don’t happen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31" grpId="0" bldLvl="0" animBg="1"/>
      <p:bldP spid="35" grpId="0"/>
      <p:bldP spid="13" grpId="0" bldLvl="0" animBg="1"/>
      <p:bldP spid="14" grpId="0"/>
      <p:bldP spid="23" grpId="2" bldLvl="0" animBg="1"/>
      <p:bldP spid="24" grpId="2"/>
      <p:bldP spid="25" grpId="3" bldLvl="0" animBg="1"/>
      <p:bldP spid="28" grpId="3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Extraction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6607810" y="327152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65925" y="3268345"/>
            <a:ext cx="603885" cy="6038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298690" y="337947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6607810" y="433705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7298690" y="445516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5" name="图片 14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81470" y="4336415"/>
            <a:ext cx="819015" cy="603885"/>
          </a:xfrm>
          <a:prstGeom prst="rect">
            <a:avLst/>
          </a:prstGeom>
        </p:spPr>
      </p:pic>
      <p:sp>
        <p:nvSpPr>
          <p:cNvPr id="31" name="右弧形箭头 30"/>
          <p:cNvSpPr/>
          <p:nvPr/>
        </p:nvSpPr>
        <p:spPr>
          <a:xfrm>
            <a:off x="9430385" y="348297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9979660" y="4079240"/>
            <a:ext cx="24638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437255" y="2521585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600450" y="2668905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 [1, 16384]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 Default: </a:t>
            </a:r>
            <a:r>
              <a:rPr lang="en-US" altLang="zh-CN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8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437255" y="2521585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697605" y="2624455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"endpoint"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must be an integer in [</a:t>
            </a:r>
            <a:r>
              <a:rPr lang="en-US" altLang="zh-CN" sz="1400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8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,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]",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"nprobe &gt;= </a:t>
            </a:r>
            <a:r>
              <a:rPr lang="en-US" altLang="zh-CN" sz="1400">
                <a:solidFill>
                  <a:srgbClr val="FF0000"/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8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&amp;&amp; nprobe &lt;=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  <a:sym typeface="+mn-ea"/>
              </a:rPr>
              <a:t>16384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"type": "range_constraint",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1.0,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"explicit",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3" name="图片 42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85095" y="3500755"/>
            <a:ext cx="449580" cy="449580"/>
          </a:xfrm>
          <a:prstGeom prst="rect">
            <a:avLst/>
          </a:prstGeom>
        </p:spPr>
      </p:pic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7898765" y="1489075"/>
            <a:ext cx="4081780" cy="6038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hallucinations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happen (case 1)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>
            <a:off x="2786380" y="4079240"/>
            <a:ext cx="2439035" cy="257810"/>
          </a:xfrm>
          <a:prstGeom prst="straightConnector1">
            <a:avLst/>
          </a:prstGeom>
          <a:ln w="28575">
            <a:solidFill>
              <a:srgbClr val="DB380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2679700" y="4294505"/>
            <a:ext cx="3075305" cy="179705"/>
          </a:xfrm>
          <a:prstGeom prst="straightConnector1">
            <a:avLst/>
          </a:prstGeom>
          <a:ln w="28575">
            <a:solidFill>
              <a:srgbClr val="DB380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圆角矩形 4"/>
          <p:cNvSpPr/>
          <p:nvPr/>
        </p:nvSpPr>
        <p:spPr>
          <a:xfrm>
            <a:off x="372110" y="3592830"/>
            <a:ext cx="2255520" cy="158242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48640" y="3759835"/>
            <a:ext cx="17665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Over-strict: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16" name="图片 15" descr="感叹号-三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521950" y="3677920"/>
            <a:ext cx="322580" cy="322580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3255" y="4239895"/>
            <a:ext cx="178117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Treat default as bound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31" grpId="0" bldLvl="0" animBg="1"/>
      <p:bldP spid="35" grpId="0"/>
      <p:bldP spid="13" grpId="0" bldLvl="0" animBg="1"/>
      <p:bldP spid="14" grpId="0"/>
      <p:bldP spid="23" grpId="2" bldLvl="0" animBg="1"/>
      <p:bldP spid="24" grpId="2"/>
      <p:bldP spid="25" grpId="3" bldLvl="0" animBg="1"/>
      <p:bldP spid="28" grpId="3"/>
      <p:bldP spid="5" grpId="0" bldLvl="0" animBg="1"/>
      <p:bldP spid="10" grpId="0"/>
      <p:bldP spid="1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Extraction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6784975" y="327469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书-翻开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43090" y="3271520"/>
            <a:ext cx="603885" cy="60388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7475855" y="3382645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6784975" y="434022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7475855" y="4458335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5" name="图片 14" descr="代码文件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58635" y="4339590"/>
            <a:ext cx="819015" cy="603885"/>
          </a:xfrm>
          <a:prstGeom prst="rect">
            <a:avLst/>
          </a:prstGeom>
        </p:spPr>
      </p:pic>
      <p:sp>
        <p:nvSpPr>
          <p:cNvPr id="31" name="右弧形箭头 30"/>
          <p:cNvSpPr/>
          <p:nvPr/>
        </p:nvSpPr>
        <p:spPr>
          <a:xfrm>
            <a:off x="9607550" y="3486150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031730" y="4147820"/>
            <a:ext cx="22802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614420" y="2524760"/>
            <a:ext cx="2830195" cy="3639185"/>
          </a:xfrm>
          <a:prstGeom prst="roundRect">
            <a:avLst/>
          </a:prstGeom>
          <a:solidFill>
            <a:schemeClr val="bg1">
              <a:lumMod val="6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777615" y="2672080"/>
            <a:ext cx="2505710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### search params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nprobe (int, optional):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Number of buckets to probe in IVF-based indexes.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 Range:</a:t>
            </a:r>
            <a:r>
              <a:rPr lang="en-US" altLang="zh-CN">
                <a:solidFill>
                  <a:srgbClr val="FF0000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[1, 16384]. Default: 8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.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642360" y="2524760"/>
            <a:ext cx="2830195" cy="3639185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753485" y="2672080"/>
            <a:ext cx="2607945" cy="33432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{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"constraint_id": "xxxx_001",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"endpoint": "entities+search",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"description"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</a:t>
            </a:r>
            <a:r>
              <a:rPr lang="en-US" altLang="zh-CN" sz="1400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nprobe must be a power of 2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"</a:t>
            </a:r>
            <a:r>
              <a:rPr lang="zh-CN" altLang="en-US" sz="1400">
                <a:latin typeface="Comic Sans MS" panose="030F0702030302020204" charset="0"/>
                <a:cs typeface="Comic Sans MS" panose="030F0702030302020204" charset="0"/>
              </a:rPr>
              <a:t>,</a:t>
            </a:r>
            <a:endParaRPr lang="zh-CN" altLang="en-US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</a:t>
            </a:r>
            <a:r>
              <a:rPr lang="en-US" altLang="zh-CN" sz="1400">
                <a:highlight>
                  <a:srgbClr val="FFFF00"/>
                </a:highlight>
                <a:latin typeface="Comic Sans MS" panose="030F0702030302020204" charset="0"/>
                <a:cs typeface="Comic Sans MS" panose="030F0702030302020204" charset="0"/>
              </a:rPr>
              <a:t>"assertion"</a:t>
            </a:r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: "isPowerOfTwo(nprobe)",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"confidence": 0.5,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"evidence_tier": "implicit"  "source_url": "xxxx",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  "source_verified": true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  <a:p>
            <a:r>
              <a:rPr lang="en-US" altLang="zh-CN" sz="1400">
                <a:latin typeface="Comic Sans MS" panose="030F0702030302020204" charset="0"/>
                <a:cs typeface="Comic Sans MS" panose="030F0702030302020204" charset="0"/>
              </a:rPr>
              <a:t>}</a:t>
            </a:r>
            <a:endParaRPr lang="en-US" altLang="zh-CN" sz="1400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3" name="图片 42" descr="机器人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62260" y="3503930"/>
            <a:ext cx="449580" cy="449580"/>
          </a:xfrm>
          <a:prstGeom prst="rect">
            <a:avLst/>
          </a:prstGeom>
        </p:spPr>
      </p:pic>
      <p:sp>
        <p:nvSpPr>
          <p:cNvPr id="46" name="圆角矩形 45"/>
          <p:cNvSpPr/>
          <p:nvPr>
            <p:custDataLst>
              <p:tags r:id="rId16"/>
            </p:custDataLst>
          </p:nvPr>
        </p:nvSpPr>
        <p:spPr>
          <a:xfrm>
            <a:off x="7911465" y="1565910"/>
            <a:ext cx="4081780" cy="6038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hallucinations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 happen (case 2)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6" name="图片 15" descr="感叹号-三角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699115" y="3681095"/>
            <a:ext cx="322580" cy="322580"/>
          </a:xfrm>
          <a:prstGeom prst="rect">
            <a:avLst/>
          </a:prstGeom>
        </p:spPr>
      </p:pic>
      <p:sp>
        <p:nvSpPr>
          <p:cNvPr id="18" name="圆角矩形 17"/>
          <p:cNvSpPr/>
          <p:nvPr/>
        </p:nvSpPr>
        <p:spPr>
          <a:xfrm>
            <a:off x="709295" y="3500755"/>
            <a:ext cx="2515235" cy="166052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22630" y="3604895"/>
            <a:ext cx="27539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fabricated constraint: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09320" y="4147820"/>
            <a:ext cx="211201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</a:rPr>
              <a:t>LLM  makes up a </a:t>
            </a:r>
            <a:r>
              <a:rPr lang="en-US" altLang="zh-CN" sz="2000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constraint</a:t>
            </a:r>
            <a:endParaRPr lang="en-US" altLang="zh-CN" sz="2000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cxnSp>
        <p:nvCxnSpPr>
          <p:cNvPr id="22" name="直接箭头连接符 21"/>
          <p:cNvCxnSpPr>
            <a:endCxn id="18" idx="3"/>
          </p:cNvCxnSpPr>
          <p:nvPr/>
        </p:nvCxnSpPr>
        <p:spPr>
          <a:xfrm flipH="1">
            <a:off x="3224530" y="4111625"/>
            <a:ext cx="578485" cy="219710"/>
          </a:xfrm>
          <a:prstGeom prst="straightConnector1">
            <a:avLst/>
          </a:prstGeom>
          <a:ln w="2540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ldLvl="0" animBg="1"/>
      <p:bldP spid="11" grpId="0"/>
      <p:bldP spid="31" grpId="0" bldLvl="0" animBg="1"/>
      <p:bldP spid="35" grpId="0"/>
      <p:bldP spid="13" grpId="0" bldLvl="0" animBg="1"/>
      <p:bldP spid="14" grpId="0"/>
      <p:bldP spid="23" grpId="2" bldLvl="0" animBg="1"/>
      <p:bldP spid="24" grpId="2"/>
      <p:bldP spid="25" grpId="3" bldLvl="0" animBg="1"/>
      <p:bldP spid="28" grpId="3"/>
      <p:bldP spid="18" grpId="0" bldLvl="0" animBg="1"/>
      <p:bldP spid="20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076940" y="6314440"/>
            <a:ext cx="500380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3"/>
            </p:custDataLst>
          </p:nvPr>
        </p:nvSpPr>
        <p:spPr>
          <a:xfrm>
            <a:off x="7103110" y="1572895"/>
            <a:ext cx="4878070" cy="60388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 b="1" dirty="0" err="1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Self-Preference Bias doesn’t</a:t>
            </a:r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happen 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6291580" y="234950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9695" y="2346325"/>
            <a:ext cx="603885" cy="60388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982460" y="245745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9"/>
            </p:custDataLst>
          </p:nvPr>
        </p:nvSpPr>
        <p:spPr>
          <a:xfrm>
            <a:off x="6291580" y="341503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982460" y="3533140"/>
            <a:ext cx="2131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9" name="图片 28" descr="代码文件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5240" y="3414395"/>
            <a:ext cx="819015" cy="603885"/>
          </a:xfrm>
          <a:prstGeom prst="rect">
            <a:avLst/>
          </a:prstGeom>
        </p:spPr>
      </p:pic>
      <p:sp>
        <p:nvSpPr>
          <p:cNvPr id="32" name="圆角矩形 31"/>
          <p:cNvSpPr/>
          <p:nvPr>
            <p:custDataLst>
              <p:tags r:id="rId14"/>
            </p:custDataLst>
          </p:nvPr>
        </p:nvSpPr>
        <p:spPr>
          <a:xfrm>
            <a:off x="6291580" y="449580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6983095" y="460883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6" name="图片 35" descr="软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49695" y="4495800"/>
            <a:ext cx="652780" cy="603885"/>
          </a:xfrm>
          <a:prstGeom prst="rect">
            <a:avLst/>
          </a:prstGeom>
        </p:spPr>
      </p:pic>
      <p:sp>
        <p:nvSpPr>
          <p:cNvPr id="37" name="圆角矩形 36"/>
          <p:cNvSpPr/>
          <p:nvPr>
            <p:custDataLst>
              <p:tags r:id="rId19"/>
            </p:custDataLst>
          </p:nvPr>
        </p:nvSpPr>
        <p:spPr>
          <a:xfrm>
            <a:off x="6291580" y="546925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6941820" y="55772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65240" y="5469255"/>
            <a:ext cx="710565" cy="603885"/>
          </a:xfrm>
          <a:prstGeom prst="rect">
            <a:avLst/>
          </a:prstGeom>
        </p:spPr>
      </p:pic>
      <p:sp>
        <p:nvSpPr>
          <p:cNvPr id="39" name="圆角矩形 38"/>
          <p:cNvSpPr/>
          <p:nvPr>
            <p:custDataLst>
              <p:tags r:id="rId24"/>
            </p:custDataLst>
          </p:nvPr>
        </p:nvSpPr>
        <p:spPr>
          <a:xfrm>
            <a:off x="156845" y="4373245"/>
            <a:ext cx="2854960" cy="603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25"/>
            </p:custDataLst>
          </p:nvPr>
        </p:nvSpPr>
        <p:spPr>
          <a:xfrm>
            <a:off x="861060" y="44596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judge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41" name="右弧形箭头 40"/>
          <p:cNvSpPr/>
          <p:nvPr/>
        </p:nvSpPr>
        <p:spPr>
          <a:xfrm>
            <a:off x="9114155" y="256095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右弧形箭头 41"/>
          <p:cNvSpPr/>
          <p:nvPr/>
        </p:nvSpPr>
        <p:spPr>
          <a:xfrm>
            <a:off x="9114155" y="374078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右弧形箭头 43"/>
          <p:cNvSpPr/>
          <p:nvPr/>
        </p:nvSpPr>
        <p:spPr>
          <a:xfrm>
            <a:off x="9114155" y="482790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968865" y="2943225"/>
            <a:ext cx="234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968865" y="413702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968865" y="520890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58" name="图片 57" descr="机器人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37490" y="4373245"/>
            <a:ext cx="605790" cy="605790"/>
          </a:xfrm>
          <a:prstGeom prst="rect">
            <a:avLst/>
          </a:prstGeom>
        </p:spPr>
      </p:pic>
      <p:pic>
        <p:nvPicPr>
          <p:cNvPr id="59" name="图片 58" descr="机器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2560955"/>
            <a:ext cx="449580" cy="449580"/>
          </a:xfrm>
          <a:prstGeom prst="rect">
            <a:avLst/>
          </a:prstGeom>
        </p:spPr>
      </p:pic>
      <p:pic>
        <p:nvPicPr>
          <p:cNvPr id="60" name="图片 59" descr="机器人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3740785"/>
            <a:ext cx="449580" cy="449580"/>
          </a:xfrm>
          <a:prstGeom prst="rect">
            <a:avLst/>
          </a:prstGeom>
        </p:spPr>
      </p:pic>
      <p:pic>
        <p:nvPicPr>
          <p:cNvPr id="61" name="图片 60" descr="机器人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80930" y="4827905"/>
            <a:ext cx="449580" cy="449580"/>
          </a:xfrm>
          <a:prstGeom prst="rect">
            <a:avLst/>
          </a:prstGeom>
        </p:spPr>
      </p:pic>
      <p:cxnSp>
        <p:nvCxnSpPr>
          <p:cNvPr id="62" name="直接箭头连接符 61"/>
          <p:cNvCxnSpPr>
            <a:stCxn id="32" idx="1"/>
            <a:endCxn id="40" idx="3"/>
          </p:cNvCxnSpPr>
          <p:nvPr/>
        </p:nvCxnSpPr>
        <p:spPr>
          <a:xfrm flipH="1" flipV="1">
            <a:off x="3034030" y="4643755"/>
            <a:ext cx="3257550" cy="15430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7" idx="1"/>
          </p:cNvCxnSpPr>
          <p:nvPr/>
        </p:nvCxnSpPr>
        <p:spPr>
          <a:xfrm flipH="1" flipV="1">
            <a:off x="3037840" y="4727575"/>
            <a:ext cx="3253740" cy="1043940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3034030" y="3740785"/>
            <a:ext cx="3235960" cy="81851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上箭头 64"/>
          <p:cNvSpPr/>
          <p:nvPr/>
        </p:nvSpPr>
        <p:spPr>
          <a:xfrm>
            <a:off x="1437640" y="3510915"/>
            <a:ext cx="251460" cy="814705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640840" y="374015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2" name="图片 71" descr="感叹号-三角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170160" y="2770505"/>
            <a:ext cx="322580" cy="322580"/>
          </a:xfrm>
          <a:prstGeom prst="rect">
            <a:avLst/>
          </a:prstGeom>
        </p:spPr>
      </p:pic>
      <p:pic>
        <p:nvPicPr>
          <p:cNvPr id="73" name="图片 72" descr="感叹号-三角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170160" y="3934460"/>
            <a:ext cx="322580" cy="322580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36"/>
            </p:custDataLst>
          </p:nvPr>
        </p:nvSpPr>
        <p:spPr>
          <a:xfrm rot="20760000">
            <a:off x="3665855" y="3740785"/>
            <a:ext cx="2131695" cy="396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claims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37"/>
            </p:custDataLst>
          </p:nvPr>
        </p:nvSpPr>
        <p:spPr>
          <a:xfrm rot="180000">
            <a:off x="3984625" y="4373880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scripts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38"/>
            </p:custDataLst>
          </p:nvPr>
        </p:nvSpPr>
        <p:spPr>
          <a:xfrm rot="1020000">
            <a:off x="4151630" y="5031105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00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legal behaviour</a:t>
            </a:r>
            <a:endParaRPr lang="en-US" altLang="zh-CN" b="1" dirty="0" err="1">
              <a:highlight>
                <a:srgbClr val="00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77" name="图片 76" descr="勾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336040" y="2953385"/>
            <a:ext cx="497205" cy="497205"/>
          </a:xfrm>
          <a:prstGeom prst="rect">
            <a:avLst/>
          </a:prstGeom>
        </p:spPr>
      </p:pic>
      <p:sp>
        <p:nvSpPr>
          <p:cNvPr id="8" name="云形标注 7"/>
          <p:cNvSpPr/>
          <p:nvPr/>
        </p:nvSpPr>
        <p:spPr>
          <a:xfrm>
            <a:off x="1382395" y="5198110"/>
            <a:ext cx="2957830" cy="1116330"/>
          </a:xfrm>
          <a:prstGeom prst="cloudCallout">
            <a:avLst>
              <a:gd name="adj1" fmla="val -68720"/>
              <a:gd name="adj2" fmla="val -77360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There’s a problem with the claim / script,not a bug.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4325" y="497903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4.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b="1" dirty="0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/>
      <p:bldP spid="65" grpId="0" bldLvl="0" animBg="1"/>
      <p:bldP spid="66" grpId="0"/>
      <p:bldP spid="74" grpId="0"/>
      <p:bldP spid="75" grpId="0"/>
      <p:bldP spid="76" grpId="0"/>
      <p:bldP spid="8" grpId="0" bldLvl="0" animBg="1"/>
      <p:bldP spid="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410970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Extraction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Hallucination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端：</a:t>
            </a:r>
            <a:r>
              <a:rPr lang="en-US" altLang="zh-CN" sz="20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Self-Preference Bias</a:t>
            </a:r>
            <a:r>
              <a:rPr lang="en-US" altLang="zh-CN" sz="1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[2]</a:t>
            </a:r>
            <a:endParaRPr lang="en-US" altLang="zh-CN" sz="20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en-US" altLang="zh-CN" sz="20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1076940" y="6314440"/>
            <a:ext cx="500380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84555" y="6226175"/>
            <a:ext cx="4912995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[1] Survey of Hallucination in Natural Language Generation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 sz="13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[2] LLM Evaluators Recognize and Favor Their Own Generations</a:t>
            </a:r>
            <a:endParaRPr lang="en-US" altLang="zh-CN" sz="13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9895" y="2300605"/>
            <a:ext cx="2889250" cy="420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1">
              <a:buFont typeface="Wingdings" panose="05000000000000000000" charset="0"/>
              <a:buChar char="Ø"/>
            </a:pPr>
            <a:r>
              <a:rPr lang="en-US" altLang="zh-CN" sz="2140" dirty="0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Judging </a:t>
            </a:r>
            <a:r>
              <a:rPr lang="zh-CN" altLang="en-US" sz="2140" b="1" dirty="0" err="1">
                <a:highlight>
                  <a:srgbClr val="FFFF00"/>
                </a:highlight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端</a:t>
            </a:r>
            <a:endParaRPr lang="en-US" altLang="zh-CN" sz="2140" b="1" baseline="30000" dirty="0" err="1">
              <a:highlight>
                <a:srgbClr val="FFFF00"/>
              </a:highlight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6" name="圆角矩形 45"/>
          <p:cNvSpPr/>
          <p:nvPr>
            <p:custDataLst>
              <p:tags r:id="rId3"/>
            </p:custDataLst>
          </p:nvPr>
        </p:nvSpPr>
        <p:spPr>
          <a:xfrm>
            <a:off x="7327265" y="1572895"/>
            <a:ext cx="4653915" cy="60388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When </a:t>
            </a:r>
            <a:r>
              <a:rPr lang="en-US" altLang="zh-CN" b="1" dirty="0" err="1">
                <a:solidFill>
                  <a:schemeClr val="tx1"/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Self-Preference Bias</a:t>
            </a:r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</a:rPr>
              <a:t> </a:t>
            </a: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happens 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圆角矩形 1"/>
          <p:cNvSpPr/>
          <p:nvPr>
            <p:custDataLst>
              <p:tags r:id="rId4"/>
            </p:custDataLst>
          </p:nvPr>
        </p:nvSpPr>
        <p:spPr>
          <a:xfrm>
            <a:off x="6291580" y="2349500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书-翻开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9695" y="2346325"/>
            <a:ext cx="603885" cy="603885"/>
          </a:xfrm>
          <a:prstGeom prst="rect">
            <a:avLst/>
          </a:prstGeom>
        </p:spPr>
      </p:pic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6982460" y="2457450"/>
            <a:ext cx="2132330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9"/>
            </p:custDataLst>
          </p:nvPr>
        </p:nvSpPr>
        <p:spPr>
          <a:xfrm>
            <a:off x="6291580" y="341503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0"/>
            </p:custDataLst>
          </p:nvPr>
        </p:nvSpPr>
        <p:spPr>
          <a:xfrm>
            <a:off x="6982460" y="3533140"/>
            <a:ext cx="2131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claims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29" name="图片 28" descr="代码文件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5240" y="3414395"/>
            <a:ext cx="819015" cy="603885"/>
          </a:xfrm>
          <a:prstGeom prst="rect">
            <a:avLst/>
          </a:prstGeom>
        </p:spPr>
      </p:pic>
      <p:sp>
        <p:nvSpPr>
          <p:cNvPr id="32" name="圆角矩形 31"/>
          <p:cNvSpPr/>
          <p:nvPr>
            <p:custDataLst>
              <p:tags r:id="rId14"/>
            </p:custDataLst>
          </p:nvPr>
        </p:nvSpPr>
        <p:spPr>
          <a:xfrm>
            <a:off x="6291580" y="4495800"/>
            <a:ext cx="2823210" cy="6038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6983095" y="4608830"/>
            <a:ext cx="2131695" cy="6038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36" name="图片 35" descr="软件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49695" y="4495800"/>
            <a:ext cx="652780" cy="603885"/>
          </a:xfrm>
          <a:prstGeom prst="rect">
            <a:avLst/>
          </a:prstGeom>
        </p:spPr>
      </p:pic>
      <p:sp>
        <p:nvSpPr>
          <p:cNvPr id="37" name="圆角矩形 36"/>
          <p:cNvSpPr/>
          <p:nvPr>
            <p:custDataLst>
              <p:tags r:id="rId19"/>
            </p:custDataLst>
          </p:nvPr>
        </p:nvSpPr>
        <p:spPr>
          <a:xfrm>
            <a:off x="6291580" y="5469255"/>
            <a:ext cx="2823210" cy="6038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20"/>
            </p:custDataLst>
          </p:nvPr>
        </p:nvSpPr>
        <p:spPr>
          <a:xfrm>
            <a:off x="6941820" y="55772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b="1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65240" y="5469255"/>
            <a:ext cx="710565" cy="603885"/>
          </a:xfrm>
          <a:prstGeom prst="rect">
            <a:avLst/>
          </a:prstGeom>
        </p:spPr>
      </p:pic>
      <p:sp>
        <p:nvSpPr>
          <p:cNvPr id="39" name="圆角矩形 38"/>
          <p:cNvSpPr/>
          <p:nvPr>
            <p:custDataLst>
              <p:tags r:id="rId24"/>
            </p:custDataLst>
          </p:nvPr>
        </p:nvSpPr>
        <p:spPr>
          <a:xfrm>
            <a:off x="156845" y="4373245"/>
            <a:ext cx="2854960" cy="6038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25"/>
            </p:custDataLst>
          </p:nvPr>
        </p:nvSpPr>
        <p:spPr>
          <a:xfrm>
            <a:off x="861060" y="4459605"/>
            <a:ext cx="2172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judge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41" name="右弧形箭头 40"/>
          <p:cNvSpPr/>
          <p:nvPr/>
        </p:nvSpPr>
        <p:spPr>
          <a:xfrm>
            <a:off x="9114155" y="2560955"/>
            <a:ext cx="785495" cy="1179195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右弧形箭头 41"/>
          <p:cNvSpPr/>
          <p:nvPr/>
        </p:nvSpPr>
        <p:spPr>
          <a:xfrm>
            <a:off x="9114155" y="374078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右弧形箭头 43"/>
          <p:cNvSpPr/>
          <p:nvPr/>
        </p:nvSpPr>
        <p:spPr>
          <a:xfrm>
            <a:off x="9114155" y="4827905"/>
            <a:ext cx="785495" cy="114935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254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9968865" y="2943225"/>
            <a:ext cx="23406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9968865" y="413702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9968865" y="5208905"/>
            <a:ext cx="23406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b="1"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b="1" dirty="0" err="1"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58" name="图片 57" descr="机器人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37490" y="4373245"/>
            <a:ext cx="605790" cy="605790"/>
          </a:xfrm>
          <a:prstGeom prst="rect">
            <a:avLst/>
          </a:prstGeom>
        </p:spPr>
      </p:pic>
      <p:pic>
        <p:nvPicPr>
          <p:cNvPr id="59" name="图片 58" descr="机器人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2560955"/>
            <a:ext cx="449580" cy="449580"/>
          </a:xfrm>
          <a:prstGeom prst="rect">
            <a:avLst/>
          </a:prstGeom>
        </p:spPr>
      </p:pic>
      <p:pic>
        <p:nvPicPr>
          <p:cNvPr id="60" name="图片 59" descr="机器人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68865" y="3740785"/>
            <a:ext cx="449580" cy="449580"/>
          </a:xfrm>
          <a:prstGeom prst="rect">
            <a:avLst/>
          </a:prstGeom>
        </p:spPr>
      </p:pic>
      <p:pic>
        <p:nvPicPr>
          <p:cNvPr id="61" name="图片 60" descr="机器人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980930" y="4827905"/>
            <a:ext cx="449580" cy="449580"/>
          </a:xfrm>
          <a:prstGeom prst="rect">
            <a:avLst/>
          </a:prstGeom>
        </p:spPr>
      </p:pic>
      <p:cxnSp>
        <p:nvCxnSpPr>
          <p:cNvPr id="62" name="直接箭头连接符 61"/>
          <p:cNvCxnSpPr>
            <a:stCxn id="32" idx="1"/>
            <a:endCxn id="40" idx="3"/>
          </p:cNvCxnSpPr>
          <p:nvPr/>
        </p:nvCxnSpPr>
        <p:spPr>
          <a:xfrm flipH="1" flipV="1">
            <a:off x="3034030" y="4643755"/>
            <a:ext cx="3257550" cy="15430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37" idx="1"/>
          </p:cNvCxnSpPr>
          <p:nvPr/>
        </p:nvCxnSpPr>
        <p:spPr>
          <a:xfrm flipH="1" flipV="1">
            <a:off x="3037840" y="4727575"/>
            <a:ext cx="3253740" cy="1043940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/>
          <p:nvPr/>
        </p:nvCxnSpPr>
        <p:spPr>
          <a:xfrm flipH="1">
            <a:off x="3034030" y="3740785"/>
            <a:ext cx="3235960" cy="818515"/>
          </a:xfrm>
          <a:prstGeom prst="straightConnector1">
            <a:avLst/>
          </a:prstGeom>
          <a:ln w="41275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5" name="上箭头 64"/>
          <p:cNvSpPr/>
          <p:nvPr/>
        </p:nvSpPr>
        <p:spPr>
          <a:xfrm>
            <a:off x="1437640" y="3510915"/>
            <a:ext cx="251460" cy="814705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1640840" y="3740150"/>
            <a:ext cx="857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71" name="图片 70" descr="BUG问题修复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303020" y="2882900"/>
            <a:ext cx="520065" cy="532130"/>
          </a:xfrm>
          <a:prstGeom prst="rect">
            <a:avLst/>
          </a:prstGeom>
        </p:spPr>
      </p:pic>
      <p:pic>
        <p:nvPicPr>
          <p:cNvPr id="70" name="图片 69" descr="感叹号-三角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49910" y="4656455"/>
            <a:ext cx="322580" cy="322580"/>
          </a:xfrm>
          <a:prstGeom prst="rect">
            <a:avLst/>
          </a:prstGeom>
        </p:spPr>
      </p:pic>
      <p:pic>
        <p:nvPicPr>
          <p:cNvPr id="72" name="图片 71" descr="感叹号-三角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170160" y="2770505"/>
            <a:ext cx="322580" cy="322580"/>
          </a:xfrm>
          <a:prstGeom prst="rect">
            <a:avLst/>
          </a:prstGeom>
        </p:spPr>
      </p:pic>
      <p:pic>
        <p:nvPicPr>
          <p:cNvPr id="73" name="图片 72" descr="感叹号-三角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170160" y="3934460"/>
            <a:ext cx="322580" cy="322580"/>
          </a:xfrm>
          <a:prstGeom prst="rect">
            <a:avLst/>
          </a:prstGeom>
        </p:spPr>
      </p:pic>
      <p:sp>
        <p:nvSpPr>
          <p:cNvPr id="74" name="文本框 73"/>
          <p:cNvSpPr txBox="1"/>
          <p:nvPr>
            <p:custDataLst>
              <p:tags r:id="rId41"/>
            </p:custDataLst>
          </p:nvPr>
        </p:nvSpPr>
        <p:spPr>
          <a:xfrm rot="20760000">
            <a:off x="3665855" y="3740785"/>
            <a:ext cx="2131695" cy="396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</a:t>
            </a:r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claim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5" name="文本框 74"/>
          <p:cNvSpPr txBox="1"/>
          <p:nvPr>
            <p:custDataLst>
              <p:tags r:id="rId42"/>
            </p:custDataLst>
          </p:nvPr>
        </p:nvSpPr>
        <p:spPr>
          <a:xfrm rot="180000">
            <a:off x="3984625" y="4373880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FF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wrong scripts</a:t>
            </a:r>
            <a:endParaRPr lang="en-US" altLang="zh-CN" b="1" dirty="0" err="1">
              <a:highlight>
                <a:srgbClr val="FF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76" name="文本框 75"/>
          <p:cNvSpPr txBox="1"/>
          <p:nvPr>
            <p:custDataLst>
              <p:tags r:id="rId43"/>
            </p:custDataLst>
          </p:nvPr>
        </p:nvSpPr>
        <p:spPr>
          <a:xfrm rot="1020000">
            <a:off x="4151630" y="5031105"/>
            <a:ext cx="21323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 dirty="0" err="1">
                <a:highlight>
                  <a:srgbClr val="00FF00"/>
                </a:highlight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legal behaviour</a:t>
            </a:r>
            <a:endParaRPr lang="en-US" altLang="zh-CN" b="1" dirty="0" err="1">
              <a:highlight>
                <a:srgbClr val="00FF00"/>
              </a:highlight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83" name="圆角矩形标注 82"/>
          <p:cNvSpPr/>
          <p:nvPr/>
        </p:nvSpPr>
        <p:spPr>
          <a:xfrm>
            <a:off x="2708275" y="2378075"/>
            <a:ext cx="2338070" cy="1036955"/>
          </a:xfrm>
          <a:prstGeom prst="wedgeRoundRectCallout">
            <a:avLst>
              <a:gd name="adj1" fmla="val -73384"/>
              <a:gd name="adj2" fmla="val 24341"/>
              <a:gd name="adj3" fmla="val 16667"/>
            </a:avLst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>
              <a:solidFill>
                <a:schemeClr val="bg1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pPr algn="ctr"/>
            <a:r>
              <a:rPr lang="en-US" altLang="zh-CN">
                <a:solidFill>
                  <a:schemeClr val="bg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It’s hard for LLM to find out the mistake made by the same LLM.</a:t>
            </a:r>
            <a:endParaRPr lang="zh-CN" altLang="en-US"/>
          </a:p>
          <a:p>
            <a:pPr algn="ctr"/>
            <a:endParaRPr lang="zh-CN" altLang="en-US"/>
          </a:p>
        </p:txBody>
      </p:sp>
      <p:sp>
        <p:nvSpPr>
          <p:cNvPr id="85" name="云形标注 84"/>
          <p:cNvSpPr/>
          <p:nvPr/>
        </p:nvSpPr>
        <p:spPr>
          <a:xfrm>
            <a:off x="1689100" y="5071745"/>
            <a:ext cx="2373630" cy="1154430"/>
          </a:xfrm>
          <a:prstGeom prst="cloudCallout">
            <a:avLst>
              <a:gd name="adj1" fmla="val -82504"/>
              <a:gd name="adj2" fmla="val -62651"/>
            </a:avLst>
          </a:prstGeom>
          <a:solidFill>
            <a:schemeClr val="bg1">
              <a:lumMod val="9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There’s a bug!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884555" y="3252470"/>
            <a:ext cx="1717040" cy="353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False positive!</a:t>
            </a:r>
            <a:endParaRPr lang="en-US" altLang="zh-CN">
              <a:solidFill>
                <a:schemeClr val="accent6">
                  <a:lumMod val="75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4325" y="4979035"/>
            <a:ext cx="2541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4.</a:t>
            </a:r>
            <a:r>
              <a:rPr lang="en-US" altLang="zh-CN" b="1" dirty="0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Defect Confirmation</a:t>
            </a:r>
            <a:endParaRPr lang="en-US" altLang="zh-CN" b="1" dirty="0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40" grpId="0"/>
      <p:bldP spid="65" grpId="0" bldLvl="0" animBg="1"/>
      <p:bldP spid="66" grpId="0"/>
      <p:bldP spid="74" grpId="0"/>
      <p:bldP spid="75" grpId="0"/>
      <p:bldP spid="76" grpId="0"/>
      <p:bldP spid="85" grpId="0" bldLvl="0" animBg="1"/>
      <p:bldP spid="83" grpId="0" bldLvl="0" animBg="1"/>
      <p:bldP spid="86" grpId="0"/>
      <p:bldP spid="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11522075" cy="4941570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How serious can </a:t>
            </a: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it </a:t>
            </a: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be?</a:t>
            </a:r>
            <a:endParaRPr lang="en-US" altLang="zh-CN" sz="2800" b="1" baseline="30000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571480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The Problem of False Positives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pic>
        <p:nvPicPr>
          <p:cNvPr id="5" name="图表 5"/>
          <p:cNvPicPr/>
          <p:nvPr/>
        </p:nvPicPr>
        <p:blipFill>
          <a:blip r:embed="rId4"/>
          <a:stretch>
            <a:fillRect/>
          </a:stretch>
        </p:blipFill>
        <p:spPr>
          <a:xfrm>
            <a:off x="549910" y="2076450"/>
            <a:ext cx="5227955" cy="4290060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3"/>
            </a:ext>
            <wpswe:webExtensionRef xmlns:wpswe="http://www.wps.cn/officeDocument/2018/webExtension" r:id="rId3"/>
          </a:extLst>
        </p:spPr>
      </p:pic>
      <p:pic>
        <p:nvPicPr>
          <p:cNvPr id="3" name="图表 3"/>
          <p:cNvPicPr/>
          <p:nvPr/>
        </p:nvPicPr>
        <p:blipFill>
          <a:blip r:embed="rId7"/>
          <a:stretch>
            <a:fillRect/>
          </a:stretch>
        </p:blipFill>
        <p:spPr>
          <a:xfrm>
            <a:off x="6066790" y="2076450"/>
            <a:ext cx="5463540" cy="4290060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6"/>
            </a:ext>
            <wpswe:webExtensionRef xmlns:wpswe="http://www.wps.cn/officeDocument/2018/webExtension" r:id="rId6"/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47470"/>
            <a:ext cx="10852150" cy="4941570"/>
          </a:xfrm>
        </p:spPr>
        <p:txBody>
          <a:bodyPr/>
          <a:lstStyle/>
          <a:p>
            <a:pPr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It does work,but still not good enough.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 lvl="1">
              <a:buFont typeface="Wingdings" panose="05000000000000000000" charset="0"/>
              <a:buChar char="Ø"/>
            </a:pP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48 candidates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（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27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TP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20,qdrant 7]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+21FP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12,qdrant 9]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）</a:t>
            </a: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9280"/>
            <a:ext cx="1145222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Can multi-perspective judging solve the FP problem?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10" name="圆角矩形 9"/>
          <p:cNvSpPr/>
          <p:nvPr>
            <p:custDataLst>
              <p:tags r:id="rId2"/>
            </p:custDataLst>
          </p:nvPr>
        </p:nvSpPr>
        <p:spPr>
          <a:xfrm>
            <a:off x="8068945" y="2720975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 descr="书-翻开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7060" y="2717800"/>
            <a:ext cx="662305" cy="62928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8759825" y="2828925"/>
            <a:ext cx="2118995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068945" y="3786505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8759825" y="3904615"/>
            <a:ext cx="2118360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6" name="图片 15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2605" y="3785870"/>
            <a:ext cx="898525" cy="629285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12"/>
            </p:custDataLst>
          </p:nvPr>
        </p:nvSpPr>
        <p:spPr>
          <a:xfrm>
            <a:off x="8068945" y="4867275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3"/>
            </p:custDataLst>
          </p:nvPr>
        </p:nvSpPr>
        <p:spPr>
          <a:xfrm>
            <a:off x="8760460" y="4980305"/>
            <a:ext cx="2118360" cy="6292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29" name="图片 28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06105" y="4872355"/>
            <a:ext cx="716280" cy="629285"/>
          </a:xfrm>
          <a:prstGeom prst="rect">
            <a:avLst/>
          </a:prstGeom>
        </p:spPr>
      </p:pic>
      <p:sp>
        <p:nvSpPr>
          <p:cNvPr id="20" name="圆角矩形 19"/>
          <p:cNvSpPr/>
          <p:nvPr>
            <p:custDataLst>
              <p:tags r:id="rId17"/>
            </p:custDataLst>
          </p:nvPr>
        </p:nvSpPr>
        <p:spPr>
          <a:xfrm>
            <a:off x="8068945" y="5840730"/>
            <a:ext cx="2805430" cy="6292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8719185" y="5958840"/>
            <a:ext cx="2159635" cy="3835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7" name="图片 46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42605" y="5840730"/>
            <a:ext cx="779780" cy="629285"/>
          </a:xfrm>
          <a:prstGeom prst="rect">
            <a:avLst/>
          </a:prstGeom>
        </p:spPr>
      </p:pic>
      <p:sp>
        <p:nvSpPr>
          <p:cNvPr id="22" name="圆角矩形 21"/>
          <p:cNvSpPr/>
          <p:nvPr>
            <p:custDataLst>
              <p:tags r:id="rId22"/>
            </p:custDataLst>
          </p:nvPr>
        </p:nvSpPr>
        <p:spPr>
          <a:xfrm>
            <a:off x="5384165" y="3458210"/>
            <a:ext cx="2435860" cy="3241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5358765" y="3458210"/>
            <a:ext cx="2536190" cy="3956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judges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sp>
        <p:nvSpPr>
          <p:cNvPr id="31" name="右弧形箭头 30"/>
          <p:cNvSpPr/>
          <p:nvPr/>
        </p:nvSpPr>
        <p:spPr>
          <a:xfrm>
            <a:off x="10891520" y="2908300"/>
            <a:ext cx="295910" cy="1228725"/>
          </a:xfrm>
          <a:prstGeom prst="curvedLeftArrow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2540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2" name="右弧形箭头 31"/>
          <p:cNvSpPr/>
          <p:nvPr/>
        </p:nvSpPr>
        <p:spPr>
          <a:xfrm>
            <a:off x="10891520" y="4089400"/>
            <a:ext cx="295910" cy="1197610"/>
          </a:xfrm>
          <a:prstGeom prst="curvedLeftArrow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2540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" name="右弧形箭头 33"/>
          <p:cNvSpPr/>
          <p:nvPr/>
        </p:nvSpPr>
        <p:spPr>
          <a:xfrm>
            <a:off x="10891520" y="5176520"/>
            <a:ext cx="295910" cy="1197610"/>
          </a:xfrm>
          <a:prstGeom prst="curvedLeftArrow">
            <a:avLst/>
          </a:prstGeom>
          <a:solidFill>
            <a:schemeClr val="accent1">
              <a:lumMod val="40000"/>
              <a:lumOff val="60000"/>
              <a:alpha val="50000"/>
            </a:schemeClr>
          </a:solidFill>
          <a:ln w="25400">
            <a:solidFill>
              <a:schemeClr val="accent1">
                <a:lumMod val="60000"/>
                <a:lumOff val="40000"/>
                <a:alpha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433685" y="3350260"/>
            <a:ext cx="1832610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1.</a:t>
            </a:r>
            <a:r>
              <a:rPr lang="en-US" altLang="zh-CN" sz="1400" b="1">
                <a:solidFill>
                  <a:schemeClr val="bg1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Behavioral_claims 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Extraction</a:t>
            </a:r>
            <a:endParaRPr lang="en-US" altLang="zh-CN" sz="1400" b="1">
              <a:solidFill>
                <a:schemeClr val="bg2">
                  <a:lumMod val="50000"/>
                </a:schemeClr>
              </a:solidFill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10433685" y="4533900"/>
            <a:ext cx="191579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2.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cripts 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G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eneration</a:t>
            </a:r>
            <a:endParaRPr lang="en-US" altLang="zh-CN" sz="1400" b="1" dirty="0" err="1">
              <a:solidFill>
                <a:schemeClr val="bg2">
                  <a:lumMod val="50000"/>
                </a:schemeClr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0433685" y="5584825"/>
            <a:ext cx="1820545" cy="3422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3.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S</a:t>
            </a:r>
            <a:r>
              <a:rPr lang="en-US" altLang="zh-CN" sz="1400" b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cripts</a:t>
            </a:r>
            <a:r>
              <a:rPr lang="en-US" altLang="zh-CN" sz="1400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E</a:t>
            </a:r>
            <a:r>
              <a:rPr lang="en-US" altLang="zh-CN" sz="1400" b="1" dirty="0" err="1">
                <a:solidFill>
                  <a:schemeClr val="bg2">
                    <a:lumMod val="50000"/>
                  </a:schemeClr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xecution</a:t>
            </a:r>
            <a:endParaRPr lang="en-US" altLang="zh-CN" sz="1400" b="1" dirty="0" err="1">
              <a:solidFill>
                <a:schemeClr val="bg2">
                  <a:lumMod val="50000"/>
                </a:schemeClr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pic>
        <p:nvPicPr>
          <p:cNvPr id="44" name="图片 43" descr="机器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264265" y="3046095"/>
            <a:ext cx="349885" cy="418465"/>
          </a:xfrm>
          <a:prstGeom prst="rect">
            <a:avLst/>
          </a:prstGeom>
        </p:spPr>
      </p:pic>
      <p:pic>
        <p:nvPicPr>
          <p:cNvPr id="45" name="图片 44" descr="机器人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264265" y="4225925"/>
            <a:ext cx="349885" cy="418465"/>
          </a:xfrm>
          <a:prstGeom prst="rect">
            <a:avLst/>
          </a:prstGeom>
        </p:spPr>
      </p:pic>
      <p:pic>
        <p:nvPicPr>
          <p:cNvPr id="46" name="图片 45" descr="机器人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276330" y="5287645"/>
            <a:ext cx="370840" cy="443865"/>
          </a:xfrm>
          <a:prstGeom prst="rect">
            <a:avLst/>
          </a:prstGeom>
        </p:spPr>
      </p:pic>
      <p:sp>
        <p:nvSpPr>
          <p:cNvPr id="55" name="上箭头 54"/>
          <p:cNvSpPr/>
          <p:nvPr/>
        </p:nvSpPr>
        <p:spPr>
          <a:xfrm>
            <a:off x="6595745" y="3004820"/>
            <a:ext cx="210185" cy="45974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6799580" y="3046095"/>
            <a:ext cx="731520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Vote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pic>
        <p:nvPicPr>
          <p:cNvPr id="48" name="图片 47" descr="BUG问题修复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978525" y="2577465"/>
            <a:ext cx="447040" cy="457835"/>
          </a:xfrm>
          <a:prstGeom prst="rect">
            <a:avLst/>
          </a:prstGeom>
        </p:spPr>
      </p:pic>
      <p:sp>
        <p:nvSpPr>
          <p:cNvPr id="58" name="圆角矩形 57"/>
          <p:cNvSpPr/>
          <p:nvPr/>
        </p:nvSpPr>
        <p:spPr>
          <a:xfrm>
            <a:off x="5527040" y="3955415"/>
            <a:ext cx="214947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Judge_doc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6498590" y="2591435"/>
            <a:ext cx="532765" cy="3168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or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7" name="图片 76" descr="勾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6978015" y="2577465"/>
            <a:ext cx="427355" cy="427355"/>
          </a:xfrm>
          <a:prstGeom prst="rect">
            <a:avLst/>
          </a:prstGeom>
        </p:spPr>
      </p:pic>
      <p:pic>
        <p:nvPicPr>
          <p:cNvPr id="43" name="图片 42" descr="机器人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44185" y="3954780"/>
            <a:ext cx="473710" cy="474980"/>
          </a:xfrm>
          <a:prstGeom prst="rect">
            <a:avLst/>
          </a:prstGeom>
        </p:spPr>
      </p:pic>
      <p:sp>
        <p:nvSpPr>
          <p:cNvPr id="59" name="圆角矩形 58"/>
          <p:cNvSpPr/>
          <p:nvPr/>
        </p:nvSpPr>
        <p:spPr>
          <a:xfrm>
            <a:off x="5521960" y="4575175"/>
            <a:ext cx="214820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Judge_evidence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61" name="圆角矩形 60"/>
          <p:cNvSpPr/>
          <p:nvPr/>
        </p:nvSpPr>
        <p:spPr>
          <a:xfrm>
            <a:off x="5527040" y="5200650"/>
            <a:ext cx="214947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Judge_severity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3" name="圆角矩形 72"/>
          <p:cNvSpPr/>
          <p:nvPr/>
        </p:nvSpPr>
        <p:spPr>
          <a:xfrm>
            <a:off x="5521960" y="5874385"/>
            <a:ext cx="2149475" cy="56578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Judge_novelty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8" name="图片 77" descr="地球全球搜索放大镜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5850890" y="4281805"/>
            <a:ext cx="293370" cy="293370"/>
          </a:xfrm>
          <a:prstGeom prst="rect">
            <a:avLst/>
          </a:prstGeom>
        </p:spPr>
      </p:pic>
      <p:pic>
        <p:nvPicPr>
          <p:cNvPr id="79" name="图片 78" descr="机器人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44185" y="4556760"/>
            <a:ext cx="473710" cy="474980"/>
          </a:xfrm>
          <a:prstGeom prst="rect">
            <a:avLst/>
          </a:prstGeom>
        </p:spPr>
      </p:pic>
      <p:pic>
        <p:nvPicPr>
          <p:cNvPr id="80" name="图片 79" descr="机器人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21960" y="5200650"/>
            <a:ext cx="473710" cy="474980"/>
          </a:xfrm>
          <a:prstGeom prst="rect">
            <a:avLst/>
          </a:prstGeom>
        </p:spPr>
      </p:pic>
      <p:pic>
        <p:nvPicPr>
          <p:cNvPr id="82" name="图片 81" descr="机器人"/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43550" y="5874385"/>
            <a:ext cx="473710" cy="474980"/>
          </a:xfrm>
          <a:prstGeom prst="rect">
            <a:avLst/>
          </a:prstGeom>
        </p:spPr>
      </p:pic>
      <p:pic>
        <p:nvPicPr>
          <p:cNvPr id="85" name="图片 84" descr="地球全球搜索放大镜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5850890" y="6189980"/>
            <a:ext cx="293370" cy="293370"/>
          </a:xfrm>
          <a:prstGeom prst="rect">
            <a:avLst/>
          </a:prstGeom>
        </p:spPr>
      </p:pic>
      <p:cxnSp>
        <p:nvCxnSpPr>
          <p:cNvPr id="92" name="直接箭头连接符 91"/>
          <p:cNvCxnSpPr>
            <a:stCxn id="17" idx="1"/>
            <a:endCxn id="22" idx="3"/>
          </p:cNvCxnSpPr>
          <p:nvPr/>
        </p:nvCxnSpPr>
        <p:spPr>
          <a:xfrm flipH="1" flipV="1">
            <a:off x="7820025" y="5078730"/>
            <a:ext cx="248920" cy="10350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直接箭头连接符 92"/>
          <p:cNvCxnSpPr>
            <a:stCxn id="14" idx="1"/>
            <a:endCxn id="22" idx="3"/>
          </p:cNvCxnSpPr>
          <p:nvPr/>
        </p:nvCxnSpPr>
        <p:spPr>
          <a:xfrm flipH="1">
            <a:off x="7820025" y="4101465"/>
            <a:ext cx="248920" cy="97726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>
            <a:stCxn id="20" idx="1"/>
            <a:endCxn id="22" idx="3"/>
          </p:cNvCxnSpPr>
          <p:nvPr/>
        </p:nvCxnSpPr>
        <p:spPr>
          <a:xfrm flipH="1" flipV="1">
            <a:off x="7820025" y="5078730"/>
            <a:ext cx="248920" cy="1076960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表 3"/>
          <p:cNvPicPr/>
          <p:nvPr/>
        </p:nvPicPr>
        <p:blipFill>
          <a:blip r:embed="rId48"/>
          <a:stretch>
            <a:fillRect/>
          </a:stretch>
        </p:blipFill>
        <p:spPr>
          <a:xfrm>
            <a:off x="471170" y="2591435"/>
            <a:ext cx="4594225" cy="3697605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47"/>
            </a:ext>
            <wpswe:webExtensionRef xmlns:wpswe="http://www.wps.cn/officeDocument/2018/webExtension" r:id="rId47"/>
          </a:extLst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9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471170" y="6483350"/>
            <a:ext cx="4064000" cy="37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sampled from the 49-TP + FP pool for ablation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bldLvl="0" animBg="1"/>
      <p:bldP spid="23" grpId="0"/>
      <p:bldP spid="58" grpId="0" bldLvl="0" animBg="1"/>
      <p:bldP spid="59" grpId="0" bldLvl="0" animBg="1"/>
      <p:bldP spid="61" grpId="0" bldLvl="0" animBg="1"/>
      <p:bldP spid="73" grpId="0" bldLvl="0" animBg="1"/>
      <p:bldP spid="55" grpId="0" bldLvl="0" animBg="1"/>
      <p:bldP spid="57" grpId="0"/>
      <p:bldP spid="5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Dev-Reviewer: Source-Grounded Falsifier </a:t>
            </a:r>
            <a:endParaRPr lang="en-US" altLang="zh-CN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303530" y="1370330"/>
            <a:ext cx="11082655" cy="42354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charset="0"/>
              <a:buChar char="p"/>
            </a:pP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 Act like a VDBMS maintainer: 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reproduce, cross-check source, try to disprove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                </a:t>
            </a:r>
            <a:endParaRPr lang="en-US" altLang="zh-CN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>
          <a:xfrm>
            <a:off x="11179175" y="6478270"/>
            <a:ext cx="497205" cy="264160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1" name="圆角矩形 20"/>
          <p:cNvSpPr/>
          <p:nvPr>
            <p:custDataLst>
              <p:tags r:id="rId2"/>
            </p:custDataLst>
          </p:nvPr>
        </p:nvSpPr>
        <p:spPr>
          <a:xfrm>
            <a:off x="718185" y="1841500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书-翻开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6300" y="1838325"/>
            <a:ext cx="662305" cy="52451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1409065" y="1949450"/>
            <a:ext cx="2118995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documentation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9" name="圆角矩形 28"/>
          <p:cNvSpPr/>
          <p:nvPr>
            <p:custDataLst>
              <p:tags r:id="rId7"/>
            </p:custDataLst>
          </p:nvPr>
        </p:nvSpPr>
        <p:spPr>
          <a:xfrm>
            <a:off x="721995" y="2366645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8"/>
            </p:custDataLst>
          </p:nvPr>
        </p:nvSpPr>
        <p:spPr>
          <a:xfrm>
            <a:off x="1412875" y="2484755"/>
            <a:ext cx="211836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behavioral claims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32" name="图片 31" descr="代码文件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5655" y="2366010"/>
            <a:ext cx="898525" cy="524510"/>
          </a:xfrm>
          <a:prstGeom prst="rect">
            <a:avLst/>
          </a:prstGeom>
        </p:spPr>
      </p:pic>
      <p:sp>
        <p:nvSpPr>
          <p:cNvPr id="34" name="圆角矩形 33"/>
          <p:cNvSpPr/>
          <p:nvPr>
            <p:custDataLst>
              <p:tags r:id="rId12"/>
            </p:custDataLst>
          </p:nvPr>
        </p:nvSpPr>
        <p:spPr>
          <a:xfrm>
            <a:off x="726440" y="2885440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13"/>
            </p:custDataLst>
          </p:nvPr>
        </p:nvSpPr>
        <p:spPr>
          <a:xfrm>
            <a:off x="1426210" y="2956560"/>
            <a:ext cx="2118360" cy="524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 dirty="0" err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test scripts</a:t>
            </a:r>
            <a:endParaRPr lang="en-US" altLang="zh-CN" sz="1600" b="1" dirty="0" err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43" name="图片 42" descr="软件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63600" y="2890520"/>
            <a:ext cx="716280" cy="524510"/>
          </a:xfrm>
          <a:prstGeom prst="rect">
            <a:avLst/>
          </a:prstGeom>
        </p:spPr>
      </p:pic>
      <p:sp>
        <p:nvSpPr>
          <p:cNvPr id="44" name="圆角矩形 43"/>
          <p:cNvSpPr/>
          <p:nvPr>
            <p:custDataLst>
              <p:tags r:id="rId17"/>
            </p:custDataLst>
          </p:nvPr>
        </p:nvSpPr>
        <p:spPr>
          <a:xfrm>
            <a:off x="721995" y="3407410"/>
            <a:ext cx="2805430" cy="52451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18"/>
            </p:custDataLst>
          </p:nvPr>
        </p:nvSpPr>
        <p:spPr>
          <a:xfrm>
            <a:off x="1372235" y="3484245"/>
            <a:ext cx="2159635" cy="3200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600" b="1">
                <a:solidFill>
                  <a:schemeClr val="bg2">
                    <a:lumMod val="50000"/>
                  </a:schemeClr>
                </a:solidFill>
                <a:latin typeface="Comic Sans MS" panose="030F0702030302020204" charset="0"/>
                <a:cs typeface="Comic Sans MS" panose="030F0702030302020204" charset="0"/>
              </a:rPr>
              <a:t>VDBMS Response</a:t>
            </a:r>
            <a:endParaRPr lang="en-US" altLang="zh-CN" sz="1600" b="1">
              <a:solidFill>
                <a:schemeClr val="bg2">
                  <a:lumMod val="50000"/>
                </a:schemeClr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46" name="图片 45" descr="数据库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95655" y="3407410"/>
            <a:ext cx="779780" cy="524510"/>
          </a:xfrm>
          <a:prstGeom prst="rect">
            <a:avLst/>
          </a:prstGeom>
        </p:spPr>
      </p:pic>
      <p:sp>
        <p:nvSpPr>
          <p:cNvPr id="47" name="圆角矩形 46"/>
          <p:cNvSpPr/>
          <p:nvPr>
            <p:custDataLst>
              <p:tags r:id="rId22"/>
            </p:custDataLst>
          </p:nvPr>
        </p:nvSpPr>
        <p:spPr>
          <a:xfrm>
            <a:off x="726440" y="4032250"/>
            <a:ext cx="2435860" cy="258762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圆角矩形 63"/>
          <p:cNvSpPr/>
          <p:nvPr>
            <p:custDataLst>
              <p:tags r:id="rId23"/>
            </p:custDataLst>
          </p:nvPr>
        </p:nvSpPr>
        <p:spPr>
          <a:xfrm>
            <a:off x="889000" y="4502150"/>
            <a:ext cx="214947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Judge_doc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65" name="图片 64" descr="机器人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06145" y="4486275"/>
            <a:ext cx="473710" cy="396240"/>
          </a:xfrm>
          <a:prstGeom prst="rect">
            <a:avLst/>
          </a:prstGeom>
        </p:spPr>
      </p:pic>
      <p:sp>
        <p:nvSpPr>
          <p:cNvPr id="73" name="圆角矩形 72"/>
          <p:cNvSpPr/>
          <p:nvPr>
            <p:custDataLst>
              <p:tags r:id="rId27"/>
            </p:custDataLst>
          </p:nvPr>
        </p:nvSpPr>
        <p:spPr>
          <a:xfrm>
            <a:off x="895985" y="5025390"/>
            <a:ext cx="214820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Judge_evidence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7" name="圆角矩形 76"/>
          <p:cNvSpPr/>
          <p:nvPr>
            <p:custDataLst>
              <p:tags r:id="rId28"/>
            </p:custDataLst>
          </p:nvPr>
        </p:nvSpPr>
        <p:spPr>
          <a:xfrm>
            <a:off x="894715" y="5532120"/>
            <a:ext cx="214947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Judge_severity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78" name="圆角矩形 77"/>
          <p:cNvSpPr/>
          <p:nvPr>
            <p:custDataLst>
              <p:tags r:id="rId29"/>
            </p:custDataLst>
          </p:nvPr>
        </p:nvSpPr>
        <p:spPr>
          <a:xfrm>
            <a:off x="889000" y="6038850"/>
            <a:ext cx="2149475" cy="47180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Judge_novelty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79" name="图片 78" descr="地球全球搜索放大镜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12850" y="4783455"/>
            <a:ext cx="293370" cy="244475"/>
          </a:xfrm>
          <a:prstGeom prst="rect">
            <a:avLst/>
          </a:prstGeom>
        </p:spPr>
      </p:pic>
      <p:pic>
        <p:nvPicPr>
          <p:cNvPr id="80" name="图片 79" descr="机器人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7575" y="4991735"/>
            <a:ext cx="473710" cy="39624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34"/>
            </p:custDataLst>
          </p:nvPr>
        </p:nvSpPr>
        <p:spPr>
          <a:xfrm>
            <a:off x="959485" y="4077970"/>
            <a:ext cx="2020570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judges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82" name="图片 81" descr="机器人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89635" y="5516880"/>
            <a:ext cx="473710" cy="396240"/>
          </a:xfrm>
          <a:prstGeom prst="rect">
            <a:avLst/>
          </a:prstGeom>
        </p:spPr>
      </p:pic>
      <p:pic>
        <p:nvPicPr>
          <p:cNvPr id="85" name="图片 84" descr="机器人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10590" y="6023610"/>
            <a:ext cx="473710" cy="396240"/>
          </a:xfrm>
          <a:prstGeom prst="rect">
            <a:avLst/>
          </a:prstGeom>
        </p:spPr>
      </p:pic>
      <p:pic>
        <p:nvPicPr>
          <p:cNvPr id="86" name="图片 85" descr="地球全球搜索放大镜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217930" y="6309360"/>
            <a:ext cx="293370" cy="244475"/>
          </a:xfrm>
          <a:prstGeom prst="rect">
            <a:avLst/>
          </a:prstGeom>
        </p:spPr>
      </p:pic>
      <p:sp>
        <p:nvSpPr>
          <p:cNvPr id="97" name="圆角矩形 96"/>
          <p:cNvSpPr/>
          <p:nvPr>
            <p:custDataLst>
              <p:tags r:id="rId39"/>
            </p:custDataLst>
          </p:nvPr>
        </p:nvSpPr>
        <p:spPr>
          <a:xfrm>
            <a:off x="4452620" y="5981700"/>
            <a:ext cx="2783840" cy="52895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r"/>
            <a:r>
              <a:rPr lang="en-US" altLang="zh-CN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defect candidates</a:t>
            </a:r>
            <a:endParaRPr lang="en-US" altLang="zh-CN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09" name="图片 108" descr="文件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563110" y="6031865"/>
            <a:ext cx="502920" cy="419100"/>
          </a:xfrm>
          <a:prstGeom prst="rect">
            <a:avLst/>
          </a:prstGeom>
        </p:spPr>
      </p:pic>
      <p:cxnSp>
        <p:nvCxnSpPr>
          <p:cNvPr id="121" name="曲线连接符 120"/>
          <p:cNvCxnSpPr/>
          <p:nvPr/>
        </p:nvCxnSpPr>
        <p:spPr>
          <a:xfrm rot="10800000" flipH="1" flipV="1">
            <a:off x="721360" y="2628900"/>
            <a:ext cx="4445" cy="2697480"/>
          </a:xfrm>
          <a:prstGeom prst="curvedConnector3">
            <a:avLst>
              <a:gd name="adj1" fmla="val -13357142"/>
            </a:avLst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2" name="曲线连接符 121"/>
          <p:cNvCxnSpPr/>
          <p:nvPr/>
        </p:nvCxnSpPr>
        <p:spPr>
          <a:xfrm rot="10800000" flipH="1" flipV="1">
            <a:off x="726440" y="3147060"/>
            <a:ext cx="3175" cy="2178685"/>
          </a:xfrm>
          <a:prstGeom prst="curvedConnector3">
            <a:avLst>
              <a:gd name="adj1" fmla="val -13900000"/>
            </a:avLst>
          </a:prstGeom>
          <a:ln w="25400">
            <a:solidFill>
              <a:schemeClr val="accent1">
                <a:alpha val="99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曲线连接符 122"/>
          <p:cNvCxnSpPr/>
          <p:nvPr/>
        </p:nvCxnSpPr>
        <p:spPr>
          <a:xfrm rot="10800000" flipH="1" flipV="1">
            <a:off x="721360" y="3669030"/>
            <a:ext cx="4445" cy="1656715"/>
          </a:xfrm>
          <a:prstGeom prst="curvedConnector3">
            <a:avLst>
              <a:gd name="adj1" fmla="val -5357143"/>
            </a:avLst>
          </a:prstGeom>
          <a:ln w="25400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5" name="左箭头 124"/>
          <p:cNvSpPr/>
          <p:nvPr/>
        </p:nvSpPr>
        <p:spPr>
          <a:xfrm flipH="1">
            <a:off x="3133725" y="6000750"/>
            <a:ext cx="133032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6" name="文本框 125"/>
          <p:cNvSpPr txBox="1"/>
          <p:nvPr/>
        </p:nvSpPr>
        <p:spPr>
          <a:xfrm>
            <a:off x="3248660" y="5781040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28" name="圆角矩形 127"/>
          <p:cNvSpPr/>
          <p:nvPr/>
        </p:nvSpPr>
        <p:spPr>
          <a:xfrm>
            <a:off x="4396740" y="1793875"/>
            <a:ext cx="6163945" cy="3593465"/>
          </a:xfrm>
          <a:prstGeom prst="roundRect">
            <a:avLst>
              <a:gd name="adj" fmla="val 694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9" name="文本框 128"/>
          <p:cNvSpPr txBox="1"/>
          <p:nvPr>
            <p:custDataLst>
              <p:tags r:id="rId43"/>
            </p:custDataLst>
          </p:nvPr>
        </p:nvSpPr>
        <p:spPr>
          <a:xfrm>
            <a:off x="5187315" y="1889125"/>
            <a:ext cx="336994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LLM judge</a:t>
            </a:r>
            <a:r>
              <a:rPr lang="zh-CN" altLang="en-US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（</a:t>
            </a:r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dev_reviewer</a:t>
            </a:r>
            <a:r>
              <a:rPr lang="zh-CN" altLang="en-US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）</a:t>
            </a:r>
            <a:endParaRPr lang="zh-CN" altLang="en-US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pic>
        <p:nvPicPr>
          <p:cNvPr id="130" name="图片 129" descr="机器人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707255" y="1825625"/>
            <a:ext cx="542290" cy="453390"/>
          </a:xfrm>
          <a:prstGeom prst="rect">
            <a:avLst/>
          </a:prstGeom>
        </p:spPr>
      </p:pic>
      <p:sp>
        <p:nvSpPr>
          <p:cNvPr id="132" name="圆角矩形 131"/>
          <p:cNvSpPr/>
          <p:nvPr>
            <p:custDataLst>
              <p:tags r:id="rId45"/>
            </p:custDataLst>
          </p:nvPr>
        </p:nvSpPr>
        <p:spPr>
          <a:xfrm>
            <a:off x="7830185" y="5979160"/>
            <a:ext cx="2954020" cy="530860"/>
          </a:xfrm>
          <a:prstGeom prst="roundRect">
            <a:avLst>
              <a:gd name="adj" fmla="val 21975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    </a:t>
            </a:r>
            <a:endParaRPr lang="en-US" altLang="zh-CN" sz="160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33" name="文本框 132"/>
          <p:cNvSpPr txBox="1"/>
          <p:nvPr/>
        </p:nvSpPr>
        <p:spPr>
          <a:xfrm>
            <a:off x="8428990" y="6022975"/>
            <a:ext cx="2406650" cy="4552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00000"/>
              </a:lnSpc>
            </a:pPr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VDBMS source code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pic>
        <p:nvPicPr>
          <p:cNvPr id="134" name="图片 133" descr="代码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7912735" y="6003925"/>
            <a:ext cx="516255" cy="454025"/>
          </a:xfrm>
          <a:prstGeom prst="rect">
            <a:avLst/>
          </a:prstGeom>
        </p:spPr>
      </p:pic>
      <p:sp>
        <p:nvSpPr>
          <p:cNvPr id="135" name="左箭头 134"/>
          <p:cNvSpPr/>
          <p:nvPr/>
        </p:nvSpPr>
        <p:spPr>
          <a:xfrm flipH="1">
            <a:off x="3523615" y="1889125"/>
            <a:ext cx="87312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左箭头 135"/>
          <p:cNvSpPr/>
          <p:nvPr/>
        </p:nvSpPr>
        <p:spPr>
          <a:xfrm flipH="1">
            <a:off x="3522980" y="2413635"/>
            <a:ext cx="873760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文本框 136"/>
          <p:cNvSpPr txBox="1"/>
          <p:nvPr/>
        </p:nvSpPr>
        <p:spPr>
          <a:xfrm>
            <a:off x="3522980" y="2155825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522980" y="2684780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39" name="上箭头 138"/>
          <p:cNvSpPr/>
          <p:nvPr/>
        </p:nvSpPr>
        <p:spPr>
          <a:xfrm>
            <a:off x="5635625" y="5387340"/>
            <a:ext cx="419100" cy="59436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上箭头 140"/>
          <p:cNvSpPr/>
          <p:nvPr/>
        </p:nvSpPr>
        <p:spPr>
          <a:xfrm>
            <a:off x="8557260" y="5387340"/>
            <a:ext cx="419100" cy="579120"/>
          </a:xfrm>
          <a:prstGeom prst="up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文本框 141"/>
          <p:cNvSpPr txBox="1"/>
          <p:nvPr/>
        </p:nvSpPr>
        <p:spPr>
          <a:xfrm>
            <a:off x="5920740" y="5586095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8834120" y="5586095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input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144" name="圆角矩形 143"/>
          <p:cNvSpPr/>
          <p:nvPr/>
        </p:nvSpPr>
        <p:spPr>
          <a:xfrm>
            <a:off x="4541520" y="2321560"/>
            <a:ext cx="3768725" cy="293306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5" name="文本框 144"/>
          <p:cNvSpPr txBox="1"/>
          <p:nvPr/>
        </p:nvSpPr>
        <p:spPr>
          <a:xfrm>
            <a:off x="4585335" y="2362835"/>
            <a:ext cx="366141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Check every defect candidate: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4541520" y="2837180"/>
            <a:ext cx="352361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1. Independently reproducible?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4541520" y="3669030"/>
            <a:ext cx="3489325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2. Evidence sufficient?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4541520" y="4502150"/>
            <a:ext cx="34607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3. Falsifiable?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49" name="圆角矩形 148"/>
          <p:cNvSpPr/>
          <p:nvPr/>
        </p:nvSpPr>
        <p:spPr>
          <a:xfrm>
            <a:off x="8394065" y="1889125"/>
            <a:ext cx="2114550" cy="343662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0" name="文本框 149"/>
          <p:cNvSpPr txBox="1"/>
          <p:nvPr>
            <p:custDataLst>
              <p:tags r:id="rId49"/>
            </p:custDataLst>
          </p:nvPr>
        </p:nvSpPr>
        <p:spPr>
          <a:xfrm>
            <a:off x="8352790" y="2084070"/>
            <a:ext cx="2155825" cy="329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b="1" dirty="0" err="1">
                <a:latin typeface="Comic Sans MS" panose="030F0702030302020204" charset="0"/>
                <a:ea typeface="Microsoft YaHei" panose="020B0503020204020204" charset="-122"/>
                <a:cs typeface="Comic Sans MS" panose="030F0702030302020204" charset="0"/>
                <a:sym typeface="+mn-ea"/>
              </a:rPr>
              <a:t>Final adjudication</a:t>
            </a:r>
            <a:endParaRPr lang="en-US" altLang="zh-CN" b="1" dirty="0" err="1">
              <a:latin typeface="Comic Sans MS" panose="030F0702030302020204" charset="0"/>
              <a:ea typeface="Microsoft YaHei" panose="020B0503020204020204" charset="-122"/>
              <a:cs typeface="Comic Sans MS" panose="030F0702030302020204" charset="0"/>
              <a:sym typeface="+mn-ea"/>
            </a:endParaRPr>
          </a:p>
        </p:txBody>
      </p:sp>
      <p:cxnSp>
        <p:nvCxnSpPr>
          <p:cNvPr id="151" name="直接箭头连接符 150"/>
          <p:cNvCxnSpPr/>
          <p:nvPr/>
        </p:nvCxnSpPr>
        <p:spPr>
          <a:xfrm>
            <a:off x="5075555" y="3168015"/>
            <a:ext cx="0" cy="582930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2" name="直接箭头连接符 151"/>
          <p:cNvCxnSpPr/>
          <p:nvPr/>
        </p:nvCxnSpPr>
        <p:spPr>
          <a:xfrm>
            <a:off x="5075555" y="4032250"/>
            <a:ext cx="0" cy="582930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>
            <a:off x="8002270" y="3032125"/>
            <a:ext cx="573405" cy="43180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4" name="圆角矩形 153"/>
          <p:cNvSpPr/>
          <p:nvPr/>
        </p:nvSpPr>
        <p:spPr>
          <a:xfrm>
            <a:off x="8608695" y="2522220"/>
            <a:ext cx="1833880" cy="160591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Not-a-defect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55" name="圆角矩形 154"/>
          <p:cNvSpPr/>
          <p:nvPr/>
        </p:nvSpPr>
        <p:spPr>
          <a:xfrm>
            <a:off x="8608695" y="4163695"/>
            <a:ext cx="1833880" cy="1007745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Defect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56" name="直接箭头连接符 155"/>
          <p:cNvCxnSpPr/>
          <p:nvPr/>
        </p:nvCxnSpPr>
        <p:spPr>
          <a:xfrm flipV="1">
            <a:off x="7073900" y="3498215"/>
            <a:ext cx="1520825" cy="392430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 flipV="1">
            <a:off x="6282690" y="3772535"/>
            <a:ext cx="2315845" cy="872490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endCxn id="155" idx="1"/>
          </p:cNvCxnSpPr>
          <p:nvPr/>
        </p:nvCxnSpPr>
        <p:spPr>
          <a:xfrm flipV="1">
            <a:off x="6282690" y="4667885"/>
            <a:ext cx="2326005" cy="70485"/>
          </a:xfrm>
          <a:prstGeom prst="straightConnector1">
            <a:avLst/>
          </a:prstGeom>
          <a:ln w="31750"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9" name="文本框 158"/>
          <p:cNvSpPr txBox="1"/>
          <p:nvPr/>
        </p:nvSpPr>
        <p:spPr>
          <a:xfrm>
            <a:off x="5075555" y="3300095"/>
            <a:ext cx="5549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yes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0" name="文本框 159"/>
          <p:cNvSpPr txBox="1"/>
          <p:nvPr/>
        </p:nvSpPr>
        <p:spPr>
          <a:xfrm rot="240000">
            <a:off x="8002270" y="2956560"/>
            <a:ext cx="4152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1" name="文本框 160"/>
          <p:cNvSpPr txBox="1"/>
          <p:nvPr/>
        </p:nvSpPr>
        <p:spPr>
          <a:xfrm rot="20820000">
            <a:off x="7597140" y="3595370"/>
            <a:ext cx="4152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305675" y="4645025"/>
            <a:ext cx="4152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no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5075555" y="4077970"/>
            <a:ext cx="5549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yes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4" name="文本框 163"/>
          <p:cNvSpPr txBox="1"/>
          <p:nvPr/>
        </p:nvSpPr>
        <p:spPr>
          <a:xfrm rot="20460000">
            <a:off x="7266305" y="4115435"/>
            <a:ext cx="55499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yes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66" name="左箭头 165"/>
          <p:cNvSpPr/>
          <p:nvPr/>
        </p:nvSpPr>
        <p:spPr>
          <a:xfrm flipH="1">
            <a:off x="10442575" y="4486275"/>
            <a:ext cx="845185" cy="477520"/>
          </a:xfrm>
          <a:prstGeom prst="leftArrow">
            <a:avLst/>
          </a:prstGeom>
          <a:solidFill>
            <a:schemeClr val="accent2">
              <a:lumMod val="75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7" name="图片 166" descr="BUG问题修复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1287760" y="4474845"/>
            <a:ext cx="572770" cy="488950"/>
          </a:xfrm>
          <a:prstGeom prst="rect">
            <a:avLst/>
          </a:prstGeom>
        </p:spPr>
      </p:pic>
      <p:sp>
        <p:nvSpPr>
          <p:cNvPr id="168" name="文本框 167"/>
          <p:cNvSpPr txBox="1"/>
          <p:nvPr/>
        </p:nvSpPr>
        <p:spPr>
          <a:xfrm>
            <a:off x="10560685" y="4842510"/>
            <a:ext cx="869950" cy="2578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output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" grpId="0" animBg="1"/>
      <p:bldP spid="129" grpId="0"/>
      <p:bldP spid="135" grpId="0" animBg="1"/>
      <p:bldP spid="136" grpId="0" animBg="1"/>
      <p:bldP spid="137" grpId="0"/>
      <p:bldP spid="138" grpId="0"/>
      <p:bldP spid="139" grpId="0" animBg="1"/>
      <p:bldP spid="141" grpId="0" animBg="1"/>
      <p:bldP spid="142" grpId="0"/>
      <p:bldP spid="143" grpId="0"/>
      <p:bldP spid="144" grpId="0" animBg="1"/>
      <p:bldP spid="145" grpId="0"/>
      <p:bldP spid="146" grpId="0"/>
      <p:bldP spid="147" grpId="0"/>
      <p:bldP spid="148" grpId="0"/>
      <p:bldP spid="149" grpId="0" animBg="1"/>
      <p:bldP spid="150" grpId="0"/>
      <p:bldP spid="154" grpId="0" animBg="1"/>
      <p:bldP spid="155" grpId="0" animBg="1"/>
      <p:bldP spid="159" grpId="0"/>
      <p:bldP spid="160" grpId="0"/>
      <p:bldP spid="161" grpId="0"/>
      <p:bldP spid="162" grpId="0"/>
      <p:bldP spid="163" grpId="0"/>
      <p:bldP spid="164" grpId="0"/>
      <p:bldP spid="166" grpId="0" animBg="1"/>
      <p:bldP spid="168" grpId="0"/>
      <p:bldP spid="164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521335" y="530860"/>
            <a:ext cx="94189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Evaluation</a:t>
            </a:r>
            <a:endParaRPr lang="en-US" sz="360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2"/>
          <p:cNvSpPr>
            <a:spLocks noGrp="1"/>
          </p:cNvSpPr>
          <p:nvPr/>
        </p:nvSpPr>
        <p:spPr>
          <a:xfrm>
            <a:off x="294005" y="1557020"/>
            <a:ext cx="11283315" cy="47574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60045" indent="-36004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683C6"/>
              </a:buClr>
              <a:buFont typeface="Wingdings" panose="05000000000000000000" pitchFamily="2" charset="2"/>
              <a:buChar char="Ø"/>
              <a:defRPr sz="2800" b="0" i="0" kern="1200" baseline="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683C6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Times New Roman" panose="0202060305040502030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RQ1: Bug detection capability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What doc-implementation </a:t>
            </a:r>
            <a:r>
              <a:rPr kumimoji="1" lang="en-US" altLang="zh-CN" i="1" dirty="0" err="1">
                <a:latin typeface="Cambria" panose="02040503050406030204" charset="0"/>
                <a:cs typeface="Cambria" panose="02040503050406030204" charset="0"/>
              </a:rPr>
              <a:t>bugs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 can </a:t>
            </a:r>
            <a:r>
              <a:rPr lang="en-US" altLang="zh-CN" dirty="0" err="1">
                <a:latin typeface="Cambria" panose="02040503050406030204" charset="0"/>
                <a:cs typeface="Cambria" panose="02040503050406030204" charset="0"/>
              </a:rPr>
              <a:t>TestVDB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 detect in real-world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 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VDBMSs?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RQ2: Effectiveness of source-grounded falsification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How effective is source-grounded falsification at suppressing false positives in TestVDB?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pPr marL="457200" lvl="1" indent="0">
              <a:buNone/>
            </a:pP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</a:rPr>
              <a:t>RQ3: Comparing with existing approach</a:t>
            </a:r>
            <a:endParaRPr lang="en-US" altLang="zh-CN" b="1" dirty="0">
              <a:latin typeface="Cambria" panose="02040503050406030204" charset="0"/>
              <a:cs typeface="Cambria" panose="02040503050406030204" charset="0"/>
            </a:endParaRPr>
          </a:p>
          <a:p>
            <a:pPr lvl="1"/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How many defects detected by TestVDB can be found by existing approach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（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VDBFuzz</a:t>
            </a:r>
            <a:r>
              <a:rPr lang="zh-CN" altLang="en-US" dirty="0">
                <a:latin typeface="Cambria" panose="02040503050406030204" charset="0"/>
                <a:cs typeface="Cambria" panose="02040503050406030204" charset="0"/>
              </a:rPr>
              <a:t>）</a:t>
            </a:r>
            <a:r>
              <a:rPr lang="en-US" altLang="zh-CN" dirty="0">
                <a:latin typeface="Cambria" panose="02040503050406030204" charset="0"/>
                <a:cs typeface="Cambria" panose="02040503050406030204" charset="0"/>
              </a:rPr>
              <a:t>?</a:t>
            </a:r>
            <a:endParaRPr lang="en-US" altLang="zh-CN" dirty="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521335" y="530860"/>
            <a:ext cx="941895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 Detection Capability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graphicFrame>
        <p:nvGraphicFramePr>
          <p:cNvPr id="3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981075" y="3340100"/>
          <a:ext cx="9929495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3691"/>
                <a:gridCol w="1536058"/>
                <a:gridCol w="1468120"/>
                <a:gridCol w="1351314"/>
                <a:gridCol w="1022385"/>
                <a:gridCol w="1783467"/>
                <a:gridCol w="15944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VDBMS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Submitted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Confirmed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PR_open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Fixed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dirty="0">
                          <a:latin typeface="Times New Roman" panose="02020603050405020304" charset="0"/>
                          <a:sym typeface="+mn-ea"/>
                        </a:rPr>
                        <a:t>False Positive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Pending&amp; duplicate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Milvus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51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21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5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12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17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Qdrant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26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4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8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9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 err="1">
                          <a:latin typeface="Times New Roman" panose="02020603050405020304" charset="0"/>
                        </a:rPr>
                        <a:t>Weaviate</a:t>
                      </a:r>
                      <a:endParaRPr lang="en-US" altLang="zh-CN" sz="2000" b="0" i="0" dirty="0" err="1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30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3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11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15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Total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107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34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16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15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23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35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549910" y="1383665"/>
            <a:ext cx="11522075" cy="1684655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2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107</a:t>
            </a:r>
            <a:r>
              <a:rPr lang="zh-CN" altLang="en-US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bugs were submitted</a:t>
            </a:r>
            <a:endParaRPr lang="en-US" altLang="zh-CN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34 bugs were confirmed as new bugs </a:t>
            </a:r>
            <a:endParaRPr lang="en-US" altLang="zh-CN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2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15 bugs were fixed</a:t>
            </a:r>
            <a:endParaRPr lang="zh-CN" altLang="en-US" sz="2800" dirty="0">
              <a:solidFill>
                <a:schemeClr val="tx2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lang="zh-CN" altLang="en-US" sz="2800" b="1" baseline="30000" dirty="0">
              <a:solidFill>
                <a:schemeClr val="tx2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</p:spTree>
  </p:cSld>
  <p:clrMapOvr>
    <a:masterClrMapping/>
  </p:clrMapOvr>
  <p:transition spd="slow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494157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lang="en-US" sz="360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Effectiveness of False Positive S</a:t>
            </a:r>
            <a:r>
              <a:rPr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uppression</a:t>
            </a:r>
            <a:endParaRPr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3" name="图表 3"/>
          <p:cNvPicPr/>
          <p:nvPr/>
        </p:nvPicPr>
        <p:blipFill>
          <a:blip r:embed="rId5"/>
          <a:stretch>
            <a:fillRect/>
          </a:stretch>
        </p:blipFill>
        <p:spPr>
          <a:xfrm>
            <a:off x="1026160" y="1903095"/>
            <a:ext cx="8534400" cy="4471035"/>
          </a:xfrm>
          <a:prstGeom prst="rect">
            <a:avLst/>
          </a:prstGeom>
          <a:ln>
            <a:solidFill>
              <a:srgbClr val="D9D9D9"/>
            </a:solidFill>
          </a:ln>
          <a:extLst>
            <a:ext uri="{8CAD56D8-0F58-4FB8-B24C-77498146470C}">
              <wpswe:webExtensionRef xmlns:wpswe="http://www.wps.cn/officeDocument/2018/webExtension" r:id="rId4"/>
            </a:ext>
            <wpswe:webExtensionRef xmlns:wpswe="http://www.wps.cn/officeDocument/2018/webExtension" r:id="rId4"/>
          </a:extLst>
        </p:spPr>
      </p:pic>
      <p:sp>
        <p:nvSpPr>
          <p:cNvPr id="5" name="内容占位符 32"/>
          <p:cNvSpPr>
            <a:spLocks noGrp="1"/>
          </p:cNvSpPr>
          <p:nvPr/>
        </p:nvSpPr>
        <p:spPr>
          <a:xfrm>
            <a:off x="716915" y="1226820"/>
            <a:ext cx="10852150" cy="4941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Wingdings" panose="05000000000000000000" charset="0"/>
              <a:buChar char="p"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48 candidates</a:t>
            </a:r>
            <a:r>
              <a:rPr lang="en-US" altLang="zh-CN" sz="18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（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27TP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20,qdrant 7]</a:t>
            </a:r>
            <a:r>
              <a:rPr lang="en-US" altLang="zh-CN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+21FP</a:t>
            </a:r>
            <a:r>
              <a:rPr lang="en-US" altLang="zh-CN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[milvus 12,qdrant 9]</a:t>
            </a:r>
            <a:r>
              <a:rPr lang="zh-CN" altLang="en-US" sz="24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）</a:t>
            </a: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  <a:p>
            <a:pPr>
              <a:buFont typeface="Wingdings" panose="05000000000000000000" charset="0"/>
              <a:buChar char="p"/>
            </a:pP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59645" y="2484120"/>
            <a:ext cx="2006600" cy="21780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 cmpd="thickThin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precision:</a:t>
            </a:r>
            <a:endParaRPr lang="en-US" altLang="zh-CN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整体判断能力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accuracy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剔除假阳性能力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en-US" altLang="zh-CN">
                <a:latin typeface="Cambria" panose="02040503050406030204" charset="0"/>
                <a:cs typeface="Cambria" panose="02040503050406030204" charset="0"/>
              </a:rPr>
              <a:t>recall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：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保留真阳性</a:t>
            </a:r>
            <a:r>
              <a:rPr lang="zh-CN" altLang="en-US">
                <a:latin typeface="Cambria" panose="02040503050406030204" charset="0"/>
                <a:cs typeface="Cambria" panose="02040503050406030204" charset="0"/>
              </a:rPr>
              <a:t>能力</a:t>
            </a:r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  <a:p>
            <a:endParaRPr lang="zh-CN" altLang="en-US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71170" y="6483350"/>
            <a:ext cx="4064000" cy="37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400" b="1" dirty="0" err="1"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[1] </a:t>
            </a:r>
            <a:r>
              <a:rPr lang="en-US" altLang="zh-CN" sz="1400">
                <a:latin typeface="Cambria" panose="02040503050406030204" charset="0"/>
                <a:cs typeface="Cambria" panose="02040503050406030204" charset="0"/>
              </a:rPr>
              <a:t>sampled from the 49-TP + FP pool for ablation</a:t>
            </a:r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  <a:p>
            <a:endParaRPr lang="en-US" altLang="zh-CN" sz="1400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  <p:transition spd="slow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内容占位符 32"/>
          <p:cNvSpPr>
            <a:spLocks noGrp="1"/>
          </p:cNvSpPr>
          <p:nvPr>
            <p:ph idx="1"/>
          </p:nvPr>
        </p:nvSpPr>
        <p:spPr>
          <a:xfrm>
            <a:off x="669925" y="1395730"/>
            <a:ext cx="10852150" cy="4941570"/>
          </a:xfrm>
        </p:spPr>
        <p:txBody>
          <a:bodyPr/>
          <a:lstStyle/>
          <a:p>
            <a:pPr marL="0" indent="0">
              <a:buFont typeface="Wingdings" panose="05000000000000000000" charset="0"/>
              <a:buNone/>
            </a:pPr>
            <a:r>
              <a:rPr lang="en-US" altLang="zh-CN" sz="2800" b="1" dirty="0" err="1">
                <a:solidFill>
                  <a:schemeClr val="tx1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+mn-ea"/>
              </a:rPr>
              <a:t> </a:t>
            </a:r>
            <a:endParaRPr lang="en-US" altLang="zh-CN" sz="28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414655" y="1225550"/>
            <a:ext cx="10971530" cy="7620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351155" y="527050"/>
            <a:ext cx="1184084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kumimoji="1"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Comparing</a:t>
            </a:r>
            <a:r>
              <a:rPr kumimoji="1" lang="zh-CN" altLang="en-US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kumimoji="1" lang="en-US" altLang="zh-CN" sz="3600" dirty="0">
                <a:solidFill>
                  <a:srgbClr val="0A4A94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with Existing Approach</a:t>
            </a:r>
            <a:endParaRPr kumimoji="1" lang="en-US" altLang="zh-CN" sz="3600" dirty="0">
              <a:solidFill>
                <a:srgbClr val="0A4A94"/>
              </a:solidFill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>
          <a:xfrm>
            <a:off x="10102215" y="6314440"/>
            <a:ext cx="1475105" cy="316865"/>
          </a:xfrm>
        </p:spPr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sp>
        <p:nvSpPr>
          <p:cNvPr id="5" name="内容占位符 32"/>
          <p:cNvSpPr>
            <a:spLocks noGrp="1"/>
          </p:cNvSpPr>
          <p:nvPr/>
        </p:nvSpPr>
        <p:spPr>
          <a:xfrm>
            <a:off x="589915" y="1442720"/>
            <a:ext cx="10852150" cy="494157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lnSpc>
                <a:spcPct val="100000"/>
              </a:lnSpc>
              <a:buFont typeface="Wingdings" panose="05000000000000000000" charset="0"/>
              <a:buChar char="p"/>
            </a:pPr>
            <a:r>
              <a:rPr lang="en-US" altLang="zh-CN" sz="28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Investigate whether the 49 TPs</a:t>
            </a:r>
            <a:r>
              <a:rPr kumimoji="1" lang="en-US" altLang="zh-CN" sz="2800" i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</a:t>
            </a:r>
            <a:r>
              <a:rPr kumimoji="1" lang="en-US" altLang="zh-CN" sz="2800" i="1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Bug</a:t>
            </a:r>
            <a:r>
              <a:rPr lang="en-US" altLang="zh-CN" sz="2800" dirty="0" err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s</a:t>
            </a:r>
            <a:r>
              <a:rPr lang="en-US" altLang="zh-CN" sz="2800" dirty="0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  <a:sym typeface="+mn-ea"/>
              </a:rPr>
              <a:t> can be detected by existing approach(VDBFuzz)</a:t>
            </a:r>
            <a:endParaRPr lang="en-US" altLang="zh-CN" sz="2800" dirty="0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marL="0" lvl="1">
              <a:buFont typeface="Wingdings" panose="05000000000000000000" charset="0"/>
              <a:buChar char="p"/>
            </a:pPr>
            <a:endParaRPr lang="zh-CN" altLang="en-US" sz="2400" b="1" dirty="0" err="1">
              <a:solidFill>
                <a:schemeClr val="tx1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+mn-ea"/>
            </a:endParaRPr>
          </a:p>
        </p:txBody>
      </p:sp>
      <p:graphicFrame>
        <p:nvGraphicFramePr>
          <p:cNvPr id="7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177925" y="3073400"/>
          <a:ext cx="4695825" cy="1993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9695"/>
                <a:gridCol w="1880235"/>
                <a:gridCol w="144589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VDBMS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TestVDB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VDBFuzz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9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Milvus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22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Qdrant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14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0" i="0" dirty="0" err="1">
                          <a:latin typeface="Times New Roman" panose="02020603050405020304" charset="0"/>
                        </a:rPr>
                        <a:t>Weaviate</a:t>
                      </a:r>
                      <a:endParaRPr lang="en-US" altLang="zh-CN" sz="2000" b="0" i="0" dirty="0" err="1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13</a:t>
                      </a:r>
                      <a:endParaRPr lang="zh-CN" altLang="en-US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0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0" i="0" dirty="0">
                        <a:latin typeface="Times New Roman" panose="0202060305040502030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Total</a:t>
                      </a:r>
                      <a:endParaRPr lang="zh-CN" altLang="en-US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49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 b="1" i="0" dirty="0">
                          <a:latin typeface="Times New Roman" panose="02020603050405020304" charset="0"/>
                        </a:rPr>
                        <a:t>0</a:t>
                      </a:r>
                      <a:endParaRPr lang="en-US" altLang="zh-CN" sz="2000" b="1" i="0" dirty="0">
                        <a:latin typeface="Times New Roman" panose="0202060305040502030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圆角矩形 9"/>
          <p:cNvSpPr/>
          <p:nvPr/>
        </p:nvSpPr>
        <p:spPr>
          <a:xfrm>
            <a:off x="6401435" y="2762885"/>
            <a:ext cx="4517390" cy="3060065"/>
          </a:xfrm>
          <a:prstGeom prst="roundRect">
            <a:avLst/>
          </a:prstGeom>
          <a:solidFill>
            <a:schemeClr val="accent2"/>
          </a:solidFill>
          <a:ln w="317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73825" y="2943225"/>
            <a:ext cx="4462780" cy="31305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dirty="0">
                <a:latin typeface="Times New Roman" panose="02020603050405020304" charset="0"/>
                <a:sym typeface="+mn-ea"/>
              </a:rPr>
              <a:t>  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On Qdrant v1.18.0, TestVDB found a silent-accept defect (#9045: empty vectors accepted via wait=false) ,which later triggers server panic on search,but VDBFuzz missed it—a crash oracle cannot fire on 200 OK. 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  <a:p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  Conversely, on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Qdrant </a:t>
            </a:r>
            <a:r>
              <a:rPr lang="en-US" altLang="zh-CN" b="1" dirty="0">
                <a:latin typeface="Cambria" panose="02040503050406030204" charset="0"/>
                <a:cs typeface="Cambria" panose="02040503050406030204" charset="0"/>
                <a:sym typeface="+mn-ea"/>
              </a:rPr>
              <a:t>v1.4.0, TestVDB reached VDBFuzz's divide-by-zero crash (size=2⁶³) by contract reasoning.</a:t>
            </a:r>
            <a:endParaRPr lang="en-US" altLang="zh-CN" b="1" dirty="0">
              <a:latin typeface="Cambria" panose="02040503050406030204" charset="0"/>
              <a:cs typeface="Cambria" panose="02040503050406030204" charset="0"/>
              <a:sym typeface="+mn-ea"/>
            </a:endParaRPr>
          </a:p>
        </p:txBody>
      </p:sp>
      <p:cxnSp>
        <p:nvCxnSpPr>
          <p:cNvPr id="13" name="直接箭头连接符 12"/>
          <p:cNvCxnSpPr>
            <a:stCxn id="14" idx="3"/>
            <a:endCxn id="10" idx="1"/>
          </p:cNvCxnSpPr>
          <p:nvPr/>
        </p:nvCxnSpPr>
        <p:spPr>
          <a:xfrm>
            <a:off x="5346700" y="4083050"/>
            <a:ext cx="1054735" cy="210185"/>
          </a:xfrm>
          <a:prstGeom prst="straightConnector1">
            <a:avLst/>
          </a:prstGeom>
          <a:ln w="34925"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984750" y="3883025"/>
            <a:ext cx="361950" cy="400050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717070" y="530601"/>
            <a:ext cx="791125" cy="675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795" b="1">
                <a:solidFill>
                  <a:schemeClr val="bg1"/>
                </a:solidFill>
              </a:rPr>
              <a:t>2</a:t>
            </a:r>
            <a:endParaRPr lang="en-US" altLang="zh-CN" sz="3795" b="1">
              <a:solidFill>
                <a:schemeClr val="bg1"/>
              </a:solidFill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813796" y="1225684"/>
            <a:ext cx="10571862" cy="51390"/>
            <a:chOff x="741406" y="1252115"/>
            <a:chExt cx="10571862" cy="5139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741406" y="1252115"/>
              <a:ext cx="10571862" cy="0"/>
            </a:xfrm>
            <a:prstGeom prst="line">
              <a:avLst/>
            </a:prstGeom>
            <a:ln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/>
          </p:nvCxnSpPr>
          <p:spPr>
            <a:xfrm>
              <a:off x="741406" y="1303505"/>
              <a:ext cx="8052398" cy="0"/>
            </a:xfrm>
            <a:prstGeom prst="line">
              <a:avLst/>
            </a:prstGeom>
            <a:ln w="76200">
              <a:solidFill>
                <a:srgbClr val="0A4A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MH_Others_1"/>
          <p:cNvSpPr txBox="1"/>
          <p:nvPr>
            <p:custDataLst>
              <p:tags r:id="rId1"/>
            </p:custDataLst>
          </p:nvPr>
        </p:nvSpPr>
        <p:spPr>
          <a:xfrm>
            <a:off x="814070" y="588963"/>
            <a:ext cx="10708005" cy="55372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zh-CN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Conclusions </a:t>
            </a:r>
            <a:r>
              <a:rPr lang="en-US" sz="3600" b="1" dirty="0">
                <a:solidFill>
                  <a:srgbClr val="0A4A94"/>
                </a:solidFill>
                <a:latin typeface="Cambria" panose="02040503050406030204" charset="0"/>
                <a:ea typeface="Microsoft YaHei" panose="020B0503020204020204" charset="-122"/>
                <a:cs typeface="Cambria" panose="02040503050406030204" charset="0"/>
                <a:sym typeface="Arial" panose="020B0604020202020204" pitchFamily="34" charset="0"/>
              </a:rPr>
              <a:t> </a:t>
            </a:r>
            <a:endParaRPr lang="en-US" sz="3600" b="1" dirty="0">
              <a:solidFill>
                <a:srgbClr val="0A4A94"/>
              </a:solidFill>
              <a:latin typeface="Cambria" panose="02040503050406030204" charset="0"/>
              <a:ea typeface="Microsoft YaHei" panose="020B0503020204020204" charset="-122"/>
              <a:cs typeface="Cambria" panose="02040503050406030204" charset="0"/>
              <a:sym typeface="Arial" panose="020B0604020202020204" pitchFamily="34" charset="0"/>
            </a:endParaRPr>
          </a:p>
        </p:txBody>
      </p:sp>
      <p:sp>
        <p:nvSpPr>
          <p:cNvPr id="24" name="灯片编号占位符 23"/>
          <p:cNvSpPr>
            <a:spLocks noGrp="1"/>
          </p:cNvSpPr>
          <p:nvPr>
            <p:ph type="sldNum" sz="quarter" idx="12"/>
            <p:custDataLst>
              <p:tags r:id="rId2"/>
            </p:custDataLst>
          </p:nvPr>
        </p:nvSpPr>
        <p:spPr/>
        <p:txBody>
          <a:bodyPr/>
          <a:lstStyle/>
          <a:p>
            <a:fld id="{E09368C2-8BE5-4C19-86FB-98954A39BC6E}" type="slidenum">
              <a:rPr lang="zh-CN" altLang="en-US" smtClean="0"/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370" y="1741805"/>
            <a:ext cx="4434840" cy="243332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605" y="4276090"/>
            <a:ext cx="4424045" cy="223139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4100" y="4275455"/>
            <a:ext cx="4435475" cy="2232025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635" y="1743710"/>
            <a:ext cx="4438015" cy="2432050"/>
          </a:xfrm>
          <a:prstGeom prst="rect">
            <a:avLst/>
          </a:prstGeom>
          <a:ln w="28575" cmpd="thickThin">
            <a:solidFill>
              <a:srgbClr val="000000"/>
            </a:solidFill>
            <a:prstDash val="solid"/>
          </a:ln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74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75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76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77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78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79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80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81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82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8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86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87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88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89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90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9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92.xml><?xml version="1.0" encoding="utf-8"?>
<p:tagLst xmlns:p="http://schemas.openxmlformats.org/presentationml/2006/main">
  <p:tag name="KSO_DOCER_RESOURCE_TRACE_INFO" val="{&quot;id&quot;:&quot;50062675&quot;,&quot;origin&quot;:0,&quot;type&quot;:&quot;icons&quot;,&quot;user&quot;:&quot;1619202567&quot;}"/>
</p:tagLst>
</file>

<file path=ppt/tags/tag9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9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9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0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09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10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2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1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17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1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21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2.xml><?xml version="1.0" encoding="utf-8"?>
<p:tagLst xmlns:p="http://schemas.openxmlformats.org/presentationml/2006/main">
  <p:tag name="KSO_DOCER_RESOURCE_TRACE_INFO" val="{&quot;id&quot;:&quot;50033282&quot;,&quot;origin&quot;:0,&quot;type&quot;:&quot;icons&quot;,&quot;user&quot;:&quot;1619202567&quot;}"/>
</p:tagLst>
</file>

<file path=ppt/tags/tag123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24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5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126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7.xml><?xml version="1.0" encoding="utf-8"?>
<p:tagLst xmlns:p="http://schemas.openxmlformats.org/presentationml/2006/main">
  <p:tag name="KSO_DOCER_RESOURCE_TRACE_INFO" val="{&quot;id&quot;:&quot;21549659&quot;,&quot;origin&quot;:0,&quot;type&quot;:&quot;icons&quot;,&quot;user&quot;:&quot;1619202567&quot;}"/>
</p:tagLst>
</file>

<file path=ppt/tags/tag128.xml><?xml version="1.0" encoding="utf-8"?>
<p:tagLst xmlns:p="http://schemas.openxmlformats.org/presentationml/2006/main">
  <p:tag name="KSO_DOCER_RESOURCE_TRACE_INFO" val="{&quot;id&quot;:&quot;50059176&quot;,&quot;origin&quot;:0,&quot;type&quot;:&quot;icons&quot;,&quot;user&quot;:&quot;1619202567&quot;}"/>
</p:tagLst>
</file>

<file path=ppt/tags/tag129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30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31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32.xml><?xml version="1.0" encoding="utf-8"?>
<p:tagLst xmlns:p="http://schemas.openxmlformats.org/presentationml/2006/main">
  <p:tag name="KSO_DOCER_RESOURCE_TRACE_INFO" val="{&quot;id&quot;:&quot;50059455&quot;,&quot;origin&quot;:0,&quot;type&quot;:&quot;icons&quot;,&quot;user&quot;:&quot;1619202567&quot;}"/>
</p:tagLst>
</file>

<file path=ppt/tags/tag133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34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35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36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37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38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139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140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41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42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43.xml><?xml version="1.0" encoding="utf-8"?>
<p:tagLst xmlns:p="http://schemas.openxmlformats.org/presentationml/2006/main">
  <p:tag name="KSO_DOCER_RESOURCE_TRACE_INFO" val="{&quot;id&quot;:&quot;50062569&quot;,&quot;origin&quot;:0,&quot;type&quot;:&quot;icons&quot;,&quot;user&quot;:&quot;1619202567&quot;}"/>
</p:tagLst>
</file>

<file path=ppt/tags/tag14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4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4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4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5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6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5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59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6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6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6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6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66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67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68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69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2.xml><?xml version="1.0" encoding="utf-8"?>
<p:tagLst xmlns:p="http://schemas.openxmlformats.org/presentationml/2006/main">
  <p:tag name="KSO_DOCER_RESOURCE_TRACE_INFO" val="{&quot;id&quot;:&quot;50044699&quot;,&quot;origin&quot;:0,&quot;type&quot;:&quot;icons&quot;,&quot;user&quot;:&quot;1619202567&quot;}"/>
</p:tagLst>
</file>

<file path=ppt/tags/tag173.xml><?xml version="1.0" encoding="utf-8"?>
<p:tagLst xmlns:p="http://schemas.openxmlformats.org/presentationml/2006/main">
  <p:tag name="KSO_DOCER_RESOURCE_TRACE_INFO" val="{&quot;id&quot;:&quot;20280902&quot;,&quot;origin&quot;:0,&quot;type&quot;:&quot;icons&quot;,&quot;user&quot;:&quot;1619202567&quot;}"/>
</p:tagLst>
</file>

<file path=ppt/tags/tag174.xml><?xml version="1.0" encoding="utf-8"?>
<p:tagLst xmlns:p="http://schemas.openxmlformats.org/presentationml/2006/main">
  <p:tag name="KSO_DOCER_RESOURCE_TRACE_INFO" val="{&quot;id&quot;:&quot;50026891&quot;,&quot;origin&quot;:0,&quot;type&quot;:&quot;icons&quot;,&quot;user&quot;:&quot;1619202567&quot;}"/>
</p:tagLst>
</file>

<file path=ppt/tags/tag17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77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78.xml><?xml version="1.0" encoding="utf-8"?>
<p:tagLst xmlns:p="http://schemas.openxmlformats.org/presentationml/2006/main">
  <p:tag name="KSO_DOCER_RESOURCE_TRACE_INFO" val="{&quot;id&quot;:&quot;21566523&quot;,&quot;origin&quot;:0,&quot;type&quot;:&quot;icons&quot;,&quot;user&quot;:&quot;1619202567&quot;}"/>
</p:tagLst>
</file>

<file path=ppt/tags/tag179.xml><?xml version="1.0" encoding="utf-8"?>
<p:tagLst xmlns:p="http://schemas.openxmlformats.org/presentationml/2006/main">
  <p:tag name="KSO_DOCER_RESOURCE_TRACE_INFO" val="{&quot;id&quot;:&quot;3637342&quot;,&quot;origin&quot;:0,&quot;type&quot;:&quot;icons&quot;,&quot;user&quot;:&quot;1619202567&quot;}"/>
</p:tagLst>
</file>

<file path=ppt/tags/tag180.xml><?xml version="1.0" encoding="utf-8"?>
<p:tagLst xmlns:p="http://schemas.openxmlformats.org/presentationml/2006/main">
  <p:tag name="KSO_DOCER_RESOURCE_TRACE_INFO" val="{&quot;id&quot;:&quot;3644795&quot;,&quot;origin&quot;:0,&quot;type&quot;:&quot;icons&quot;,&quot;user&quot;:&quot;1619202567&quot;}"/>
</p:tagLst>
</file>

<file path=ppt/tags/tag18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18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18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4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8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88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8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9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191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19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4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19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19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19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199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0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0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202.xml><?xml version="1.0" encoding="utf-8"?>
<p:tagLst xmlns:p="http://schemas.openxmlformats.org/presentationml/2006/main">
  <p:tag name="KSO_DOCER_RESOURCE_TRACE_INFO" val="{&quot;id&quot;:&quot;3633003&quot;,&quot;origin&quot;:0,&quot;type&quot;:&quot;icons&quot;,&quot;user&quot;:&quot;1619202567&quot;}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0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0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0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1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1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4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1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1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2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2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4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2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28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2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2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3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3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5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36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3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0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4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47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4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4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50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25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52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5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4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57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58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5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2.xml><?xml version="1.0" encoding="utf-8"?>
<p:tagLst xmlns:p="http://schemas.openxmlformats.org/presentationml/2006/main">
  <p:tag name="KSO_DOCER_RESOURCE_TRACE_INFO" val="{&quot;id&quot;:&quot;3633003&quot;,&quot;origin&quot;:0,&quot;type&quot;:&quot;icons&quot;,&quot;user&quot;:&quot;1619202567&quot;}"/>
</p:tagLst>
</file>

<file path=ppt/tags/tag2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7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6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6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1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72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3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74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75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7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77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278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79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28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1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284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285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86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87.xml><?xml version="1.0" encoding="utf-8"?>
<p:tagLst xmlns:p="http://schemas.openxmlformats.org/presentationml/2006/main">
  <p:tag name="KSO_DOCER_RESOURCE_TRACE_INFO" val="{&quot;id&quot;:&quot;50059295&quot;,&quot;origin&quot;:0,&quot;type&quot;:&quot;icons&quot;,&quot;user&quot;:&quot;1619202567&quot;}"/>
</p:tagLst>
</file>

<file path=ppt/tags/tag28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8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94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5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296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7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8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299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00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01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02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45.8,&quot;left&quot;:28.8,&quot;top&quot;:164.9,&quot;width&quot;:857.3}"/>
</p:tagLst>
</file>

<file path=ppt/tags/tag303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4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5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45.8,&quot;left&quot;:53.4,&quot;top&quot;:164.9,&quot;width&quot;:832.7}"/>
</p:tagLst>
</file>

<file path=ppt/tags/tag306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0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09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1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312.xml><?xml version="1.0" encoding="utf-8"?>
<p:tagLst xmlns:p="http://schemas.openxmlformats.org/presentationml/2006/main">
  <p:tag name="KSO_DOCER_RESOURCE_TRACE_INFO" val="{&quot;id&quot;:&quot;3633003&quot;,&quot;origin&quot;:0,&quot;type&quot;:&quot;icons&quot;,&quot;user&quot;:&quot;1619202567&quot;}"/>
</p:tagLst>
</file>

<file path=ppt/tags/tag31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4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</p:tagLst>
</file>

<file path=ppt/tags/tag31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6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7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18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2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2.xml><?xml version="1.0" encoding="utf-8"?>
<p:tagLst xmlns:p="http://schemas.openxmlformats.org/presentationml/2006/main">
  <p:tag name="KSO_DOCER_RESOURCE_TRACE_INFO" val="{&quot;id&quot;:&quot;5005929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2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5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6.xml><?xml version="1.0" encoding="utf-8"?>
<p:tagLst xmlns:p="http://schemas.openxmlformats.org/presentationml/2006/main">
  <p:tag name="KSO_DOCER_RESOURCE_TRACE_INFO" val="{&quot;id&quot;:&quot;50001843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2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29.xml><?xml version="1.0" encoding="utf-8"?>
<p:tagLst xmlns:p="http://schemas.openxmlformats.org/presentationml/2006/main">
  <p:tag name="KSO_DOCER_RESOURCE_TRACE_INFO" val="{&quot;id&quot;:&quot;50063269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30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1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2.xml><?xml version="1.0" encoding="utf-8"?>
<p:tagLst xmlns:p="http://schemas.openxmlformats.org/presentationml/2006/main">
  <p:tag name="KSO_DOCER_RESOURCE_TRACE_INFO" val="{&quot;id&quot;:&quot;5006258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33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4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5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36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7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8.xml><?xml version="1.0" encoding="utf-8"?>
<p:tagLst xmlns:p="http://schemas.openxmlformats.org/presentationml/2006/main">
  <p:tag name="KSO_WM_DIAGRAM_VIRTUALLY_FRAME" val="{&quot;height&quot;:384.4,&quot;left&quot;:53.4,&quot;top&quot;:143.9,&quot;width&quot;:837.2}"/>
</p:tagLst>
</file>

<file path=ppt/tags/tag339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0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42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3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4.xml><?xml version="1.0" encoding="utf-8"?>
<p:tagLst xmlns:p="http://schemas.openxmlformats.org/presentationml/2006/main">
  <p:tag name="KSO_DOCER_RESOURCE_TRACE_INFO" val="{&quot;id&quot;:&quot;20265191&quot;,&quot;origin&quot;:0,&quot;type&quot;:&quot;icons&quot;,&quot;user&quot;:&quot;1619202567&quot;}"/>
  <p:tag name="KSO_WM_DIAGRAM_VIRTUALLY_FRAME" val="{&quot;height&quot;:384.4,&quot;left&quot;:53.4,&quot;top&quot;:143.9,&quot;width&quot;:837.2}"/>
</p:tagLst>
</file>

<file path=ppt/tags/tag345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46.xml><?xml version="1.0" encoding="utf-8"?>
<p:tagLst xmlns:p="http://schemas.openxmlformats.org/presentationml/2006/main">
  <p:tag name="KSO_DOCER_RESOURCE_TRACE_INFO" val="{&quot;id&quot;:&quot;50045270&quot;,&quot;origin&quot;:0,&quot;type&quot;:&quot;icons&quot;,&quot;user&quot;:&quot;1619202567&quot;}"/>
</p:tagLst>
</file>

<file path=ppt/tags/tag347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48.xml><?xml version="1.0" encoding="utf-8"?>
<p:tagLst xmlns:p="http://schemas.openxmlformats.org/presentationml/2006/main">
  <p:tag name="KSO_DOCER_RESOURCE_TRACE_INFO" val="{&quot;id&quot;:&quot;50062345&quot;,&quot;origin&quot;:0,&quot;type&quot;:&quot;icons&quot;,&quot;user&quot;:&quot;1619202567&quot;}"/>
</p:tagLst>
</file>

<file path=ppt/tags/tag349.xml><?xml version="1.0" encoding="utf-8"?>
<p:tagLst xmlns:p="http://schemas.openxmlformats.org/presentationml/2006/main">
  <p:tag name="KSO_WM_DIAGRAM_VIRTUALLY_FRAME" val="{&quot;height&quot;:345.8,&quot;left&quot;:28.8,&quot;top&quot;:164.9,&quot;width&quot;:857.3}"/>
</p:tagLst>
</file>

<file path=ppt/tags/tag350.xml><?xml version="1.0" encoding="utf-8"?>
<p:tagLst xmlns:p="http://schemas.openxmlformats.org/presentationml/2006/main">
  <p:tag name="KSO_DOCER_RESOURCE_TRACE_INFO" val="{&quot;id&quot;:&quot;50047996&quot;,&quot;origin&quot;:0,&quot;type&quot;:&quot;icons&quot;,&quot;user&quot;:&quot;1619202567&quot;}"/>
</p:tagLst>
</file>

<file path=ppt/tags/tag351.xml><?xml version="1.0" encoding="utf-8"?>
<p:tagLst xmlns:p="http://schemas.openxmlformats.org/presentationml/2006/main">
  <p:tag name="KSO_WM_DIAGRAM_VIRTUALLY_FRAME" val="{&quot;height&quot;:345.8,&quot;left&quot;:53.4,&quot;top&quot;:164.9,&quot;width&quot;:832.7}"/>
</p:tagLst>
</file>

<file path=ppt/tags/tag352.xml><?xml version="1.0" encoding="utf-8"?>
<p:tagLst xmlns:p="http://schemas.openxmlformats.org/presentationml/2006/main">
  <p:tag name="KSO_DOCER_RESOURCE_TRACE_INFO" val="{&quot;id&quot;:&quot;21558137&quot;,&quot;origin&quot;:0,&quot;type&quot;:&quot;icons&quot;,&quot;user&quot;:&quot;1619202567&quot;}"/>
</p:tagLst>
</file>

<file path=ppt/tags/tag35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TABLE_ENDDRAG_ORIGIN_RECT" val="781*180"/>
  <p:tag name="TABLE_ENDDRAG_RECT" val="77*263*781*180"/>
</p:tagLst>
</file>

<file path=ppt/tags/tag358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TABLE_ENDDRAG_ORIGIN_RECT" val="369*157"/>
  <p:tag name="TABLE_ENDDRAG_RECT" val="142*260*369*157"/>
</p:tagLst>
</file>

<file path=ppt/tags/tag363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64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COMMONDATA" val="eyJoZGlkIjoiYWRmMjU0ZGJjNThjMWRkNGI2YjEwOTgxZjEzMjY5MGMifQ=="/>
  <p:tag name="resource_record_key" val="{&quot;10&quot;:[50059293,50063269,50062581,21558137,4714250,3633003,50001843,21540673,50062345,50059295,50063645,20265191,50045270,21566523,50059455,50059176,50033282,21549659,4523423,50044699,20280902,50062569,21570797,3637342,3644795,50026891,50047996,50062675]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webExtension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package" Target="../embeddings/Workbook1.xlsx"/></Relationships>
</file>

<file path=ppt/webExtensions/_rels/webExtension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package" Target="../embeddings/Workbook2.xlsx"/></Relationships>
</file>

<file path=ppt/webExtensions/_rels/webExtension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package" Target="../embeddings/Workbook3.xlsx"/></Relationships>
</file>

<file path=ppt/webExtensions/_rels/webExtension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oleObject" Target="C:/Users/11428/AppData/Local/Temp/wps.pFAZMG/WebExtensionDataSource6%20in%20Wps.xlsx" TargetMode="External"/></Relationships>
</file>

<file path=ppt/webExtensions/webExtension1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类别1&quot;,&quot;类别2&quot;,&quot;类别3&quot;,&quot;类别4&quot;,&quot;类别5&quot;],&quot;data&quot;:[[&quot;&quot;,&quot;系列1&quot;,&quot;系列2&quot;,&quot;系列3&quot;],[&quot;类别1&quot;,18,30,30],[&quot;类别2&quot;,37,34,20],[&quot;类别3&quot;,41,32,30],[&quot;类别4&quot;,25,25,42],[&quot;类别5&quot;,19,38,40]],&quot;series&quot;:[&quot;&quot;,&quot;系列1&quot;,&quot;系列2&quot;,&quot;系列3&quot;]}"/>
    <wpswe:property key="extStyle" value="{&quot;series&quot;:[{&quot;barGap&quot;:&quot;28%&quot;,&quot;hoverAnimation&quot;:true,&quot;itemStyle&quot;:{&quot;borderColor&quot;:{&quot;rgb&quot;:&quot;#FFFFFF&quot;,&quot;row&quot;:&quot;-1&quot;,&quot;themeIndex&quot;:&quot;-1&quot;,&quot;type&quot;:&quot;1&quot;},&quot;borderStyle&quot;:&quot;1&quot;,&quot;borderWidth&quot;:1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102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10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60,&quot;min&quot;:0,&quot;seriesThemeColor&quot;:[&quot;#3F7BF9&quot;,&quot;#31BE61&quot;,&quot;#FFC800&quot;,&quot;#FF920C&quot;,&quot;#FF5F69&quot;,&quot;#B16EFB&quot;],&quot;stack&quot;:true,&quot;title&quot;:{&quot;position&quot;:&quot;topCenter&quot;,&quot;show&quot;:true,&quot;text&quot;:&quot;Issues Acknowledged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60,&quot;min_origin&quot;:0,&quot;interval_origin&quot;:10,&quot;seriesDir&quot;:&quot;col&quot;,&quot;divideType&quot;:&quot;leftTop&quot;,&quot;orderSeriesData&quot;:[0,1,2,3,4],&quot;selectedSeriesData&quot;:[0,1,2,3,4],&quot;selectedCategoryData&quot;:[0,1],&quot;deletedSeriesData&quot;:[]}"/>
    <wpswe:property key="themeOverride" value="false"/>
    <wpswe:property key="type" value="2d-column"/>
  </wpswe:properties>
  <wpswe:watchingCache>
    <wpswe:linkPath>C:/Users/11428/AppData/Local/Temp/wps.UdGrFW/Workbook1.xlsx</wpswe:linkPath>
    <wpswe:dataRange>
      <wpswe:key>webchart</wpswe:key>
      <wpswe:context>Sheet1!$A$1:$F$3</wpswe:context>
      <wpswe:count>3</wpswe:count>
      <wpswe:cells wpswe:idx="0">
        <wpswe:count>6</wpswe:count>
        <wpswe:formatCode>General</wpswe:formatCode>
        <wpswe:cell wpswe:idx="1">
          <wpswe:value>TP</wpswe:value>
        </wpswe:cell>
        <wpswe:cell wpswe:idx="2">
          <wpswe:value>PR-open</wpswe:value>
        </wpswe:cell>
        <wpswe:cell wpswe:idx="3">
          <wpswe:value>FP</wpswe:value>
        </wpswe:cell>
      </wpswe:cells>
      <wpswe:cells wpswe:idx="1">
        <wpswe:count>6</wpswe:count>
        <wpswe:formatCode>General</wpswe:formatCode>
        <wpswe:cell wpswe:idx="0">
          <wpswe:value>True_Positive</wpswe:value>
        </wpswe:cell>
        <wpswe:cell wpswe:idx="1">
          <wpswe:value>34</wpswe:value>
        </wpswe:cell>
        <wpswe:cell wpswe:idx="2">
          <wpswe:value>15</wpswe:value>
        </wpswe:cell>
        <wpswe:cell wpswe:idx="3">
          <wpswe:value>0</wpswe:value>
        </wpswe:cell>
      </wpswe:cells>
      <wpswe:cells wpswe:idx="2">
        <wpswe:count>6</wpswe:count>
        <wpswe:formatCode>General</wpswe:formatCode>
        <wpswe:cell wpswe:idx="0">
          <wpswe:value>False_Positive</wpswe:value>
        </wpswe:cell>
        <wpswe:cell wpswe:idx="1">
          <wpswe:value>0</wpswe:value>
        </wpswe:cell>
        <wpswe:cell wpswe:idx="2">
          <wpswe:value>0</wpswe:value>
        </wpswe:cell>
        <wpswe:cell wpswe:idx="3">
          <wpswe:value>23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ppt/webExtensions/webExtension2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],&quot;data&quot;:[[&quot;&quot;,&quot;电视&quot;,&quot;空调&quot;,&quot;冰箱&quot;],[&quot;系列1&quot;,24,35,41]],&quot;series&quot;:[&quot;&quot;,&quot;电视&quot;,&quot;空调&quot;,&quot;冰箱&quot;]}"/>
    <wpswe:property key="extStyle" value="{&quot;series&quot;:[{&quot;emphasis&quot;:{&quot;itemStyle&quot;:{&quot;shadowBlur&quot;:0,&quot;shadowColor&quot;:&quot;rgba(0, 0, 0, 0.5)&quot;,&quot;shadowOffsetX&quot;:0}},&quot;labelLayout&quot;:{&quot;hideOverlap&quot;:false},&quot;select&quot;:{&quot;disable&quot;:true},&quot;showEmptyCircle&quot;:false,&quot;type&quot;:&quot;pie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}"/>
    <wpswe:property key="isUseCommonErrorPage" value="false"/>
    <wpswe:property key="loadingImage" value="res:/icons/WebChartLoading.svg"/>
    <wpswe:property key="renderer" value="echarts"/>
    <wpswe:property key="resId" value="40000107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customerRender&quot;:{&quot;render&quot;:&quot;maximum-prominent&quot;},&quot;global&quot;:{&quot;text&quot;:{&quot;bold&quot;:0,&quot;font&quot;:{&quot;name&quot;:&quot;微软雅黑&quot;,&quot;nameType&quot;:2,&quot;langType&quot;:3},&quot;fontSize&quot;:10,&quot;italic&quot;:0}},&quot;label&quot;:{&quot;formatter&quot;:[&quot;rate&quot;,&quot;seriesName&quot;],&quot;position&quot;:&quot;center&quot;,&quot;separator&quot;:&quot;none&quot;,&quot;show&quot;:true,&quot;textStyle&quot;:{&quot;color&quot;:{&quot;rgb&quot;:&quot;#FFFFFF&quot;,&quot;row&quot;:0,&quot;themeIndex&quot;:13,&quot;type&quot;:1},&quot;fontFamily&quot;:{&quot;name&quot;:&quot;&quot;,&quot;themeIndex&quot;:3,&quot;type&quot;:1},&quot;fontSize&quot;:12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pieType&quot;:&quot;maximum-pie&quot;,&quot;propWin&quot;:{&quot;hide&quot;:[&quot;axis&quot;]},&quot;radius&quot;:[&quot;0%&quot;,&quot;100%&quot;],&quot;selectedOffset&quot;:0,&quot;seriesThemeColor&quot;:[&quot;#3F7BF9&quot;,&quot;#31BE61&quot;,&quot;#FFC800&quot;,&quot;#FF920C&quot;,&quot;#FF5F69&quot;,&quot;#B16EFB&quot;],&quot;startAngle&quot;:0,&quot;title&quot;:{&quot;position&quot;:&quot;topCenter&quot;,&quot;show&quot;:true,&quot;text&quot;:&quot;True Positive : False Positive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animationLoop&quot;:false,&quot;animationDurationUpdate&quot;:1500,&quot;animationDuration&quot;:1500,&quot;seriesDir&quot;:&quot;col&quot;,&quot;selectedSeriesData&quot;:[0,1,2],&quot;selectedCategoryData&quot;:[0],&quot;seriesColor&quot;:{&quot;2&quot;:{&quot;type&quot;:0,&quot;rgb&quot;:&quot;#e94520&quot;,&quot;themeIndex&quot;:8,&quot;row&quot;:4}},&quot;divideType&quot;:&quot;leftTop&quot;,&quot;orderSeriesData&quot;:[0,1,2],&quot;deletedSeriesData&quot;:[]}"/>
    <wpswe:property key="themeOverride" value="false"/>
    <wpswe:property key="type" value="2d-pie"/>
  </wpswe:properties>
  <wpswe:watchingCache>
    <wpswe:linkPath>C:/Users/11428/AppData/Local/Temp/wps.cLpmHc/Workbook2.xlsx</wpswe:linkPath>
    <wpswe:dataRange>
      <wpswe:key>webchart</wpswe:key>
      <wpswe:context>Sheet1!$A$1:$D$2</wpswe:context>
      <wpswe:count>2</wpswe:count>
      <wpswe:cells wpswe:idx="0">
        <wpswe:count>4</wpswe:count>
        <wpswe:formatCode>General</wpswe:formatCode>
        <wpswe:cell wpswe:idx="1">
          <wpswe:value>True Positive</wpswe:value>
        </wpswe:cell>
        <wpswe:cell wpswe:idx="2">
          <wpswe:value>False Positive</wpswe:value>
        </wpswe:cell>
        <wpswe:cell wpswe:idx="3">
          <wpswe:value>PR open</wpswe:value>
        </wpswe:cell>
      </wpswe:cells>
      <wpswe:cells wpswe:idx="1">
        <wpswe:count>4</wpswe:count>
        <wpswe:formatCode>General</wpswe:formatCode>
        <wpswe:cell wpswe:idx="0">
          <wpswe:value>系列1</wpswe:value>
        </wpswe:cell>
        <wpswe:cell wpswe:idx="1">
          <wpswe:value>34</wpswe:value>
        </wpswe:cell>
        <wpswe:cell wpswe:idx="2">
          <wpswe:value>23</wpswe:value>
        </wpswe:cell>
        <wpswe:cell wpswe:idx="3">
          <wpswe:value>15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ppt/webExtensions/webExtension3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,&quot;系列2&quot;,&quot;系列3&quot;],&quot;data&quot;:[[&quot;&quot;,&quot;类别1&quot;,&quot;类别2&quot;,&quot;类别3&quot;],[&quot;系列1&quot;,43,65,52],[&quot;系列2&quot;,80,116,91],[&quot;系列3&quot;,71,91,65]],&quot;series&quot;:[&quot;&quot;,&quot;类别1&quot;,&quot;类别2&quot;,&quot;类别3&quot;]}"/>
    <wpswe:property key="extStyle" value="{&quot;series&quot;:[{&quot;barGap&quot;:&quot;28%&quot;,&quot;hoverAnimation&quot;:true,&quot;itemStyle&quot;:{&quot;borderColor&quot;:&quot;#ffffff&quot;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025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0.2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1,&quot;min&quot;:0,&quot;seriesColorType&quot;:&quot;linear-gradient&quot;,&quot;seriesThemeColor&quot;:[&quot;#3F7BF9&quot;,&quot;#31BE61&quot;,&quot;#FFC800&quot;,&quot;#FF920C&quot;,&quot;#FF5F69&quot;,&quot;#B16EFB&quot;],&quot;title&quot;:{&quot;position&quot;:&quot;topCenter&quot;,&quot;show&quot;:true,&quot;text&quot;:&quot;Single-LLM vs multi-perspective judging 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1,&quot;min_origin&quot;:0,&quot;interval_origin&quot;:0.2,&quot;seriesDir&quot;:&quot;col&quot;,&quot;divideType&quot;:&quot;leftTop&quot;,&quot;selectedSeriesData&quot;:[0,1,2],&quot;selectedCategoryData&quot;:[0,1],&quot;orderSeriesData&quot;:[0,1,2],&quot;deletedSeriesData&quot;:[]}"/>
    <wpswe:property key="themeOverride" value="false"/>
    <wpswe:property key="type" value="2d-column"/>
  </wpswe:properties>
  <wpswe:watchingCache>
    <wpswe:linkPath>C:/Users/11428/AppData/Local/Temp/wps.TfbXLI/Workbook3.xlsx</wpswe:linkPath>
    <wpswe:dataRange>
      <wpswe:key>webchart</wpswe:key>
      <wpswe:context>Sheet1!$A$1:$D$3</wpswe:context>
      <wpswe:count>3</wpswe:count>
      <wpswe:cells wpswe:idx="0">
        <wpswe:count>4</wpswe:count>
        <wpswe:formatCode>General</wpswe:formatCode>
        <wpswe:cell wpswe:idx="1" wpswe:formatCode="General">
          <wpswe:value>precision</wpswe:value>
        </wpswe:cell>
        <wpswe:cell wpswe:idx="2" wpswe:formatCode="General">
          <wpswe:value>accuracy</wpswe:value>
        </wpswe:cell>
        <wpswe:cell wpswe:idx="3" wpswe:formatCode="General">
          <wpswe:value>recall</wpswe:value>
        </wpswe:cell>
      </wpswe:cells>
      <wpswe:cells wpswe:idx="1">
        <wpswe:count>4</wpswe:count>
        <wpswe:formatCode>General</wpswe:formatCode>
        <wpswe:cell wpswe:idx="0">
          <wpswe:value>Single-LLM self-judgment</wpswe:value>
        </wpswe:cell>
        <wpswe:cell wpswe:idx="1">
          <wpswe:value>0.56</wpswe:value>
        </wpswe:cell>
        <wpswe:cell wpswe:idx="2">
          <wpswe:value>0.48</wpswe:value>
        </wpswe:cell>
        <wpswe:cell wpswe:idx="3">
          <wpswe:value>0.37</wpswe:value>
        </wpswe:cell>
      </wpswe:cells>
      <wpswe:cells wpswe:idx="2">
        <wpswe:count>4</wpswe:count>
        <wpswe:formatCode>General</wpswe:formatCode>
        <wpswe:cell wpswe:idx="0">
          <wpswe:value>Multi-perspective judging</wpswe:value>
        </wpswe:cell>
        <wpswe:cell wpswe:idx="1">
          <wpswe:value>0.8</wpswe:value>
        </wpswe:cell>
        <wpswe:cell wpswe:idx="2">
          <wpswe:value>0.5</wpswe:value>
        </wpswe:cell>
        <wpswe:cell wpswe:idx="3">
          <wpswe:value>0.15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ppt/webExtensions/webExtension4.xml><?xml version="1.0" encoding="utf-8"?>
<wpswe:webExtension xmlns:wpswe="http://www.wps.cn/officeDocument/2018/webExtension" xmlns:webet="https://web.wps.cn/et/2018/main" webet:type="Normal" type="0" webet:id="">
  <wpswe:extSource id="webchart" version="3.0"/>
  <wpswe:properties>
    <wpswe:property key="demoData" value="{&quot;category&quot;:[&quot;系列1&quot;,&quot;系列2&quot;,&quot;系列3&quot;],&quot;data&quot;:[[&quot;&quot;,&quot;类别1&quot;,&quot;类别2&quot;,&quot;类别3&quot;],[&quot;系列1&quot;,43,65,52],[&quot;系列2&quot;,80,116,91],[&quot;系列3&quot;,71,91,65]],&quot;series&quot;:[&quot;&quot;,&quot;类别1&quot;,&quot;类别2&quot;,&quot;类别3&quot;]}"/>
    <wpswe:property key="extStyle" value="{&quot;series&quot;:[{&quot;barGap&quot;:&quot;28%&quot;,&quot;hoverAnimation&quot;:true,&quot;itemStyle&quot;:{&quot;borderColor&quot;:&quot;#ffffff&quot;},&quot;type&quot;:&quot;bar&quot;}],&quot;tooltip&quot;:{&quot;backgroundColor&quot;:{&quot;rgb&quot;:&quot;rgba(51,51,51,0.7)&quot;,&quot;row&quot;:-1,&quot;themeIndex&quot;:-1,&quot;type&quot;:0},&quot;borderWidth&quot;:0,&quot;confine&quot;:true,&quot;extraCssText&quot;:&quot;max-width: calc(100vw - 36px); overflow: hidden; white-space: nowrap; text-overflow: ellipsis; margin-left: 8px;&quot;},&quot;xAxis&quot;:{&quot;axisLabel&quot;:{&quot;margin&quot;:14}},&quot;yAxis&quot;:{&quot;axisLabel&quot;:{&quot;margin&quot;:8}}}"/>
    <wpswe:property key="isUseCommonErrorPage" value="false"/>
    <wpswe:property key="loadingImage" value="res:/icons/WebChartLoading.svg"/>
    <wpswe:property key="renderer" value="echarts"/>
    <wpswe:property key="resId" value="40000025"/>
    <wpswe:property key="sourceTheme" value="{&quot;colors&quot;:[&quot;#000000&quot;,&quot;#ffffff&quot;,&quot;#0f1423&quot;,&quot;#ffffff&quot;,&quot;#6096e6&quot;,&quot;#58b6e5&quot;,&quot;#56ca95&quot;,&quot;#ffba55&quot;,&quot;#f18870&quot;,&quot;#ec5f74&quot;,&quot;#0563c1&quot;,&quot;#954d72&quot;,&quot;#000000&quot;,&quot;#ffffff&quot;,&quot;#0f1423&quot;,&quot;#ffffff&quot;],&quot;fonts&quot;:[&quot;Arial&quot;,&quot;微软雅黑&quot;,&quot;Arial&quot;,&quot;微软雅黑&quot;]}"/>
    <wpswe:property key="style" value="{&quot;animation&quot;:true,&quot;backgroundColor&quot;:{&quot;rgb&quot;:&quot;#FFFFFF&quot;,&quot;row&quot;:0,&quot;themeIndex&quot;:13,&quot;type&quot;:1},&quot;borderColor&quot;:{&quot;rgb&quot;:&quot;#D9D9D9&quot;,&quot;row&quot;:2,&quot;themeIndex&quot;:13,&quot;type&quot;:1},&quot;global&quot;:{&quot;text&quot;:{&quot;bold&quot;:0,&quot;font&quot;:{&quot;name&quot;:&quot;微软雅黑&quot;,&quot;nameType&quot;:2,&quot;langType&quot;:3},&quot;fontSize&quot;:10,&quot;italic&quot;:0}},&quot;interval&quot;:0.1,&quot;isTransformDateAxis&quot;:0,&quot;label&quot;:{&quot;position&quot;:&quot;outsideDataLabel&quot;,&quot;show&quot;:false,&quot;textStyle&quot;:{&quot;color&quot;:{&quot;rgb&quot;:&quot;#404040&quot;,&quot;row&quot;:3,&quot;themeIndex&quot;:12,&quot;type&quot;:1},&quot;fontFamily&quot;:{&quot;name&quot;:&quot;宋体&quot;,&quot;themeIndex&quot;:3,&quot;type&quot;:1},&quot;fontSize&quot;:9,&quot;fontStyle&quot;:&quot;normal&quot;,&quot;fontWeight&quot;:&quot;normal&quot;}},&quot;legend&quot;:{&quot;position&quot;:&quot;bottomCenter&quot;,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max&quot;:0.9,&quot;min&quot;:0,&quot;seriesColorType&quot;:&quot;linear-gradient&quot;,&quot;seriesThemeColor&quot;:[&quot;#3F7BF9&quot;,&quot;#31BE61&quot;,&quot;#FFC800&quot;,&quot;#FF920C&quot;,&quot;#FF5F69&quot;,&quot;#B16EFB&quot;],&quot;title&quot;:{&quot;position&quot;:&quot;topCenter&quot;,&quot;show&quot;:true,&quot;text&quot;:&quot;Single-LLM vs multi-perspective vs dev_reviewer&quot;,&quot;textStyle&quot;:{&quot;color&quot;:{&quot;rgb&quot;:&quot;#404040&quot;,&quot;row&quot;:3,&quot;themeIndex&quot;:12,&quot;type&quot;:1},&quot;fontFamily&quot;:{&quot;name&quot;:&quot;宋体&quot;,&quot;themeIndex&quot;:3,&quot;type&quot;:1},&quot;fontSize&quot;:14,&quot;fontStyle&quot;:&quot;normal&quot;,&quot;fontWeight&quot;:&quot;bold&quot;}},&quot;tooltip&quot;:{&quot;show&quot;:true,&quot;textStyle&quot;:{&quot;color&quot;:{&quot;rgb&quot;:&quot;#FFFFFF&quot;,&quot;row&quot;:-1,&quot;themeIndex&quot;:-1,&quot;type&quot;:0},&quot;fontFamily&quot;:{&quot;name&quot;:&quot;宋体&quot;,&quot;themeIndex&quot;:3,&quot;type&quot;:1},&quot;fontSize&quot;:9,&quot;fontStyle&quot;:&quot;normal&quot;,&quot;fontWeight&quot;:&quot;normal&quot;}},&quot;x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true},&quot;axisTick&quot;:{&quot;alignWithLabel&quot;:true,&quot;show&quot;:true},&quot;name&quot;:{&quot;show&quot;:false,&quot;text&quot;:&quot;X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category&quot;},&quot;yAxis&quot;:{&quot;axisLabel&quot;:{&quot;show&quot;:true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axisLine&quot;:{&quot;lineStyle&quot;:{&quot;color&quot;:{&quot;rgb&quot;:&quot;#D9D9D9&quot;,&quot;row&quot;:2,&quot;themeIndex&quot;:13,&quot;type&quot;:1},&quot;width&quot;:1},&quot;show&quot;:false},&quot;axisTick&quot;:{&quot;show&quot;:false},&quot;name&quot;:{&quot;show&quot;:false,&quot;text&quot;:&quot;Y轴&quot;,&quot;textStyle&quot;:{&quot;color&quot;:{&quot;rgb&quot;:&quot;#595959&quot;,&quot;row&quot;:2,&quot;themeIndex&quot;:12,&quot;type&quot;:1},&quot;fontFamily&quot;:{&quot;name&quot;:&quot;宋体&quot;,&quot;themeIndex&quot;:3,&quot;type&quot;:1},&quot;fontSize&quot;:9,&quot;fontStyle&quot;:&quot;normal&quot;,&quot;fontWeight&quot;:&quot;normal&quot;}},&quot;splitLine&quot;:{&quot;lineStyle&quot;:{&quot;color&quot;:{&quot;rgb&quot;:&quot;#E6E6E6&quot;,&quot;row&quot;:-1,&quot;themeIndex&quot;:-1,&quot;type&quot;:0},&quot;width&quot;:1},&quot;show&quot;:false},&quot;type&quot;:&quot;value&quot;},&quot;animationLoop&quot;:false,&quot;animationDurationUpdate&quot;:1500,&quot;animationDuration&quot;:1500,&quot;max_origin&quot;:0.9,&quot;min_origin&quot;:0,&quot;interval_origin&quot;:0.1,&quot;seriesDir&quot;:&quot;col&quot;,&quot;divideType&quot;:&quot;leftTop&quot;,&quot;orderSeriesData&quot;:[0,1,2],&quot;selectedSeriesData&quot;:[0,1,2],&quot;selectedCategoryData&quot;:[0,1,2],&quot;deletedSeriesData&quot;:[]}"/>
    <wpswe:property key="themeOverride" value="false"/>
    <wpswe:property key="type" value="2d-column"/>
  </wpswe:properties>
  <wpswe:watchingCache>
    <wpswe:linkPath>C:/Users/11428/AppData/Local/Temp/wps.pFAZMG/WebExtensionDataSource6 in Wps.xlsx</wpswe:linkPath>
    <wpswe:dataRange>
      <wpswe:key>webchart</wpswe:key>
      <wpswe:context>Sheet1!$A$1:$D$4</wpswe:context>
      <wpswe:count>4</wpswe:count>
      <wpswe:cells wpswe:idx="0">
        <wpswe:count>4</wpswe:count>
        <wpswe:formatCode>General</wpswe:formatCode>
        <wpswe:cell wpswe:idx="1" wpswe:formatCode="General">
          <wpswe:value>precision</wpswe:value>
        </wpswe:cell>
        <wpswe:cell wpswe:idx="2" wpswe:formatCode="General">
          <wpswe:value>accuracy</wpswe:value>
        </wpswe:cell>
        <wpswe:cell wpswe:idx="3" wpswe:formatCode="General">
          <wpswe:value>recall</wpswe:value>
        </wpswe:cell>
      </wpswe:cells>
      <wpswe:cells wpswe:idx="1">
        <wpswe:count>4</wpswe:count>
        <wpswe:formatCode>General</wpswe:formatCode>
        <wpswe:cell wpswe:idx="0">
          <wpswe:value>Single-LLM self-judgment</wpswe:value>
        </wpswe:cell>
        <wpswe:cell wpswe:idx="1">
          <wpswe:value>0.56</wpswe:value>
        </wpswe:cell>
        <wpswe:cell wpswe:idx="2">
          <wpswe:value>0.48</wpswe:value>
        </wpswe:cell>
        <wpswe:cell wpswe:idx="3">
          <wpswe:value>0.37</wpswe:value>
        </wpswe:cell>
      </wpswe:cells>
      <wpswe:cells wpswe:idx="2">
        <wpswe:count>4</wpswe:count>
        <wpswe:formatCode>General</wpswe:formatCode>
        <wpswe:cell wpswe:idx="0">
          <wpswe:value>Multi-perspective judging</wpswe:value>
        </wpswe:cell>
        <wpswe:cell wpswe:idx="1">
          <wpswe:value>0.8</wpswe:value>
        </wpswe:cell>
        <wpswe:cell wpswe:idx="2">
          <wpswe:value>0.5</wpswe:value>
        </wpswe:cell>
        <wpswe:cell wpswe:idx="3">
          <wpswe:value>0.15</wpswe:value>
        </wpswe:cell>
      </wpswe:cells>
      <wpswe:cells wpswe:idx="3">
        <wpswe:count>4</wpswe:count>
        <wpswe:formatCode>General</wpswe:formatCode>
        <wpswe:cell wpswe:idx="0">
          <wpswe:value>Multi-perspective+dev_reviewer</wpswe:value>
        </wpswe:cell>
        <wpswe:cell wpswe:idx="1">
          <wpswe:value>0.67</wpswe:value>
        </wpswe:cell>
        <wpswe:cell wpswe:idx="2">
          <wpswe:value>0.65</wpswe:value>
        </wpswe:cell>
        <wpswe:cell wpswe:idx="3">
          <wpswe:value>0.74</wpswe:value>
        </wpswe:cell>
      </wpswe:cells>
    </wpswe:dataRange>
  </wpswe:watchingCache>
  <wpswe:snapshot xmlns:r="http://schemas.openxmlformats.org/officeDocument/2006/relationships" r:embed="rId2"/>
  <wpswe:externalData xmlns:r="http://schemas.openxmlformats.org/officeDocument/2006/relationships" r:id="rId1"/>
  <wpswe:url>https://clientweb.docer.wps.cn/web-chart/v1/web-shape.html#/home</wpswe:url>
  <wpswe:constantSnapshot>false</wpswe:constantSnapshot>
</wpswe:webExtension>
</file>

<file path=customXml/item1.xml><?xml version="1.0" encoding="utf-8"?>
<s:customData xmlns="http://www.wps.cn/officeDocument/2013/wpsCustomData" xmlns:s="http://www.wps.cn/officeDocument/2013/wpsCustomData">
  <extobjs>
    <extobj name="E657119C-6982-421D-8BA7-E74DEB70A7D9-1">
      <extobjdata type="E657119C-6982-421D-8BA7-E74DEB70A7D9" data="ewoJIkNhdGVnb3J5IiA6ICJtaW5kX2ZyZWUiLAoJIkRlZmluaXRpb24iIDogIkpUZENKVEl5Ym05MFpTVXlNaVV6UVNVeU1pVXlNaVV5UXlVeU1uZGhkR1Z5YldGeWF5VXlNaVV6UVNVeU1pVXlNaVV5UXlVeU1uUnBkR3hsSlRJeUpUTkJKVEl5YVc1MllXeHBaQ1V5TUhOMFlYUjFjeVV5TUhKbGMzQnZibk5sY3lVeU1pVXlReVV5TW5abGNuTnBiMjRsTWpJbE0wRXdKVEpESlRJeWMzUnlkV04wZFhKbEpUSXlKVE5CSlRJeWJXbHVaRjltY21WbEpUSXlKVEpESlRJeVkyaHBiR1J5Wlc0bE1qSWxNMEVsTlVJbE4wSWxNakpqYUdsc1pISmxiaVV5TWlVelFTVTFRaVUxUkNVeVF5VXlNbWxrSlRJeUpUTkJKVEl5WmpRMlpHWTVNemt0TkdFMU5TMDBaRE15TFdJMFpETXROakZsTXpBeFptSTNNR00zSlRJeUpUSkRKVEl5ZEdsMGJHVWxNaklsTTBFbE1qSkpiblpoYkdsa0pUSXdhVzV3ZFhRbE1qQmhZMk5sY0hSaGJtTmxKVVZHSlVKREpUZzRKVVUySlRoRkpVRTFKVVUxSlRoR0pUazNKVVU1SlRsRUpUbEZKVVUySlVJekpUazFKVVU0SlVKRkpUa3pKVVUxSlRnMUpVRTFKVVZHSlVKREpUZzVKVEl5SlRKREpUSXljR0Z5Wlc1MEpUSXlKVE5CSlRJeWNtOXZkQ1V5TWlVeVF5VXlNbU5oYkd4dmRYUWxNaklsTTBFbE5VSWxOVVFsTWtNbE1qSnpkSGxzWlNVeU1pVXpRU1UzUWlVeU1tWnZiblF0ZDJWcFoyaDBKVEl5SlROQkpUSXlZbTlzWkNVeU1pVXlReVV5TW5Ob1lYQmxKVEl5SlROQkpUSXljbUZrYVdGdWMxSmxZM1JoYm1kc1pTVXlNaVV5UXlVeU1tSnZjbVJsY2kxM2FXUjBhQ1V5TWlVelFTVXlNakZ3ZUNVeU1pVXlReVV5TW1KdmNtUmxjaTFqYjJ4dmNpVXlNaVV6UVNVeU1uSm5ZaWc1TVNVeVF6RXlNU1V5UXpJek1pa2xNaklsTWtNbE1qSmliM0prWlhJdGMzUjViR1VsTWpJbE0wRWxNakp6YjJ4cFpDVXlNaVV5UXlVeU1tSmhZMnRuY205MWJtUWxNaklsTTBFbE1qSnlaMklvTWpNeEpUSkRNak0xSlRKRE1qTTNLU1V5TWlVeVF5VXlNbVp2Ym5RdGMybDZaU1V5TWlVelFTVXlNakUwY0hnbE1qSWxNa01sTWpKbWIyNTBMV1poYldsc2VTVXlNaVV6UVNVeU1rTnZiV2xqSlRJd1UyRnVjeVV5TUUxVEpUSXlKVGRFSlRKREpUSXlZM1Z6ZEc5dFYybGtkR2dsTWpJbE0wRXhPRFl1TkNVM1JDVXlReVUzUWlVeU1tTm9hV3hrY21WdUpUSXlKVE5CSlRWQ0pUVkVKVEpESlRJeWFXUWxNaklsTTBFbE1qSmxZbUl3TjJabU5TMHdOekkyTFRRMk9UVXRPRGxsWkMweU1UVTVPR1UxWXpjMU9HSWxNaklsTWtNbE1qSjBhWFJzWlNVeU1pVXpRU1V5TWxOcGJHVnVkQ1V5TUdSaGRHRWxNakJzYjNOekpUTkRZbklsTTBVbFJVWWxRa01sT0RnbFJUWWxPVFVsUWpBbFJUWWxPRVFsUVVVbFJUa2xPVVFsT1RrbFJUa2xRa0lsT1RnbFJUUWxRamdsUVRJbFJUVWxRVFFsUWpFbFJVWWxRa01sT0RrbE1qSWxNa01sTWpKd1lYSmxiblFsTWpJbE0wRWxNakp5YjI5MEpUSXlKVEpESlRJeVkyRnNiRzkxZENVeU1pVXpRU1UxUWlVMVJDVXlReVV5TW5OMGVXeGxKVEl5SlROQkpUZENKVEl5YzJoaGNHVWxNaklsTTBFbE1qSnlZV1JwWVc1elVtVmpkR0Z1WjJ4bEpUSXlKVEpESlRJeVltOXlaR1Z5TFhkcFpIUm9KVEl5SlROQkpUSXlNWEI0SlRJeUpUSkRKVEl5WW05eVpHVnlMV052Ykc5eUpUSXlKVE5CSlRJeWNtZGlLRGt4SlRKRE1USXhKVEpETWpNeUtTVXlNaVV5UXlVeU1tSnZjbVJsY2kxemRIbHNaU1V5TWlVelFTVXlNbk52Ykdsa0pUSXlKVEpESlRJeVltRmphMmR5YjNWdVpDVXlNaVV6UVNVeU1uSm5ZaWd5TXpFbE1rTXlNelVsTWtNeU16Y3BKVEl5SlRKREpUSXlabTl1ZEMxM1pXbG5hSFFsTWpJbE0wRWxNakppYjJ4a0pUSXlKVEpESlRJeVptOXVkQzF6YVhwbEpUSXlKVE5CSlRJeU1UUndlQ1V5TWlVeVF5VXlNbVp2Ym5RdFptRnRhV3g1SlRJeUpUTkJKVEl5UTI5dGFXTWxNakJUWVc1ekpUSXdUVk1sTWpJbE4wUWxOMFFsTWtNbE4wSWxNakpqYUdsc1pISmxiaVV5TWlVelFTVTFRaVUxUkNVeVF5VXlNbWxrSlRJeUpUTkJKVEl5WVRrd01qaGtNalV0Wm1NM1ppMDBaamd6TFRnd05qRXRPV001TkdWaE1XTTBZbVkwSlRJeUpUSkRKVEl5ZEdsMGJHVWxNaklsTTBFbE1qSlRhV3hsYm5RbE1qQnpkV0p6ZEdsMGRYUnBiMjRsTTBOaWNpVXpSU1ZGUmlWQ1F5VTRPQ1ZGT1NVNVJDVTVPU1ZGT1NWQ1FpVTVPQ1ZGTmlVNVFpVkNSaVZGTmlVNFJDVkJNaVZGUmlWQ1F5VTRPU1V5TWlVeVF5VXlNbkJoY21WdWRDVXlNaVV6UVNVeU1uSnZiM1FsTWpJbE1rTWxNakpqWVd4c2IzVjBKVEl5SlROQkpUVkNKVFZFSlRKREpUSXljM1I1YkdVbE1qSWxNMEVsTjBJbE1qSm1iMjUwTFhkbGFXZG9kQ1V5TWlVelFTVXlNbUp2YkdRbE1qSWxNa01sTWpKemFHRndaU1V5TWlVelFTVXlNbkpoWkdsaGJuTlNaV04wWVc1bmJHVWxNaklsTWtNbE1qSmliM0prWlhJdGQybGtkR2dsTWpJbE0wRWxNakl4Y0hnbE1qSWxNa01sTWpKaWIzSmtaWEl0WTI5c2IzSWxNaklsTTBFbE1qSnlaMklvT1RFbE1rTXhNakVsTWtNeU16SXBKVEl5SlRKREpUSXlZbTl5WkdWeUxYTjBlV3hsSlRJeUpUTkJKVEl5YzI5c2FXUWxNaklsTWtNbE1qSmlZV05yWjNKdmRXNWtKVEl5SlROQkpUSXljbWRpS0RJek1TVXlRekl6TlNVeVF6SXpOeWtsTWpJbE1rTWxNakptYjI1MExYTnBlbVVsTWpJbE0wRWxNakl4TkhCNEpUSXlKVEpESlRJeVptOXVkQzFtWVcxcGJIa2xNaklsTTBFbE1qSkRiMjFwWXlVeU1GTmhibk1sTWpCTlV5VXlNaVUzUkNVeVF5VXlNbXhwYm1WVGRIbHNaU1V5TWlVelFTVTNRaVUzUkNVM1JDVXlReVUzUWlVeU1tTm9hV3hrY21WdUpUSXlKVE5CSlRWQ0pUVkVKVEpESlRJeWFXUWxNaklsTTBFbE1qSmxNVEkwTVRJd09TMHlNREpqTFRRNVl6UXRZbU5sTnkxaVpEaG1ZV1l5WVRZME9UZ2xNaklsTWtNbE1qSjBhWFJzWlNVeU1pVXpRU1V5TWxOMVkyTmxjM01sTWpCdGFYTnlaWEJ5WlhObGJuUmhkR2x2YmlVelEySnlKVE5GSlVWR0pVSkRKVGc0SlVVMkpUZzRKVGt3SlVVMUpUaEJKVGxHSlVVNEpVRkdKVUZHSlVVMkpUaEJKVUUxSlVWR0pVSkRKVGc1SlRJeUpUSkRKVEl5Y0dGeVpXNTBKVEl5SlROQkpUSXljbTl2ZENVeU1pVXlReVV5TW1OaGJHeHZkWFFsTWpJbE0wRWxOVUlsTlVRbE1rTWxNakp6ZEhsc1pTVXlNaVV6UVNVM1FpVXlNbVp2Ym5RdGQyVnBaMmgwSlRJeUpUTkJKVEl5WW05c1pDVXlNaVV5UXlVeU1uTm9ZWEJsSlRJeUpUTkJKVEl5Y21Ga2FXRnVjMUpsWTNSaGJtZHNaU1V5TWlVeVF5VXlNbUp2Y21SbGNpMTNhV1IwYUNVeU1pVXpRU1V5TWpGd2VDVXlNaVV5UXlVeU1tSnZjbVJsY2kxamIyeHZjaVV5TWlVelFTVXlNbkpuWWlnNU1TVXlRekV5TVNVeVF6SXpNaWtsTWpJbE1rTWxNakppYjNKa1pYSXRjM1I1YkdVbE1qSWxNMEVsTWpKemIyeHBaQ1V5TWlVeVF5VXlNbUpoWTJ0bmNtOTFibVFsTWpJbE0wRWxNakp5WjJJb01qUXlKVEpETWpReUpUSkRNalF5S1NVeU1pVXlReVV5TW1admJuUXRjMmw2WlNVeU1pVXpRU1V5TWpFMGNIZ2xNaklsTWtNbE1qSm1iMjUwTFdaaGJXbHNlU1V5TWlVelFTVXlNa052YldsakpUSXdVMkZ1Y3lVeU1FMVRKVEl5SlRkRUpUSkRKVEl5YkdsdVpWTjBlV3hsSlRJeUpUTkJKVGRDSlRkRUpUZEVKVEpESlRkQ0pUSXlZMmhwYkdSeVpXNGxNaklsTTBFbE5VSWxOVVFsTWtNbE1qSnBaQ1V5TWlVelFTVXlNakZsWldVeE1HRXlMVGd3WmpjdE5HSTBOaTA0TUdFeUxXWTFPV016TjJKak1tWTVZaVV5TWlVeVF5VXlNblJwZEd4bEpUSXlKVE5CSlRJeVYzSnZibWNsTWpCemRHRjBkWE1sTWpCamIyUmxKVE5EWW5JbE0wVWxSVVlsUWtNbE9EZ2xSVGtsT1RRbE9Ua2xSVGdsUVVZbFFVWWxSVGNsT0VFbFFqWWxSVFlsT0RBbE9ERWxSVGNsUVRBbE9ERWxSVVlsUWtNbE9Ea2xNaklsTWtNbE1qSndZWEpsYm5RbE1qSWxNMEVsTWpKeWIyOTBKVEl5SlRKREpUSXlZMkZzYkc5MWRDVXlNaVV6UVNVMVFpVTFSQ1V5UXlVeU1uTjBlV3hsSlRJeUpUTkJKVGRDSlRJeWMyaGhjR1VsTWpJbE0wRWxNakp5WVdScFlXNXpVbVZqZEdGdVoyeGxKVEl5SlRKREpUSXlZbTl5WkdWeUxYZHBaSFJvSlRJeUpUTkJKVEl5TVhCNEpUSXlKVEpESlRJeVltOXlaR1Z5TFdOdmJHOXlKVEl5SlROQkpUSXljbWRpS0RreEpUSkRNVEl4SlRKRE1qTXlLU1V5TWlVeVF5VXlNbUp2Y21SbGNpMXpkSGxzWlNVeU1pVXpRU1V5TW5OdmJHbGtKVEl5SlRKREpUSXlZbUZqYTJkeWIzVnVaQ1V5TWlVelFTVXlNbkpuWWlneU5ESWxNa015TkRJbE1rTXlORElwSlRJeUpUSkRKVEl5Wm05dWRDMTNaV2xuYUhRbE1qSWxNMEVsTWpKaWIyeGtKVEl5SlRKREpUSXlabTl1ZEMxemFYcGxKVEl5SlROQkpUSXlNVFJ3ZUNVeU1pVXlReVV5TW1admJuUXRabUZ0YVd4NUpUSXlKVE5CSlRJeVEyOXRhV01sTWpCVFlXNXpKVEl3VFZNbE1qSWxOMFFsTWtNbE1qSnNhVzVsVTNSNWJHVWxNaklsTTBFbE4wSWxOMFFsTjBRbE1rTWxOMElsTWpKamFHbHNaSEpsYmlVeU1pVXpRU1UxUWlVMVJDVXlReVV5TW1sa0pUSXlKVE5CSlRJeVpHTXhNemt5T1dRdE1UWTBNaTAwTVdReUxUbGlOV1F0WldRNE9URXdZbU00WmpjekpUSXlKVEpESlRJeWRHbDBiR1VsTWpJbE0wRWxNakpTWlhabGNuTmxKVEl3YldsemJXRjBZMmdsTTBOaWNpVXpSU1ZGUmlWQ1F5VTRPQ1ZGTlNVNFJpVTRSQ1ZGTlNVNU1DVTVNU1ZGTkNWQ09DVTRSQ1ZGTlNVNFF5VkNPU1ZGT1NVNE5TVTRSQ1ZGUmlWQ1F5VTRPU1V5TWlVeVF5VXlNbkJoY21WdWRDVXlNaVV6UVNVeU1uSnZiM1FsTWpJbE1rTWxNakpqWVd4c2IzVjBKVEl5SlROQkpUVkNKVFZFSlRKREpUSXljM1I1YkdVbE1qSWxNMEVsTjBJbE1qSnphR0Z3WlNVeU1pVXpRU1V5TW5KaFpHbGhibk5TWldOMFlXNW5iR1VsTWpJbE1rTWxNakppYjNKa1pYSXRkMmxrZEdnbE1qSWxNMEVsTWpJeGNIZ2xNaklsTWtNbE1qSmliM0prWlhJdFkyOXNiM0lsTWpJbE0wRWxNakp5WjJJb09URWxNa014TWpFbE1rTXlNeklwSlRJeUpUSkRKVEl5WW05eVpHVnlMWE4wZVd4bEpUSXlKVE5CSlRJeWMyOXNhV1FsTWpJbE1rTWxNakppWVdOclozSnZkVzVrSlRJeUpUTkJKVEl5Y21kaUtESTBNaVV5UXpJME1pVXlRekkwTWlrbE1qSWxNa01sTWpKbWIyNTBMWGRsYVdkb2RDVXlNaVV6UVNVeU1tSnZiR1FsTWpJbE1rTWxNakptYjI1MExYTnBlbVVsTWpJbE0wRWxNakl4TkhCNEpUSXlKVEpESlRJeVptOXVkQzFtWVcxcGJIa2xNaklsTTBFbE1qSkRiMjFwWXlVeU1GTmhibk1sTWpCTlV5VXlNaVUzUkNVeVF5VXlNbXhwYm1WVGRIbHNaU1V5TWlVelFTVTNRaVUzUkNVM1JDVTFSQ1V5UXlVeU1tSmhZMnRuY205MWJtUWxNaklsTTBFbE1qSWxNak5tWm1abVptWWxNaklsTWtNbE1qSnliMjkwSlRJeUpUTkJkSEoxWlNVeVF5VXlNbk4wZVd4bEpUSXlKVE5CSlRkQ0pUSXlZbTl5WkdWeUxYSmhaR2wxY3lVeU1pVXpRU1V5TWpad2VDVXlNaVV5UXlVeU1tTnZiRzl5SlRJeUpUTkJKVEl5Y21kaUtESTFOU1V5UXlVeU1ESTFOU1V5UXlVeU1ESTFOU2tsTWpJbE1rTWxNakptYjI1MExYZGxhV2RvZENVeU1pVXpRU1V5TW1KdmJHUWxNaklsTWtNbE1qSmliM0prWlhJdFkyOXNiM0lsTWpJbE0wRWxNakp5WjJJb09URWxNa014TWpFbE1rTXlNeklwSlRJeUpUSkRKVEl5WW05eVpHVnlMWGRwWkhSb0pUSXlKVE5CSlRJeU5YQjRKVEl5SlRKREpUSXlZbTl5WkdWeUxYTjBlV3hsSlRJeUpUTkJKVEl5YzI5c2FXUWxNaklsTWtNbE1qSmlZV05yWjNKdmRXNWtKVEl5SlROQkpUSXljbWRpS0RreEpUSkRNVEl4SlRKRE1qTXlLU1V5TWlVeVF5VXlNbVp2Ym5RdFptRnRhV3g1SlRJeUpUTkJKVEl5UTI5dGFXTWxNakJUWVc1ekpUSXdUVk1sTWpJbE4wUWxNa01sTWpKMGFHVnRaU1V5TWlVelFTVXlNbWR6ZUY5dWIzUmxjMTlqYjJ4dmNpVXlNaVV5UXlVeU1tbGtKVEl5SlROQkpUSXljbTl2ZENVeU1pVXlReVV5TW1aeVpXVkRhR2xzWkhKbGJpVXlNaVV6UVNVMVFpVTFSQ1V5UXlVeU1uUmxlSFJCZFhSdlYzSmhjRmRwWkhSb0pUSXlKVE5CT1RBd0pUSkRKVEl5WkdGMFlTVXlNaVV6UVNVM1FpVXlNbkpwWjJoMExXTnZiblJsYm5RdGFXNWtaWGdsTWpJbE0wRTJKVGRFSlRKREpUSXlaV1JwZEc5eVZtVnljMmx2YmlVeU1pVXpRU1V5TWxZeUpUSXlKVEpESlRJeVkyOXRiV1Z1ZEhNbE1qSWxNMEVsTlVJbE5VUWxNa01sTWpKallXeHNiM1YwSlRJeUpUTkJKVFZDSlRWRUpUSkRKVEl5YzJodmQxZGhkR1Z5YldGeWF5VXlNaVV6UVdaaGJITmxKVEpESlRJeWRHOWtiMHhwYzNRbE1qSWxNMEVsTjBJbE4wUWxNa01sTWpKc2FXNWxVM1I1YkdVbE1qSWxNMEVsTjBJbE1qSnNhVzVsVkhsd1pTVXlNaVV6UVNVeU1uSnZkVzVrUW5KdmEyVnVKVEl5SlRkRUpUSkRKVEl5YzNWdGJXRnlhV1Z6SlRJeUpUTkJKVFZDSlRkQ0pUSXljR0Z5Wlc1MEpUSXlKVE5CSlRJeWNtOXZkQ1V5TWlVeVF5VXlNbkpoYm1kbEpUSXlKVE5CSlRJeU1DVXlReklsTWpJbE1rTWxNakpqYUdsc1pISmxiaVV5TWlVelFTVTFRaVUxUkNVeVF5VXlNbWxrSlRJeUpUTkJKVEl5Tm1aa09ERTBOamt0TTJVeFpDMDBOREZoTFdKbU1HVXRZMlk0T1dRMk1EY3dZbVJoSlRJeUpUSkRKVEl5ZEdsMGJHVWxNaklsTTBFbE1qSkJZMk5sY0hSaGJtTmxKVEl3Vm1sdmJHRjBhVzl1SlVWR0pVSkRKVGc0SlVVMkpUaEZKVUUxSlVVMUpUaEdKVGszSlVVMkpUZ3dKVUUzSlVVNEpVSkdKVGxFSlVVMUpUaEdKVGhFSlVWR0pVSkRKVGc1SlRJeUpUSkRKVEl5YzNWdGJXRnllU1V5TWlVelFYUnlkV1VsTWtNbE1qSmpZV3hzYjNWMEpUSXlKVE5CSlRWQ0pUVkVKVEpESlRJeWMzUjViR1VsTWpJbE0wRWxOMElsTWpKbWIyNTBMWGRsYVdkb2RDVXlNaVV6UVNVeU1tSnZiR1FsTWpJbE1rTWxNakptYjI1MExXWmhiV2xzZVNVeU1pVXpRU1V5TWtOdmJXbGpKVEl3VTJGdWN5VXlNRTFUSlRJeUpUZEVKVEpESlRJeWJHbHVaVk4wZVd4bEpUSXlKVE5CSlRkQ0pUZEVKVGRFSlRKREpUZENKVEl5Y0dGeVpXNTBKVEl5SlROQkpUSXljbTl2ZENVeU1pVXlReVV5TW5KaGJtZGxKVEl5SlROQkpUSXlNeVV5UXpVbE1qSWxNa01sTWpKamFHbHNaSEpsYmlVeU1pVXpRU1UxUWlVMVJDVXlReVV5TW1sa0pUSXlKVE5CSlRJeU5UZzRPVGRqT0RVdE9UYzBOQzAwWVdZMExUbGxNMkV0WVdSak9UUTNOR1F5WkdWa0pUSXlKVEpESlRJeWRHbDBiR1VsTWpJbE0wRWxNakpTWlhOd2IyNXpaU1V5TUUxcGMyMWhkR05vSlRJeUpUSkRKVEl5YzNWdGJXRnllU1V5TWlVelFYUnlkV1VsTWtNbE1qSmpZV3hzYjNWMEpUSXlKVE5CSlRWQ0pUVkVKVGRFSlRKREpUZENKVEl5Y0dGeVpXNTBKVEl5SlROQkpUSXljbTl2ZENVeU1pVXlReVV5TW5KaGJtZGxKVEl5SlROQkpUSXlNeVV5UXpVbE1qSWxNa01sTWpKamFHbHNaSEpsYmlVeU1pVXpRU1UxUWlVMVJDVXlReVV5TW1sa0pUSXlKVE5CSlRJeU5UZzRPVGRqT0RVdE9UYzBOQzAwWVdZMExUbGxNMkV0WVdSak9UUTNOR1F5WkdWa0pUSXlKVEpESlRJeWRHbDBiR1VsTWpJbE0wRWxNakpTWlhOd2IyNXpaU1V5TUUxcGMyMWhkR05vSlVWR0pVSkRKVGc0SlVVMUpUa3pKVGhFSlVVMUpVSkJKVGswSlVVMEpVSTRKVGhFSlVVMUpUaERKVUk1SlVVNUpUZzFKVGhFSlVWR0pVSkRKVGc1SlRJeUpUSkRKVEl5YzNWdGJXRnllU1V5TWlVelFYUnlkV1VsTWtNbE1qSmpZV3hzYjNWMEpUSXlKVE5CSlRWQ0pUVkVKVEpESlRJeWMzUjViR1VsTWpJbE0wRWxOMElsTWpKbWIyNTBMWGRsYVdkb2RDVXlNaVV6UVNVeU1tSnZiR1FsTWpJbE1rTWxNakptYjI1MExXWmhiV2xzZVNVeU1pVXpRU1V5TWtOdmJXbGpKVEl3VTJGdWN5VXlNRTFUSlRJeUpUZEVKVEpESlRJeWJHbHVaVk4wZVd4bEpUSXlKVE5CSlRkQ0pUZEVKVGRFSlRKREpUZENKVEl5Y0dGeVpXNTBKVEl5SlROQkpUSXljbTl2ZENVeU1pVXlReVV5TW5KaGJtZGxKVEl5SlROQkpUSXlNQ1V5UXpVbE1qSWxNa01sTWpKamFHbHNaSEpsYmlVeU1pVXpRU1UxUWlVMVJDVXlReVV5TW1sa0pUSXlKVE5CSlRJeU5XVmlaREppTXpndE1ERXpNaTAwTWpWakxUa3dNREl0TVRkbU1URXdNakEyT0RBNUpUSXlKVEpESlRJeWRHbDBiR1VsTWpJbE0wRWxNakpFYjJNdGFXMXdiR1Z0Wlc1MFlYUnBiMjRsTWpCcGJtTnZibk5wYzNSbGJtTjVKVEl3WkdWbVpXTjBjeVV5TWlVeVF5VXlNbk4xYlcxaGNua2xNaklsTTBGMGNuVmxKVEpESlRJeVkyRnNiRzkxZENVeU1pVXpRU1UxUWlVMVJDVXlReVV5TW5OMGVXeGxKVEl5SlROQkpUZENKVEl5Wm05dWRDMTNaV2xuYUhRbE1qSWxNMEVsTWpKaWIyeGtKVEl5SlRKREpUSXlabTl1ZEMxbVlXMXBiSGtsTWpJbE0wRWxNakpEYjIxcFl5VXlNRk5oYm5NbE1qQk5VeVV5TWlVM1JDVXlReVV5TW14cGJtVlRkSGxzWlNVeU1pVXpRU1UzUWlVM1JDVTNSQ1UxUkNVM1JBPT0iLAoJIkZpbGVJZCIgOiAiNmY0NjdmZTktZDM2OC00ZWIzLWEzNGYtZGE2ZmI3YTBkZjgzIgp9Cg=="/>
    </extobj>
  </extobjs>
</s:customData>
</file>

<file path=customXml/itemProps365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12225</Words>
  <Application>WPS 演示</Application>
  <PresentationFormat>宽屏</PresentationFormat>
  <Paragraphs>982</Paragraphs>
  <Slides>27</Slides>
  <Notes>48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2" baseType="lpstr">
      <vt:lpstr>Arial</vt:lpstr>
      <vt:lpstr>SimSun</vt:lpstr>
      <vt:lpstr>Wingdings</vt:lpstr>
      <vt:lpstr>Wingdings</vt:lpstr>
      <vt:lpstr>Cambria</vt:lpstr>
      <vt:lpstr>Microsoft YaHei</vt:lpstr>
      <vt:lpstr>Comic Sans MS</vt:lpstr>
      <vt:lpstr>FangSong</vt:lpstr>
      <vt:lpstr>Segoe UI</vt:lpstr>
      <vt:lpstr>Times New Roman</vt:lpstr>
      <vt:lpstr>Linux Libertine O</vt:lpstr>
      <vt:lpstr>MV Boli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123</dc:creator>
  <cp:lastModifiedBy>Ratio</cp:lastModifiedBy>
  <cp:revision>2395</cp:revision>
  <dcterms:created xsi:type="dcterms:W3CDTF">2023-11-29T06:50:00Z</dcterms:created>
  <dcterms:modified xsi:type="dcterms:W3CDTF">2026-07-26T12:47:51Z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/>
  </property>
</Properties>
</file>