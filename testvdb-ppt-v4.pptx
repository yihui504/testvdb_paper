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F3864"/>
                </a:solidFill>
                <a:latin typeface="Calibri" panose="020F0502020204030204"/>
              </a:rPr>
              <a:t>TestVDB</a:t>
            </a:r>
            <a:endParaRPr sz="54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3A3A3A"/>
                </a:solidFill>
                <a:latin typeface="Calibri" panose="020F0502020204030204"/>
              </a:rPr>
              <a:t>Detecting API Compliance Defects in Vector DBMSs</a:t>
            </a:r>
            <a:endParaRPr sz="2400" b="0">
              <a:solidFill>
                <a:srgbClr val="3A3A3A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0392B"/>
                </a:solidFill>
                <a:latin typeface="Calibri" panose="020F0502020204030204"/>
              </a:rPr>
              <a:t>via Contract-Truth Separation</a:t>
            </a:r>
            <a:endParaRPr sz="2200" b="1">
              <a:solidFill>
                <a:srgbClr val="C0392B"/>
              </a:solidFill>
              <a:latin typeface="Calibri" panose="020F0502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286000" y="4023360"/>
            <a:ext cx="7589520" cy="822960"/>
          </a:xfrm>
          <a:prstGeom prst="roundRect">
            <a:avLst/>
          </a:prstGeom>
          <a:solidFill>
            <a:srgbClr val="FCF0F0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411480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0392B"/>
                </a:solidFill>
                <a:latin typeface="Calibri" panose="020F0502020204030204"/>
              </a:rPr>
              <a:t>When the oracle itself may be wrong — 代理维护者权威作为语义真相层</a:t>
            </a:r>
            <a:endParaRPr sz="1500" b="0">
              <a:solidFill>
                <a:srgbClr val="C0392B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A3A3A"/>
                </a:solidFill>
                <a:latin typeface="Calibri" panose="020F0502020204030204"/>
              </a:rPr>
              <a:t>[作者] · [机构] · 目标会议：VLDB / SIGMOD / ICSE</a:t>
            </a:r>
            <a:endParaRPr sz="1300" b="0">
              <a:solidFill>
                <a:srgbClr val="3A3A3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动机：VDBMS 承重，合规缺陷普遍且不可测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VDBMS 承重 AI 基础设施：RAG / 推荐 / agentic workflow 的核心（1671 bug 实证 [arXiv:2506.02617]）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• API 合规缺陷：DB 静默接受文档禁止的输入——不崩，但 corrupt 查询语义</a:t>
            </a:r>
            <a:endParaRPr sz="1600" b="0">
              <a:solidFill>
                <a:srgbClr val="3A3A3A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• 明星案例：nprobe=0 接受（Milvus）→ 静默 recall=0；shardsNum=-1 静默归一化（Weaviate #11397）→ 语义 corrupt</a:t>
            </a:r>
            <a:endParaRPr sz="1600" b="0">
              <a:solidFill>
                <a:srgbClr val="3A3A3A"/>
              </a:solidFill>
              <a:latin typeface="Calibri" panose="020F0502020204030204"/>
            </a:endParaRPr>
          </a:p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目标缺陷形态学（4 类来自 arXiv 统计，3 类为攻击目标）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Type 1 边界违反（核心目标，boundary attack）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Type 2 诊断质量 + Type 4 状态不一致（延伸目标，含 cosine&gt;1.0）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D96E22"/>
                </a:solidFill>
                <a:latin typeface="Calibri" panose="020F0502020204030204"/>
              </a:rPr>
              <a:t>   – Type 3 合法输入崩溃（非目标——L1 闸门过滤，设计意图）</a:t>
            </a:r>
            <a:endParaRPr sz="1400" b="0">
              <a:solidFill>
                <a:srgbClr val="D96E22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C0392B"/>
                </a:solidFill>
                <a:latin typeface="Calibri" panose="020F0502020204030204"/>
              </a:rPr>
              <a:t>• 后果：crash 失效 → 传统 oracle 无能为力；corrupt recall / 安全面暴露 → 隐蔽但代价大</a:t>
            </a:r>
            <a:endParaRPr sz="1600" b="0">
              <a:solidFill>
                <a:srgbClr val="C0392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锚点：vdbfuzz (ICSE'26) 自己承认的空白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• vdbfuzz 用 crash oracle 挖 VDBMS bug——当前 VDBMS 测试工作（19 </a:t>
            </a:r>
            <a:r>
              <a:rPr lang="en-US" sz="1600" b="0">
                <a:solidFill>
                  <a:srgbClr val="3A3A3A"/>
                </a:solidFill>
                <a:latin typeface="Calibri" panose="020F0502020204030204"/>
              </a:rPr>
              <a:t>crush </a:t>
            </a:r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bug，3× </a:t>
            </a:r>
            <a:r>
              <a:rPr lang="zh-CN" sz="1600" b="0">
                <a:solidFill>
                  <a:srgbClr val="3A3A3A"/>
                </a:solidFill>
                <a:latin typeface="Calibri" panose="020F0502020204030204"/>
              </a:rPr>
              <a:t>代码</a:t>
            </a:r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覆盖率）</a:t>
            </a:r>
            <a:endParaRPr sz="1600" b="0">
              <a:solidFill>
                <a:srgbClr val="3A3A3A"/>
              </a:solidFill>
              <a:latin typeface="Calibri" panose="020F0502020204030204"/>
            </a:endParaRPr>
          </a:p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但它的 Discussion 主动承认：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10332720" cy="1280160"/>
          </a:xfrm>
          <a:prstGeom prst="roundRect">
            <a:avLst/>
          </a:prstGeom>
          <a:solidFill>
            <a:srgbClr val="FCF0F0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9784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0392B"/>
                </a:solidFill>
                <a:latin typeface="Calibri" panose="020F0502020204030204"/>
              </a:rPr>
              <a:t>"future work should explore the development of an oracle for evaluating the correctness of vector search results, as the inherent fuzziness ... makes traditional differential testing unsuitable"</a:t>
            </a:r>
            <a:endParaRPr sz="1500" b="0">
              <a:solidFill>
                <a:srgbClr val="C0392B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8720" y="3337560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A3A3A"/>
                </a:solidFill>
                <a:latin typeface="Calibri" panose="020F0502020204030204"/>
              </a:rPr>
              <a:t>— vdbfuzz §6 Discussion</a:t>
            </a:r>
            <a:endParaRPr sz="1200" b="0">
              <a:solidFill>
                <a:srgbClr val="3A3A3A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0392B"/>
                </a:solidFill>
                <a:latin typeface="Calibri" panose="020F0502020204030204"/>
              </a:rPr>
              <a:t>• 合规缺陷不崩 → crash oracle 不发火 → vdbfuzz 留下的空白 = TestVDB 起点</a:t>
            </a:r>
            <a:endParaRPr sz="1600" b="0">
              <a:solidFill>
                <a:srgbClr val="C0392B"/>
              </a:solidFill>
              <a:latin typeface="Calibri" panose="020F0502020204030204"/>
            </a:endParaRPr>
          </a:p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被原作者背书的问题重要性（黄金论证——不是我们说重要，是 vdbfuzz 说它没解决）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问题 1：合规缺陷无信号，oracle 该用什么？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A3A3A"/>
                </a:solidFill>
                <a:latin typeface="Calibri" panose="020F0502020204030204"/>
              </a:rPr>
              <a:t>排除法 → LLM 是唯一候选，但两角色都不可靠</a:t>
            </a:r>
            <a:endParaRPr sz="1800" b="1">
              <a:solidFill>
                <a:srgbClr val="3A3A3A"/>
              </a:solidFill>
              <a:latin typeface="Calibri" panose="020F050202020403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828800"/>
          <a:ext cx="94183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/>
                <a:gridCol w="470916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候选 oracle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为什么不行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crash（vdbfuzz, ICSE'26）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合规缺陷不崩——vdbfuzz Discussion 明确承认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PoC 复现（Anthropic harness）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合规缺陷无可复现的物理信号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差分测试（NoREC）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VDBMS 无参考实现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等价变换（Radar）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VDBMS 无 SQL 形态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LLM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唯一能理解语义的候选 → 但不可靠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371600" y="5029200"/>
            <a:ext cx="9418320" cy="822960"/>
          </a:xfrm>
          <a:prstGeom prst="roundRect">
            <a:avLst/>
          </a:prstGeom>
          <a:solidFill>
            <a:srgbClr val="FCF0F0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1206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C0392B"/>
                </a:solidFill>
                <a:latin typeface="Calibri" panose="020F0502020204030204"/>
              </a:rPr>
              <a:t>总 gap：LLM 在【生成】和【判定】两个角色都不可靠</a:t>
            </a:r>
            <a:endParaRPr sz="1700" b="1">
              <a:solidFill>
                <a:srgbClr val="C0392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Roadmap：5 步链条——每个组件由前一个 gap 论证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5486400" cy="640080"/>
          </a:xfrm>
          <a:prstGeom prst="round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325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A3A3A"/>
                </a:solidFill>
                <a:latin typeface="Calibri" panose="020F0502020204030204"/>
              </a:rPr>
              <a:t>锚点 0</a:t>
            </a:r>
            <a:endParaRPr sz="1500" b="1">
              <a:solidFill>
                <a:srgbClr val="3A3A3A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0" y="1325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3A3A"/>
                </a:solidFill>
                <a:latin typeface="Calibri" panose="020F0502020204030204"/>
              </a:rPr>
              <a:t>vdbfuzz future work</a:t>
            </a:r>
            <a:endParaRPr sz="1400" b="0">
              <a:solidFill>
                <a:srgbClr val="3A3A3A"/>
              </a:solidFill>
              <a:latin typeface="Calibri" panose="020F0502020204030204"/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3931920" y="1938528"/>
            <a:ext cx="365760" cy="2286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2194560"/>
            <a:ext cx="5486400" cy="640080"/>
          </a:xfrm>
          <a:prstGeom prst="round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2402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A3A3A"/>
                </a:solidFill>
                <a:latin typeface="Calibri" panose="020F0502020204030204"/>
              </a:rPr>
              <a:t>问题 1</a:t>
            </a:r>
            <a:endParaRPr sz="1500" b="1">
              <a:solidFill>
                <a:srgbClr val="3A3A3A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0" y="224027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3A3A"/>
                </a:solidFill>
                <a:latin typeface="Calibri" panose="020F0502020204030204"/>
              </a:rPr>
              <a:t>排除法 → LLM</a:t>
            </a:r>
            <a:endParaRPr sz="1400" b="0">
              <a:solidFill>
                <a:srgbClr val="3A3A3A"/>
              </a:solidFill>
              <a:latin typeface="Calibri" panose="020F0502020204030204"/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3931920" y="2852928"/>
            <a:ext cx="365760" cy="2286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3108960"/>
            <a:ext cx="5486400" cy="640080"/>
          </a:xfrm>
          <a:prstGeom prst="roundRect">
            <a:avLst/>
          </a:prstGeom>
          <a:solidFill>
            <a:srgbClr val="F4F4F4"/>
          </a:solidFill>
          <a:ln w="19050">
            <a:solidFill>
              <a:srgbClr val="2C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31546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5F9E"/>
                </a:solidFill>
                <a:latin typeface="Calibri" panose="020F0502020204030204"/>
              </a:rPr>
              <a:t>问题 2</a:t>
            </a:r>
            <a:endParaRPr sz="1500" b="1">
              <a:solidFill>
                <a:srgbClr val="2C5F9E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0" y="315467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3A3A"/>
                </a:solidFill>
                <a:latin typeface="Calibri" panose="020F0502020204030204"/>
              </a:rPr>
              <a:t>threat model（生成层先验）</a:t>
            </a:r>
            <a:endParaRPr sz="1400" b="0">
              <a:solidFill>
                <a:srgbClr val="3A3A3A"/>
              </a:solidFill>
              <a:latin typeface="Calibri" panose="020F0502020204030204"/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3931920" y="3767328"/>
            <a:ext cx="365760" cy="2286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71600" y="4023360"/>
            <a:ext cx="5486400" cy="640080"/>
          </a:xfrm>
          <a:prstGeom prst="roundRect">
            <a:avLst/>
          </a:prstGeom>
          <a:solidFill>
            <a:srgbClr val="FCE8E8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4069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Calibri" panose="020F0502020204030204"/>
              </a:rPr>
              <a:t>问题 3 ★</a:t>
            </a:r>
            <a:endParaRPr sz="1500" b="1">
              <a:solidFill>
                <a:srgbClr val="C0392B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4069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3A3A"/>
                </a:solidFill>
                <a:latin typeface="Calibri" panose="020F0502020204030204"/>
              </a:rPr>
              <a:t>dev-reviewer + CTS</a:t>
            </a:r>
            <a:endParaRPr sz="1400" b="0">
              <a:solidFill>
                <a:srgbClr val="3A3A3A"/>
              </a:solidFill>
              <a:latin typeface="Calibri" panose="020F0502020204030204"/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3931920" y="4681728"/>
            <a:ext cx="365760" cy="2286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71600" y="4937760"/>
            <a:ext cx="5486400" cy="640080"/>
          </a:xfrm>
          <a:prstGeom prst="roundRect">
            <a:avLst/>
          </a:prstGeom>
          <a:solidFill>
            <a:srgbClr val="F4F4F4"/>
          </a:solidFill>
          <a:ln w="19050">
            <a:solidFill>
              <a:srgbClr val="2C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4983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5F9E"/>
                </a:solidFill>
                <a:latin typeface="Calibri" panose="020F0502020204030204"/>
              </a:rPr>
              <a:t>问题 4</a:t>
            </a:r>
            <a:endParaRPr sz="1500" b="1">
              <a:solidFill>
                <a:srgbClr val="2C5F9E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57600" y="4983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3A3A"/>
                </a:solidFill>
                <a:latin typeface="Calibri" panose="020F0502020204030204"/>
              </a:rPr>
              <a:t>三层反证锚点</a:t>
            </a:r>
            <a:endParaRPr sz="1400" b="0">
              <a:solidFill>
                <a:srgbClr val="3A3A3A"/>
              </a:solidFill>
              <a:latin typeface="Calibri" panose="020F0502020204030204"/>
            </a:endParaRPr>
          </a:p>
        </p:txBody>
      </p:sp>
      <p:sp>
        <p:nvSpPr>
          <p:cNvPr id="23" name="Down Arrow 22"/>
          <p:cNvSpPr/>
          <p:nvPr/>
        </p:nvSpPr>
        <p:spPr>
          <a:xfrm>
            <a:off x="3931920" y="5596128"/>
            <a:ext cx="365760" cy="2286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71600" y="5852160"/>
            <a:ext cx="5486400" cy="640080"/>
          </a:xfrm>
          <a:prstGeom prst="roundRect">
            <a:avLst/>
          </a:prstGeom>
          <a:solidFill>
            <a:srgbClr val="F4F4F4"/>
          </a:solidFill>
          <a:ln w="19050">
            <a:solidFill>
              <a:srgbClr val="2C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5897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5F9E"/>
                </a:solidFill>
                <a:latin typeface="Calibri" panose="020F0502020204030204"/>
              </a:rPr>
              <a:t>问题 5</a:t>
            </a:r>
            <a:endParaRPr sz="1500" b="1">
              <a:solidFill>
                <a:srgbClr val="2C5F9E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57600" y="5897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3A3A"/>
                </a:solidFill>
                <a:latin typeface="Calibri" panose="020F0502020204030204"/>
              </a:rPr>
              <a:t>双层 novelty gate</a:t>
            </a:r>
            <a:endParaRPr sz="1400" b="0">
              <a:solidFill>
                <a:srgbClr val="3A3A3A"/>
              </a:solidFill>
              <a:latin typeface="Calibri" panose="020F050202020403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498079" y="1280160"/>
            <a:ext cx="4206240" cy="5486400"/>
          </a:xfrm>
          <a:prstGeom prst="roundRect">
            <a:avLst/>
          </a:prstGeom>
          <a:solidFill>
            <a:srgbClr val="ECF0F7"/>
          </a:solidFill>
          <a:ln w="19050">
            <a:solidFill>
              <a:srgbClr val="2C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13716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5F9E"/>
                </a:solidFill>
                <a:latin typeface="Calibri" panose="020F0502020204030204"/>
              </a:rPr>
              <a:t>threat model</a:t>
            </a:r>
            <a:endParaRPr sz="1800" b="1">
              <a:solidFill>
                <a:srgbClr val="2C5F9E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80960" y="192024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A3A3A"/>
                </a:solidFill>
                <a:latin typeface="Calibri" panose="020F0502020204030204"/>
              </a:rPr>
              <a:t>经验先验中枢
（横跨四层）
• 问题2 生成层（主角）
• 问题3 判定层
• 问题4 反证锚点之一
• 问题5 Novelty Gate L1
所有"问题→解"都是
contract-truth separation
的实例化</a:t>
            </a:r>
            <a:endParaRPr sz="1300" b="0">
              <a:solidFill>
                <a:srgbClr val="3A3A3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问题 2：LLM 生成方向平庸（生成面 gap）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• 单给 contract，LLM 倾向生成表层测试（nprobe=0、limit=0 这类显眼边界）</a:t>
            </a:r>
            <a:endParaRPr sz="1600" b="0">
              <a:solidFill>
                <a:srgbClr val="3A3A3A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• 真正的 bug 藏在 by-design 边界附近的语义微妙处（如 ef=-1 是 sentinel 还是非法？）</a:t>
            </a:r>
            <a:endParaRPr sz="1600" b="0">
              <a:solidFill>
                <a:srgbClr val="3A3A3A"/>
              </a:solidFill>
              <a:latin typeface="Calibri" panose="020F0502020204030204"/>
            </a:endParaRPr>
          </a:p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经济学对比：生成成本结构决定引导策略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vdbfuzz（传统 fuzz）：120 min → 10M+ test cases（覆盖率盲扫）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TestVDB（LLM-driven）：单轮 → ~1834 候选（生成贵 ~5000×）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C0392B"/>
                </a:solidFill>
                <a:latin typeface="Calibri" panose="020F0502020204030204"/>
              </a:rPr>
              <a:t>• 覆盖率不再是好目标，precision-per-generation 才是</a:t>
            </a:r>
            <a:endParaRPr sz="1600" b="0">
              <a:solidFill>
                <a:srgbClr val="C0392B"/>
              </a:solidFill>
              <a:latin typeface="Calibri" panose="020F0502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371600" y="4572000"/>
            <a:ext cx="4572000" cy="36576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4572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 panose="020F0502020204030204"/>
              </a:rPr>
              <a:t>vdbfuzz: 10M+ cases</a:t>
            </a:r>
            <a:endParaRPr sz="12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274320" cy="3657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Calibri" panose="020F0502020204030204"/>
              </a:rPr>
              <a:t>TestVDB: ~1834 cases（贵 ~5000×）</a:t>
            </a:r>
            <a:endParaRPr sz="1200" b="0">
              <a:solidFill>
                <a:srgbClr val="C0392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解 2：Threat Model 作语义先验（生成层注入）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从目标 VDBMS 历史 issue / PR / commit 提炼三类情报：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bug pattern（反复出现的缺陷形态）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documented by-design（ef=-1 是 sentinel，不是非法值）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1E7E34"/>
                </a:solidFill>
                <a:latin typeface="Calibri" panose="020F0502020204030204"/>
              </a:rPr>
              <a:t>   – cognitive blindspot（历史上反复被报但被判 by-design）← 最有价值</a:t>
            </a:r>
            <a:endParaRPr sz="1400" b="0">
              <a:solidFill>
                <a:srgbClr val="1E7E34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• 注入 attack agents → 引导生成到"历史证明易出 bug"的方向</a:t>
            </a:r>
            <a:endParaRPr sz="1600" b="0">
              <a:solidFill>
                <a:srgbClr val="3A3A3A"/>
              </a:solidFill>
              <a:latin typeface="Calibri" panose="020F0502020204030204"/>
            </a:endParaRPr>
          </a:p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借鉴边界（精确引用）：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借 Anthropic threat model 的架构位置（/threat-model skill → THREAT_MODEL.md）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替换其内容（focus_areas → 认知盲点）和动机（scope → 生成经济性）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问题 3：contract 本身可能错 ⭐ 核心反转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• 即便 LLM 判定对了，它判的 contract 可能本身是错的</a:t>
            </a:r>
            <a:endParaRPr sz="1600" b="0">
              <a:solidFill>
                <a:srgbClr val="3A3A3A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C0392B"/>
                </a:solidFill>
                <a:latin typeface="Calibri" panose="020F0502020204030204"/>
              </a:rPr>
              <a:t>• 实测 30% contract 反标率（每 3-4 个候选就有 1 个被真相层反标）</a:t>
            </a:r>
            <a:endParaRPr sz="1600" b="0">
              <a:solidFill>
                <a:srgbClr val="C0392B"/>
              </a:solidFill>
              <a:latin typeface="Calibri" panose="020F0502020204030204"/>
            </a:endParaRPr>
          </a:p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反标案例：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Milvus #47767：empty query vector accepted（实为 documented 行为，非 bug）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Weaviate ef=-1：文档化的 sentinel，不是非法值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C0392B"/>
                </a:solidFill>
                <a:latin typeface="Calibri" panose="020F0502020204030204"/>
              </a:rPr>
              <a:t>• 结论：contract 是断言不是真相——这是论文核心洞察入口</a:t>
            </a:r>
            <a:endParaRPr sz="1600" b="0">
              <a:solidFill>
                <a:srgbClr val="C0392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问题 3（续）：谁是真相源？→ 排除法收束到维护者权威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9418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/>
                <a:gridCol w="470916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候选真相源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为什么不行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另一个 LLM（多 judge 投票）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同源盲点——不构成"外部"真相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PoC 复现（Anthropic harness）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合规缺陷无物理信号，PoC 无能为力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维护者权威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唯一能回答"应否被拒"——但稀缺，无法实时回应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5720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0392B"/>
                </a:solidFill>
                <a:latin typeface="Calibri" panose="020F0502020204030204"/>
              </a:rPr>
              <a:t>• 维护者权威稀缺：维护者不可能实时回应每个候选</a:t>
            </a:r>
            <a:endParaRPr sz="1600" b="0">
              <a:solidFill>
                <a:srgbClr val="C0392B"/>
              </a:solidFill>
              <a:latin typeface="Calibri" panose="020F0502020204030204"/>
            </a:endParaRPr>
          </a:p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必须代理 → dev-reviewer（模拟维护者读源码 + Docker 复现）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1E7E34"/>
                </a:solidFill>
                <a:latin typeface="Calibri" panose="020F0502020204030204"/>
              </a:rPr>
              <a:t>• 这就是 Contract-Truth Separation 的落地</a:t>
            </a:r>
            <a:endParaRPr sz="1600" b="0">
              <a:solidFill>
                <a:srgbClr val="1E7E34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Insight：Contract-Truth Separation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332720" cy="1371600"/>
          </a:xfrm>
          <a:prstGeom prst="roundRect">
            <a:avLst/>
          </a:prstGeom>
          <a:solidFill>
            <a:srgbClr val="ECF5EE"/>
          </a:solidFill>
          <a:ln w="1905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7E34"/>
                </a:solidFill>
                <a:latin typeface="Calibri" panose="020F0502020204030204"/>
              </a:rPr>
              <a:t>断言层（contract / threat model / LLM 判定）与真相层（维护者权威代理）分离，用后者逐级反证前者</a:t>
            </a:r>
            <a:endParaRPr sz="1800" b="1">
              <a:solidFill>
                <a:srgbClr val="1E7E34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• 落地为 dev-reviewer Agent：模拟维护者，读源码 + Docker 沙箱复现</a:t>
            </a:r>
            <a:endParaRPr sz="1600" b="0">
              <a:solidFill>
                <a:srgbClr val="3A3A3A"/>
              </a:solidFill>
              <a:latin typeface="Calibri" panose="020F0502020204030204"/>
            </a:endParaRPr>
          </a:p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与既有工作的本质分界：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vdbfuzz：contract 当真相（违反 = crash bug）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Anthropic harness：crash 当真相（PoC 复现）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C0392B"/>
                </a:solidFill>
                <a:latin typeface="Calibri" panose="020F0502020204030204"/>
              </a:rPr>
              <a:t>   – TestVDB：contract 是断言，维护者权威才是真相</a:t>
            </a:r>
            <a:endParaRPr sz="1400" b="0">
              <a:solidFill>
                <a:srgbClr val="C0392B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1E7E34"/>
                </a:solidFill>
                <a:latin typeface="Calibri" panose="020F0502020204030204"/>
              </a:rPr>
              <a:t>• 立单一原则 → 闭掉 "no clear insight" rejection reason</a:t>
            </a:r>
            <a:endParaRPr sz="1600" b="0">
              <a:solidFill>
                <a:srgbClr val="1E7E34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问题 4：dev-reviewer 凭何比 4-Judge 可信？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A3A3A"/>
                </a:solidFill>
                <a:latin typeface="Calibri" panose="020F0502020204030204"/>
              </a:rPr>
              <a:t>审稿人必问：dev-reviewer 也是 LLM，凭什么比 4-judge 更可信？</a:t>
            </a:r>
            <a:endParaRPr sz="1600" b="1">
              <a:solidFill>
                <a:srgbClr val="3A3A3A"/>
              </a:solidFill>
              <a:latin typeface="Calibri" panose="020F050202020403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828800"/>
          <a:ext cx="9418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/>
                <a:gridCol w="3139440"/>
                <a:gridCol w="313944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反证锚点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反证什么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机制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clean repro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attack agent 工具 bug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重构 MRE，反证脚本自身错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source-grounded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dev-reviewer 语义幻觉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读源码锚定（grep + 关键函数）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threat model 核对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contract 误判 by-design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查历史上的 by-design 行为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5720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0392B"/>
                </a:solidFill>
                <a:latin typeface="Calibri" panose="020F0502020204030204"/>
              </a:rPr>
              <a:t>• 4-Judge 没有这三层 → 全是纯 LLM 推理 → precision 12.9%</a:t>
            </a:r>
            <a:endParaRPr sz="1600" b="0">
              <a:solidFill>
                <a:srgbClr val="C0392B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1E7E34"/>
                </a:solidFill>
                <a:latin typeface="Calibri" panose="020F0502020204030204"/>
              </a:rPr>
              <a:t>• dev-reviewer 三层"非 LLM"锚点 → 剔除 80.6% FP</a:t>
            </a:r>
            <a:endParaRPr sz="1600" b="0">
              <a:solidFill>
                <a:srgbClr val="1E7E34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解 4 实测：state_001 案例（clean repro 反证）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• 候选声称："Milvus autoID=true 时 rowCount=0 是 bug"</a:t>
            </a:r>
            <a:endParaRPr sz="1600" b="0">
              <a:solidFill>
                <a:srgbClr val="3A3A3A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D96E22"/>
                </a:solidFill>
                <a:latin typeface="Calibri" panose="020F0502020204030204"/>
              </a:rPr>
              <a:t>• 4-Judge 判 CONFIRMED</a:t>
            </a:r>
            <a:endParaRPr sz="1600" b="0">
              <a:solidFill>
                <a:srgbClr val="D96E22"/>
              </a:solidFill>
              <a:latin typeface="Calibri" panose="020F0502020204030204"/>
            </a:endParaRPr>
          </a:p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dev-reviewer 重构 MRE 发现：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原脚本违反 autoID 约束（传了显式 id）→ insert 失败 → rowCount=0 是正确行为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C0392B"/>
                </a:solidFill>
                <a:latin typeface="Calibri" panose="020F0502020204030204"/>
              </a:rPr>
              <a:t>• root_cause = request_param_typypo → 反证为 FALSE_POSITIVE</a:t>
            </a:r>
            <a:endParaRPr sz="1600" b="0">
              <a:solidFill>
                <a:srgbClr val="C0392B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1E7E34"/>
                </a:solidFill>
                <a:latin typeface="Calibri" panose="020F0502020204030204"/>
              </a:rPr>
              <a:t>• 结论：clean repro 步骤在干活——这是"维护者代理"的微观实例</a:t>
            </a:r>
            <a:endParaRPr sz="1600" b="0">
              <a:solidFill>
                <a:srgbClr val="1E7E34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问题 5：双层 Novelty Gate（查重）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9418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/>
                <a:gridCol w="3139440"/>
                <a:gridCol w="313944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层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数据源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用途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L1 Consumer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threat model + 本地语料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快速过滤 by-design / 自家历史 dup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L2 Corrector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GitHub Search API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精确反证（命中覆盖 PR）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六级分级：NOVEL / KNOWN_OPEN / COVERED_BY_PR / BY_DESIGN / POSSIBLY_FIXED / UNVERIFIED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• 关键设计：仅 NOVEL 进可提交列表；fail-closed 不丢数据（UNVERIFIED 不 kill）</a:t>
            </a:r>
            <a:endParaRPr sz="1600" b="0">
              <a:solidFill>
                <a:srgbClr val="3A3A3A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C0392B"/>
                </a:solidFill>
                <a:latin typeface="Calibri" panose="020F0502020204030204"/>
              </a:rPr>
              <a:t>• 提交始终是人工动作——Gate 是背书，不是许可</a:t>
            </a:r>
            <a:endParaRPr sz="1600" b="0">
              <a:solidFill>
                <a:srgbClr val="C0392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评估：4 个研究问题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828800"/>
          <a:ext cx="9418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/>
                <a:gridCol w="3139440"/>
                <a:gridCol w="313944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RQ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问题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主结果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RQ1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缺陷检测能力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108 issue / 32 维护者承认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RQ2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Contract 反标频率（验证 insight）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30% 反标率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RQ3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跨层 Precision 消融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12.9% → 72.7%（5.6×）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RQ4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对比现有方法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compliance 是新赛道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实验设置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5 库分层：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主战场：Milvus / Qdrant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探索：Weaviate / Meilisearch / Chroma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• Docker 沙箱隔离，多轮自适应迭代</a:t>
            </a:r>
            <a:endParaRPr sz="1600" b="0">
              <a:solidFill>
                <a:srgbClr val="3A3A3A"/>
              </a:solidFill>
              <a:latin typeface="Calibri" panose="020F0502020204030204"/>
            </a:endParaRPr>
          </a:p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Ground Truth 双层：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1E7E34"/>
                </a:solidFill>
                <a:latin typeface="Calibri" panose="020F0502020204030204"/>
              </a:rPr>
              <a:t>   – Tier 1 维护者反馈（强——fixed / accepted / by-design）</a:t>
            </a:r>
            <a:endParaRPr sz="1400" b="0">
              <a:solidFill>
                <a:srgbClr val="1E7E34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D96E22"/>
                </a:solidFill>
                <a:latin typeface="Calibri" panose="020F0502020204030204"/>
              </a:rPr>
              <a:t>   – Tier 2 dev-reviewer verdict（弱——结构化反证）</a:t>
            </a:r>
            <a:endParaRPr sz="1400" b="0">
              <a:solidFill>
                <a:srgbClr val="D96E2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RQ1：108 缺陷，32 维护者承认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9418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664"/>
                <a:gridCol w="1883664"/>
                <a:gridCol w="1883664"/>
                <a:gridCol w="1883664"/>
                <a:gridCol w="1883664"/>
              </a:tblGrid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DB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submitted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fixed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accepted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by-design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Milvus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49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12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8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12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Qdrant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26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11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0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0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Weaviate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29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1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0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0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Meilisearch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3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0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0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0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Chroma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1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0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0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0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Total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108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24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8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12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035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对比 DDLCheck (VLDB'25)：34 submitted / 29 confirmed / 9 fixed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1E7E34"/>
                </a:solidFill>
                <a:latin typeface="Calibri" panose="020F0502020204030204"/>
              </a:rPr>
              <a:t>• TestVDB 数量级相当（24 fixed &gt; 9 fixed），且覆盖 compliance 新赛道</a:t>
            </a:r>
            <a:endParaRPr sz="1600" b="0">
              <a:solidFill>
                <a:srgbClr val="1E7E34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RQ2：30% Contract 反标率（验证 insight）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总反标事件 ~23 次：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Pipeline 内：11 次（BY_DESIGN + COVERED_BY_PR + KNOWN_OPEN）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提交层：12 次（维护者标 by-design）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C0392B"/>
                </a:solidFill>
                <a:latin typeface="Calibri" panose="020F0502020204030204"/>
              </a:rPr>
              <a:t>• 反标率 ~30%——证明 truth layer 不是装饰，是做了实事</a:t>
            </a:r>
            <a:endParaRPr sz="1600" b="0">
              <a:solidFill>
                <a:srgbClr val="C0392B"/>
              </a:solidFill>
              <a:latin typeface="Calibri" panose="020F0502020204030204"/>
            </a:endParaRPr>
          </a:p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这是 contract-truth separation 的可证伪性证据：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1E7E34"/>
                </a:solidFill>
                <a:latin typeface="Calibri" panose="020F0502020204030204"/>
              </a:rPr>
              <a:t>   – 如果 truth layer 不干活，反标率应为 0</a:t>
            </a:r>
            <a:endParaRPr sz="1400" b="0">
              <a:solidFill>
                <a:srgbClr val="1E7E34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1E7E34"/>
                </a:solidFill>
                <a:latin typeface="Calibri" panose="020F0502020204030204"/>
              </a:rPr>
              <a:t>   – 实测 30% → 证伪"不干活"假设 → 原则有效</a:t>
            </a:r>
            <a:endParaRPr sz="1400" b="0">
              <a:solidFill>
                <a:srgbClr val="1E7E34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RQ3：跨层 Precision 消融 ⭐ 主结果（Milvus v2.6.19）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漏斗：1834 raw → 33 Stage-2 → 31 dev-reviewed → 4 confirmed</a:t>
            </a:r>
            <a:endParaRPr sz="1600" b="0">
              <a:solidFill>
                <a:srgbClr val="3A3A3A"/>
              </a:solidFill>
              <a:latin typeface="Calibri" panose="020F0502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058400" cy="548640"/>
          </a:xfrm>
          <a:prstGeom prst="round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1834 raw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971800" y="2651760"/>
            <a:ext cx="5943600" cy="54864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269747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33 Stage-2 (4-Judge)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657600" y="3474720"/>
            <a:ext cx="4572000" cy="548640"/>
          </a:xfrm>
          <a:prstGeom prst="roundRect">
            <a:avLst/>
          </a:prstGeom>
          <a:solidFill>
            <a:srgbClr val="D96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5204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31 dev-reviewed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0" y="4297680"/>
            <a:ext cx="1828800" cy="548640"/>
          </a:xfrm>
          <a:prstGeom prst="roundRect">
            <a:avLst/>
          </a:prstGeom>
          <a:solidFill>
            <a:srgbClr val="1E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4343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4 confirmed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0" y="1828800"/>
          <a:ext cx="4572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层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precision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备注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4-Judge 单独</a:t>
                      </a:r>
                      <a:endParaRPr sz="13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12.9%</a:t>
                      </a:r>
                      <a:endParaRPr sz="13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4/31</a:t>
                      </a:r>
                      <a:endParaRPr sz="13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Dev-Reviewer 单层贡献</a:t>
                      </a:r>
                      <a:endParaRPr sz="13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剔除 80.6% FP</a:t>
                      </a:r>
                      <a:endParaRPr sz="13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25/31 FP 剔除</a:t>
                      </a:r>
                      <a:endParaRPr sz="13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全链</a:t>
                      </a:r>
                      <a:endParaRPr sz="13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72.7%</a:t>
                      </a:r>
                      <a:endParaRPr sz="13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32/(32+12)</a:t>
                      </a:r>
                      <a:endParaRPr sz="13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提升</a:t>
                      </a:r>
                      <a:endParaRPr sz="13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5.6×</a:t>
                      </a:r>
                      <a:endParaRPr sz="13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Stage-2 → 全链</a:t>
                      </a:r>
                      <a:endParaRPr sz="13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96E22"/>
                </a:solidFill>
                <a:latin typeface="Calibri" panose="020F0502020204030204"/>
              </a:rPr>
              <a:t>限制：跨库 RQ3 数据只 milvus 单库（诚实标注，列为 future work）</a:t>
            </a:r>
            <a:endParaRPr sz="1200" b="0">
              <a:solidFill>
                <a:srgbClr val="D96E2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Case 1：cosine &gt; 1.0（数学不可能）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• 相同向量的 cosine 距离 ∈ [0, 2]，但 TestVDB 发现 Milvus 和 Qdrant 都返回 &gt; 1.0</a:t>
            </a:r>
            <a:endParaRPr sz="1600" b="0">
              <a:solidFill>
                <a:srgbClr val="3A3A3A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1E7E34"/>
                </a:solidFill>
                <a:latin typeface="Calibri" panose="020F0502020204030204"/>
              </a:rPr>
              <a:t>• Milvus #49059 已修复；Qdrant #8688 已确认</a:t>
            </a:r>
            <a:endParaRPr sz="1600" b="0">
              <a:solidFill>
                <a:srgbClr val="1E7E34"/>
              </a:solidFill>
              <a:latin typeface="Calibri" panose="020F0502020204030204"/>
            </a:endParaRPr>
          </a:p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价值：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数学不可能的事件被工具自动发现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在两个独立系统中复现——非偶然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D96E22"/>
                </a:solidFill>
                <a:latin typeface="Calibri" panose="020F0502020204030204"/>
              </a:rPr>
              <a:t>   – 属 Type 4（状态/逻辑不一致）——延伸发现，非核心 compliance</a:t>
            </a:r>
            <a:endParaRPr sz="1400" b="0">
              <a:solidFill>
                <a:srgbClr val="D96E2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Case 2：dev-reviewer 反证流程（state_001 展开）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73152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clean repro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3337560" y="2057400"/>
            <a:ext cx="182880" cy="274320"/>
          </a:xfrm>
          <a:prstGeom prst="rightArrow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66160" y="1828800"/>
            <a:ext cx="2560320" cy="731520"/>
          </a:xfrm>
          <a:prstGeom prst="roundRect">
            <a:avLst/>
          </a:prstGeom>
          <a:solidFill>
            <a:srgbClr val="D96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920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assumption audit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6172200" y="2057400"/>
            <a:ext cx="182880" cy="274320"/>
          </a:xfrm>
          <a:prstGeom prst="rightArrow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560320" cy="731520"/>
          </a:xfrm>
          <a:prstGeom prst="roundRect">
            <a:avLst/>
          </a:prstGeom>
          <a:solidFill>
            <a:srgbClr val="1E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source-grounded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9006840" y="2057400"/>
            <a:ext cx="182880" cy="274320"/>
          </a:xfrm>
          <a:prstGeom prst="rightArrow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35440" y="1828800"/>
            <a:ext cx="2560320" cy="73152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920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threat model 核对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• 输出结构化 verdict（root_cause 分类）</a:t>
            </a:r>
            <a:endParaRPr sz="1600" b="0">
              <a:solidFill>
                <a:srgbClr val="3A3A3A"/>
              </a:solidFill>
              <a:latin typeface="Calibri" panose="020F0502020204030204"/>
            </a:endParaRPr>
          </a:p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反证多样性的 root_cause 分布：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contract_misread / formalizer_hallucination / approximate_by_design / request_param_typo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RQ4：对比现有方法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9418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/>
                <a:gridCol w="3139440"/>
                <a:gridCol w="313944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方法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适用性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原因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vdbfuzz (ICSE'26)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互补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测 crash，TestVDB 测 compliance——oracle 不同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Anthropic harness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不适用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PoC 复现要求物理信号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NoREC / DQP / Radar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结构不适用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要求 SQL 等价变换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纯 LLM-as-oracle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等价 Stage-2 单层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precision = 12.9%，不可接受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传统 fuzzing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无 oracle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A3A3A"/>
                          </a:solidFill>
                          <a:latin typeface="Calibri" panose="020F0502020204030204"/>
                        </a:rPr>
                        <a:t>不理解 contract</a:t>
                      </a:r>
                      <a:endParaRPr sz="1400">
                        <a:solidFill>
                          <a:srgbClr val="3A3A3A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371600" y="5212080"/>
            <a:ext cx="9418320" cy="822960"/>
          </a:xfrm>
          <a:prstGeom prst="roundRect">
            <a:avLst/>
          </a:prstGeom>
          <a:solidFill>
            <a:srgbClr val="ECF5EE"/>
          </a:solidFill>
          <a:ln w="1905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30352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7E34"/>
                </a:solidFill>
                <a:latin typeface="Calibri" panose="020F0502020204030204"/>
              </a:rPr>
              <a:t>主张：VDBMS API compliance 是新赛道，本工作是首个系统方法</a:t>
            </a:r>
            <a:endParaRPr sz="1700" b="1">
              <a:solidFill>
                <a:srgbClr val="1E7E34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Threats to Validity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• LLM 非确定性</a:t>
            </a:r>
            <a:endParaRPr sz="1600" b="0">
              <a:solidFill>
                <a:srgbClr val="3A3A3A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对冲：多 judge 投票 + 多轮迭代 + seed 固定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• 标注偏差</a:t>
            </a:r>
            <a:endParaRPr sz="1600" b="0">
              <a:solidFill>
                <a:srgbClr val="3A3A3A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对冲：维护者反馈作弱 ground truth；Tier 1/2 分层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• 跨库 RQ3 数据只 milvus 单库</a:t>
            </a:r>
            <a:endParaRPr sz="1600" b="0">
              <a:solidFill>
                <a:srgbClr val="3A3A3A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D96E22"/>
                </a:solidFill>
                <a:latin typeface="Calibri" panose="020F0502020204030204"/>
              </a:rPr>
              <a:t>   – 对冲：诚实标注 limitation，列为 future work</a:t>
            </a:r>
            <a:endParaRPr sz="1400" b="0">
              <a:solidFill>
                <a:srgbClr val="D96E22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• Weaviate 22 open 未分诊</a:t>
            </a:r>
            <a:endParaRPr sz="1600" b="0">
              <a:solidFill>
                <a:srgbClr val="3A3A3A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D96E22"/>
                </a:solidFill>
                <a:latin typeface="Calibri" panose="020F0502020204030204"/>
              </a:rPr>
              <a:t>   – 对冲：用硬口径 32 acknowledged 报数（不虚报）</a:t>
            </a:r>
            <a:endParaRPr sz="1400" b="0">
              <a:solidFill>
                <a:srgbClr val="D96E2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Conclusion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1097280"/>
          </a:xfrm>
          <a:prstGeom prst="roundRect">
            <a:avLst/>
          </a:prstGeom>
          <a:solidFill>
            <a:srgbClr val="ECF5EE"/>
          </a:solidFill>
          <a:ln w="1905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08760"/>
            <a:ext cx="9784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7E34"/>
                </a:solidFill>
                <a:latin typeface="Calibri" panose="020F0502020204030204"/>
              </a:rPr>
              <a:t>Contract-Truth Separation 作为可信 LLM oracle 的设计原则</a:t>
            </a:r>
            <a:endParaRPr sz="2000" b="1">
              <a:solidFill>
                <a:srgbClr val="1E7E34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核心贡献：维护者权威代理（dev-reviewer）作为语义真相层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3A3A3A"/>
                </a:solidFill>
                <a:latin typeface="Calibri" panose="020F0502020204030204"/>
              </a:rPr>
              <a:t>• 实测：dev-reviewer 反证层独自剔除 80.6% FP</a:t>
            </a:r>
            <a:endParaRPr sz="1600" b="0">
              <a:solidFill>
                <a:srgbClr val="3A3A3A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1E7E34"/>
                </a:solidFill>
                <a:latin typeface="Calibri" panose="020F0502020204030204"/>
              </a:rPr>
              <a:t>• 全链 precision：12.9% → 72.7%（5.6× 提升）</a:t>
            </a:r>
            <a:endParaRPr sz="1600" b="0">
              <a:solidFill>
                <a:srgbClr val="1E7E34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1E7E34"/>
                </a:solidFill>
                <a:latin typeface="Calibri" panose="020F0502020204030204"/>
              </a:rPr>
              <a:t>• 实证：5 库 108 缺陷，32 维护者承认（24 fixed + 8 accepted）</a:t>
            </a:r>
            <a:endParaRPr sz="1600" b="0">
              <a:solidFill>
                <a:srgbClr val="1E7E34"/>
              </a:solidFill>
              <a:latin typeface="Calibri" panose="020F0502020204030204"/>
            </a:endParaRPr>
          </a:p>
          <a:p>
            <a:r>
              <a:rPr sz="1600" b="0">
                <a:solidFill>
                  <a:srgbClr val="D96E22"/>
                </a:solidFill>
                <a:latin typeface="Calibri" panose="020F0502020204030204"/>
              </a:rPr>
              <a:t>• 副产物：cosine&gt;1.0 数学不可能缺陷在 Milvus + Qdrant 双库复现</a:t>
            </a:r>
            <a:endParaRPr sz="1600" b="0">
              <a:solidFill>
                <a:srgbClr val="D96E2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Calibri" panose="020F0502020204030204"/>
              </a:rPr>
              <a:t>Future Work + 贡献</a:t>
            </a:r>
            <a:endParaRPr sz="26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317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Future Work：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跨库补 dev-reviewer 数据（让 RQ3 不只 milvus 单库）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把 CTS 迁移到其他需要可信 LLM 判定的领域（代码评审、合规审计）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2C5F9E"/>
                </a:solidFill>
                <a:latin typeface="Calibri" panose="020F0502020204030204"/>
              </a:rPr>
              <a:t>   – 自动 patch 生成（基于 dev-reviewer 的源码锚定）</a:t>
            </a:r>
            <a:endParaRPr sz="1400" b="0">
              <a:solidFill>
                <a:srgbClr val="2C5F9E"/>
              </a:solidFill>
              <a:latin typeface="Calibri" panose="020F0502020204030204"/>
            </a:endParaRPr>
          </a:p>
          <a:p>
            <a:r>
              <a:rPr sz="1600" b="1">
                <a:solidFill>
                  <a:srgbClr val="1F3864"/>
                </a:solidFill>
                <a:latin typeface="Calibri" panose="020F0502020204030204"/>
              </a:rPr>
              <a:t>• 6 条贡献：</a:t>
            </a:r>
            <a:endParaRPr sz="1600" b="1">
              <a:solidFill>
                <a:srgbClr val="1F3864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1E7E34"/>
                </a:solidFill>
                <a:latin typeface="Calibri" panose="020F0502020204030204"/>
              </a:rPr>
              <a:t>   – 赛道界定（compliance 新赛道形式化）</a:t>
            </a:r>
            <a:endParaRPr sz="1400" b="0">
              <a:solidFill>
                <a:srgbClr val="1E7E34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1E7E34"/>
                </a:solidFill>
                <a:latin typeface="Calibri" panose="020F0502020204030204"/>
              </a:rPr>
              <a:t>   – 方法论：Contract-Truth Separation</a:t>
            </a:r>
            <a:endParaRPr sz="1400" b="0">
              <a:solidFill>
                <a:srgbClr val="1E7E34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1E7E34"/>
                </a:solidFill>
                <a:latin typeface="Calibri" panose="020F0502020204030204"/>
              </a:rPr>
              <a:t>   – 技术：四层反证链 + 认知盲点建模</a:t>
            </a:r>
            <a:endParaRPr sz="1400" b="0">
              <a:solidFill>
                <a:srgbClr val="1E7E34"/>
              </a:solidFill>
              <a:latin typeface="Calibri" panose="020F0502020204030204"/>
            </a:endParaRPr>
          </a:p>
          <a:p>
            <a:pPr lvl="1"/>
            <a:r>
              <a:rPr sz="1400" b="0">
                <a:solidFill>
                  <a:srgbClr val="1E7E34"/>
                </a:solidFill>
                <a:latin typeface="Calibri" panose="020F0502020204030204"/>
              </a:rPr>
              <a:t>   – 实证：108 缺陷 / 32 承认 + 工程开源</a:t>
            </a:r>
            <a:endParaRPr sz="1400" b="0">
              <a:solidFill>
                <a:srgbClr val="1E7E34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6664</Words>
  <Application>WPS 演示</Application>
  <PresentationFormat>On-screen Show (4:3)</PresentationFormat>
  <Paragraphs>490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Ratio</cp:lastModifiedBy>
  <cp:revision>2</cp:revision>
  <dcterms:created xsi:type="dcterms:W3CDTF">2013-01-27T09:14:00Z</dcterms:created>
  <dcterms:modified xsi:type="dcterms:W3CDTF">2026-07-09T07:42:54Z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>26DF7CAEFCFB47A888B574EBAAEEA144_12</vt:lpwstr>
  </property>
</Properties>
</file>